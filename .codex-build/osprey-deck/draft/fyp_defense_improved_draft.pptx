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9d3aa652f74277" /><Relationship Type="http://schemas.openxmlformats.org/officeDocument/2006/relationships/extended-properties" Target="/docProps/app.xml" Id="R77fbe7a78217402f" /><Relationship Type="http://schemas.openxmlformats.org/officeDocument/2006/relationships/officeDocument" Target="/ppt/presentation.xml" Id="R2307b4dfcbc649f0"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ff10d513a1a245cc"/>
  </p:sldMasterIdLst>
  <p:notesMasterIdLst>
    <p:notesMasterId xmlns:r="http://schemas.openxmlformats.org/officeDocument/2006/relationships" r:id="R559a4395c2084b36"/>
  </p:notesMasterIdLst>
  <p:sldIdLst>
    <p:sldId xmlns:r="http://schemas.openxmlformats.org/officeDocument/2006/relationships" id="256" r:id="Rbff07ad31e08427f"/>
    <p:sldId xmlns:r="http://schemas.openxmlformats.org/officeDocument/2006/relationships" id="257" r:id="R29dd680f5eff4514"/>
    <p:sldId xmlns:r="http://schemas.openxmlformats.org/officeDocument/2006/relationships" id="258" r:id="R880f772ec2d449ca"/>
    <p:sldId xmlns:r="http://schemas.openxmlformats.org/officeDocument/2006/relationships" id="259" r:id="Rabdf2814a71c49e5"/>
    <p:sldId xmlns:r="http://schemas.openxmlformats.org/officeDocument/2006/relationships" id="260" r:id="Rc96065e8c2854784"/>
    <p:sldId xmlns:r="http://schemas.openxmlformats.org/officeDocument/2006/relationships" id="261" r:id="Ree451da38344445e"/>
    <p:sldId xmlns:r="http://schemas.openxmlformats.org/officeDocument/2006/relationships" id="262" r:id="R22885aad45524e45"/>
    <p:sldId xmlns:r="http://schemas.openxmlformats.org/officeDocument/2006/relationships" id="263" r:id="R4f55cd38cdd2496d"/>
    <p:sldId xmlns:r="http://schemas.openxmlformats.org/officeDocument/2006/relationships" id="264" r:id="R78abc24628ee4fa0"/>
    <p:sldId xmlns:r="http://schemas.openxmlformats.org/officeDocument/2006/relationships" id="265" r:id="R1155d67593b84a92"/>
    <p:sldId xmlns:r="http://schemas.openxmlformats.org/officeDocument/2006/relationships" id="266" r:id="R136e1ba2f43a4d93"/>
    <p:sldId xmlns:r="http://schemas.openxmlformats.org/officeDocument/2006/relationships" id="267" r:id="R8d288a400add49ea"/>
    <p:sldId xmlns:r="http://schemas.openxmlformats.org/officeDocument/2006/relationships" id="268" r:id="R017248da218f4c05"/>
  </p:sldIdLst>
  <p:sldSz cx="18288000" cy="10287000"/>
  <p:notesSz cx="6858000" cy="9144000"/>
  <p:embeddedFontLst>
    <p:embeddedFont>
      <p:font typeface="Anton"/>
      <p:regular xmlns:r="http://schemas.openxmlformats.org/officeDocument/2006/relationships" r:id="R15777e44a4e04009"/>
    </p:embeddedFont>
    <p:embeddedFont>
      <p:font typeface="Canva Sans"/>
      <p:regular xmlns:r="http://schemas.openxmlformats.org/officeDocument/2006/relationships" r:id="Rea4a631f23554c18"/>
    </p:embeddedFont>
    <p:embeddedFont>
      <p:font typeface="Canva Sans Bold"/>
      <p:regular xmlns:r="http://schemas.openxmlformats.org/officeDocument/2006/relationships" r:id="R72fc4e4449ea44e9"/>
    </p:embeddedFont>
    <p:embeddedFont>
      <p:font typeface="Glacial Indifference"/>
      <p:regular xmlns:r="http://schemas.openxmlformats.org/officeDocument/2006/relationships" r:id="R3e14a7b282dc4379"/>
    </p:embeddedFont>
    <p:embeddedFont>
      <p:font typeface="Glacial Indifference Bold"/>
      <p:regular xmlns:r="http://schemas.openxmlformats.org/officeDocument/2006/relationships" r:id="Re65f2784339b44c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d2faebaf7c34ccc" /><Relationship Type="http://schemas.openxmlformats.org/officeDocument/2006/relationships/slideMaster" Target="/ppt/slideMasters/slideMaster1.xml" Id="Rff10d513a1a245cc" /><Relationship Type="http://schemas.openxmlformats.org/officeDocument/2006/relationships/notesMaster" Target="/ppt/notesMasters/notesMaster1.xml" Id="R559a4395c2084b36" /><Relationship Type="http://schemas.openxmlformats.org/officeDocument/2006/relationships/presProps" Target="/ppt/presProps.xml" Id="Re24496b74d984ac7" /><Relationship Type="http://schemas.openxmlformats.org/officeDocument/2006/relationships/viewProps" Target="/ppt/viewProps.xml" Id="R905bd88503cb4ed1" /><Relationship Type="http://schemas.openxmlformats.org/officeDocument/2006/relationships/tableStyles" Target="/ppt/tableStyles.xml" Id="Rbfc8c885e39e48a1" /><Relationship Type="http://schemas.openxmlformats.org/officeDocument/2006/relationships/font" Target="/ppt/fonts/font.dat" Id="R15777e44a4e04009" /><Relationship Type="http://schemas.openxmlformats.org/officeDocument/2006/relationships/font" Target="/ppt/fonts/font2.dat" Id="Rea4a631f23554c18" /><Relationship Type="http://schemas.openxmlformats.org/officeDocument/2006/relationships/font" Target="/ppt/fonts/font3.dat" Id="R72fc4e4449ea44e9" /><Relationship Type="http://schemas.openxmlformats.org/officeDocument/2006/relationships/font" Target="/ppt/fonts/font4.dat" Id="R3e14a7b282dc4379" /><Relationship Type="http://schemas.openxmlformats.org/officeDocument/2006/relationships/font" Target="/ppt/fonts/font5.dat" Id="Re65f2784339b44c0" /><Relationship Type="http://schemas.openxmlformats.org/officeDocument/2006/relationships/slide" Target="/ppt/slides/slide1.xml" Id="Rbff07ad31e08427f" /><Relationship Type="http://schemas.openxmlformats.org/officeDocument/2006/relationships/slide" Target="/ppt/slides/slide2.xml" Id="R29dd680f5eff4514" /><Relationship Type="http://schemas.openxmlformats.org/officeDocument/2006/relationships/slide" Target="/ppt/slides/slide3.xml" Id="R880f772ec2d449ca" /><Relationship Type="http://schemas.openxmlformats.org/officeDocument/2006/relationships/slide" Target="/ppt/slides/slide4.xml" Id="Rabdf2814a71c49e5" /><Relationship Type="http://schemas.openxmlformats.org/officeDocument/2006/relationships/slide" Target="/ppt/slides/slide5.xml" Id="Rc96065e8c2854784" /><Relationship Type="http://schemas.openxmlformats.org/officeDocument/2006/relationships/slide" Target="/ppt/slides/slide6.xml" Id="Ree451da38344445e" /><Relationship Type="http://schemas.openxmlformats.org/officeDocument/2006/relationships/slide" Target="/ppt/slides/slide7.xml" Id="R22885aad45524e45" /><Relationship Type="http://schemas.openxmlformats.org/officeDocument/2006/relationships/slide" Target="/ppt/slides/slide8.xml" Id="R4f55cd38cdd2496d" /><Relationship Type="http://schemas.openxmlformats.org/officeDocument/2006/relationships/slide" Target="/ppt/slides/slide9.xml" Id="R78abc24628ee4fa0" /><Relationship Type="http://schemas.openxmlformats.org/officeDocument/2006/relationships/slide" Target="/ppt/slides/slide10.xml" Id="R1155d67593b84a92" /><Relationship Type="http://schemas.openxmlformats.org/officeDocument/2006/relationships/slide" Target="/ppt/slides/slide11.xml" Id="R136e1ba2f43a4d93" /><Relationship Type="http://schemas.openxmlformats.org/officeDocument/2006/relationships/slide" Target="/ppt/slides/slide12.xml" Id="R8d288a400add49ea" /><Relationship Type="http://schemas.openxmlformats.org/officeDocument/2006/relationships/slide" Target="/ppt/slides/slide13.xml" Id="R017248da218f4c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fd6245594444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1fcf6ff4b447dc" /><Relationship Type="http://schemas.openxmlformats.org/officeDocument/2006/relationships/notesMaster" Target="/ppt/notesMasters/notesMaster1.xml" Id="R6d711510462b4f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2ccbbb1f0e4192" /><Relationship Type="http://schemas.openxmlformats.org/officeDocument/2006/relationships/notesMaster" Target="/ppt/notesMasters/notesMaster1.xml" Id="R31af7f7bb85b48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f9a97118164b55" /><Relationship Type="http://schemas.openxmlformats.org/officeDocument/2006/relationships/notesMaster" Target="/ppt/notesMasters/notesMaster1.xml" Id="R43b227d9e0204b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f3699bb2304a61" /><Relationship Type="http://schemas.openxmlformats.org/officeDocument/2006/relationships/notesMaster" Target="/ppt/notesMasters/notesMaster1.xml" Id="R59dec097439e42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0894bd55a84454" /><Relationship Type="http://schemas.openxmlformats.org/officeDocument/2006/relationships/notesMaster" Target="/ppt/notesMasters/notesMaster1.xml" Id="R1c3dfa74a19640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200463758945f9" /><Relationship Type="http://schemas.openxmlformats.org/officeDocument/2006/relationships/notesMaster" Target="/ppt/notesMasters/notesMaster1.xml" Id="Rbd6293ebfbfb43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cab601ba9246aa" /><Relationship Type="http://schemas.openxmlformats.org/officeDocument/2006/relationships/notesMaster" Target="/ppt/notesMasters/notesMaster1.xml" Id="R61fdb6ea209e4a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6611a026a44726" /><Relationship Type="http://schemas.openxmlformats.org/officeDocument/2006/relationships/notesMaster" Target="/ppt/notesMasters/notesMaster1.xml" Id="Rde2f564b728a44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0dde8a03874f59" /><Relationship Type="http://schemas.openxmlformats.org/officeDocument/2006/relationships/notesMaster" Target="/ppt/notesMasters/notesMaster1.xml" Id="R1b135c8b7fdd49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14e2cca96f4434" /><Relationship Type="http://schemas.openxmlformats.org/officeDocument/2006/relationships/notesMaster" Target="/ppt/notesMasters/notesMaster1.xml" Id="R61bf4c6cbcc04a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4824f9eaf24d63" /><Relationship Type="http://schemas.openxmlformats.org/officeDocument/2006/relationships/notesMaster" Target="/ppt/notesMasters/notesMaster1.xml" Id="R6742b27efe4443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dd0dc029c14e72" /><Relationship Type="http://schemas.openxmlformats.org/officeDocument/2006/relationships/notesMaster" Target="/ppt/notesMasters/notesMaster1.xml" Id="Reabcaef9659c4c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57bb1de9b74267" /><Relationship Type="http://schemas.openxmlformats.org/officeDocument/2006/relationships/notesMaster" Target="/ppt/notesMasters/notesMaster1.xml" Id="R31856d3f70bc40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this as a proposal. The project name is still under consideration, so the deck uses a descriptive working title rather than treating Osprey as final branding.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Equifax breach was not caused by a lack of security tools. The organization had a patching process, but a complex legacy environment and failed verification left an internet-facing portal exposed. Official sources: https://oversight.house.gov/report/committee-releases-report-revealing-new-information-on-equifax-data-breach/ and https://www.ftc.gov/news-events/news/press-releases/2019/07/equifax-pay-575-million-part-settlement-ftc-cfpb-states-related-2017-data-breach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across the upper row as the standard workflow a human tester already knows. Then point out that recent AI systems add reasoning and orchestration, but most still sit above fragmented tools or are evaluated in bounded environments. The ten names are drawn from the report and existing deck; they are presented as systems/frameworks, not as identical products.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phrase operational security gap. The central argument is not that the industry lacks scanners; it lacks a dependable harness that can coordinate them over a changing, wide attack surface while keeping evidence and scope intact. Emphasize that LLMs are valuable but should not be mandatory for routine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requirements for the future system, not claims about a finished product. The distinction between deterministic intelligence and AI assistance is deliberate: the deterministic layer owns the standard methodology, while the AI layer adds judgment only where it changes the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proposal slide. Both modes use the same CLI, tools and evidence store. The deterministic engine is not a fallback script hidden behind one call; it is the baseline intelligence that continually decides which known methodology opportunity is ready next. AI observes the same evidence and adds adaptive 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architecture from top to bottom. The CLI owns the visible operator experience, while dashboard and MCP are additional clients rather than separate orchestration systems. This prevents duplicated brains and inconsistent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a single expansion tool and not a rigid checklist. The engine evaluates opportunities from current evidence, selects the next standard action, and loops when new facts change the surface. Nuclei, SQLmap and other baseline scanners remain part of the methodology; AI is not required to remember to run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why the platform will not rely on promotion calculations or a mixed bucket of findings. Memory will reflect an evidence lifecycle: raw tool facts first, hypotheses and candidates separately, then verified findings only when proof exists. This reduces false positives without adding another complex scoring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planned schedule. The final evaluation will compare coverage, reliability across both modes, safety controls and time efficiency against manual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 primary areas identify ownership, not silos. Integration, testing, validation, debugging, evaluation and documentation remain shared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users are professional security teams. The SDG mapping is supportive context: resilient infrastructure, stronger institutions and interoperable partnerships.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whether the system already exists, clarify that this defense presents the proposed architecture and planned implementation; the project name is still a working title.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43705a8a1e49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9424d6a92e43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40242070a142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f62fbc613b4a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da6f75c0d74d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357aa93e98b45f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cc933041d5240b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eaffd81d3924fd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568387bbb414e8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807d890f9884ee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1deeaa02dbc42c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C9685D-CF79-41D1-B6D8-31D96470A7F3}"/>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91B3317-0809-4167-A0A3-A4B0F597A5AB}"/>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2561F99-2B1B-4FAB-B113-E3DB28BEFD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6C40A0F1-C02F-49CE-BD97-1CA2687D62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2BE46A8-A0ED-44BE-A9B8-A5744E702C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C00EA1-EEAB-42F2-BF2A-0BF08FC15FB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9B40325-5041-40BE-8664-323ED41323F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C391C43-0730-44F7-818D-056D8A961D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19BB595A-63A4-4657-98DF-7E402432E5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97298E7-2DBE-4B0A-B0D8-3390557B95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402C79-745C-4144-A002-B44DBDB532C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24EB048-5C02-4A9D-B349-7E38E127D7D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A03075C-DA0B-4BB5-9FBD-660D7C5137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32DF1BA5-AEC9-43F0-BB90-570FFEEAED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D55A0AB-3B81-4947-8C9D-9A0617093A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E27A05-221D-4E1F-9898-EA642995383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2AE357B-58CD-402C-80E4-0CFE3DCEFC9D}"/>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F8D59F71-7446-429A-9C6B-B9A3ADDD433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A0EE693E-D34B-4515-B6DD-212D11E3784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437A463B-C7C2-415F-9C1E-DE17CC49E4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705EC11-76D5-4718-A281-7E5A314FD4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E81B2A-8BE3-4B16-B5FE-6F405A5FA4A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3881C72-1987-4563-8F7D-1011EA2762C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0C716ED-1738-4605-BC2A-AF907E25142C}"/>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1FB62A7-B89F-4325-81F7-13970BBC39D9}"/>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D4BEF2C-4267-447B-A04E-D69EBE1E1B0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E40B8893-A0B9-4CDC-B45D-389815CB11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8" name="Footer Placeholder 7">
            <a:extLst xmlns:a="http://schemas.openxmlformats.org/drawingml/2006/main">
              <a:ext uri="{FF2B5EF4-FFF2-40B4-BE49-F238E27FC236}">
                <a16:creationId xmlns:a16="http://schemas.microsoft.com/office/drawing/2014/main" id="{537C6007-B79E-4669-A203-FEFE65DF62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46A950F-EA43-45D6-AE99-5687BA1B380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65ED08-4F34-405A-A4C6-6488F029CA4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67A19D1F-2BAF-4303-B6F0-15D8B49B43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4" name="Footer Placeholder 3">
            <a:extLst xmlns:a="http://schemas.openxmlformats.org/drawingml/2006/main">
              <a:ext uri="{FF2B5EF4-FFF2-40B4-BE49-F238E27FC236}">
                <a16:creationId xmlns:a16="http://schemas.microsoft.com/office/drawing/2014/main" id="{1702F41E-DFDF-4A74-8BEF-5018E158F6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A9D8349-BEB2-4154-9C63-04EAC3C5C2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590EE04-2ECE-4239-8CF4-8933CDDE09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3" name="Footer Placeholder 2">
            <a:extLst xmlns:a="http://schemas.openxmlformats.org/drawingml/2006/main">
              <a:ext uri="{FF2B5EF4-FFF2-40B4-BE49-F238E27FC236}">
                <a16:creationId xmlns:a16="http://schemas.microsoft.com/office/drawing/2014/main" id="{87B47143-2494-4B4F-8D72-BA817F49A4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ED2FD93-3AF6-46B0-A3A6-264A1F9F2A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293D33-F0D9-49C2-8F97-8D6E7F6658C4}"/>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C2CD3B8-3E96-4C2E-867A-C14E72375D9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44C33C25-A481-4F2F-A9E5-2A9A0A18D384}"/>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93C3B59-483E-4A12-B433-1F0AEA7FFA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5D373896-3010-46FB-AE36-5C7B56F083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DD5F4AF-EF76-4B26-BA5B-1D7F0F9ED9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EF28C-8382-423B-9351-C35D0D1ABEC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729B43B-D6A2-4C99-817C-9EEF7C78D0FC}"/>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7706185-5712-44CB-A445-80704CB5CCAB}"/>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BABAC2A-3EB4-4E15-B469-4183DB99BD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2499F372-FEEB-433F-9942-21E1CA7723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DA0DAA5-2090-4C51-BAEB-B0969AD2CC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F227303-FCF8-4430-A79B-658102E4F21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5C1F71B-D505-481A-A793-2D1CCC52BA6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7F110BA-72CE-4A47-B5E0-959AB7C0CC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EE1967E0-0870-4831-B2CE-53BCF98BF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9CD6584-452A-4F00-9FCE-20EC57679F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92853B5-63B3-48E6-9117-EE6C6B1806F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EBF0030-1358-4D0D-9FD1-50A5294C1A1A}"/>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6301A29-AFB5-45F1-893E-D24DB581BE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7732805F-EAAD-46C0-B2C4-F91E634C90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C79F700-81D1-4834-A530-B1C6484134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9143e9376d436e" /><Relationship Type="http://schemas.openxmlformats.org/officeDocument/2006/relationships/slideLayout" Target="/ppt/slideLayouts/slideLayout1.xml" Id="Rc72d8c780d0d4c4d" /><Relationship Type="http://schemas.openxmlformats.org/officeDocument/2006/relationships/slideLayout" Target="/ppt/slideLayouts/slideLayout2.xml" Id="R0e8c1181bbb1479c" /><Relationship Type="http://schemas.openxmlformats.org/officeDocument/2006/relationships/slideLayout" Target="/ppt/slideLayouts/slideLayout3.xml" Id="R6a26532804594a91" /><Relationship Type="http://schemas.openxmlformats.org/officeDocument/2006/relationships/slideLayout" Target="/ppt/slideLayouts/slideLayout4.xml" Id="R344d90c7f9ce4c8e" /><Relationship Type="http://schemas.openxmlformats.org/officeDocument/2006/relationships/slideLayout" Target="/ppt/slideLayouts/slideLayout5.xml" Id="R5b3cd6a54975416e" /><Relationship Type="http://schemas.openxmlformats.org/officeDocument/2006/relationships/slideLayout" Target="/ppt/slideLayouts/slideLayout6.xml" Id="Rf149971f674b433e" /><Relationship Type="http://schemas.openxmlformats.org/officeDocument/2006/relationships/slideLayout" Target="/ppt/slideLayouts/slideLayout7.xml" Id="Rcecc1a4160094e0c" /><Relationship Type="http://schemas.openxmlformats.org/officeDocument/2006/relationships/slideLayout" Target="/ppt/slideLayouts/slideLayout8.xml" Id="R546ea159cce04d49" /><Relationship Type="http://schemas.openxmlformats.org/officeDocument/2006/relationships/slideLayout" Target="/ppt/slideLayouts/slideLayout9.xml" Id="R459181a5113f4eba" /><Relationship Type="http://schemas.openxmlformats.org/officeDocument/2006/relationships/slideLayout" Target="/ppt/slideLayouts/slideLayout10.xml" Id="R915b2f0b8e7943bf" /><Relationship Type="http://schemas.openxmlformats.org/officeDocument/2006/relationships/slideLayout" Target="/ppt/slideLayouts/slideLayout11.xml" Id="R4fccadb7de6047d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E696E2A-04BE-41FA-AB22-8195A2283B7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2B4F5E3-C230-4BCD-97C1-2D5C3CF8A2E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AAF2C97-A78F-4AC3-97AA-A1776A206A5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461B8A37-5CBE-426B-95DB-A1CC8156B4D7}"/>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3764C84-5408-4526-B1D9-8B2BDA8B464C}"/>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2d8c780d0d4c4d"/>
    <p:sldLayoutId xmlns:r="http://schemas.openxmlformats.org/officeDocument/2006/relationships" id="2147483650" r:id="R0e8c1181bbb1479c"/>
    <p:sldLayoutId xmlns:r="http://schemas.openxmlformats.org/officeDocument/2006/relationships" id="2147483651" r:id="R6a26532804594a91"/>
    <p:sldLayoutId xmlns:r="http://schemas.openxmlformats.org/officeDocument/2006/relationships" id="2147483652" r:id="R344d90c7f9ce4c8e"/>
    <p:sldLayoutId xmlns:r="http://schemas.openxmlformats.org/officeDocument/2006/relationships" id="2147483653" r:id="R5b3cd6a54975416e"/>
    <p:sldLayoutId xmlns:r="http://schemas.openxmlformats.org/officeDocument/2006/relationships" id="2147483654" r:id="Rf149971f674b433e"/>
    <p:sldLayoutId xmlns:r="http://schemas.openxmlformats.org/officeDocument/2006/relationships" id="2147483655" r:id="Rcecc1a4160094e0c"/>
    <p:sldLayoutId xmlns:r="http://schemas.openxmlformats.org/officeDocument/2006/relationships" id="2147483656" r:id="R546ea159cce04d49"/>
    <p:sldLayoutId xmlns:r="http://schemas.openxmlformats.org/officeDocument/2006/relationships" id="2147483657" r:id="R459181a5113f4eba"/>
    <p:sldLayoutId xmlns:r="http://schemas.openxmlformats.org/officeDocument/2006/relationships" id="2147483658" r:id="R915b2f0b8e7943bf"/>
    <p:sldLayoutId xmlns:r="http://schemas.openxmlformats.org/officeDocument/2006/relationships" id="2147483659" r:id="R4fccadb7de6047d4"/>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5339b9f312a4753" /><Relationship Type="http://schemas.openxmlformats.org/officeDocument/2006/relationships/notesSlide" Target="/ppt/notesSlides/notesSlide1.xml" Id="R684c7adf632a47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85edb9e39cf4b06" /><Relationship Type="http://schemas.openxmlformats.org/officeDocument/2006/relationships/notesSlide" Target="/ppt/notesSlides/notesSlide2.xml" Id="R3f5988084b0a45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2ed2028dbd0648ef" /><Relationship Type="http://schemas.openxmlformats.org/officeDocument/2006/relationships/notesSlide" Target="/ppt/notesSlides/notesSlide3.xml" Id="Ra070cc7f087844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faff94db6fc3461e" /><Relationship Type="http://schemas.openxmlformats.org/officeDocument/2006/relationships/notesSlide" Target="/ppt/notesSlides/notesSlide4.xml" Id="Rd7465b0f7e6940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14925721b2d4012" /><Relationship Type="http://schemas.openxmlformats.org/officeDocument/2006/relationships/notesSlide" Target="/ppt/notesSlides/notesSlide5.xml" Id="Rb501a15c65fa4f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347ab12615a04a09" /><Relationship Type="http://schemas.openxmlformats.org/officeDocument/2006/relationships/notesSlide" Target="/ppt/notesSlides/notesSlide6.xml" Id="R480980a28d7945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e2799e1f2d04e7d" /><Relationship Type="http://schemas.openxmlformats.org/officeDocument/2006/relationships/notesSlide" Target="/ppt/notesSlides/notesSlide7.xml" Id="R5994049810fc44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f750c693c2c84e24" /><Relationship Type="http://schemas.openxmlformats.org/officeDocument/2006/relationships/notesSlide" Target="/ppt/notesSlides/notesSlide8.xml" Id="R6ebf01dbbb4c48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ee2a6f556e3d432c" /><Relationship Type="http://schemas.openxmlformats.org/officeDocument/2006/relationships/notesSlide" Target="/ppt/notesSlides/notesSlide9.xml" Id="R59f79e6ccb574c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eca341ad4e584fe2" /><Relationship Type="http://schemas.openxmlformats.org/officeDocument/2006/relationships/notesSlide" Target="/ppt/notesSlides/notesSlide10.xml" Id="Rbee89e7ac13a4e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5d3449b736a4e7e" /><Relationship Type="http://schemas.openxmlformats.org/officeDocument/2006/relationships/notesSlide" Target="/ppt/notesSlides/notesSlide11.xml" Id="Ra06670b2ab2549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f45ee4025de4949" /><Relationship Type="http://schemas.openxmlformats.org/officeDocument/2006/relationships/notesSlide" Target="/ppt/notesSlides/notesSlide12.xml" Id="R29b6d0d5ea0542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0a7a1aacc2e04f94" /><Relationship Type="http://schemas.openxmlformats.org/officeDocument/2006/relationships/notesSlide" Target="/ppt/notesSlides/notesSlide13.xml" Id="R74f9d57a262a43a1"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4E05781-8C87-4773-A8B9-E11DC0A6310C}"/>
              </a:ext>
            </a:extLst>
          </p:cNvPr>
          <p:cNvSpPr>
            <a:spLocks xmlns:a="http://schemas.openxmlformats.org/drawingml/2006/main" noGrp="1"/>
          </p:cNvSpPr>
          <p:nvPr/>
        </p:nvSpPr>
        <p:spPr>
          <a:xfrm xmlns:a="http://schemas.openxmlformats.org/drawingml/2006/main">
            <a:off x="876300" y="704850"/>
            <a:ext cx="40957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2D8B84"/>
                </a:solidFill>
                <a:latin typeface="Arial"/>
                <a:ea typeface="Arial"/>
                <a:cs typeface="Arial"/>
              </a:defRPr>
            </a:pPr>
            <a:r>
              <a:rPr sz="1350" b="1">
                <a:solidFill>
                  <a:srgbClr val="2D8B84"/>
                </a:solidFill>
                <a:latin typeface="Arial"/>
                <a:ea typeface="Arial"/>
                <a:cs typeface="Arial"/>
              </a:rPr>
              <a:t>FYP PROPOSAL DEFENSE · WORKING TITLE</a:t>
            </a:r>
          </a:p>
        </p:txBody>
      </p:sp>
      <p:sp>
        <p:nvSpPr>
          <p:cNvPr id="2" name="">
            <a:extLst xmlns:a="http://schemas.openxmlformats.org/drawingml/2006/main">
              <a:ext uri="{FF2B5EF4-FFF2-40B4-BE49-F238E27FC236}">
                <a16:creationId xmlns:a16="http://schemas.microsoft.com/office/drawing/2014/main" id="{F3ACBCC3-D0D2-480B-B1C6-6E4B1A65E282}"/>
              </a:ext>
            </a:extLst>
          </p:cNvPr>
          <p:cNvSpPr>
            <a:spLocks xmlns:a="http://schemas.openxmlformats.org/drawingml/2006/main" noGrp="1"/>
          </p:cNvSpPr>
          <p:nvPr/>
        </p:nvSpPr>
        <p:spPr>
          <a:xfrm xmlns:a="http://schemas.openxmlformats.org/drawingml/2006/main">
            <a:off x="876300" y="1504950"/>
            <a:ext cx="8763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Autonomous Web Security</a:t>
            </a:r>
          </a:p>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Assessment Framework</a:t>
            </a:r>
          </a:p>
        </p:txBody>
      </p:sp>
      <p:sp>
        <p:nvSpPr>
          <p:cNvPr id="3" name="">
            <a:extLst xmlns:a="http://schemas.openxmlformats.org/drawingml/2006/main">
              <a:ext uri="{FF2B5EF4-FFF2-40B4-BE49-F238E27FC236}">
                <a16:creationId xmlns:a16="http://schemas.microsoft.com/office/drawing/2014/main" id="{1A9D2720-3421-4C0C-9FA2-FDD6249D40B3}"/>
              </a:ext>
            </a:extLst>
          </p:cNvPr>
          <p:cNvSpPr>
            <a:spLocks xmlns:a="http://schemas.openxmlformats.org/drawingml/2006/main" noGrp="1"/>
          </p:cNvSpPr>
          <p:nvPr/>
        </p:nvSpPr>
        <p:spPr>
          <a:xfrm xmlns:a="http://schemas.openxmlformats.org/drawingml/2006/main">
            <a:off x="914400" y="3676650"/>
            <a:ext cx="8286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0" i="0">
                <a:solidFill>
                  <a:srgbClr val="5F7180"/>
                </a:solidFill>
                <a:latin typeface="Arial"/>
                <a:ea typeface="Arial"/>
                <a:cs typeface="Arial"/>
              </a:defRPr>
            </a:pPr>
            <a:r>
              <a:rPr sz="2100" b="0" i="0">
                <a:solidFill>
                  <a:srgbClr val="5F7180"/>
                </a:solidFill>
                <a:latin typeface="Arial"/>
                <a:ea typeface="Arial"/>
                <a:cs typeface="Arial"/>
              </a:rPr>
              <a:t>A proposed dual-mode pentesting harness for broad, evidence-driven testing</a:t>
            </a:r>
          </a:p>
        </p:txBody>
      </p:sp>
      <p:sp>
        <p:nvSpPr>
          <p:cNvPr id="4" name="">
            <a:extLst xmlns:a="http://schemas.openxmlformats.org/drawingml/2006/main">
              <a:ext uri="{FF2B5EF4-FFF2-40B4-BE49-F238E27FC236}">
                <a16:creationId xmlns:a16="http://schemas.microsoft.com/office/drawing/2014/main" id="{7F85B3F0-49BA-4BD2-BF96-CF4BDB883120}"/>
              </a:ext>
            </a:extLst>
          </p:cNvPr>
          <p:cNvSpPr>
            <a:spLocks xmlns:a="http://schemas.openxmlformats.org/drawingml/2006/main" noGrp="1"/>
          </p:cNvSpPr>
          <p:nvPr/>
        </p:nvSpPr>
        <p:spPr>
          <a:xfrm xmlns:a="http://schemas.openxmlformats.org/drawingml/2006/main">
            <a:off x="914400" y="47625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664B8CE4-7AA7-43F1-874D-6657EE208732}"/>
              </a:ext>
            </a:extLst>
          </p:cNvPr>
          <p:cNvSpPr>
            <a:spLocks xmlns:a="http://schemas.openxmlformats.org/drawingml/2006/main" noGrp="1"/>
          </p:cNvSpPr>
          <p:nvPr/>
        </p:nvSpPr>
        <p:spPr>
          <a:xfrm xmlns:a="http://schemas.openxmlformats.org/drawingml/2006/main">
            <a:off x="914400" y="5086350"/>
            <a:ext cx="866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Muhammad Usman Hamed  ·  Abdul Ahad  ·  Obaid Ishtiaq Satti</a:t>
            </a:r>
          </a:p>
        </p:txBody>
      </p:sp>
      <p:sp>
        <p:nvSpPr>
          <p:cNvPr id="6" name="">
            <a:extLst xmlns:a="http://schemas.openxmlformats.org/drawingml/2006/main">
              <a:ext uri="{FF2B5EF4-FFF2-40B4-BE49-F238E27FC236}">
                <a16:creationId xmlns:a16="http://schemas.microsoft.com/office/drawing/2014/main" id="{348EB4AB-F258-4C3B-9944-DF6ADE51E0BE}"/>
              </a:ext>
            </a:extLst>
          </p:cNvPr>
          <p:cNvSpPr>
            <a:spLocks xmlns:a="http://schemas.openxmlformats.org/drawingml/2006/main" noGrp="1"/>
          </p:cNvSpPr>
          <p:nvPr/>
        </p:nvSpPr>
        <p:spPr>
          <a:xfrm xmlns:a="http://schemas.openxmlformats.org/drawingml/2006/main">
            <a:off x="914400" y="5638800"/>
            <a:ext cx="866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5F7180"/>
                </a:solidFill>
                <a:latin typeface="Arial"/>
                <a:ea typeface="Arial"/>
                <a:cs typeface="Arial"/>
              </a:defRPr>
            </a:pPr>
            <a:r>
              <a:rPr sz="1500" b="0" i="0">
                <a:solidFill>
                  <a:srgbClr val="5F7180"/>
                </a:solidFill>
                <a:latin typeface="Arial"/>
                <a:ea typeface="Arial"/>
                <a:cs typeface="Arial"/>
              </a:rPr>
              <a:t>Advisor: Dr. Madiha Khalid    Co-Advisor: Dr. Mehdi Hussain</a:t>
            </a:r>
          </a:p>
        </p:txBody>
      </p:sp>
      <p:sp>
        <p:nvSpPr>
          <p:cNvPr id="7" name="">
            <a:extLst xmlns:a="http://schemas.openxmlformats.org/drawingml/2006/main">
              <a:ext uri="{FF2B5EF4-FFF2-40B4-BE49-F238E27FC236}">
                <a16:creationId xmlns:a16="http://schemas.microsoft.com/office/drawing/2014/main" id="{96522196-8B3F-4C71-B667-B30D5AFB5B0B}"/>
              </a:ext>
            </a:extLst>
          </p:cNvPr>
          <p:cNvSpPr>
            <a:spLocks xmlns:a="http://schemas.openxmlformats.org/drawingml/2006/main" noGrp="1"/>
          </p:cNvSpPr>
          <p:nvPr/>
        </p:nvSpPr>
        <p:spPr>
          <a:xfrm xmlns:a="http://schemas.openxmlformats.org/drawingml/2006/main">
            <a:off x="914400" y="6172200"/>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School of Electrical Engineering and Computer Science · NUST</a:t>
            </a:r>
          </a:p>
        </p:txBody>
      </p:sp>
      <p:sp>
        <p:nvSpPr>
          <p:cNvPr id="8" name="">
            <a:extLst xmlns:a="http://schemas.openxmlformats.org/drawingml/2006/main">
              <a:ext uri="{FF2B5EF4-FFF2-40B4-BE49-F238E27FC236}">
                <a16:creationId xmlns:a16="http://schemas.microsoft.com/office/drawing/2014/main" id="{F4E38129-483A-4FEB-85F8-6F4720938AA5}"/>
              </a:ext>
            </a:extLst>
          </p:cNvPr>
          <p:cNvSpPr>
            <a:spLocks xmlns:a="http://schemas.openxmlformats.org/drawingml/2006/main" noGrp="1"/>
          </p:cNvSpPr>
          <p:nvPr/>
        </p:nvSpPr>
        <p:spPr>
          <a:xfrm xmlns:a="http://schemas.openxmlformats.org/drawingml/2006/main">
            <a:off x="10287000" y="1143000"/>
            <a:ext cx="7048500" cy="7334250"/>
          </a:xfrm>
          <a:prstGeom xmlns:a="http://schemas.openxmlformats.org/drawingml/2006/main" prst="roundRect">
            <a:avLst>
              <a:gd name="adj" fmla="val 1081"/>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0508C1FA-765C-4040-ACD0-5CCF2F9B26BB}"/>
              </a:ext>
            </a:extLst>
          </p:cNvPr>
          <p:cNvSpPr>
            <a:spLocks xmlns:a="http://schemas.openxmlformats.org/drawingml/2006/main" noGrp="1"/>
          </p:cNvSpPr>
          <p:nvPr/>
        </p:nvSpPr>
        <p:spPr>
          <a:xfrm xmlns:a="http://schemas.openxmlformats.org/drawingml/2006/main">
            <a:off x="12287250" y="15621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AUTHORIZED TARGET</a:t>
            </a:r>
          </a:p>
        </p:txBody>
      </p:sp>
      <p:sp>
        <p:nvSpPr>
          <p:cNvPr id="10" name="">
            <a:extLst xmlns:a="http://schemas.openxmlformats.org/drawingml/2006/main">
              <a:ext uri="{FF2B5EF4-FFF2-40B4-BE49-F238E27FC236}">
                <a16:creationId xmlns:a16="http://schemas.microsoft.com/office/drawing/2014/main" id="{20F2AD8E-7C1F-4985-A365-67B5CD1A3B3C}"/>
              </a:ext>
            </a:extLst>
          </p:cNvPr>
          <p:cNvSpPr>
            <a:spLocks xmlns:a="http://schemas.openxmlformats.org/drawingml/2006/main" noGrp="1"/>
          </p:cNvSpPr>
          <p:nvPr/>
        </p:nvSpPr>
        <p:spPr>
          <a:xfrm xmlns:a="http://schemas.openxmlformats.org/drawingml/2006/main">
            <a:off x="12192000" y="2038350"/>
            <a:ext cx="323850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123B63"/>
                </a:solidFill>
                <a:latin typeface="Arial"/>
                <a:ea typeface="Arial"/>
                <a:cs typeface="Arial"/>
              </a:defRPr>
            </a:pPr>
            <a:r>
              <a:rPr sz="1650" b="1">
                <a:solidFill>
                  <a:srgbClr val="123B63"/>
                </a:solidFill>
                <a:latin typeface="Arial"/>
                <a:ea typeface="Arial"/>
                <a:cs typeface="Arial"/>
              </a:rPr>
              <a:t>domain / IP / scope</a:t>
            </a:r>
          </a:p>
        </p:txBody>
      </p:sp>
      <p:sp>
        <p:nvSpPr>
          <p:cNvPr id="11" name="">
            <a:extLst xmlns:a="http://schemas.openxmlformats.org/drawingml/2006/main">
              <a:ext uri="{FF2B5EF4-FFF2-40B4-BE49-F238E27FC236}">
                <a16:creationId xmlns:a16="http://schemas.microsoft.com/office/drawing/2014/main" id="{88ACE2E7-95B0-4F26-A5DA-D4225C4F165E}"/>
              </a:ext>
            </a:extLst>
          </p:cNvPr>
          <p:cNvSpPr>
            <a:spLocks xmlns:a="http://schemas.openxmlformats.org/drawingml/2006/main" noGrp="1"/>
          </p:cNvSpPr>
          <p:nvPr/>
        </p:nvSpPr>
        <p:spPr>
          <a:xfrm xmlns:a="http://schemas.openxmlformats.org/drawingml/2006/main">
            <a:off x="13620750" y="280035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07C288C-A059-43CB-97C3-414BD6735B56}"/>
              </a:ext>
            </a:extLst>
          </p:cNvPr>
          <p:cNvSpPr>
            <a:spLocks xmlns:a="http://schemas.openxmlformats.org/drawingml/2006/main" noGrp="1"/>
          </p:cNvSpPr>
          <p:nvPr/>
        </p:nvSpPr>
        <p:spPr>
          <a:xfrm xmlns:a="http://schemas.openxmlformats.org/drawingml/2006/main">
            <a:off x="11525250" y="3467100"/>
            <a:ext cx="45720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E6BB0E5-AD18-44A8-827C-CA4B733B0D7C}"/>
              </a:ext>
            </a:extLst>
          </p:cNvPr>
          <p:cNvSpPr>
            <a:spLocks xmlns:a="http://schemas.openxmlformats.org/drawingml/2006/main" noGrp="1"/>
          </p:cNvSpPr>
          <p:nvPr/>
        </p:nvSpPr>
        <p:spPr>
          <a:xfrm xmlns:a="http://schemas.openxmlformats.org/drawingml/2006/main">
            <a:off x="12192000" y="379095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CLI HARNESS</a:t>
            </a:r>
          </a:p>
        </p:txBody>
      </p:sp>
      <p:sp>
        <p:nvSpPr>
          <p:cNvPr id="14" name="">
            <a:extLst xmlns:a="http://schemas.openxmlformats.org/drawingml/2006/main">
              <a:ext uri="{FF2B5EF4-FFF2-40B4-BE49-F238E27FC236}">
                <a16:creationId xmlns:a16="http://schemas.microsoft.com/office/drawing/2014/main" id="{9EC7F3F8-8C2E-4F78-899C-F2C7960A0C13}"/>
              </a:ext>
            </a:extLst>
          </p:cNvPr>
          <p:cNvSpPr>
            <a:spLocks xmlns:a="http://schemas.openxmlformats.org/drawingml/2006/main" noGrp="1"/>
          </p:cNvSpPr>
          <p:nvPr/>
        </p:nvSpPr>
        <p:spPr>
          <a:xfrm xmlns:a="http://schemas.openxmlformats.org/drawingml/2006/main">
            <a:off x="12001500" y="43624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0" i="0">
                <a:solidFill>
                  <a:srgbClr val="DDEAF2"/>
                </a:solidFill>
                <a:latin typeface="Arial"/>
                <a:ea typeface="Arial"/>
                <a:cs typeface="Arial"/>
              </a:defRPr>
            </a:pPr>
            <a:r>
              <a:rPr sz="1650" b="0" i="0">
                <a:solidFill>
                  <a:srgbClr val="DDEAF2"/>
                </a:solidFill>
                <a:latin typeface="Arial"/>
                <a:ea typeface="Arial"/>
                <a:cs typeface="Arial"/>
              </a:rPr>
              <a:t>Deterministic methodology</a:t>
            </a:r>
          </a:p>
          <a:p xmlns:a="http://schemas.openxmlformats.org/drawingml/2006/main">
            <a:pPr algn="ctr">
              <a:lnSpc>
                <a:spcPct val="100000"/>
              </a:lnSpc>
              <a:buNone/>
              <a:defRPr sz="1650" b="0" i="0">
                <a:solidFill>
                  <a:srgbClr val="DDEAF2"/>
                </a:solidFill>
                <a:latin typeface="Arial"/>
                <a:ea typeface="Arial"/>
                <a:cs typeface="Arial"/>
              </a:defRPr>
            </a:pPr>
            <a:r>
              <a:rPr sz="1650" b="0" i="0">
                <a:solidFill>
                  <a:srgbClr val="DDEAF2"/>
                </a:solidFill>
                <a:latin typeface="Arial"/>
                <a:ea typeface="Arial"/>
                <a:cs typeface="Arial"/>
              </a:rPr>
              <a:t>+ optional AI reasoning</a:t>
            </a:r>
          </a:p>
        </p:txBody>
      </p:sp>
      <p:sp>
        <p:nvSpPr>
          <p:cNvPr id="15" name="">
            <a:extLst xmlns:a="http://schemas.openxmlformats.org/drawingml/2006/main">
              <a:ext uri="{FF2B5EF4-FFF2-40B4-BE49-F238E27FC236}">
                <a16:creationId xmlns:a16="http://schemas.microsoft.com/office/drawing/2014/main" id="{19E19C39-3C4A-46F6-AB78-7A6862495B9D}"/>
              </a:ext>
            </a:extLst>
          </p:cNvPr>
          <p:cNvSpPr>
            <a:spLocks xmlns:a="http://schemas.openxmlformats.org/drawingml/2006/main" noGrp="1"/>
          </p:cNvSpPr>
          <p:nvPr/>
        </p:nvSpPr>
        <p:spPr>
          <a:xfrm xmlns:a="http://schemas.openxmlformats.org/drawingml/2006/main">
            <a:off x="13620750" y="556260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D989139-BD80-4703-A6B6-4C259289AC58}"/>
              </a:ext>
            </a:extLst>
          </p:cNvPr>
          <p:cNvSpPr>
            <a:spLocks xmlns:a="http://schemas.openxmlformats.org/drawingml/2006/main" noGrp="1"/>
          </p:cNvSpPr>
          <p:nvPr/>
        </p:nvSpPr>
        <p:spPr>
          <a:xfrm xmlns:a="http://schemas.openxmlformats.org/drawingml/2006/main">
            <a:off x="10744200" y="6457950"/>
            <a:ext cx="2000250" cy="590550"/>
          </a:xfrm>
          <a:prstGeom xmlns:a="http://schemas.openxmlformats.org/drawingml/2006/main" prst="roundRect">
            <a:avLst>
              <a:gd name="adj" fmla="val 1290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123B63"/>
                </a:solidFill>
                <a:latin typeface="Arial"/>
                <a:ea typeface="Arial"/>
                <a:cs typeface="Arial"/>
              </a:defRPr>
            </a:pPr>
            <a:r>
              <a:rPr sz="1350" b="1">
                <a:solidFill>
                  <a:srgbClr val="123B63"/>
                </a:solidFill>
                <a:latin typeface="Arial"/>
                <a:ea typeface="Arial"/>
                <a:cs typeface="Arial"/>
              </a:rPr>
              <a:t>Attack-surface map</a:t>
            </a:r>
          </a:p>
        </p:txBody>
      </p:sp>
      <p:sp>
        <p:nvSpPr>
          <p:cNvPr id="17" name="">
            <a:extLst xmlns:a="http://schemas.openxmlformats.org/drawingml/2006/main">
              <a:ext uri="{FF2B5EF4-FFF2-40B4-BE49-F238E27FC236}">
                <a16:creationId xmlns:a16="http://schemas.microsoft.com/office/drawing/2014/main" id="{E3330B4D-FA10-4EB5-ADEF-D6A73A6BEEE0}"/>
              </a:ext>
            </a:extLst>
          </p:cNvPr>
          <p:cNvSpPr>
            <a:spLocks xmlns:a="http://schemas.openxmlformats.org/drawingml/2006/main" noGrp="1"/>
          </p:cNvSpPr>
          <p:nvPr/>
        </p:nvSpPr>
        <p:spPr>
          <a:xfrm xmlns:a="http://schemas.openxmlformats.org/drawingml/2006/main">
            <a:off x="12811125" y="6457950"/>
            <a:ext cx="2000250" cy="590550"/>
          </a:xfrm>
          <a:prstGeom xmlns:a="http://schemas.openxmlformats.org/drawingml/2006/main" prst="roundRect">
            <a:avLst>
              <a:gd name="adj" fmla="val 1290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2D8B84"/>
                </a:solidFill>
                <a:latin typeface="Arial"/>
                <a:ea typeface="Arial"/>
                <a:cs typeface="Arial"/>
              </a:defRPr>
            </a:pPr>
            <a:r>
              <a:rPr sz="1350" b="1">
                <a:solidFill>
                  <a:srgbClr val="2D8B84"/>
                </a:solidFill>
                <a:latin typeface="Arial"/>
                <a:ea typeface="Arial"/>
                <a:cs typeface="Arial"/>
              </a:rPr>
              <a:t>Verified evidence</a:t>
            </a:r>
          </a:p>
        </p:txBody>
      </p:sp>
      <p:sp>
        <p:nvSpPr>
          <p:cNvPr id="18" name="">
            <a:extLst xmlns:a="http://schemas.openxmlformats.org/drawingml/2006/main">
              <a:ext uri="{FF2B5EF4-FFF2-40B4-BE49-F238E27FC236}">
                <a16:creationId xmlns:a16="http://schemas.microsoft.com/office/drawing/2014/main" id="{6B635A86-DB37-4993-B8BD-EAF21E2DA057}"/>
              </a:ext>
            </a:extLst>
          </p:cNvPr>
          <p:cNvSpPr>
            <a:spLocks xmlns:a="http://schemas.openxmlformats.org/drawingml/2006/main" noGrp="1"/>
          </p:cNvSpPr>
          <p:nvPr/>
        </p:nvSpPr>
        <p:spPr>
          <a:xfrm xmlns:a="http://schemas.openxmlformats.org/drawingml/2006/main">
            <a:off x="14878050" y="6457950"/>
            <a:ext cx="2000250" cy="590550"/>
          </a:xfrm>
          <a:prstGeom xmlns:a="http://schemas.openxmlformats.org/drawingml/2006/main" prst="roundRect">
            <a:avLst>
              <a:gd name="adj" fmla="val 1290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D79A32"/>
                </a:solidFill>
                <a:latin typeface="Arial"/>
                <a:ea typeface="Arial"/>
                <a:cs typeface="Arial"/>
              </a:defRPr>
            </a:pPr>
            <a:r>
              <a:rPr sz="1350" b="1">
                <a:solidFill>
                  <a:srgbClr val="D79A32"/>
                </a:solidFill>
                <a:latin typeface="Arial"/>
                <a:ea typeface="Arial"/>
                <a:cs typeface="Arial"/>
              </a:rPr>
              <a:t>Structured report</a:t>
            </a:r>
          </a:p>
        </p:txBody>
      </p:sp>
      <p:sp>
        <p:nvSpPr>
          <p:cNvPr id="19" name="">
            <a:extLst xmlns:a="http://schemas.openxmlformats.org/drawingml/2006/main">
              <a:ext uri="{FF2B5EF4-FFF2-40B4-BE49-F238E27FC236}">
                <a16:creationId xmlns:a16="http://schemas.microsoft.com/office/drawing/2014/main" id="{82D4C274-D9B0-4EE3-84CD-1A55CC0D677A}"/>
              </a:ext>
            </a:extLst>
          </p:cNvPr>
          <p:cNvSpPr>
            <a:spLocks xmlns:a="http://schemas.openxmlformats.org/drawingml/2006/main" noGrp="1"/>
          </p:cNvSpPr>
          <p:nvPr/>
        </p:nvSpPr>
        <p:spPr>
          <a:xfrm xmlns:a="http://schemas.openxmlformats.org/drawingml/2006/main">
            <a:off x="11334750" y="7715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1">
                <a:solidFill>
                  <a:srgbClr val="5F7180"/>
                </a:solidFill>
                <a:latin typeface="Arial"/>
                <a:ea typeface="Arial"/>
                <a:cs typeface="Arial"/>
              </a:defRPr>
            </a:pPr>
            <a:r>
              <a:rPr sz="1425" b="0" i="1">
                <a:solidFill>
                  <a:srgbClr val="5F7180"/>
                </a:solidFill>
                <a:latin typeface="Arial"/>
                <a:ea typeface="Arial"/>
                <a:cs typeface="Arial"/>
              </a:rPr>
              <a:t>Proposed system — not a completed product</a:t>
            </a:r>
          </a:p>
        </p:txBody>
      </p:sp>
    </p:spTree>
    <p:extLst>
      <p:ext uri="{BB962C8B-B14F-4D97-AF65-F5344CB8AC3E}">
        <p14:creationId xmlns:p14="http://schemas.microsoft.com/office/powerpoint/2010/main" val="194076593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2A38F08-0E08-4062-98B3-5B3DE5231B1B}"/>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01 / WHY THIS MATTERS</a:t>
            </a:r>
          </a:p>
        </p:txBody>
      </p:sp>
      <p:sp>
        <p:nvSpPr>
          <p:cNvPr id="2" name="">
            <a:extLst xmlns:a="http://schemas.openxmlformats.org/drawingml/2006/main">
              <a:ext uri="{FF2B5EF4-FFF2-40B4-BE49-F238E27FC236}">
                <a16:creationId xmlns:a16="http://schemas.microsoft.com/office/drawing/2014/main" id="{97211641-12F5-4A68-9FF3-4EB3D16B40EB}"/>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Web security protects the entire exposed application surface</a:t>
            </a:r>
          </a:p>
        </p:txBody>
      </p:sp>
      <p:sp>
        <p:nvSpPr>
          <p:cNvPr id="3" name="">
            <a:extLst xmlns:a="http://schemas.openxmlformats.org/drawingml/2006/main">
              <a:ext uri="{FF2B5EF4-FFF2-40B4-BE49-F238E27FC236}">
                <a16:creationId xmlns:a16="http://schemas.microsoft.com/office/drawing/2014/main" id="{154FEA8F-29CB-4827-8DF6-2E90BAFC86C9}"/>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92A26962-7246-418A-BA78-4AF4DBD11DDE}"/>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F63AD65-61DF-43F6-8991-BCE5D6066107}"/>
              </a:ext>
            </a:extLst>
          </p:cNvPr>
          <p:cNvSpPr>
            <a:spLocks xmlns:a="http://schemas.openxmlformats.org/drawingml/2006/main" noGrp="1"/>
          </p:cNvSpPr>
          <p:nvPr/>
        </p:nvSpPr>
        <p:spPr>
          <a:xfrm xmlns:a="http://schemas.openxmlformats.org/drawingml/2006/main">
            <a:off x="876300" y="2190750"/>
            <a:ext cx="6667500" cy="2933700"/>
          </a:xfrm>
          <a:prstGeom xmlns:a="http://schemas.openxmlformats.org/drawingml/2006/main" prst="roundRect">
            <a:avLst>
              <a:gd name="adj" fmla="val 2597"/>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018B9FA-1C3B-44CB-AFAA-9EC7F7CF0A24}"/>
              </a:ext>
            </a:extLst>
          </p:cNvPr>
          <p:cNvSpPr>
            <a:spLocks xmlns:a="http://schemas.openxmlformats.org/drawingml/2006/main" noGrp="1"/>
          </p:cNvSpPr>
          <p:nvPr/>
        </p:nvSpPr>
        <p:spPr>
          <a:xfrm xmlns:a="http://schemas.openxmlformats.org/drawingml/2006/main">
            <a:off x="1257300" y="2590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79A9C8"/>
                </a:solidFill>
                <a:latin typeface="Arial"/>
                <a:ea typeface="Arial"/>
                <a:cs typeface="Arial"/>
              </a:defRPr>
            </a:pPr>
            <a:r>
              <a:rPr sz="1650" b="1" i="0">
                <a:solidFill>
                  <a:srgbClr val="79A9C8"/>
                </a:solidFill>
                <a:latin typeface="Arial"/>
                <a:ea typeface="Arial"/>
                <a:cs typeface="Arial"/>
              </a:rPr>
              <a:t>WEB SECURITY</a:t>
            </a:r>
          </a:p>
        </p:txBody>
      </p:sp>
      <p:sp>
        <p:nvSpPr>
          <p:cNvPr id="7" name="">
            <a:extLst xmlns:a="http://schemas.openxmlformats.org/drawingml/2006/main">
              <a:ext uri="{FF2B5EF4-FFF2-40B4-BE49-F238E27FC236}">
                <a16:creationId xmlns:a16="http://schemas.microsoft.com/office/drawing/2014/main" id="{EFE4F1E0-E7E8-4C50-B730-5A58E23B496E}"/>
              </a:ext>
            </a:extLst>
          </p:cNvPr>
          <p:cNvSpPr>
            <a:spLocks xmlns:a="http://schemas.openxmlformats.org/drawingml/2006/main" noGrp="1"/>
          </p:cNvSpPr>
          <p:nvPr/>
        </p:nvSpPr>
        <p:spPr>
          <a:xfrm xmlns:a="http://schemas.openxmlformats.org/drawingml/2006/main">
            <a:off x="1257300" y="314325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612"/>
          </a:bodyPr>
          <a:lstStyle xmlns:a="http://schemas.openxmlformats.org/drawingml/2006/main"/>
          <a:p xmlns:a="http://schemas.openxmlformats.org/drawingml/2006/main">
            <a:pPr algn="l">
              <a:lnSpc>
                <a:spcPct val="100000"/>
              </a:lnSpc>
              <a:buNone/>
              <a:defRPr sz="2700" b="1" i="0">
                <a:solidFill>
                  <a:srgbClr val="FFFFFF"/>
                </a:solidFill>
                <a:latin typeface="Arial"/>
                <a:ea typeface="Arial"/>
                <a:cs typeface="Arial"/>
              </a:defRPr>
            </a:pPr>
            <a:r>
              <a:rPr sz="2700" b="1" i="0">
                <a:solidFill>
                  <a:srgbClr val="FFFFFF"/>
                </a:solidFill>
                <a:latin typeface="Arial"/>
                <a:ea typeface="Arial"/>
                <a:cs typeface="Arial"/>
              </a:rPr>
              <a:t>Find, validate and reduce weaknesses before attackers exploit them.</a:t>
            </a:r>
          </a:p>
        </p:txBody>
      </p:sp>
      <p:sp>
        <p:nvSpPr>
          <p:cNvPr id="8" name="">
            <a:extLst xmlns:a="http://schemas.openxmlformats.org/drawingml/2006/main">
              <a:ext uri="{FF2B5EF4-FFF2-40B4-BE49-F238E27FC236}">
                <a16:creationId xmlns:a16="http://schemas.microsoft.com/office/drawing/2014/main" id="{EB5A6529-9F7B-4790-8A05-9220AFE483C4}"/>
              </a:ext>
            </a:extLst>
          </p:cNvPr>
          <p:cNvSpPr>
            <a:spLocks xmlns:a="http://schemas.openxmlformats.org/drawingml/2006/main" noGrp="1"/>
          </p:cNvSpPr>
          <p:nvPr/>
        </p:nvSpPr>
        <p:spPr>
          <a:xfrm xmlns:a="http://schemas.openxmlformats.org/drawingml/2006/main">
            <a:off x="1257300" y="4362450"/>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DCE8F0"/>
                </a:solidFill>
                <a:latin typeface="Arial"/>
                <a:ea typeface="Arial"/>
                <a:cs typeface="Arial"/>
              </a:defRPr>
            </a:pPr>
            <a:r>
              <a:rPr sz="1500" b="0" i="0">
                <a:solidFill>
                  <a:srgbClr val="DCE8F0"/>
                </a:solidFill>
                <a:latin typeface="Arial"/>
                <a:ea typeface="Arial"/>
                <a:cs typeface="Arial"/>
              </a:rPr>
              <a:t>The surface includes domains, services, applications, APIs, identities, third-party components and the data connecting them.</a:t>
            </a:r>
          </a:p>
        </p:txBody>
      </p:sp>
      <p:sp>
        <p:nvSpPr>
          <p:cNvPr id="9" name="">
            <a:extLst xmlns:a="http://schemas.openxmlformats.org/drawingml/2006/main">
              <a:ext uri="{FF2B5EF4-FFF2-40B4-BE49-F238E27FC236}">
                <a16:creationId xmlns:a16="http://schemas.microsoft.com/office/drawing/2014/main" id="{635A404E-D05C-4851-AC13-576C2CCE25F3}"/>
              </a:ext>
            </a:extLst>
          </p:cNvPr>
          <p:cNvSpPr>
            <a:spLocks xmlns:a="http://schemas.openxmlformats.org/drawingml/2006/main" noGrp="1"/>
          </p:cNvSpPr>
          <p:nvPr/>
        </p:nvSpPr>
        <p:spPr>
          <a:xfrm xmlns:a="http://schemas.openxmlformats.org/drawingml/2006/main">
            <a:off x="8191500" y="22860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C55B48"/>
                </a:solidFill>
                <a:latin typeface="Arial"/>
                <a:ea typeface="Arial"/>
                <a:cs typeface="Arial"/>
              </a:defRPr>
            </a:pPr>
            <a:r>
              <a:rPr sz="1650" b="1" i="0">
                <a:solidFill>
                  <a:srgbClr val="C55B48"/>
                </a:solidFill>
                <a:latin typeface="Arial"/>
                <a:ea typeface="Arial"/>
                <a:cs typeface="Arial"/>
              </a:rPr>
              <a:t>CASE STUDY · EQUIFAX, 2017</a:t>
            </a:r>
          </a:p>
        </p:txBody>
      </p:sp>
      <p:sp>
        <p:nvSpPr>
          <p:cNvPr id="10" name="">
            <a:extLst xmlns:a="http://schemas.openxmlformats.org/drawingml/2006/main">
              <a:ext uri="{FF2B5EF4-FFF2-40B4-BE49-F238E27FC236}">
                <a16:creationId xmlns:a16="http://schemas.microsoft.com/office/drawing/2014/main" id="{185375D4-52A4-4F6D-90BA-6A7DE93BD372}"/>
              </a:ext>
            </a:extLst>
          </p:cNvPr>
          <p:cNvSpPr>
            <a:spLocks xmlns:a="http://schemas.openxmlformats.org/drawingml/2006/main" noGrp="1"/>
          </p:cNvSpPr>
          <p:nvPr/>
        </p:nvSpPr>
        <p:spPr>
          <a:xfrm xmlns:a="http://schemas.openxmlformats.org/drawingml/2006/main">
            <a:off x="8191500" y="278130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54"/>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 known web vulnerability became a large-scale breach</a:t>
            </a:r>
          </a:p>
        </p:txBody>
      </p:sp>
      <p:sp>
        <p:nvSpPr>
          <p:cNvPr id="11" name="">
            <a:extLst xmlns:a="http://schemas.openxmlformats.org/drawingml/2006/main">
              <a:ext uri="{FF2B5EF4-FFF2-40B4-BE49-F238E27FC236}">
                <a16:creationId xmlns:a16="http://schemas.microsoft.com/office/drawing/2014/main" id="{C525E830-5E46-4886-BE90-2BA185A77322}"/>
              </a:ext>
            </a:extLst>
          </p:cNvPr>
          <p:cNvSpPr>
            <a:spLocks xmlns:a="http://schemas.openxmlformats.org/drawingml/2006/main" noGrp="1"/>
          </p:cNvSpPr>
          <p:nvPr/>
        </p:nvSpPr>
        <p:spPr>
          <a:xfrm xmlns:a="http://schemas.openxmlformats.org/drawingml/2006/main">
            <a:off x="81915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7321CB7F-1048-435E-AAFB-2740B21B3DC0}"/>
              </a:ext>
            </a:extLst>
          </p:cNvPr>
          <p:cNvSpPr>
            <a:spLocks xmlns:a="http://schemas.openxmlformats.org/drawingml/2006/main" noGrp="1"/>
          </p:cNvSpPr>
          <p:nvPr/>
        </p:nvSpPr>
        <p:spPr>
          <a:xfrm xmlns:a="http://schemas.openxmlformats.org/drawingml/2006/main">
            <a:off x="81915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496C153-AE88-49C0-841A-7AE57EEE62C1}"/>
              </a:ext>
            </a:extLst>
          </p:cNvPr>
          <p:cNvSpPr>
            <a:spLocks xmlns:a="http://schemas.openxmlformats.org/drawingml/2006/main" noGrp="1"/>
          </p:cNvSpPr>
          <p:nvPr/>
        </p:nvSpPr>
        <p:spPr>
          <a:xfrm xmlns:a="http://schemas.openxmlformats.org/drawingml/2006/main">
            <a:off x="84582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Known flaw</a:t>
            </a:r>
          </a:p>
        </p:txBody>
      </p:sp>
      <p:sp>
        <p:nvSpPr>
          <p:cNvPr id="14" name="">
            <a:extLst xmlns:a="http://schemas.openxmlformats.org/drawingml/2006/main">
              <a:ext uri="{FF2B5EF4-FFF2-40B4-BE49-F238E27FC236}">
                <a16:creationId xmlns:a16="http://schemas.microsoft.com/office/drawing/2014/main" id="{35FDEF1E-F235-4112-B9E1-03281EF1989E}"/>
              </a:ext>
            </a:extLst>
          </p:cNvPr>
          <p:cNvSpPr>
            <a:spLocks xmlns:a="http://schemas.openxmlformats.org/drawingml/2006/main" noGrp="1"/>
          </p:cNvSpPr>
          <p:nvPr/>
        </p:nvSpPr>
        <p:spPr>
          <a:xfrm xmlns:a="http://schemas.openxmlformats.org/drawingml/2006/main">
            <a:off x="84582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A critical Apache Struts vulnerability had a patch available.</a:t>
            </a:r>
          </a:p>
        </p:txBody>
      </p:sp>
      <p:sp>
        <p:nvSpPr>
          <p:cNvPr id="15" name="">
            <a:extLst xmlns:a="http://schemas.openxmlformats.org/drawingml/2006/main">
              <a:ext uri="{FF2B5EF4-FFF2-40B4-BE49-F238E27FC236}">
                <a16:creationId xmlns:a16="http://schemas.microsoft.com/office/drawing/2014/main" id="{03453FF5-31EB-4048-AC64-93F2EBC21F51}"/>
              </a:ext>
            </a:extLst>
          </p:cNvPr>
          <p:cNvSpPr>
            <a:spLocks xmlns:a="http://schemas.openxmlformats.org/drawingml/2006/main" noGrp="1"/>
          </p:cNvSpPr>
          <p:nvPr/>
        </p:nvSpPr>
        <p:spPr>
          <a:xfrm xmlns:a="http://schemas.openxmlformats.org/drawingml/2006/main">
            <a:off x="110871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6" name="">
            <a:extLst xmlns:a="http://schemas.openxmlformats.org/drawingml/2006/main">
              <a:ext uri="{FF2B5EF4-FFF2-40B4-BE49-F238E27FC236}">
                <a16:creationId xmlns:a16="http://schemas.microsoft.com/office/drawing/2014/main" id="{8172BD73-C22A-4A60-89A1-03CD44E46F09}"/>
              </a:ext>
            </a:extLst>
          </p:cNvPr>
          <p:cNvSpPr>
            <a:spLocks xmlns:a="http://schemas.openxmlformats.org/drawingml/2006/main" noGrp="1"/>
          </p:cNvSpPr>
          <p:nvPr/>
        </p:nvSpPr>
        <p:spPr>
          <a:xfrm xmlns:a="http://schemas.openxmlformats.org/drawingml/2006/main">
            <a:off x="11087100" y="3600450"/>
            <a:ext cx="85725" cy="20574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6EB8FA-3C71-48B7-AC2E-8D43E09AB32D}"/>
              </a:ext>
            </a:extLst>
          </p:cNvPr>
          <p:cNvSpPr>
            <a:spLocks xmlns:a="http://schemas.openxmlformats.org/drawingml/2006/main" noGrp="1"/>
          </p:cNvSpPr>
          <p:nvPr/>
        </p:nvSpPr>
        <p:spPr>
          <a:xfrm xmlns:a="http://schemas.openxmlformats.org/drawingml/2006/main">
            <a:off x="113538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Coverage failure</a:t>
            </a:r>
          </a:p>
        </p:txBody>
      </p:sp>
      <p:sp>
        <p:nvSpPr>
          <p:cNvPr id="18" name="">
            <a:extLst xmlns:a="http://schemas.openxmlformats.org/drawingml/2006/main">
              <a:ext uri="{FF2B5EF4-FFF2-40B4-BE49-F238E27FC236}">
                <a16:creationId xmlns:a16="http://schemas.microsoft.com/office/drawing/2014/main" id="{72DA93B5-179B-4712-B9A7-747921395AC8}"/>
              </a:ext>
            </a:extLst>
          </p:cNvPr>
          <p:cNvSpPr>
            <a:spLocks xmlns:a="http://schemas.openxmlformats.org/drawingml/2006/main" noGrp="1"/>
          </p:cNvSpPr>
          <p:nvPr/>
        </p:nvSpPr>
        <p:spPr>
          <a:xfrm xmlns:a="http://schemas.openxmlformats.org/drawingml/2006/main">
            <a:off x="113538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The public dispute portal remained unpatched and verification did not catch it.</a:t>
            </a:r>
          </a:p>
        </p:txBody>
      </p:sp>
      <p:sp>
        <p:nvSpPr>
          <p:cNvPr id="19" name="">
            <a:extLst xmlns:a="http://schemas.openxmlformats.org/drawingml/2006/main">
              <a:ext uri="{FF2B5EF4-FFF2-40B4-BE49-F238E27FC236}">
                <a16:creationId xmlns:a16="http://schemas.microsoft.com/office/drawing/2014/main" id="{D4C07B66-ADAD-4449-8A43-A3FEB3936FF4}"/>
              </a:ext>
            </a:extLst>
          </p:cNvPr>
          <p:cNvSpPr>
            <a:spLocks xmlns:a="http://schemas.openxmlformats.org/drawingml/2006/main" noGrp="1"/>
          </p:cNvSpPr>
          <p:nvPr/>
        </p:nvSpPr>
        <p:spPr>
          <a:xfrm xmlns:a="http://schemas.openxmlformats.org/drawingml/2006/main">
            <a:off x="139827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7EBE12B6-130E-4542-8736-56E8E6951AAC}"/>
              </a:ext>
            </a:extLst>
          </p:cNvPr>
          <p:cNvSpPr>
            <a:spLocks xmlns:a="http://schemas.openxmlformats.org/drawingml/2006/main" noGrp="1"/>
          </p:cNvSpPr>
          <p:nvPr/>
        </p:nvSpPr>
        <p:spPr>
          <a:xfrm xmlns:a="http://schemas.openxmlformats.org/drawingml/2006/main">
            <a:off x="139827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4819D90-05CD-4FA3-9E3E-7BDA897E6075}"/>
              </a:ext>
            </a:extLst>
          </p:cNvPr>
          <p:cNvSpPr>
            <a:spLocks xmlns:a="http://schemas.openxmlformats.org/drawingml/2006/main" noGrp="1"/>
          </p:cNvSpPr>
          <p:nvPr/>
        </p:nvSpPr>
        <p:spPr>
          <a:xfrm xmlns:a="http://schemas.openxmlformats.org/drawingml/2006/main">
            <a:off x="142494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Impact</a:t>
            </a:r>
          </a:p>
        </p:txBody>
      </p:sp>
      <p:sp>
        <p:nvSpPr>
          <p:cNvPr id="22" name="">
            <a:extLst xmlns:a="http://schemas.openxmlformats.org/drawingml/2006/main">
              <a:ext uri="{FF2B5EF4-FFF2-40B4-BE49-F238E27FC236}">
                <a16:creationId xmlns:a16="http://schemas.microsoft.com/office/drawing/2014/main" id="{63D04AAC-6257-4B3F-86EB-3D92238FD278}"/>
              </a:ext>
            </a:extLst>
          </p:cNvPr>
          <p:cNvSpPr>
            <a:spLocks xmlns:a="http://schemas.openxmlformats.org/drawingml/2006/main" noGrp="1"/>
          </p:cNvSpPr>
          <p:nvPr/>
        </p:nvSpPr>
        <p:spPr>
          <a:xfrm xmlns:a="http://schemas.openxmlformats.org/drawingml/2006/main">
            <a:off x="142494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Personal information of about 147 million people was exposed.</a:t>
            </a:r>
          </a:p>
        </p:txBody>
      </p:sp>
      <p:sp>
        <p:nvSpPr>
          <p:cNvPr id="23" name="">
            <a:extLst xmlns:a="http://schemas.openxmlformats.org/drawingml/2006/main">
              <a:ext uri="{FF2B5EF4-FFF2-40B4-BE49-F238E27FC236}">
                <a16:creationId xmlns:a16="http://schemas.microsoft.com/office/drawing/2014/main" id="{B2382B7E-2E29-475E-B06E-51A05865AB36}"/>
              </a:ext>
            </a:extLst>
          </p:cNvPr>
          <p:cNvSpPr>
            <a:spLocks xmlns:a="http://schemas.openxmlformats.org/drawingml/2006/main" noGrp="1"/>
          </p:cNvSpPr>
          <p:nvPr/>
        </p:nvSpPr>
        <p:spPr>
          <a:xfrm xmlns:a="http://schemas.openxmlformats.org/drawingml/2006/main">
            <a:off x="876300" y="6229350"/>
            <a:ext cx="15773400" cy="1962150"/>
          </a:xfrm>
          <a:prstGeom xmlns:a="http://schemas.openxmlformats.org/drawingml/2006/main" prst="roundRect">
            <a:avLst>
              <a:gd name="adj" fmla="val 3883"/>
            </a:avLst>
          </a:prstGeom>
          <a:solidFill xmlns:a="http://schemas.openxmlformats.org/drawingml/2006/main">
            <a:srgbClr val="E8EF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406C36B-4DB3-48EB-AF9F-C0BC6E3F361C}"/>
              </a:ext>
            </a:extLst>
          </p:cNvPr>
          <p:cNvSpPr>
            <a:spLocks xmlns:a="http://schemas.openxmlformats.org/drawingml/2006/main" noGrp="1"/>
          </p:cNvSpPr>
          <p:nvPr/>
        </p:nvSpPr>
        <p:spPr>
          <a:xfrm xmlns:a="http://schemas.openxmlformats.org/drawingml/2006/main">
            <a:off x="1219200" y="65532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2D8B84"/>
                </a:solidFill>
                <a:latin typeface="Arial"/>
                <a:ea typeface="Arial"/>
                <a:cs typeface="Arial"/>
              </a:defRPr>
            </a:pPr>
            <a:r>
              <a:rPr sz="1725" b="1" i="0">
                <a:solidFill>
                  <a:srgbClr val="2D8B84"/>
                </a:solidFill>
                <a:latin typeface="Arial"/>
                <a:ea typeface="Arial"/>
                <a:cs typeface="Arial"/>
              </a:rPr>
              <a:t>The lesson</a:t>
            </a:r>
          </a:p>
        </p:txBody>
      </p:sp>
      <p:sp>
        <p:nvSpPr>
          <p:cNvPr id="25" name="">
            <a:extLst xmlns:a="http://schemas.openxmlformats.org/drawingml/2006/main">
              <a:ext uri="{FF2B5EF4-FFF2-40B4-BE49-F238E27FC236}">
                <a16:creationId xmlns:a16="http://schemas.microsoft.com/office/drawing/2014/main" id="{6AC56BF3-97AA-40FC-9D79-A5F0032A6BA3}"/>
              </a:ext>
            </a:extLst>
          </p:cNvPr>
          <p:cNvSpPr>
            <a:spLocks xmlns:a="http://schemas.openxmlformats.org/drawingml/2006/main" noGrp="1"/>
          </p:cNvSpPr>
          <p:nvPr/>
        </p:nvSpPr>
        <p:spPr>
          <a:xfrm xmlns:a="http://schemas.openxmlformats.org/drawingml/2006/main">
            <a:off x="1219200" y="7067550"/>
            <a:ext cx="1476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8334B"/>
                </a:solidFill>
                <a:latin typeface="Arial"/>
                <a:ea typeface="Arial"/>
                <a:cs typeface="Arial"/>
              </a:defRPr>
            </a:pPr>
            <a:r>
              <a:rPr sz="2175" b="1" i="0">
                <a:solidFill>
                  <a:srgbClr val="18334B"/>
                </a:solidFill>
                <a:latin typeface="Arial"/>
                <a:ea typeface="Arial"/>
                <a:cs typeface="Arial"/>
              </a:rPr>
              <a:t>A single missed internet-facing asset can defeat security across a very large organisation. Effective testing must discover the full surface, verify coverage, and preserve evidence across every step.</a:t>
            </a:r>
          </a:p>
        </p:txBody>
      </p:sp>
      <p:sp>
        <p:nvSpPr>
          <p:cNvPr id="26" name="">
            <a:extLst xmlns:a="http://schemas.openxmlformats.org/drawingml/2006/main">
              <a:ext uri="{FF2B5EF4-FFF2-40B4-BE49-F238E27FC236}">
                <a16:creationId xmlns:a16="http://schemas.microsoft.com/office/drawing/2014/main" id="{D8C8BF95-B98C-460E-BB78-7E11F9840B60}"/>
              </a:ext>
            </a:extLst>
          </p:cNvPr>
          <p:cNvSpPr>
            <a:spLocks xmlns:a="http://schemas.openxmlformats.org/drawingml/2006/main" noGrp="1"/>
          </p:cNvSpPr>
          <p:nvPr/>
        </p:nvSpPr>
        <p:spPr>
          <a:xfrm xmlns:a="http://schemas.openxmlformats.org/drawingml/2006/main">
            <a:off x="914400" y="8743950"/>
            <a:ext cx="1390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Sources: U.S. House Oversight Committee report (2018); U.S. Federal Trade Commission (2019).</a:t>
            </a:r>
          </a:p>
        </p:txBody>
      </p:sp>
    </p:spTree>
    <p:extLst>
      <p:ext uri="{BB962C8B-B14F-4D97-AF65-F5344CB8AC3E}">
        <p14:creationId xmlns:p14="http://schemas.microsoft.com/office/powerpoint/2010/main" val="209051170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493309B-0F22-45EC-BF1D-BEAA48FACCFF}"/>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02 / CURRENT PRACTICE</a:t>
            </a:r>
          </a:p>
        </p:txBody>
      </p:sp>
      <p:sp>
        <p:nvSpPr>
          <p:cNvPr id="2" name="">
            <a:extLst xmlns:a="http://schemas.openxmlformats.org/drawingml/2006/main">
              <a:ext uri="{FF2B5EF4-FFF2-40B4-BE49-F238E27FC236}">
                <a16:creationId xmlns:a16="http://schemas.microsoft.com/office/drawing/2014/main" id="{A710E050-86D8-4EA4-AF39-F5924BB4FAF5}"/>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Pentesting today: proven tools, manual coordination—and now AI</a:t>
            </a:r>
          </a:p>
        </p:txBody>
      </p:sp>
      <p:sp>
        <p:nvSpPr>
          <p:cNvPr id="3" name="">
            <a:extLst xmlns:a="http://schemas.openxmlformats.org/drawingml/2006/main">
              <a:ext uri="{FF2B5EF4-FFF2-40B4-BE49-F238E27FC236}">
                <a16:creationId xmlns:a16="http://schemas.microsoft.com/office/drawing/2014/main" id="{A0062664-2554-44E1-BC06-D74E4365408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DAC8572B-9039-48B3-BD17-AB10F889D97A}"/>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6402C42-1C4A-48E2-88DD-4C9E89366865}"/>
              </a:ext>
            </a:extLst>
          </p:cNvPr>
          <p:cNvSpPr>
            <a:spLocks xmlns:a="http://schemas.openxmlformats.org/drawingml/2006/main" noGrp="1"/>
          </p:cNvSpPr>
          <p:nvPr/>
        </p:nvSpPr>
        <p:spPr>
          <a:xfrm xmlns:a="http://schemas.openxmlformats.org/drawingml/2006/main">
            <a:off x="876300" y="21336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2D8B84"/>
                </a:solidFill>
                <a:latin typeface="Arial"/>
                <a:ea typeface="Arial"/>
                <a:cs typeface="Arial"/>
              </a:defRPr>
            </a:pPr>
            <a:r>
              <a:rPr sz="1725" b="1" i="0">
                <a:solidFill>
                  <a:srgbClr val="2D8B84"/>
                </a:solidFill>
                <a:latin typeface="Arial"/>
                <a:ea typeface="Arial"/>
                <a:cs typeface="Arial"/>
              </a:rPr>
              <a:t>Battle-tested workflow</a:t>
            </a:r>
          </a:p>
        </p:txBody>
      </p:sp>
      <p:sp>
        <p:nvSpPr>
          <p:cNvPr id="6" name="">
            <a:extLst xmlns:a="http://schemas.openxmlformats.org/drawingml/2006/main">
              <a:ext uri="{FF2B5EF4-FFF2-40B4-BE49-F238E27FC236}">
                <a16:creationId xmlns:a16="http://schemas.microsoft.com/office/drawing/2014/main" id="{54A8C7F4-FDE3-4C0D-B81F-914E2DFDB6CE}"/>
              </a:ext>
            </a:extLst>
          </p:cNvPr>
          <p:cNvSpPr>
            <a:spLocks xmlns:a="http://schemas.openxmlformats.org/drawingml/2006/main" noGrp="1"/>
          </p:cNvSpPr>
          <p:nvPr/>
        </p:nvSpPr>
        <p:spPr>
          <a:xfrm xmlns:a="http://schemas.openxmlformats.org/drawingml/2006/main">
            <a:off x="876300" y="2705100"/>
            <a:ext cx="2857500" cy="1600200"/>
          </a:xfrm>
          <a:prstGeom xmlns:a="http://schemas.openxmlformats.org/drawingml/2006/main" prst="roundRect">
            <a:avLst>
              <a:gd name="adj" fmla="val 4762"/>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2DC3B970-093C-4F3E-A3C9-2425988E7FE1}"/>
              </a:ext>
            </a:extLst>
          </p:cNvPr>
          <p:cNvSpPr>
            <a:spLocks xmlns:a="http://schemas.openxmlformats.org/drawingml/2006/main" noGrp="1"/>
          </p:cNvSpPr>
          <p:nvPr/>
        </p:nvSpPr>
        <p:spPr>
          <a:xfrm xmlns:a="http://schemas.openxmlformats.org/drawingml/2006/main">
            <a:off x="876300" y="2705100"/>
            <a:ext cx="85725" cy="16002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CBF5A6-BACF-410B-AEE1-1F4C03D78F8B}"/>
              </a:ext>
            </a:extLst>
          </p:cNvPr>
          <p:cNvSpPr>
            <a:spLocks xmlns:a="http://schemas.openxmlformats.org/drawingml/2006/main" noGrp="1"/>
          </p:cNvSpPr>
          <p:nvPr/>
        </p:nvSpPr>
        <p:spPr>
          <a:xfrm xmlns:a="http://schemas.openxmlformats.org/drawingml/2006/main">
            <a:off x="1143000" y="291465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23B63"/>
                </a:solidFill>
                <a:latin typeface="Arial"/>
                <a:ea typeface="Arial"/>
                <a:cs typeface="Arial"/>
              </a:defRPr>
            </a:pPr>
            <a:r>
              <a:rPr sz="1800" b="1" i="0">
                <a:solidFill>
                  <a:srgbClr val="123B63"/>
                </a:solidFill>
                <a:latin typeface="Arial"/>
                <a:ea typeface="Arial"/>
                <a:cs typeface="Arial"/>
              </a:rPr>
              <a:t>Discover</a:t>
            </a:r>
          </a:p>
        </p:txBody>
      </p:sp>
      <p:sp>
        <p:nvSpPr>
          <p:cNvPr id="9" name="">
            <a:extLst xmlns:a="http://schemas.openxmlformats.org/drawingml/2006/main">
              <a:ext uri="{FF2B5EF4-FFF2-40B4-BE49-F238E27FC236}">
                <a16:creationId xmlns:a16="http://schemas.microsoft.com/office/drawing/2014/main" id="{1E8B9D60-3252-4574-B61E-C49B092B2CE5}"/>
              </a:ext>
            </a:extLst>
          </p:cNvPr>
          <p:cNvSpPr>
            <a:spLocks xmlns:a="http://schemas.openxmlformats.org/drawingml/2006/main" noGrp="1"/>
          </p:cNvSpPr>
          <p:nvPr/>
        </p:nvSpPr>
        <p:spPr>
          <a:xfrm xmlns:a="http://schemas.openxmlformats.org/drawingml/2006/main">
            <a:off x="1143000" y="344805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Subfinder · Amass</a:t>
            </a:r>
          </a:p>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WHOIS · OSINT</a:t>
            </a:r>
          </a:p>
        </p:txBody>
      </p:sp>
      <p:sp>
        <p:nvSpPr>
          <p:cNvPr id="10" name="">
            <a:extLst xmlns:a="http://schemas.openxmlformats.org/drawingml/2006/main">
              <a:ext uri="{FF2B5EF4-FFF2-40B4-BE49-F238E27FC236}">
                <a16:creationId xmlns:a16="http://schemas.microsoft.com/office/drawing/2014/main" id="{52966103-97A0-48E8-AC13-EEBD2AC5C6D9}"/>
              </a:ext>
            </a:extLst>
          </p:cNvPr>
          <p:cNvSpPr>
            <a:spLocks xmlns:a="http://schemas.openxmlformats.org/drawingml/2006/main" noGrp="1"/>
          </p:cNvSpPr>
          <p:nvPr/>
        </p:nvSpPr>
        <p:spPr>
          <a:xfrm xmlns:a="http://schemas.openxmlformats.org/drawingml/2006/main">
            <a:off x="3800475" y="3371850"/>
            <a:ext cx="304800" cy="2286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AFCB45-F459-4D39-9CD9-4E6EE1E49211}"/>
              </a:ext>
            </a:extLst>
          </p:cNvPr>
          <p:cNvSpPr>
            <a:spLocks xmlns:a="http://schemas.openxmlformats.org/drawingml/2006/main" noGrp="1"/>
          </p:cNvSpPr>
          <p:nvPr/>
        </p:nvSpPr>
        <p:spPr>
          <a:xfrm xmlns:a="http://schemas.openxmlformats.org/drawingml/2006/main">
            <a:off x="4171950" y="2705100"/>
            <a:ext cx="2857500" cy="1600200"/>
          </a:xfrm>
          <a:prstGeom xmlns:a="http://schemas.openxmlformats.org/drawingml/2006/main" prst="roundRect">
            <a:avLst>
              <a:gd name="adj" fmla="val 4762"/>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10D78997-D539-41C2-8F3A-34D168C7E979}"/>
              </a:ext>
            </a:extLst>
          </p:cNvPr>
          <p:cNvSpPr>
            <a:spLocks xmlns:a="http://schemas.openxmlformats.org/drawingml/2006/main" noGrp="1"/>
          </p:cNvSpPr>
          <p:nvPr/>
        </p:nvSpPr>
        <p:spPr>
          <a:xfrm xmlns:a="http://schemas.openxmlformats.org/drawingml/2006/main">
            <a:off x="4171950" y="2705100"/>
            <a:ext cx="85725" cy="16002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0C5AFC-FFB6-42AD-9C2E-0B156F68A161}"/>
              </a:ext>
            </a:extLst>
          </p:cNvPr>
          <p:cNvSpPr>
            <a:spLocks xmlns:a="http://schemas.openxmlformats.org/drawingml/2006/main" noGrp="1"/>
          </p:cNvSpPr>
          <p:nvPr/>
        </p:nvSpPr>
        <p:spPr>
          <a:xfrm xmlns:a="http://schemas.openxmlformats.org/drawingml/2006/main">
            <a:off x="4438650" y="291465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23B63"/>
                </a:solidFill>
                <a:latin typeface="Arial"/>
                <a:ea typeface="Arial"/>
                <a:cs typeface="Arial"/>
              </a:defRPr>
            </a:pPr>
            <a:r>
              <a:rPr sz="1800" b="1" i="0">
                <a:solidFill>
                  <a:srgbClr val="123B63"/>
                </a:solidFill>
                <a:latin typeface="Arial"/>
                <a:ea typeface="Arial"/>
                <a:cs typeface="Arial"/>
              </a:rPr>
              <a:t>Resolve &amp; probe</a:t>
            </a:r>
          </a:p>
        </p:txBody>
      </p:sp>
      <p:sp>
        <p:nvSpPr>
          <p:cNvPr id="14" name="">
            <a:extLst xmlns:a="http://schemas.openxmlformats.org/drawingml/2006/main">
              <a:ext uri="{FF2B5EF4-FFF2-40B4-BE49-F238E27FC236}">
                <a16:creationId xmlns:a16="http://schemas.microsoft.com/office/drawing/2014/main" id="{0E73D44A-37E3-445F-AFEF-CAD2E8FCDB23}"/>
              </a:ext>
            </a:extLst>
          </p:cNvPr>
          <p:cNvSpPr>
            <a:spLocks xmlns:a="http://schemas.openxmlformats.org/drawingml/2006/main" noGrp="1"/>
          </p:cNvSpPr>
          <p:nvPr/>
        </p:nvSpPr>
        <p:spPr>
          <a:xfrm xmlns:a="http://schemas.openxmlformats.org/drawingml/2006/main">
            <a:off x="4438650" y="344805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DNSx · httpx</a:t>
            </a:r>
          </a:p>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TLS inspection</a:t>
            </a:r>
          </a:p>
        </p:txBody>
      </p:sp>
      <p:sp>
        <p:nvSpPr>
          <p:cNvPr id="15" name="">
            <a:extLst xmlns:a="http://schemas.openxmlformats.org/drawingml/2006/main">
              <a:ext uri="{FF2B5EF4-FFF2-40B4-BE49-F238E27FC236}">
                <a16:creationId xmlns:a16="http://schemas.microsoft.com/office/drawing/2014/main" id="{66D35465-6E4D-4D9F-8160-30219837E519}"/>
              </a:ext>
            </a:extLst>
          </p:cNvPr>
          <p:cNvSpPr>
            <a:spLocks xmlns:a="http://schemas.openxmlformats.org/drawingml/2006/main" noGrp="1"/>
          </p:cNvSpPr>
          <p:nvPr/>
        </p:nvSpPr>
        <p:spPr>
          <a:xfrm xmlns:a="http://schemas.openxmlformats.org/drawingml/2006/main">
            <a:off x="7096125" y="3371850"/>
            <a:ext cx="304800" cy="2286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BC5D528-CDBA-435D-B237-F6A76CC3AEEB}"/>
              </a:ext>
            </a:extLst>
          </p:cNvPr>
          <p:cNvSpPr>
            <a:spLocks xmlns:a="http://schemas.openxmlformats.org/drawingml/2006/main" noGrp="1"/>
          </p:cNvSpPr>
          <p:nvPr/>
        </p:nvSpPr>
        <p:spPr>
          <a:xfrm xmlns:a="http://schemas.openxmlformats.org/drawingml/2006/main">
            <a:off x="7467600" y="2705100"/>
            <a:ext cx="2857500" cy="1600200"/>
          </a:xfrm>
          <a:prstGeom xmlns:a="http://schemas.openxmlformats.org/drawingml/2006/main" prst="roundRect">
            <a:avLst>
              <a:gd name="adj" fmla="val 4762"/>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0FC2A32C-87B5-407D-BC7E-5447CD95E5B8}"/>
              </a:ext>
            </a:extLst>
          </p:cNvPr>
          <p:cNvSpPr>
            <a:spLocks xmlns:a="http://schemas.openxmlformats.org/drawingml/2006/main" noGrp="1"/>
          </p:cNvSpPr>
          <p:nvPr/>
        </p:nvSpPr>
        <p:spPr>
          <a:xfrm xmlns:a="http://schemas.openxmlformats.org/drawingml/2006/main">
            <a:off x="7467600" y="2705100"/>
            <a:ext cx="85725" cy="16002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E07169B-6D3C-4D41-9D86-6FD8BCA50FB5}"/>
              </a:ext>
            </a:extLst>
          </p:cNvPr>
          <p:cNvSpPr>
            <a:spLocks xmlns:a="http://schemas.openxmlformats.org/drawingml/2006/main" noGrp="1"/>
          </p:cNvSpPr>
          <p:nvPr/>
        </p:nvSpPr>
        <p:spPr>
          <a:xfrm xmlns:a="http://schemas.openxmlformats.org/drawingml/2006/main">
            <a:off x="7734300" y="291465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23B63"/>
                </a:solidFill>
                <a:latin typeface="Arial"/>
                <a:ea typeface="Arial"/>
                <a:cs typeface="Arial"/>
              </a:defRPr>
            </a:pPr>
            <a:r>
              <a:rPr sz="1800" b="1" i="0">
                <a:solidFill>
                  <a:srgbClr val="123B63"/>
                </a:solidFill>
                <a:latin typeface="Arial"/>
                <a:ea typeface="Arial"/>
                <a:cs typeface="Arial"/>
              </a:rPr>
              <a:t>Map services</a:t>
            </a:r>
          </a:p>
        </p:txBody>
      </p:sp>
      <p:sp>
        <p:nvSpPr>
          <p:cNvPr id="19" name="">
            <a:extLst xmlns:a="http://schemas.openxmlformats.org/drawingml/2006/main">
              <a:ext uri="{FF2B5EF4-FFF2-40B4-BE49-F238E27FC236}">
                <a16:creationId xmlns:a16="http://schemas.microsoft.com/office/drawing/2014/main" id="{C2C1F962-BD87-472C-AF02-50A893BDA0DF}"/>
              </a:ext>
            </a:extLst>
          </p:cNvPr>
          <p:cNvSpPr>
            <a:spLocks xmlns:a="http://schemas.openxmlformats.org/drawingml/2006/main" noGrp="1"/>
          </p:cNvSpPr>
          <p:nvPr/>
        </p:nvSpPr>
        <p:spPr>
          <a:xfrm xmlns:a="http://schemas.openxmlformats.org/drawingml/2006/main">
            <a:off x="7734300" y="344805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Naabu · Nmap</a:t>
            </a:r>
          </a:p>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version detection</a:t>
            </a:r>
          </a:p>
        </p:txBody>
      </p:sp>
      <p:sp>
        <p:nvSpPr>
          <p:cNvPr id="20" name="">
            <a:extLst xmlns:a="http://schemas.openxmlformats.org/drawingml/2006/main">
              <a:ext uri="{FF2B5EF4-FFF2-40B4-BE49-F238E27FC236}">
                <a16:creationId xmlns:a16="http://schemas.microsoft.com/office/drawing/2014/main" id="{B9D086AF-E9AB-4186-A6A3-4B0987CE6567}"/>
              </a:ext>
            </a:extLst>
          </p:cNvPr>
          <p:cNvSpPr>
            <a:spLocks xmlns:a="http://schemas.openxmlformats.org/drawingml/2006/main" noGrp="1"/>
          </p:cNvSpPr>
          <p:nvPr/>
        </p:nvSpPr>
        <p:spPr>
          <a:xfrm xmlns:a="http://schemas.openxmlformats.org/drawingml/2006/main">
            <a:off x="10391775" y="3371850"/>
            <a:ext cx="304800" cy="2286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221539A-0215-421B-B2D7-265D18982F56}"/>
              </a:ext>
            </a:extLst>
          </p:cNvPr>
          <p:cNvSpPr>
            <a:spLocks xmlns:a="http://schemas.openxmlformats.org/drawingml/2006/main" noGrp="1"/>
          </p:cNvSpPr>
          <p:nvPr/>
        </p:nvSpPr>
        <p:spPr>
          <a:xfrm xmlns:a="http://schemas.openxmlformats.org/drawingml/2006/main">
            <a:off x="10763250" y="2705100"/>
            <a:ext cx="2857500" cy="1600200"/>
          </a:xfrm>
          <a:prstGeom xmlns:a="http://schemas.openxmlformats.org/drawingml/2006/main" prst="roundRect">
            <a:avLst>
              <a:gd name="adj" fmla="val 4762"/>
            </a:avLst>
          </a:prstGeom>
          <a:solidFill xmlns:a="http://schemas.openxmlformats.org/drawingml/2006/main">
            <a:srgbClr val="FFFDF9"/>
          </a:solidFill>
          <a:ln xmlns:a="http://schemas.openxmlformats.org/drawingml/2006/main" w="19050">
            <a:solidFill>
              <a:srgbClr val="CAD6DE"/>
            </a:solidFill>
          </a:ln>
        </p:spPr>
      </p:sp>
      <p:sp>
        <p:nvSpPr>
          <p:cNvPr id="22" name="">
            <a:extLst xmlns:a="http://schemas.openxmlformats.org/drawingml/2006/main">
              <a:ext uri="{FF2B5EF4-FFF2-40B4-BE49-F238E27FC236}">
                <a16:creationId xmlns:a16="http://schemas.microsoft.com/office/drawing/2014/main" id="{0180B09A-B43D-4FCE-9E71-686BA4A05E42}"/>
              </a:ext>
            </a:extLst>
          </p:cNvPr>
          <p:cNvSpPr>
            <a:spLocks xmlns:a="http://schemas.openxmlformats.org/drawingml/2006/main" noGrp="1"/>
          </p:cNvSpPr>
          <p:nvPr/>
        </p:nvSpPr>
        <p:spPr>
          <a:xfrm xmlns:a="http://schemas.openxmlformats.org/drawingml/2006/main">
            <a:off x="10763250" y="2705100"/>
            <a:ext cx="85725" cy="16002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828493A-4F80-4689-832E-65CFEABD62E3}"/>
              </a:ext>
            </a:extLst>
          </p:cNvPr>
          <p:cNvSpPr>
            <a:spLocks xmlns:a="http://schemas.openxmlformats.org/drawingml/2006/main" noGrp="1"/>
          </p:cNvSpPr>
          <p:nvPr/>
        </p:nvSpPr>
        <p:spPr>
          <a:xfrm xmlns:a="http://schemas.openxmlformats.org/drawingml/2006/main">
            <a:off x="11029950" y="291465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23B63"/>
                </a:solidFill>
                <a:latin typeface="Arial"/>
                <a:ea typeface="Arial"/>
                <a:cs typeface="Arial"/>
              </a:defRPr>
            </a:pPr>
            <a:r>
              <a:rPr sz="1800" b="1" i="0">
                <a:solidFill>
                  <a:srgbClr val="123B63"/>
                </a:solidFill>
                <a:latin typeface="Arial"/>
                <a:ea typeface="Arial"/>
                <a:cs typeface="Arial"/>
              </a:rPr>
              <a:t>Test web apps</a:t>
            </a:r>
          </a:p>
        </p:txBody>
      </p:sp>
      <p:sp>
        <p:nvSpPr>
          <p:cNvPr id="24" name="">
            <a:extLst xmlns:a="http://schemas.openxmlformats.org/drawingml/2006/main">
              <a:ext uri="{FF2B5EF4-FFF2-40B4-BE49-F238E27FC236}">
                <a16:creationId xmlns:a16="http://schemas.microsoft.com/office/drawing/2014/main" id="{FA17385E-16EC-4A76-9A5F-6C5B21282783}"/>
              </a:ext>
            </a:extLst>
          </p:cNvPr>
          <p:cNvSpPr>
            <a:spLocks xmlns:a="http://schemas.openxmlformats.org/drawingml/2006/main" noGrp="1"/>
          </p:cNvSpPr>
          <p:nvPr/>
        </p:nvSpPr>
        <p:spPr>
          <a:xfrm xmlns:a="http://schemas.openxmlformats.org/drawingml/2006/main">
            <a:off x="11029950" y="344805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Katana · ffuf</a:t>
            </a:r>
          </a:p>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Nuclei · Nikto</a:t>
            </a:r>
          </a:p>
        </p:txBody>
      </p:sp>
      <p:sp>
        <p:nvSpPr>
          <p:cNvPr id="25" name="">
            <a:extLst xmlns:a="http://schemas.openxmlformats.org/drawingml/2006/main">
              <a:ext uri="{FF2B5EF4-FFF2-40B4-BE49-F238E27FC236}">
                <a16:creationId xmlns:a16="http://schemas.microsoft.com/office/drawing/2014/main" id="{191722C9-B07C-4E7A-A087-F9CBE7E85A7F}"/>
              </a:ext>
            </a:extLst>
          </p:cNvPr>
          <p:cNvSpPr>
            <a:spLocks xmlns:a="http://schemas.openxmlformats.org/drawingml/2006/main" noGrp="1"/>
          </p:cNvSpPr>
          <p:nvPr/>
        </p:nvSpPr>
        <p:spPr>
          <a:xfrm xmlns:a="http://schemas.openxmlformats.org/drawingml/2006/main">
            <a:off x="13687425" y="3371850"/>
            <a:ext cx="304800" cy="2286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3C705C3-F456-4226-9330-34AD36391345}"/>
              </a:ext>
            </a:extLst>
          </p:cNvPr>
          <p:cNvSpPr>
            <a:spLocks xmlns:a="http://schemas.openxmlformats.org/drawingml/2006/main" noGrp="1"/>
          </p:cNvSpPr>
          <p:nvPr/>
        </p:nvSpPr>
        <p:spPr>
          <a:xfrm xmlns:a="http://schemas.openxmlformats.org/drawingml/2006/main">
            <a:off x="14058900" y="2705100"/>
            <a:ext cx="2857500" cy="1600200"/>
          </a:xfrm>
          <a:prstGeom xmlns:a="http://schemas.openxmlformats.org/drawingml/2006/main" prst="roundRect">
            <a:avLst>
              <a:gd name="adj" fmla="val 4762"/>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B53F2506-C7D2-4E61-979A-B4806EC5E71C}"/>
              </a:ext>
            </a:extLst>
          </p:cNvPr>
          <p:cNvSpPr>
            <a:spLocks xmlns:a="http://schemas.openxmlformats.org/drawingml/2006/main" noGrp="1"/>
          </p:cNvSpPr>
          <p:nvPr/>
        </p:nvSpPr>
        <p:spPr>
          <a:xfrm xmlns:a="http://schemas.openxmlformats.org/drawingml/2006/main">
            <a:off x="14058900" y="2705100"/>
            <a:ext cx="85725" cy="16002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A0C19D1-32EC-4DAB-8067-762177622849}"/>
              </a:ext>
            </a:extLst>
          </p:cNvPr>
          <p:cNvSpPr>
            <a:spLocks xmlns:a="http://schemas.openxmlformats.org/drawingml/2006/main" noGrp="1"/>
          </p:cNvSpPr>
          <p:nvPr/>
        </p:nvSpPr>
        <p:spPr>
          <a:xfrm xmlns:a="http://schemas.openxmlformats.org/drawingml/2006/main">
            <a:off x="14325600" y="291465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23B63"/>
                </a:solidFill>
                <a:latin typeface="Arial"/>
                <a:ea typeface="Arial"/>
                <a:cs typeface="Arial"/>
              </a:defRPr>
            </a:pPr>
            <a:r>
              <a:rPr sz="1800" b="1" i="0">
                <a:solidFill>
                  <a:srgbClr val="123B63"/>
                </a:solidFill>
                <a:latin typeface="Arial"/>
                <a:ea typeface="Arial"/>
                <a:cs typeface="Arial"/>
              </a:rPr>
              <a:t>Validate &amp; report</a:t>
            </a:r>
          </a:p>
        </p:txBody>
      </p:sp>
      <p:sp>
        <p:nvSpPr>
          <p:cNvPr id="29" name="">
            <a:extLst xmlns:a="http://schemas.openxmlformats.org/drawingml/2006/main">
              <a:ext uri="{FF2B5EF4-FFF2-40B4-BE49-F238E27FC236}">
                <a16:creationId xmlns:a16="http://schemas.microsoft.com/office/drawing/2014/main" id="{21D49DC5-A60C-40E2-8878-0B5DC5C4B974}"/>
              </a:ext>
            </a:extLst>
          </p:cNvPr>
          <p:cNvSpPr>
            <a:spLocks xmlns:a="http://schemas.openxmlformats.org/drawingml/2006/main" noGrp="1"/>
          </p:cNvSpPr>
          <p:nvPr/>
        </p:nvSpPr>
        <p:spPr>
          <a:xfrm xmlns:a="http://schemas.openxmlformats.org/drawingml/2006/main">
            <a:off x="14325600" y="344805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SQLmap · ZAP</a:t>
            </a:r>
          </a:p>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Metasploit</a:t>
            </a:r>
          </a:p>
        </p:txBody>
      </p:sp>
      <p:sp>
        <p:nvSpPr>
          <p:cNvPr id="30" name="">
            <a:extLst xmlns:a="http://schemas.openxmlformats.org/drawingml/2006/main">
              <a:ext uri="{FF2B5EF4-FFF2-40B4-BE49-F238E27FC236}">
                <a16:creationId xmlns:a16="http://schemas.microsoft.com/office/drawing/2014/main" id="{0946E299-57D8-40A7-BA2A-385053A7530B}"/>
              </a:ext>
            </a:extLst>
          </p:cNvPr>
          <p:cNvSpPr>
            <a:spLocks xmlns:a="http://schemas.openxmlformats.org/drawingml/2006/main" noGrp="1"/>
          </p:cNvSpPr>
          <p:nvPr/>
        </p:nvSpPr>
        <p:spPr>
          <a:xfrm xmlns:a="http://schemas.openxmlformats.org/drawingml/2006/main">
            <a:off x="876300" y="48958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2D8B84"/>
                </a:solidFill>
                <a:latin typeface="Arial"/>
                <a:ea typeface="Arial"/>
                <a:cs typeface="Arial"/>
              </a:defRPr>
            </a:pPr>
            <a:r>
              <a:rPr sz="1725" b="1" i="0">
                <a:solidFill>
                  <a:srgbClr val="2D8B84"/>
                </a:solidFill>
                <a:latin typeface="Arial"/>
                <a:ea typeface="Arial"/>
                <a:cs typeface="Arial"/>
              </a:rPr>
              <a:t>Recent AI-assisted systems &amp; frameworks</a:t>
            </a:r>
          </a:p>
        </p:txBody>
      </p:sp>
      <p:sp>
        <p:nvSpPr>
          <p:cNvPr id="31" name="">
            <a:extLst xmlns:a="http://schemas.openxmlformats.org/drawingml/2006/main">
              <a:ext uri="{FF2B5EF4-FFF2-40B4-BE49-F238E27FC236}">
                <a16:creationId xmlns:a16="http://schemas.microsoft.com/office/drawing/2014/main" id="{468B32CE-3D2D-4F9B-AE34-4025DF6B99E0}"/>
              </a:ext>
            </a:extLst>
          </p:cNvPr>
          <p:cNvSpPr>
            <a:spLocks xmlns:a="http://schemas.openxmlformats.org/drawingml/2006/main" noGrp="1"/>
          </p:cNvSpPr>
          <p:nvPr/>
        </p:nvSpPr>
        <p:spPr>
          <a:xfrm xmlns:a="http://schemas.openxmlformats.org/drawingml/2006/main">
            <a:off x="876300" y="5448300"/>
            <a:ext cx="2895600" cy="533400"/>
          </a:xfrm>
          <a:prstGeom xmlns:a="http://schemas.openxmlformats.org/drawingml/2006/main" prst="roundRect">
            <a:avLst>
              <a:gd name="adj" fmla="val 14286"/>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PentestGPT</a:t>
            </a:r>
          </a:p>
        </p:txBody>
      </p:sp>
      <p:sp>
        <p:nvSpPr>
          <p:cNvPr id="32" name="">
            <a:extLst xmlns:a="http://schemas.openxmlformats.org/drawingml/2006/main">
              <a:ext uri="{FF2B5EF4-FFF2-40B4-BE49-F238E27FC236}">
                <a16:creationId xmlns:a16="http://schemas.microsoft.com/office/drawing/2014/main" id="{8F86DADC-25AF-4A06-95CA-3B4CD0FAA5D6}"/>
              </a:ext>
            </a:extLst>
          </p:cNvPr>
          <p:cNvSpPr>
            <a:spLocks xmlns:a="http://schemas.openxmlformats.org/drawingml/2006/main" noGrp="1"/>
          </p:cNvSpPr>
          <p:nvPr/>
        </p:nvSpPr>
        <p:spPr>
          <a:xfrm xmlns:a="http://schemas.openxmlformats.org/drawingml/2006/main">
            <a:off x="4095750" y="5448300"/>
            <a:ext cx="2895600" cy="533400"/>
          </a:xfrm>
          <a:prstGeom xmlns:a="http://schemas.openxmlformats.org/drawingml/2006/main" prst="roundRect">
            <a:avLst>
              <a:gd name="adj" fmla="val 14286"/>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HackSynth</a:t>
            </a:r>
          </a:p>
        </p:txBody>
      </p:sp>
      <p:sp>
        <p:nvSpPr>
          <p:cNvPr id="33" name="">
            <a:extLst xmlns:a="http://schemas.openxmlformats.org/drawingml/2006/main">
              <a:ext uri="{FF2B5EF4-FFF2-40B4-BE49-F238E27FC236}">
                <a16:creationId xmlns:a16="http://schemas.microsoft.com/office/drawing/2014/main" id="{865E8B8E-3A33-4A82-9E86-A1A8A50E5BC1}"/>
              </a:ext>
            </a:extLst>
          </p:cNvPr>
          <p:cNvSpPr>
            <a:spLocks xmlns:a="http://schemas.openxmlformats.org/drawingml/2006/main" noGrp="1"/>
          </p:cNvSpPr>
          <p:nvPr/>
        </p:nvSpPr>
        <p:spPr>
          <a:xfrm xmlns:a="http://schemas.openxmlformats.org/drawingml/2006/main">
            <a:off x="7315200" y="5448300"/>
            <a:ext cx="2895600" cy="533400"/>
          </a:xfrm>
          <a:prstGeom xmlns:a="http://schemas.openxmlformats.org/drawingml/2006/main" prst="roundRect">
            <a:avLst>
              <a:gd name="adj" fmla="val 14286"/>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PentestAgent</a:t>
            </a:r>
          </a:p>
        </p:txBody>
      </p:sp>
      <p:sp>
        <p:nvSpPr>
          <p:cNvPr id="34" name="">
            <a:extLst xmlns:a="http://schemas.openxmlformats.org/drawingml/2006/main">
              <a:ext uri="{FF2B5EF4-FFF2-40B4-BE49-F238E27FC236}">
                <a16:creationId xmlns:a16="http://schemas.microsoft.com/office/drawing/2014/main" id="{D6E8BDC1-93CD-4E60-9FAD-BA22BD12FA58}"/>
              </a:ext>
            </a:extLst>
          </p:cNvPr>
          <p:cNvSpPr>
            <a:spLocks xmlns:a="http://schemas.openxmlformats.org/drawingml/2006/main" noGrp="1"/>
          </p:cNvSpPr>
          <p:nvPr/>
        </p:nvSpPr>
        <p:spPr>
          <a:xfrm xmlns:a="http://schemas.openxmlformats.org/drawingml/2006/main">
            <a:off x="10534650" y="5448300"/>
            <a:ext cx="2895600" cy="533400"/>
          </a:xfrm>
          <a:prstGeom xmlns:a="http://schemas.openxmlformats.org/drawingml/2006/main" prst="roundRect">
            <a:avLst>
              <a:gd name="adj" fmla="val 14286"/>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AutoPentester</a:t>
            </a:r>
          </a:p>
        </p:txBody>
      </p:sp>
      <p:sp>
        <p:nvSpPr>
          <p:cNvPr id="35" name="">
            <a:extLst xmlns:a="http://schemas.openxmlformats.org/drawingml/2006/main">
              <a:ext uri="{FF2B5EF4-FFF2-40B4-BE49-F238E27FC236}">
                <a16:creationId xmlns:a16="http://schemas.microsoft.com/office/drawing/2014/main" id="{D8460EE4-0F35-4B34-932C-212991E45D15}"/>
              </a:ext>
            </a:extLst>
          </p:cNvPr>
          <p:cNvSpPr>
            <a:spLocks xmlns:a="http://schemas.openxmlformats.org/drawingml/2006/main" noGrp="1"/>
          </p:cNvSpPr>
          <p:nvPr/>
        </p:nvSpPr>
        <p:spPr>
          <a:xfrm xmlns:a="http://schemas.openxmlformats.org/drawingml/2006/main">
            <a:off x="13754100" y="5448300"/>
            <a:ext cx="2895600" cy="533400"/>
          </a:xfrm>
          <a:prstGeom xmlns:a="http://schemas.openxmlformats.org/drawingml/2006/main" prst="roundRect">
            <a:avLst>
              <a:gd name="adj" fmla="val 14286"/>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AutoAttacker</a:t>
            </a:r>
          </a:p>
        </p:txBody>
      </p:sp>
      <p:sp>
        <p:nvSpPr>
          <p:cNvPr id="36" name="">
            <a:extLst xmlns:a="http://schemas.openxmlformats.org/drawingml/2006/main">
              <a:ext uri="{FF2B5EF4-FFF2-40B4-BE49-F238E27FC236}">
                <a16:creationId xmlns:a16="http://schemas.microsoft.com/office/drawing/2014/main" id="{5C5103B8-99AA-4EBA-B741-11AFFA7B2CE5}"/>
              </a:ext>
            </a:extLst>
          </p:cNvPr>
          <p:cNvSpPr>
            <a:spLocks xmlns:a="http://schemas.openxmlformats.org/drawingml/2006/main" noGrp="1"/>
          </p:cNvSpPr>
          <p:nvPr/>
        </p:nvSpPr>
        <p:spPr>
          <a:xfrm xmlns:a="http://schemas.openxmlformats.org/drawingml/2006/main">
            <a:off x="876300" y="6191250"/>
            <a:ext cx="2895600" cy="533400"/>
          </a:xfrm>
          <a:prstGeom xmlns:a="http://schemas.openxmlformats.org/drawingml/2006/main" prst="roundRect">
            <a:avLst>
              <a:gd name="adj" fmla="val 14286"/>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PentAGI</a:t>
            </a:r>
          </a:p>
        </p:txBody>
      </p:sp>
      <p:sp>
        <p:nvSpPr>
          <p:cNvPr id="37" name="">
            <a:extLst xmlns:a="http://schemas.openxmlformats.org/drawingml/2006/main">
              <a:ext uri="{FF2B5EF4-FFF2-40B4-BE49-F238E27FC236}">
                <a16:creationId xmlns:a16="http://schemas.microsoft.com/office/drawing/2014/main" id="{8E82760F-AD32-4736-98D7-39AC8A3E1C60}"/>
              </a:ext>
            </a:extLst>
          </p:cNvPr>
          <p:cNvSpPr>
            <a:spLocks xmlns:a="http://schemas.openxmlformats.org/drawingml/2006/main" noGrp="1"/>
          </p:cNvSpPr>
          <p:nvPr/>
        </p:nvSpPr>
        <p:spPr>
          <a:xfrm xmlns:a="http://schemas.openxmlformats.org/drawingml/2006/main">
            <a:off x="4095750" y="6191250"/>
            <a:ext cx="2895600" cy="533400"/>
          </a:xfrm>
          <a:prstGeom xmlns:a="http://schemas.openxmlformats.org/drawingml/2006/main" prst="roundRect">
            <a:avLst>
              <a:gd name="adj" fmla="val 14286"/>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DarkMoon</a:t>
            </a:r>
          </a:p>
        </p:txBody>
      </p:sp>
      <p:sp>
        <p:nvSpPr>
          <p:cNvPr id="38" name="">
            <a:extLst xmlns:a="http://schemas.openxmlformats.org/drawingml/2006/main">
              <a:ext uri="{FF2B5EF4-FFF2-40B4-BE49-F238E27FC236}">
                <a16:creationId xmlns:a16="http://schemas.microsoft.com/office/drawing/2014/main" id="{5A1F4A44-3F51-42F5-971B-FE8B5A6F2607}"/>
              </a:ext>
            </a:extLst>
          </p:cNvPr>
          <p:cNvSpPr>
            <a:spLocks xmlns:a="http://schemas.openxmlformats.org/drawingml/2006/main" noGrp="1"/>
          </p:cNvSpPr>
          <p:nvPr/>
        </p:nvSpPr>
        <p:spPr>
          <a:xfrm xmlns:a="http://schemas.openxmlformats.org/drawingml/2006/main">
            <a:off x="7315200" y="6191250"/>
            <a:ext cx="2895600" cy="533400"/>
          </a:xfrm>
          <a:prstGeom xmlns:a="http://schemas.openxmlformats.org/drawingml/2006/main" prst="roundRect">
            <a:avLst>
              <a:gd name="adj" fmla="val 14286"/>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HexStrike AI</a:t>
            </a:r>
          </a:p>
        </p:txBody>
      </p:sp>
      <p:sp>
        <p:nvSpPr>
          <p:cNvPr id="39" name="">
            <a:extLst xmlns:a="http://schemas.openxmlformats.org/drawingml/2006/main">
              <a:ext uri="{FF2B5EF4-FFF2-40B4-BE49-F238E27FC236}">
                <a16:creationId xmlns:a16="http://schemas.microsoft.com/office/drawing/2014/main" id="{A82D9BF8-6BB7-4D9A-BFD7-BFEA2C4694FD}"/>
              </a:ext>
            </a:extLst>
          </p:cNvPr>
          <p:cNvSpPr>
            <a:spLocks xmlns:a="http://schemas.openxmlformats.org/drawingml/2006/main" noGrp="1"/>
          </p:cNvSpPr>
          <p:nvPr/>
        </p:nvSpPr>
        <p:spPr>
          <a:xfrm xmlns:a="http://schemas.openxmlformats.org/drawingml/2006/main">
            <a:off x="10534650" y="6191250"/>
            <a:ext cx="2895600" cy="533400"/>
          </a:xfrm>
          <a:prstGeom xmlns:a="http://schemas.openxmlformats.org/drawingml/2006/main" prst="roundRect">
            <a:avLst>
              <a:gd name="adj" fmla="val 14286"/>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pentestMCP</a:t>
            </a:r>
          </a:p>
        </p:txBody>
      </p:sp>
      <p:sp>
        <p:nvSpPr>
          <p:cNvPr id="40" name="">
            <a:extLst xmlns:a="http://schemas.openxmlformats.org/drawingml/2006/main">
              <a:ext uri="{FF2B5EF4-FFF2-40B4-BE49-F238E27FC236}">
                <a16:creationId xmlns:a16="http://schemas.microsoft.com/office/drawing/2014/main" id="{2B38832D-CB37-467B-B710-27E586C22DBC}"/>
              </a:ext>
            </a:extLst>
          </p:cNvPr>
          <p:cNvSpPr>
            <a:spLocks xmlns:a="http://schemas.openxmlformats.org/drawingml/2006/main" noGrp="1"/>
          </p:cNvSpPr>
          <p:nvPr/>
        </p:nvSpPr>
        <p:spPr>
          <a:xfrm xmlns:a="http://schemas.openxmlformats.org/drawingml/2006/main">
            <a:off x="13754100" y="6191250"/>
            <a:ext cx="2895600" cy="533400"/>
          </a:xfrm>
          <a:prstGeom xmlns:a="http://schemas.openxmlformats.org/drawingml/2006/main" prst="roundRect">
            <a:avLst>
              <a:gd name="adj" fmla="val 14286"/>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Shannon</a:t>
            </a:r>
          </a:p>
        </p:txBody>
      </p:sp>
      <p:sp>
        <p:nvSpPr>
          <p:cNvPr id="41" name="">
            <a:extLst xmlns:a="http://schemas.openxmlformats.org/drawingml/2006/main">
              <a:ext uri="{FF2B5EF4-FFF2-40B4-BE49-F238E27FC236}">
                <a16:creationId xmlns:a16="http://schemas.microsoft.com/office/drawing/2014/main" id="{23FDFFA2-B434-4FA1-9042-5F636D16B642}"/>
              </a:ext>
            </a:extLst>
          </p:cNvPr>
          <p:cNvSpPr>
            <a:spLocks xmlns:a="http://schemas.openxmlformats.org/drawingml/2006/main" noGrp="1"/>
          </p:cNvSpPr>
          <p:nvPr/>
        </p:nvSpPr>
        <p:spPr>
          <a:xfrm xmlns:a="http://schemas.openxmlformats.org/drawingml/2006/main">
            <a:off x="876300" y="7239000"/>
            <a:ext cx="15773400" cy="1104900"/>
          </a:xfrm>
          <a:prstGeom xmlns:a="http://schemas.openxmlformats.org/drawingml/2006/main" prst="roundRect">
            <a:avLst>
              <a:gd name="adj" fmla="val 6897"/>
            </a:avLst>
          </a:prstGeom>
          <a:solidFill xmlns:a="http://schemas.openxmlformats.org/drawingml/2006/main">
            <a:srgbClr val="123B6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E612AC2-0F4B-46F0-9B91-E845626CCF90}"/>
              </a:ext>
            </a:extLst>
          </p:cNvPr>
          <p:cNvSpPr>
            <a:spLocks xmlns:a="http://schemas.openxmlformats.org/drawingml/2006/main" noGrp="1"/>
          </p:cNvSpPr>
          <p:nvPr/>
        </p:nvSpPr>
        <p:spPr>
          <a:xfrm xmlns:a="http://schemas.openxmlformats.org/drawingml/2006/main">
            <a:off x="1238250" y="7543800"/>
            <a:ext cx="1504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i="0">
                <a:solidFill>
                  <a:srgbClr val="FFFFFF"/>
                </a:solidFill>
                <a:latin typeface="Arial"/>
                <a:ea typeface="Arial"/>
                <a:cs typeface="Arial"/>
              </a:defRPr>
            </a:pPr>
            <a:r>
              <a:rPr sz="2025" b="1" i="0">
                <a:solidFill>
                  <a:srgbClr val="FFFFFF"/>
                </a:solidFill>
                <a:latin typeface="Arial"/>
                <a:ea typeface="Arial"/>
                <a:cs typeface="Arial"/>
              </a:rPr>
              <a:t>The tools already exist. The unresolved problem is coordinating them across a wide target, choosing the next useful test, and retaining trustworthy context from discovery to reporting.</a:t>
            </a:r>
          </a:p>
        </p:txBody>
      </p:sp>
      <p:sp>
        <p:nvSpPr>
          <p:cNvPr id="43" name="">
            <a:extLst xmlns:a="http://schemas.openxmlformats.org/drawingml/2006/main">
              <a:ext uri="{FF2B5EF4-FFF2-40B4-BE49-F238E27FC236}">
                <a16:creationId xmlns:a16="http://schemas.microsoft.com/office/drawing/2014/main" id="{A78DAA36-FEC9-43A7-BB81-202A8E5265EA}"/>
              </a:ext>
            </a:extLst>
          </p:cNvPr>
          <p:cNvSpPr>
            <a:spLocks xmlns:a="http://schemas.openxmlformats.org/drawingml/2006/main" noGrp="1"/>
          </p:cNvSpPr>
          <p:nvPr/>
        </p:nvSpPr>
        <p:spPr>
          <a:xfrm xmlns:a="http://schemas.openxmlformats.org/drawingml/2006/main">
            <a:off x="914400" y="874395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literature review and comparison table, pp. 5–10.</a:t>
            </a:r>
          </a:p>
        </p:txBody>
      </p:sp>
    </p:spTree>
    <p:extLst>
      <p:ext uri="{BB962C8B-B14F-4D97-AF65-F5344CB8AC3E}">
        <p14:creationId xmlns:p14="http://schemas.microsoft.com/office/powerpoint/2010/main" val="74718240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A356F5F-3354-4D98-8F86-3081C8BCB251}"/>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03 / THE GAP</a:t>
            </a:r>
          </a:p>
        </p:txBody>
      </p:sp>
      <p:sp>
        <p:nvSpPr>
          <p:cNvPr id="2" name="">
            <a:extLst xmlns:a="http://schemas.openxmlformats.org/drawingml/2006/main">
              <a:ext uri="{FF2B5EF4-FFF2-40B4-BE49-F238E27FC236}">
                <a16:creationId xmlns:a16="http://schemas.microsoft.com/office/drawing/2014/main" id="{B4C8C474-95C3-4F33-9A09-2C0C7A188D60}"/>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operational security gap is orchestration at scale</a:t>
            </a:r>
          </a:p>
        </p:txBody>
      </p:sp>
      <p:sp>
        <p:nvSpPr>
          <p:cNvPr id="3" name="">
            <a:extLst xmlns:a="http://schemas.openxmlformats.org/drawingml/2006/main">
              <a:ext uri="{FF2B5EF4-FFF2-40B4-BE49-F238E27FC236}">
                <a16:creationId xmlns:a16="http://schemas.microsoft.com/office/drawing/2014/main" id="{EDD48757-3CDA-4673-B552-6FA24563E3AA}"/>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4272501A-9EA0-40FD-A97F-7FF075F53A6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33A8336B-2310-4B16-8554-583687147B70}"/>
              </a:ext>
            </a:extLst>
          </p:cNvPr>
          <p:cNvSpPr>
            <a:spLocks xmlns:a="http://schemas.openxmlformats.org/drawingml/2006/main" noGrp="1"/>
          </p:cNvSpPr>
          <p:nvPr/>
        </p:nvSpPr>
        <p:spPr>
          <a:xfrm xmlns:a="http://schemas.openxmlformats.org/drawingml/2006/main">
            <a:off x="876300" y="205740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0" i="0">
                <a:solidFill>
                  <a:srgbClr val="5F7180"/>
                </a:solidFill>
                <a:latin typeface="Arial"/>
                <a:ea typeface="Arial"/>
                <a:cs typeface="Arial"/>
              </a:defRPr>
            </a:pPr>
            <a:r>
              <a:rPr sz="2100" b="0" i="0">
                <a:solidFill>
                  <a:srgbClr val="5F7180"/>
                </a:solidFill>
                <a:latin typeface="Arial"/>
                <a:ea typeface="Arial"/>
                <a:cs typeface="Arial"/>
              </a:rPr>
              <a:t>This is a practical security gap—not merely a research gap.</a:t>
            </a:r>
          </a:p>
        </p:txBody>
      </p:sp>
      <p:sp>
        <p:nvSpPr>
          <p:cNvPr id="6" name="">
            <a:extLst xmlns:a="http://schemas.openxmlformats.org/drawingml/2006/main">
              <a:ext uri="{FF2B5EF4-FFF2-40B4-BE49-F238E27FC236}">
                <a16:creationId xmlns:a16="http://schemas.microsoft.com/office/drawing/2014/main" id="{4B48B45E-9026-471B-9B8E-A2FB28DC9D8A}"/>
              </a:ext>
            </a:extLst>
          </p:cNvPr>
          <p:cNvSpPr>
            <a:spLocks xmlns:a="http://schemas.openxmlformats.org/drawingml/2006/main" noGrp="1"/>
          </p:cNvSpPr>
          <p:nvPr/>
        </p:nvSpPr>
        <p:spPr>
          <a:xfrm xmlns:a="http://schemas.openxmlformats.org/drawingml/2006/main">
            <a:off x="87630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19CBFA70-3B0B-4CE8-BBB1-85590F232165}"/>
              </a:ext>
            </a:extLst>
          </p:cNvPr>
          <p:cNvSpPr>
            <a:spLocks xmlns:a="http://schemas.openxmlformats.org/drawingml/2006/main" noGrp="1"/>
          </p:cNvSpPr>
          <p:nvPr/>
        </p:nvSpPr>
        <p:spPr>
          <a:xfrm xmlns:a="http://schemas.openxmlformats.org/drawingml/2006/main">
            <a:off x="876300" y="2781300"/>
            <a:ext cx="85725" cy="34290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DE9DEEA-A5B0-426D-8031-03CAD51586EC}"/>
              </a:ext>
            </a:extLst>
          </p:cNvPr>
          <p:cNvSpPr>
            <a:spLocks xmlns:a="http://schemas.openxmlformats.org/drawingml/2006/main" noGrp="1"/>
          </p:cNvSpPr>
          <p:nvPr/>
        </p:nvSpPr>
        <p:spPr>
          <a:xfrm xmlns:a="http://schemas.openxmlformats.org/drawingml/2006/main">
            <a:off x="114300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1 · Fragmented workflow</a:t>
            </a:r>
          </a:p>
        </p:txBody>
      </p:sp>
      <p:sp>
        <p:nvSpPr>
          <p:cNvPr id="9" name="">
            <a:extLst xmlns:a="http://schemas.openxmlformats.org/drawingml/2006/main">
              <a:ext uri="{FF2B5EF4-FFF2-40B4-BE49-F238E27FC236}">
                <a16:creationId xmlns:a16="http://schemas.microsoft.com/office/drawing/2014/main" id="{B55B0472-9E81-420A-8F89-B57D2B4F17A6}"/>
              </a:ext>
            </a:extLst>
          </p:cNvPr>
          <p:cNvSpPr>
            <a:spLocks xmlns:a="http://schemas.openxmlformats.org/drawingml/2006/main" noGrp="1"/>
          </p:cNvSpPr>
          <p:nvPr/>
        </p:nvSpPr>
        <p:spPr>
          <a:xfrm xmlns:a="http://schemas.openxmlformats.org/drawingml/2006/main">
            <a:off x="114300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Specialized tools emit isolated outputs.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Humans repeatedly copy, filter, correlate and decide what to run next.</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Assets, services, endpoints and evidence are easily disconnected.</a:t>
            </a:r>
          </a:p>
        </p:txBody>
      </p:sp>
      <p:sp>
        <p:nvSpPr>
          <p:cNvPr id="10" name="">
            <a:extLst xmlns:a="http://schemas.openxmlformats.org/drawingml/2006/main">
              <a:ext uri="{FF2B5EF4-FFF2-40B4-BE49-F238E27FC236}">
                <a16:creationId xmlns:a16="http://schemas.microsoft.com/office/drawing/2014/main" id="{87B7C13E-3629-4239-819F-D26E4C253505}"/>
              </a:ext>
            </a:extLst>
          </p:cNvPr>
          <p:cNvSpPr>
            <a:spLocks xmlns:a="http://schemas.openxmlformats.org/drawingml/2006/main" noGrp="1"/>
          </p:cNvSpPr>
          <p:nvPr/>
        </p:nvSpPr>
        <p:spPr>
          <a:xfrm xmlns:a="http://schemas.openxmlformats.org/drawingml/2006/main">
            <a:off x="600075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6BD0ACBB-E9E7-46DE-B51E-B443D48D9DE8}"/>
              </a:ext>
            </a:extLst>
          </p:cNvPr>
          <p:cNvSpPr>
            <a:spLocks xmlns:a="http://schemas.openxmlformats.org/drawingml/2006/main" noGrp="1"/>
          </p:cNvSpPr>
          <p:nvPr/>
        </p:nvSpPr>
        <p:spPr>
          <a:xfrm xmlns:a="http://schemas.openxmlformats.org/drawingml/2006/main">
            <a:off x="6000750" y="2781300"/>
            <a:ext cx="85725" cy="34290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22DB7EF-A1B8-48DB-AB02-CF63EC67F97B}"/>
              </a:ext>
            </a:extLst>
          </p:cNvPr>
          <p:cNvSpPr>
            <a:spLocks xmlns:a="http://schemas.openxmlformats.org/drawingml/2006/main" noGrp="1"/>
          </p:cNvSpPr>
          <p:nvPr/>
        </p:nvSpPr>
        <p:spPr>
          <a:xfrm xmlns:a="http://schemas.openxmlformats.org/drawingml/2006/main">
            <a:off x="626745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2 · Reconnaissance scale</a:t>
            </a:r>
          </a:p>
        </p:txBody>
      </p:sp>
      <p:sp>
        <p:nvSpPr>
          <p:cNvPr id="13" name="">
            <a:extLst xmlns:a="http://schemas.openxmlformats.org/drawingml/2006/main">
              <a:ext uri="{FF2B5EF4-FFF2-40B4-BE49-F238E27FC236}">
                <a16:creationId xmlns:a16="http://schemas.microsoft.com/office/drawing/2014/main" id="{D740BED9-6C06-416A-B048-6EF8AB711717}"/>
              </a:ext>
            </a:extLst>
          </p:cNvPr>
          <p:cNvSpPr>
            <a:spLocks xmlns:a="http://schemas.openxmlformats.org/drawingml/2006/main" noGrp="1"/>
          </p:cNvSpPr>
          <p:nvPr/>
        </p:nvSpPr>
        <p:spPr>
          <a:xfrm xmlns:a="http://schemas.openxmlformats.org/drawingml/2006/main">
            <a:off x="626745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Real infrastructures are wider than bounded CTF tasks.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Each new domain, host, port or endpoint creates more work.</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Many AI systems are not optimized for continuous, broad reconnaissance coverage.</a:t>
            </a:r>
          </a:p>
        </p:txBody>
      </p:sp>
      <p:sp>
        <p:nvSpPr>
          <p:cNvPr id="14" name="">
            <a:extLst xmlns:a="http://schemas.openxmlformats.org/drawingml/2006/main">
              <a:ext uri="{FF2B5EF4-FFF2-40B4-BE49-F238E27FC236}">
                <a16:creationId xmlns:a16="http://schemas.microsoft.com/office/drawing/2014/main" id="{914B1528-3AF7-463E-8A61-A21362CD03F5}"/>
              </a:ext>
            </a:extLst>
          </p:cNvPr>
          <p:cNvSpPr>
            <a:spLocks xmlns:a="http://schemas.openxmlformats.org/drawingml/2006/main" noGrp="1"/>
          </p:cNvSpPr>
          <p:nvPr/>
        </p:nvSpPr>
        <p:spPr>
          <a:xfrm xmlns:a="http://schemas.openxmlformats.org/drawingml/2006/main">
            <a:off x="11125200" y="2781300"/>
            <a:ext cx="55245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5" name="">
            <a:extLst xmlns:a="http://schemas.openxmlformats.org/drawingml/2006/main">
              <a:ext uri="{FF2B5EF4-FFF2-40B4-BE49-F238E27FC236}">
                <a16:creationId xmlns:a16="http://schemas.microsoft.com/office/drawing/2014/main" id="{5D337540-B5E1-45CB-9229-70C2E2542516}"/>
              </a:ext>
            </a:extLst>
          </p:cNvPr>
          <p:cNvSpPr>
            <a:spLocks xmlns:a="http://schemas.openxmlformats.org/drawingml/2006/main" noGrp="1"/>
          </p:cNvSpPr>
          <p:nvPr/>
        </p:nvSpPr>
        <p:spPr>
          <a:xfrm xmlns:a="http://schemas.openxmlformats.org/drawingml/2006/main">
            <a:off x="11125200" y="2781300"/>
            <a:ext cx="85725" cy="34290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7152E6D-6CE2-453A-A85F-FE08F0A68808}"/>
              </a:ext>
            </a:extLst>
          </p:cNvPr>
          <p:cNvSpPr>
            <a:spLocks xmlns:a="http://schemas.openxmlformats.org/drawingml/2006/main" noGrp="1"/>
          </p:cNvSpPr>
          <p:nvPr/>
        </p:nvSpPr>
        <p:spPr>
          <a:xfrm xmlns:a="http://schemas.openxmlformats.org/drawingml/2006/main">
            <a:off x="11391900" y="299085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3 · External LLM dependency</a:t>
            </a:r>
          </a:p>
        </p:txBody>
      </p:sp>
      <p:sp>
        <p:nvSpPr>
          <p:cNvPr id="17" name="">
            <a:extLst xmlns:a="http://schemas.openxmlformats.org/drawingml/2006/main">
              <a:ext uri="{FF2B5EF4-FFF2-40B4-BE49-F238E27FC236}">
                <a16:creationId xmlns:a16="http://schemas.microsoft.com/office/drawing/2014/main" id="{5B3F2ADF-F81D-4073-A41D-1D1E4ADDD4F2}"/>
              </a:ext>
            </a:extLst>
          </p:cNvPr>
          <p:cNvSpPr>
            <a:spLocks xmlns:a="http://schemas.openxmlformats.org/drawingml/2006/main" noGrp="1"/>
          </p:cNvSpPr>
          <p:nvPr/>
        </p:nvSpPr>
        <p:spPr>
          <a:xfrm xmlns:a="http://schemas.openxmlformats.org/drawingml/2006/main">
            <a:off x="11391900" y="3524250"/>
            <a:ext cx="50292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API cost, rate limits, connectivity and model behavior can interrupt assessments.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Known pentesting steps do not require expensive reasoning every time.</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When the model stops, the core workflow should not stop.</a:t>
            </a:r>
          </a:p>
        </p:txBody>
      </p:sp>
      <p:sp>
        <p:nvSpPr>
          <p:cNvPr id="18" name="">
            <a:extLst xmlns:a="http://schemas.openxmlformats.org/drawingml/2006/main">
              <a:ext uri="{FF2B5EF4-FFF2-40B4-BE49-F238E27FC236}">
                <a16:creationId xmlns:a16="http://schemas.microsoft.com/office/drawing/2014/main" id="{A9EFDE9F-F852-447F-A3AF-7D913D05C4BE}"/>
              </a:ext>
            </a:extLst>
          </p:cNvPr>
          <p:cNvSpPr>
            <a:spLocks xmlns:a="http://schemas.openxmlformats.org/drawingml/2006/main" noGrp="1"/>
          </p:cNvSpPr>
          <p:nvPr/>
        </p:nvSpPr>
        <p:spPr>
          <a:xfrm xmlns:a="http://schemas.openxmlformats.org/drawingml/2006/main">
            <a:off x="876300" y="6667500"/>
            <a:ext cx="15773400" cy="1466850"/>
          </a:xfrm>
          <a:prstGeom xmlns:a="http://schemas.openxmlformats.org/drawingml/2006/main" prst="roundRect">
            <a:avLst>
              <a:gd name="adj" fmla="val 5195"/>
            </a:avLst>
          </a:prstGeom>
          <a:solidFill xmlns:a="http://schemas.openxmlformats.org/drawingml/2006/main">
            <a:srgbClr val="F1E8D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F654543-94DF-45C6-9237-25291BC98304}"/>
              </a:ext>
            </a:extLst>
          </p:cNvPr>
          <p:cNvSpPr>
            <a:spLocks xmlns:a="http://schemas.openxmlformats.org/drawingml/2006/main" noGrp="1"/>
          </p:cNvSpPr>
          <p:nvPr/>
        </p:nvSpPr>
        <p:spPr>
          <a:xfrm xmlns:a="http://schemas.openxmlformats.org/drawingml/2006/main">
            <a:off x="1200150" y="695325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C55B48"/>
                </a:solidFill>
                <a:latin typeface="Arial"/>
                <a:ea typeface="Arial"/>
                <a:cs typeface="Arial"/>
              </a:defRPr>
            </a:pPr>
            <a:r>
              <a:rPr sz="1800" b="1" i="0">
                <a:solidFill>
                  <a:srgbClr val="C55B48"/>
                </a:solidFill>
                <a:latin typeface="Arial"/>
                <a:ea typeface="Arial"/>
                <a:cs typeface="Arial"/>
              </a:rPr>
              <a:t>Trust and control must span the entire workflow</a:t>
            </a:r>
          </a:p>
        </p:txBody>
      </p:sp>
      <p:sp>
        <p:nvSpPr>
          <p:cNvPr id="20" name="">
            <a:extLst xmlns:a="http://schemas.openxmlformats.org/drawingml/2006/main">
              <a:ext uri="{FF2B5EF4-FFF2-40B4-BE49-F238E27FC236}">
                <a16:creationId xmlns:a16="http://schemas.microsoft.com/office/drawing/2014/main" id="{AF128D92-9096-484C-982A-73731EC320A6}"/>
              </a:ext>
            </a:extLst>
          </p:cNvPr>
          <p:cNvSpPr>
            <a:spLocks xmlns:a="http://schemas.openxmlformats.org/drawingml/2006/main" noGrp="1"/>
          </p:cNvSpPr>
          <p:nvPr/>
        </p:nvSpPr>
        <p:spPr>
          <a:xfrm xmlns:a="http://schemas.openxmlformats.org/drawingml/2006/main">
            <a:off x="1257300" y="75438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Scope enforcement</a:t>
            </a:r>
          </a:p>
        </p:txBody>
      </p:sp>
      <p:sp>
        <p:nvSpPr>
          <p:cNvPr id="21" name="">
            <a:extLst xmlns:a="http://schemas.openxmlformats.org/drawingml/2006/main">
              <a:ext uri="{FF2B5EF4-FFF2-40B4-BE49-F238E27FC236}">
                <a16:creationId xmlns:a16="http://schemas.microsoft.com/office/drawing/2014/main" id="{02C13B96-E794-4E67-BF51-23109D80C86F}"/>
              </a:ext>
            </a:extLst>
          </p:cNvPr>
          <p:cNvSpPr>
            <a:spLocks xmlns:a="http://schemas.openxmlformats.org/drawingml/2006/main" noGrp="1"/>
          </p:cNvSpPr>
          <p:nvPr/>
        </p:nvSpPr>
        <p:spPr>
          <a:xfrm xmlns:a="http://schemas.openxmlformats.org/drawingml/2006/main">
            <a:off x="5048250" y="75438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Evidence-based findings</a:t>
            </a:r>
          </a:p>
        </p:txBody>
      </p:sp>
      <p:sp>
        <p:nvSpPr>
          <p:cNvPr id="22" name="">
            <a:extLst xmlns:a="http://schemas.openxmlformats.org/drawingml/2006/main">
              <a:ext uri="{FF2B5EF4-FFF2-40B4-BE49-F238E27FC236}">
                <a16:creationId xmlns:a16="http://schemas.microsoft.com/office/drawing/2014/main" id="{7BD078A9-E129-4815-A872-439A43B60593}"/>
              </a:ext>
            </a:extLst>
          </p:cNvPr>
          <p:cNvSpPr>
            <a:spLocks xmlns:a="http://schemas.openxmlformats.org/drawingml/2006/main" noGrp="1"/>
          </p:cNvSpPr>
          <p:nvPr/>
        </p:nvSpPr>
        <p:spPr>
          <a:xfrm xmlns:a="http://schemas.openxmlformats.org/drawingml/2006/main">
            <a:off x="9353550" y="7543800"/>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Human approval before impactful actions</a:t>
            </a:r>
          </a:p>
        </p:txBody>
      </p:sp>
      <p:sp>
        <p:nvSpPr>
          <p:cNvPr id="23" name="">
            <a:extLst xmlns:a="http://schemas.openxmlformats.org/drawingml/2006/main">
              <a:ext uri="{FF2B5EF4-FFF2-40B4-BE49-F238E27FC236}">
                <a16:creationId xmlns:a16="http://schemas.microsoft.com/office/drawing/2014/main" id="{36E04433-296C-4D0B-8ADF-263295C98636}"/>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pp. 10–12.</a:t>
            </a:r>
          </a:p>
        </p:txBody>
      </p:sp>
    </p:spTree>
    <p:extLst>
      <p:ext uri="{BB962C8B-B14F-4D97-AF65-F5344CB8AC3E}">
        <p14:creationId xmlns:p14="http://schemas.microsoft.com/office/powerpoint/2010/main" val="114134531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CA1C725-53C3-4A43-A041-4947274433B4}"/>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04 / DESIGN REQUIREMENTS</a:t>
            </a:r>
          </a:p>
        </p:txBody>
      </p:sp>
      <p:sp>
        <p:nvSpPr>
          <p:cNvPr id="2" name="">
            <a:extLst xmlns:a="http://schemas.openxmlformats.org/drawingml/2006/main">
              <a:ext uri="{FF2B5EF4-FFF2-40B4-BE49-F238E27FC236}">
                <a16:creationId xmlns:a16="http://schemas.microsoft.com/office/drawing/2014/main" id="{6EF9DCE5-2D9A-4E24-A158-ABF85D5423FF}"/>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What the proposed system must do</a:t>
            </a:r>
          </a:p>
        </p:txBody>
      </p:sp>
      <p:sp>
        <p:nvSpPr>
          <p:cNvPr id="3" name="">
            <a:extLst xmlns:a="http://schemas.openxmlformats.org/drawingml/2006/main">
              <a:ext uri="{FF2B5EF4-FFF2-40B4-BE49-F238E27FC236}">
                <a16:creationId xmlns:a16="http://schemas.microsoft.com/office/drawing/2014/main" id="{1E1E7FCE-D631-4022-9724-9D608DB87D7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61CE4CE2-2B05-4EBA-9D4D-D5A71E5965C7}"/>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3CE4763-C7EB-4B7A-A5BA-A06236A1C4C5}"/>
              </a:ext>
            </a:extLst>
          </p:cNvPr>
          <p:cNvSpPr>
            <a:spLocks xmlns:a="http://schemas.openxmlformats.org/drawingml/2006/main" noGrp="1"/>
          </p:cNvSpPr>
          <p:nvPr/>
        </p:nvSpPr>
        <p:spPr>
          <a:xfrm xmlns:a="http://schemas.openxmlformats.org/drawingml/2006/main">
            <a:off x="876300" y="2686050"/>
            <a:ext cx="2914650" cy="4095750"/>
          </a:xfrm>
          <a:prstGeom xmlns:a="http://schemas.openxmlformats.org/drawingml/2006/main" prst="roundRect">
            <a:avLst>
              <a:gd name="adj" fmla="val 2614"/>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1C0C1FA8-A326-40D1-93C3-9C3E16C63ECF}"/>
              </a:ext>
            </a:extLst>
          </p:cNvPr>
          <p:cNvSpPr>
            <a:spLocks xmlns:a="http://schemas.openxmlformats.org/drawingml/2006/main" noGrp="1"/>
          </p:cNvSpPr>
          <p:nvPr/>
        </p:nvSpPr>
        <p:spPr>
          <a:xfrm xmlns:a="http://schemas.openxmlformats.org/drawingml/2006/main">
            <a:off x="876300" y="2686050"/>
            <a:ext cx="85725" cy="40957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8E336E4-9219-4C77-ACC0-8F5A101B7688}"/>
              </a:ext>
            </a:extLst>
          </p:cNvPr>
          <p:cNvSpPr>
            <a:spLocks xmlns:a="http://schemas.openxmlformats.org/drawingml/2006/main" noGrp="1"/>
          </p:cNvSpPr>
          <p:nvPr/>
        </p:nvSpPr>
        <p:spPr>
          <a:xfrm xmlns:a="http://schemas.openxmlformats.org/drawingml/2006/main">
            <a:off x="1143000" y="2895600"/>
            <a:ext cx="241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43"/>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One visible harness</a:t>
            </a:r>
          </a:p>
        </p:txBody>
      </p:sp>
      <p:sp>
        <p:nvSpPr>
          <p:cNvPr id="8" name="">
            <a:extLst xmlns:a="http://schemas.openxmlformats.org/drawingml/2006/main">
              <a:ext uri="{FF2B5EF4-FFF2-40B4-BE49-F238E27FC236}">
                <a16:creationId xmlns:a16="http://schemas.microsoft.com/office/drawing/2014/main" id="{2AADD40F-BC6E-4BE6-B6A6-970D3C4D423B}"/>
              </a:ext>
            </a:extLst>
          </p:cNvPr>
          <p:cNvSpPr>
            <a:spLocks xmlns:a="http://schemas.openxmlformats.org/drawingml/2006/main" noGrp="1"/>
          </p:cNvSpPr>
          <p:nvPr/>
        </p:nvSpPr>
        <p:spPr>
          <a:xfrm xmlns:a="http://schemas.openxmlformats.org/drawingml/2006/main">
            <a:off x="1143000" y="3429000"/>
            <a:ext cx="24193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The CLI will unify engagement setup, tools, jobs, progress, evidence and reporting in one operator session.</a:t>
            </a:r>
          </a:p>
        </p:txBody>
      </p:sp>
      <p:sp>
        <p:nvSpPr>
          <p:cNvPr id="9" name="">
            <a:extLst xmlns:a="http://schemas.openxmlformats.org/drawingml/2006/main">
              <a:ext uri="{FF2B5EF4-FFF2-40B4-BE49-F238E27FC236}">
                <a16:creationId xmlns:a16="http://schemas.microsoft.com/office/drawing/2014/main" id="{6F459D41-C3A2-4222-B116-8C0368CF54C0}"/>
              </a:ext>
            </a:extLst>
          </p:cNvPr>
          <p:cNvSpPr>
            <a:spLocks xmlns:a="http://schemas.openxmlformats.org/drawingml/2006/main" noGrp="1"/>
          </p:cNvSpPr>
          <p:nvPr/>
        </p:nvSpPr>
        <p:spPr>
          <a:xfrm xmlns:a="http://schemas.openxmlformats.org/drawingml/2006/main">
            <a:off x="4057650" y="2686050"/>
            <a:ext cx="2914650" cy="4095750"/>
          </a:xfrm>
          <a:prstGeom xmlns:a="http://schemas.openxmlformats.org/drawingml/2006/main" prst="roundRect">
            <a:avLst>
              <a:gd name="adj" fmla="val 2614"/>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1323462C-9C17-4560-AAEE-945CC0862E65}"/>
              </a:ext>
            </a:extLst>
          </p:cNvPr>
          <p:cNvSpPr>
            <a:spLocks xmlns:a="http://schemas.openxmlformats.org/drawingml/2006/main" noGrp="1"/>
          </p:cNvSpPr>
          <p:nvPr/>
        </p:nvSpPr>
        <p:spPr>
          <a:xfrm xmlns:a="http://schemas.openxmlformats.org/drawingml/2006/main">
            <a:off x="4057650" y="2686050"/>
            <a:ext cx="85725" cy="40957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78B970D-3A35-4466-A52F-1022AD7F64E2}"/>
              </a:ext>
            </a:extLst>
          </p:cNvPr>
          <p:cNvSpPr>
            <a:spLocks xmlns:a="http://schemas.openxmlformats.org/drawingml/2006/main" noGrp="1"/>
          </p:cNvSpPr>
          <p:nvPr/>
        </p:nvSpPr>
        <p:spPr>
          <a:xfrm xmlns:a="http://schemas.openxmlformats.org/drawingml/2006/main">
            <a:off x="4324350" y="2895600"/>
            <a:ext cx="241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7276"/>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Deterministic intelligence</a:t>
            </a:r>
          </a:p>
        </p:txBody>
      </p:sp>
      <p:sp>
        <p:nvSpPr>
          <p:cNvPr id="12" name="">
            <a:extLst xmlns:a="http://schemas.openxmlformats.org/drawingml/2006/main">
              <a:ext uri="{FF2B5EF4-FFF2-40B4-BE49-F238E27FC236}">
                <a16:creationId xmlns:a16="http://schemas.microsoft.com/office/drawing/2014/main" id="{912D2B86-157A-4F53-82C6-72002B8B6C22}"/>
              </a:ext>
            </a:extLst>
          </p:cNvPr>
          <p:cNvSpPr>
            <a:spLocks xmlns:a="http://schemas.openxmlformats.org/drawingml/2006/main" noGrp="1"/>
          </p:cNvSpPr>
          <p:nvPr/>
        </p:nvSpPr>
        <p:spPr>
          <a:xfrm xmlns:a="http://schemas.openxmlformats.org/drawingml/2006/main">
            <a:off x="4324350" y="3429000"/>
            <a:ext cx="24193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 configurable methodology engine will drive battle-tested recon and vulnerability steps without requiring an LLM.</a:t>
            </a:r>
          </a:p>
        </p:txBody>
      </p:sp>
      <p:sp>
        <p:nvSpPr>
          <p:cNvPr id="13" name="">
            <a:extLst xmlns:a="http://schemas.openxmlformats.org/drawingml/2006/main">
              <a:ext uri="{FF2B5EF4-FFF2-40B4-BE49-F238E27FC236}">
                <a16:creationId xmlns:a16="http://schemas.microsoft.com/office/drawing/2014/main" id="{73759DE5-B6D9-410C-9062-9747F9DBC74A}"/>
              </a:ext>
            </a:extLst>
          </p:cNvPr>
          <p:cNvSpPr>
            <a:spLocks xmlns:a="http://schemas.openxmlformats.org/drawingml/2006/main" noGrp="1"/>
          </p:cNvSpPr>
          <p:nvPr/>
        </p:nvSpPr>
        <p:spPr>
          <a:xfrm xmlns:a="http://schemas.openxmlformats.org/drawingml/2006/main">
            <a:off x="7239000" y="2686050"/>
            <a:ext cx="2914650" cy="4095750"/>
          </a:xfrm>
          <a:prstGeom xmlns:a="http://schemas.openxmlformats.org/drawingml/2006/main" prst="roundRect">
            <a:avLst>
              <a:gd name="adj" fmla="val 2614"/>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8F4F9C5B-3C40-44DC-84EA-07FE43390300}"/>
              </a:ext>
            </a:extLst>
          </p:cNvPr>
          <p:cNvSpPr>
            <a:spLocks xmlns:a="http://schemas.openxmlformats.org/drawingml/2006/main" noGrp="1"/>
          </p:cNvSpPr>
          <p:nvPr/>
        </p:nvSpPr>
        <p:spPr>
          <a:xfrm xmlns:a="http://schemas.openxmlformats.org/drawingml/2006/main">
            <a:off x="7239000" y="2686050"/>
            <a:ext cx="85725" cy="40957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8F49119-1E1F-4801-9498-6BCEF96D10DA}"/>
              </a:ext>
            </a:extLst>
          </p:cNvPr>
          <p:cNvSpPr>
            <a:spLocks xmlns:a="http://schemas.openxmlformats.org/drawingml/2006/main" noGrp="1"/>
          </p:cNvSpPr>
          <p:nvPr/>
        </p:nvSpPr>
        <p:spPr>
          <a:xfrm xmlns:a="http://schemas.openxmlformats.org/drawingml/2006/main">
            <a:off x="7505700" y="2895600"/>
            <a:ext cx="241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3265"/>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AI where judgment matters</a:t>
            </a:r>
          </a:p>
        </p:txBody>
      </p:sp>
      <p:sp>
        <p:nvSpPr>
          <p:cNvPr id="16" name="">
            <a:extLst xmlns:a="http://schemas.openxmlformats.org/drawingml/2006/main">
              <a:ext uri="{FF2B5EF4-FFF2-40B4-BE49-F238E27FC236}">
                <a16:creationId xmlns:a16="http://schemas.microsoft.com/office/drawing/2014/main" id="{61A58431-CEB5-46BE-AC7A-4BB2F71E3754}"/>
              </a:ext>
            </a:extLst>
          </p:cNvPr>
          <p:cNvSpPr>
            <a:spLocks xmlns:a="http://schemas.openxmlformats.org/drawingml/2006/main" noGrp="1"/>
          </p:cNvSpPr>
          <p:nvPr/>
        </p:nvSpPr>
        <p:spPr>
          <a:xfrm xmlns:a="http://schemas.openxmlformats.org/drawingml/2006/main">
            <a:off x="7505700" y="3429000"/>
            <a:ext cx="24193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AI will deepen ambiguous leads, correlate across assets, test business logic and propose creative pivots.</a:t>
            </a:r>
          </a:p>
        </p:txBody>
      </p:sp>
      <p:sp>
        <p:nvSpPr>
          <p:cNvPr id="17" name="">
            <a:extLst xmlns:a="http://schemas.openxmlformats.org/drawingml/2006/main">
              <a:ext uri="{FF2B5EF4-FFF2-40B4-BE49-F238E27FC236}">
                <a16:creationId xmlns:a16="http://schemas.microsoft.com/office/drawing/2014/main" id="{804C24B2-8A6C-4E6F-83BF-B5BC80437FEB}"/>
              </a:ext>
            </a:extLst>
          </p:cNvPr>
          <p:cNvSpPr>
            <a:spLocks xmlns:a="http://schemas.openxmlformats.org/drawingml/2006/main" noGrp="1"/>
          </p:cNvSpPr>
          <p:nvPr/>
        </p:nvSpPr>
        <p:spPr>
          <a:xfrm xmlns:a="http://schemas.openxmlformats.org/drawingml/2006/main">
            <a:off x="10420350" y="2686050"/>
            <a:ext cx="2914650" cy="4095750"/>
          </a:xfrm>
          <a:prstGeom xmlns:a="http://schemas.openxmlformats.org/drawingml/2006/main" prst="roundRect">
            <a:avLst>
              <a:gd name="adj" fmla="val 2614"/>
            </a:avLst>
          </a:prstGeom>
          <a:solidFill xmlns:a="http://schemas.openxmlformats.org/drawingml/2006/main">
            <a:srgbClr val="FFFDF9"/>
          </a:solidFill>
          <a:ln xmlns:a="http://schemas.openxmlformats.org/drawingml/2006/main" w="19050">
            <a:solidFill>
              <a:srgbClr val="CAD6DE"/>
            </a:solidFill>
          </a:ln>
        </p:spPr>
      </p:sp>
      <p:sp>
        <p:nvSpPr>
          <p:cNvPr id="18" name="">
            <a:extLst xmlns:a="http://schemas.openxmlformats.org/drawingml/2006/main">
              <a:ext uri="{FF2B5EF4-FFF2-40B4-BE49-F238E27FC236}">
                <a16:creationId xmlns:a16="http://schemas.microsoft.com/office/drawing/2014/main" id="{CE2061A0-041F-41F1-9A5A-5CB3D677467C}"/>
              </a:ext>
            </a:extLst>
          </p:cNvPr>
          <p:cNvSpPr>
            <a:spLocks xmlns:a="http://schemas.openxmlformats.org/drawingml/2006/main" noGrp="1"/>
          </p:cNvSpPr>
          <p:nvPr/>
        </p:nvSpPr>
        <p:spPr>
          <a:xfrm xmlns:a="http://schemas.openxmlformats.org/drawingml/2006/main">
            <a:off x="10420350" y="2686050"/>
            <a:ext cx="85725" cy="40957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795D20D-93D2-4D1A-B351-51437465FDAE}"/>
              </a:ext>
            </a:extLst>
          </p:cNvPr>
          <p:cNvSpPr>
            <a:spLocks xmlns:a="http://schemas.openxmlformats.org/drawingml/2006/main" noGrp="1"/>
          </p:cNvSpPr>
          <p:nvPr/>
        </p:nvSpPr>
        <p:spPr>
          <a:xfrm xmlns:a="http://schemas.openxmlformats.org/drawingml/2006/main">
            <a:off x="10687050" y="2895600"/>
            <a:ext cx="241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7365"/>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Honest evidence memory</a:t>
            </a:r>
          </a:p>
        </p:txBody>
      </p:sp>
      <p:sp>
        <p:nvSpPr>
          <p:cNvPr id="20" name="">
            <a:extLst xmlns:a="http://schemas.openxmlformats.org/drawingml/2006/main">
              <a:ext uri="{FF2B5EF4-FFF2-40B4-BE49-F238E27FC236}">
                <a16:creationId xmlns:a16="http://schemas.microsoft.com/office/drawing/2014/main" id="{3AE50704-929B-4399-847F-EEAD6790A7C6}"/>
              </a:ext>
            </a:extLst>
          </p:cNvPr>
          <p:cNvSpPr>
            <a:spLocks xmlns:a="http://schemas.openxmlformats.org/drawingml/2006/main" noGrp="1"/>
          </p:cNvSpPr>
          <p:nvPr/>
        </p:nvSpPr>
        <p:spPr>
          <a:xfrm xmlns:a="http://schemas.openxmlformats.org/drawingml/2006/main">
            <a:off x="10687050" y="3429000"/>
            <a:ext cx="24193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Tool observations, hypotheses, candidates and verified findings will remain distinct and traceable.</a:t>
            </a:r>
          </a:p>
        </p:txBody>
      </p:sp>
      <p:sp>
        <p:nvSpPr>
          <p:cNvPr id="21" name="">
            <a:extLst xmlns:a="http://schemas.openxmlformats.org/drawingml/2006/main">
              <a:ext uri="{FF2B5EF4-FFF2-40B4-BE49-F238E27FC236}">
                <a16:creationId xmlns:a16="http://schemas.microsoft.com/office/drawing/2014/main" id="{877E569C-F2F0-47C7-B322-7FF466B19348}"/>
              </a:ext>
            </a:extLst>
          </p:cNvPr>
          <p:cNvSpPr>
            <a:spLocks xmlns:a="http://schemas.openxmlformats.org/drawingml/2006/main" noGrp="1"/>
          </p:cNvSpPr>
          <p:nvPr/>
        </p:nvSpPr>
        <p:spPr>
          <a:xfrm xmlns:a="http://schemas.openxmlformats.org/drawingml/2006/main">
            <a:off x="13601700" y="2686050"/>
            <a:ext cx="2914650" cy="4095750"/>
          </a:xfrm>
          <a:prstGeom xmlns:a="http://schemas.openxmlformats.org/drawingml/2006/main" prst="roundRect">
            <a:avLst>
              <a:gd name="adj" fmla="val 2614"/>
            </a:avLst>
          </a:prstGeom>
          <a:solidFill xmlns:a="http://schemas.openxmlformats.org/drawingml/2006/main">
            <a:srgbClr val="FFFDF9"/>
          </a:solidFill>
          <a:ln xmlns:a="http://schemas.openxmlformats.org/drawingml/2006/main" w="19050">
            <a:solidFill>
              <a:srgbClr val="CAD6DE"/>
            </a:solidFill>
          </a:ln>
        </p:spPr>
      </p:sp>
      <p:sp>
        <p:nvSpPr>
          <p:cNvPr id="22" name="">
            <a:extLst xmlns:a="http://schemas.openxmlformats.org/drawingml/2006/main">
              <a:ext uri="{FF2B5EF4-FFF2-40B4-BE49-F238E27FC236}">
                <a16:creationId xmlns:a16="http://schemas.microsoft.com/office/drawing/2014/main" id="{3D553D36-B83E-4AC3-8900-E8CA03FC5288}"/>
              </a:ext>
            </a:extLst>
          </p:cNvPr>
          <p:cNvSpPr>
            <a:spLocks xmlns:a="http://schemas.openxmlformats.org/drawingml/2006/main" noGrp="1"/>
          </p:cNvSpPr>
          <p:nvPr/>
        </p:nvSpPr>
        <p:spPr>
          <a:xfrm xmlns:a="http://schemas.openxmlformats.org/drawingml/2006/main">
            <a:off x="13601700" y="2686050"/>
            <a:ext cx="85725" cy="409575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3D88C5E-E999-4B25-B403-8125330A2950}"/>
              </a:ext>
            </a:extLst>
          </p:cNvPr>
          <p:cNvSpPr>
            <a:spLocks xmlns:a="http://schemas.openxmlformats.org/drawingml/2006/main" noGrp="1"/>
          </p:cNvSpPr>
          <p:nvPr/>
        </p:nvSpPr>
        <p:spPr>
          <a:xfrm xmlns:a="http://schemas.openxmlformats.org/drawingml/2006/main">
            <a:off x="13868400" y="2895600"/>
            <a:ext cx="241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Safe human control</a:t>
            </a:r>
          </a:p>
        </p:txBody>
      </p:sp>
      <p:sp>
        <p:nvSpPr>
          <p:cNvPr id="24" name="">
            <a:extLst xmlns:a="http://schemas.openxmlformats.org/drawingml/2006/main">
              <a:ext uri="{FF2B5EF4-FFF2-40B4-BE49-F238E27FC236}">
                <a16:creationId xmlns:a16="http://schemas.microsoft.com/office/drawing/2014/main" id="{5C92F292-1543-4868-8380-3DF058A4CCAB}"/>
              </a:ext>
            </a:extLst>
          </p:cNvPr>
          <p:cNvSpPr>
            <a:spLocks xmlns:a="http://schemas.openxmlformats.org/drawingml/2006/main" noGrp="1"/>
          </p:cNvSpPr>
          <p:nvPr/>
        </p:nvSpPr>
        <p:spPr>
          <a:xfrm xmlns:a="http://schemas.openxmlformats.org/drawingml/2006/main">
            <a:off x="13868400" y="3429000"/>
            <a:ext cx="24193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Authorized scope will be enforced and impactful actions will require explicit approval and logging.</a:t>
            </a:r>
          </a:p>
        </p:txBody>
      </p:sp>
      <p:sp>
        <p:nvSpPr>
          <p:cNvPr id="25" name="">
            <a:extLst xmlns:a="http://schemas.openxmlformats.org/drawingml/2006/main">
              <a:ext uri="{FF2B5EF4-FFF2-40B4-BE49-F238E27FC236}">
                <a16:creationId xmlns:a16="http://schemas.microsoft.com/office/drawing/2014/main" id="{A820D72B-CCF4-43E9-B9DC-D1D19076FA24}"/>
              </a:ext>
            </a:extLst>
          </p:cNvPr>
          <p:cNvSpPr>
            <a:spLocks xmlns:a="http://schemas.openxmlformats.org/drawingml/2006/main" noGrp="1"/>
          </p:cNvSpPr>
          <p:nvPr/>
        </p:nvSpPr>
        <p:spPr>
          <a:xfrm xmlns:a="http://schemas.openxmlformats.org/drawingml/2006/main">
            <a:off x="876300" y="7239000"/>
            <a:ext cx="15773400" cy="1104900"/>
          </a:xfrm>
          <a:prstGeom xmlns:a="http://schemas.openxmlformats.org/drawingml/2006/main" prst="roundRect">
            <a:avLst>
              <a:gd name="adj" fmla="val 6897"/>
            </a:avLst>
          </a:prstGeom>
          <a:solidFill xmlns:a="http://schemas.openxmlformats.org/drawingml/2006/main">
            <a:srgbClr val="123B6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CEFB74F-4AF5-4326-9F78-F529BCE6DF2B}"/>
              </a:ext>
            </a:extLst>
          </p:cNvPr>
          <p:cNvSpPr>
            <a:spLocks xmlns:a="http://schemas.openxmlformats.org/drawingml/2006/main" noGrp="1"/>
          </p:cNvSpPr>
          <p:nvPr/>
        </p:nvSpPr>
        <p:spPr>
          <a:xfrm xmlns:a="http://schemas.openxmlformats.org/drawingml/2006/main">
            <a:off x="1238250" y="7543800"/>
            <a:ext cx="1504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828"/>
          </a:bodyPr>
          <a:lstStyle xmlns:a="http://schemas.openxmlformats.org/drawingml/2006/main"/>
          <a:p xmlns:a="http://schemas.openxmlformats.org/drawingml/2006/main">
            <a:pPr algn="ctr">
              <a:lnSpc>
                <a:spcPct val="100000"/>
              </a:lnSpc>
              <a:buNone/>
              <a:defRPr sz="2175" b="1" i="0">
                <a:solidFill>
                  <a:srgbClr val="FFFFFF"/>
                </a:solidFill>
                <a:latin typeface="Arial"/>
                <a:ea typeface="Arial"/>
                <a:cs typeface="Arial"/>
              </a:defRPr>
            </a:pPr>
            <a:r>
              <a:rPr sz="2175" b="1" i="0">
                <a:solidFill>
                  <a:srgbClr val="FFFFFF"/>
                </a:solidFill>
                <a:latin typeface="Arial"/>
                <a:ea typeface="Arial"/>
                <a:cs typeface="Arial"/>
              </a:rPr>
              <a:t>Core principle: automate repeatable methodology; reserve model tokens for uncertainty, interpretation and genuinely adaptive testing.</a:t>
            </a:r>
          </a:p>
        </p:txBody>
      </p:sp>
      <p:sp>
        <p:nvSpPr>
          <p:cNvPr id="27" name="">
            <a:extLst xmlns:a="http://schemas.openxmlformats.org/drawingml/2006/main">
              <a:ext uri="{FF2B5EF4-FFF2-40B4-BE49-F238E27FC236}">
                <a16:creationId xmlns:a16="http://schemas.microsoft.com/office/drawing/2014/main" id="{0BF29E3A-81E3-4FB9-A2E5-37D359F604C5}"/>
              </a:ext>
            </a:extLst>
          </p:cNvPr>
          <p:cNvSpPr>
            <a:spLocks xmlns:a="http://schemas.openxmlformats.org/drawingml/2006/main" noGrp="1"/>
          </p:cNvSpPr>
          <p:nvPr/>
        </p:nvSpPr>
        <p:spPr>
          <a:xfrm xmlns:a="http://schemas.openxmlformats.org/drawingml/2006/main">
            <a:off x="914400" y="8743950"/>
            <a:ext cx="1238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Derived from the project objectives and the identified operational gaps.</a:t>
            </a:r>
          </a:p>
        </p:txBody>
      </p:sp>
    </p:spTree>
    <p:extLst>
      <p:ext uri="{BB962C8B-B14F-4D97-AF65-F5344CB8AC3E}">
        <p14:creationId xmlns:p14="http://schemas.microsoft.com/office/powerpoint/2010/main" val="88917650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81DB548-8AA1-4709-890E-A18892B8C622}"/>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05 / PROPOSED SOLUTION</a:t>
            </a:r>
          </a:p>
        </p:txBody>
      </p:sp>
      <p:sp>
        <p:nvSpPr>
          <p:cNvPr id="2" name="">
            <a:extLst xmlns:a="http://schemas.openxmlformats.org/drawingml/2006/main">
              <a:ext uri="{FF2B5EF4-FFF2-40B4-BE49-F238E27FC236}">
                <a16:creationId xmlns:a16="http://schemas.microsoft.com/office/drawing/2014/main" id="{7D2AE967-DF9B-4288-A7AE-540151A3B155}"/>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A dual-mode pentesting harness with one shared source of truth</a:t>
            </a:r>
          </a:p>
        </p:txBody>
      </p:sp>
      <p:sp>
        <p:nvSpPr>
          <p:cNvPr id="3" name="">
            <a:extLst xmlns:a="http://schemas.openxmlformats.org/drawingml/2006/main">
              <a:ext uri="{FF2B5EF4-FFF2-40B4-BE49-F238E27FC236}">
                <a16:creationId xmlns:a16="http://schemas.microsoft.com/office/drawing/2014/main" id="{D7F8CB68-7E47-4341-B27E-85AA4379E00D}"/>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272BF350-AED8-4CE5-B843-ACC72A109CA3}"/>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0DC6D12-F558-446E-8C4A-70B9C624EEE3}"/>
              </a:ext>
            </a:extLst>
          </p:cNvPr>
          <p:cNvSpPr>
            <a:spLocks xmlns:a="http://schemas.openxmlformats.org/drawingml/2006/main" noGrp="1"/>
          </p:cNvSpPr>
          <p:nvPr/>
        </p:nvSpPr>
        <p:spPr>
          <a:xfrm xmlns:a="http://schemas.openxmlformats.org/drawingml/2006/main">
            <a:off x="876300" y="2324100"/>
            <a:ext cx="238125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AUTHORIZED SCOPE</a:t>
            </a:r>
          </a:p>
        </p:txBody>
      </p:sp>
      <p:sp>
        <p:nvSpPr>
          <p:cNvPr id="6" name="">
            <a:extLst xmlns:a="http://schemas.openxmlformats.org/drawingml/2006/main">
              <a:ext uri="{FF2B5EF4-FFF2-40B4-BE49-F238E27FC236}">
                <a16:creationId xmlns:a16="http://schemas.microsoft.com/office/drawing/2014/main" id="{DE5D0989-70E0-4031-A734-DA8767A4F3D5}"/>
              </a:ext>
            </a:extLst>
          </p:cNvPr>
          <p:cNvSpPr>
            <a:spLocks xmlns:a="http://schemas.openxmlformats.org/drawingml/2006/main" noGrp="1"/>
          </p:cNvSpPr>
          <p:nvPr/>
        </p:nvSpPr>
        <p:spPr>
          <a:xfrm xmlns:a="http://schemas.openxmlformats.org/drawingml/2006/main">
            <a:off x="342900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53CDD11-4ED7-4AED-AF83-26F0257F7B24}"/>
              </a:ext>
            </a:extLst>
          </p:cNvPr>
          <p:cNvSpPr>
            <a:spLocks xmlns:a="http://schemas.openxmlformats.org/drawingml/2006/main" noGrp="1"/>
          </p:cNvSpPr>
          <p:nvPr/>
        </p:nvSpPr>
        <p:spPr>
          <a:xfrm xmlns:a="http://schemas.openxmlformats.org/drawingml/2006/main">
            <a:off x="4095750" y="2324100"/>
            <a:ext cx="2381250" cy="552450"/>
          </a:xfrm>
          <a:prstGeom xmlns:a="http://schemas.openxmlformats.org/drawingml/2006/main" prst="roundRect">
            <a:avLst>
              <a:gd name="adj" fmla="val 13793"/>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CLI HARNESS</a:t>
            </a:r>
          </a:p>
        </p:txBody>
      </p:sp>
      <p:sp>
        <p:nvSpPr>
          <p:cNvPr id="8" name="">
            <a:extLst xmlns:a="http://schemas.openxmlformats.org/drawingml/2006/main">
              <a:ext uri="{FF2B5EF4-FFF2-40B4-BE49-F238E27FC236}">
                <a16:creationId xmlns:a16="http://schemas.microsoft.com/office/drawing/2014/main" id="{78BA3000-4D40-45F3-9CE4-EA6CE4CFB7DA}"/>
              </a:ext>
            </a:extLst>
          </p:cNvPr>
          <p:cNvSpPr>
            <a:spLocks xmlns:a="http://schemas.openxmlformats.org/drawingml/2006/main" noGrp="1"/>
          </p:cNvSpPr>
          <p:nvPr/>
        </p:nvSpPr>
        <p:spPr>
          <a:xfrm xmlns:a="http://schemas.openxmlformats.org/drawingml/2006/main">
            <a:off x="664845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DC3AD56-C964-426E-ABF0-C98826813FA2}"/>
              </a:ext>
            </a:extLst>
          </p:cNvPr>
          <p:cNvSpPr>
            <a:spLocks xmlns:a="http://schemas.openxmlformats.org/drawingml/2006/main" noGrp="1"/>
          </p:cNvSpPr>
          <p:nvPr/>
        </p:nvSpPr>
        <p:spPr>
          <a:xfrm xmlns:a="http://schemas.openxmlformats.org/drawingml/2006/main">
            <a:off x="7315200" y="2324100"/>
            <a:ext cx="2667000" cy="552450"/>
          </a:xfrm>
          <a:prstGeom xmlns:a="http://schemas.openxmlformats.org/drawingml/2006/main" prst="roundRect">
            <a:avLst>
              <a:gd name="adj" fmla="val 1379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SHARED EVIDENCE</a:t>
            </a:r>
          </a:p>
        </p:txBody>
      </p:sp>
      <p:sp>
        <p:nvSpPr>
          <p:cNvPr id="10" name="">
            <a:extLst xmlns:a="http://schemas.openxmlformats.org/drawingml/2006/main">
              <a:ext uri="{FF2B5EF4-FFF2-40B4-BE49-F238E27FC236}">
                <a16:creationId xmlns:a16="http://schemas.microsoft.com/office/drawing/2014/main" id="{9F5CB44E-845B-4E74-ACCE-EA4D3AB03531}"/>
              </a:ext>
            </a:extLst>
          </p:cNvPr>
          <p:cNvSpPr>
            <a:spLocks xmlns:a="http://schemas.openxmlformats.org/drawingml/2006/main" noGrp="1"/>
          </p:cNvSpPr>
          <p:nvPr/>
        </p:nvSpPr>
        <p:spPr>
          <a:xfrm xmlns:a="http://schemas.openxmlformats.org/drawingml/2006/main">
            <a:off x="1015365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959936-5229-4EA6-9729-83DCB842AD0F}"/>
              </a:ext>
            </a:extLst>
          </p:cNvPr>
          <p:cNvSpPr>
            <a:spLocks xmlns:a="http://schemas.openxmlformats.org/drawingml/2006/main" noGrp="1"/>
          </p:cNvSpPr>
          <p:nvPr/>
        </p:nvSpPr>
        <p:spPr>
          <a:xfrm xmlns:a="http://schemas.openxmlformats.org/drawingml/2006/main">
            <a:off x="10820400" y="2324100"/>
            <a:ext cx="238125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TOOLS + JOBS</a:t>
            </a:r>
          </a:p>
        </p:txBody>
      </p:sp>
      <p:sp>
        <p:nvSpPr>
          <p:cNvPr id="12" name="">
            <a:extLst xmlns:a="http://schemas.openxmlformats.org/drawingml/2006/main">
              <a:ext uri="{FF2B5EF4-FFF2-40B4-BE49-F238E27FC236}">
                <a16:creationId xmlns:a16="http://schemas.microsoft.com/office/drawing/2014/main" id="{DCD0532C-123B-4E79-9C67-2639FF866A32}"/>
              </a:ext>
            </a:extLst>
          </p:cNvPr>
          <p:cNvSpPr>
            <a:spLocks xmlns:a="http://schemas.openxmlformats.org/drawingml/2006/main" noGrp="1"/>
          </p:cNvSpPr>
          <p:nvPr/>
        </p:nvSpPr>
        <p:spPr>
          <a:xfrm xmlns:a="http://schemas.openxmlformats.org/drawingml/2006/main">
            <a:off x="1337310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1C73C9E-ED56-4A6C-821B-6B97264B2674}"/>
              </a:ext>
            </a:extLst>
          </p:cNvPr>
          <p:cNvSpPr>
            <a:spLocks xmlns:a="http://schemas.openxmlformats.org/drawingml/2006/main" noGrp="1"/>
          </p:cNvSpPr>
          <p:nvPr/>
        </p:nvSpPr>
        <p:spPr>
          <a:xfrm xmlns:a="http://schemas.openxmlformats.org/drawingml/2006/main">
            <a:off x="14039850" y="2324100"/>
            <a:ext cx="26098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D79A32"/>
                </a:solidFill>
                <a:latin typeface="Arial"/>
                <a:ea typeface="Arial"/>
                <a:cs typeface="Arial"/>
              </a:defRPr>
            </a:pPr>
            <a:r>
              <a:rPr sz="1500" b="1">
                <a:solidFill>
                  <a:srgbClr val="D79A32"/>
                </a:solidFill>
                <a:latin typeface="Arial"/>
                <a:ea typeface="Arial"/>
                <a:cs typeface="Arial"/>
              </a:rPr>
              <a:t>REPORT</a:t>
            </a:r>
          </a:p>
        </p:txBody>
      </p:sp>
      <p:sp>
        <p:nvSpPr>
          <p:cNvPr id="14" name="">
            <a:extLst xmlns:a="http://schemas.openxmlformats.org/drawingml/2006/main">
              <a:ext uri="{FF2B5EF4-FFF2-40B4-BE49-F238E27FC236}">
                <a16:creationId xmlns:a16="http://schemas.microsoft.com/office/drawing/2014/main" id="{C4355F5A-3165-4E13-94E3-19D79BCEEC99}"/>
              </a:ext>
            </a:extLst>
          </p:cNvPr>
          <p:cNvSpPr>
            <a:spLocks xmlns:a="http://schemas.openxmlformats.org/drawingml/2006/main" noGrp="1"/>
          </p:cNvSpPr>
          <p:nvPr/>
        </p:nvSpPr>
        <p:spPr>
          <a:xfrm xmlns:a="http://schemas.openxmlformats.org/drawingml/2006/main">
            <a:off x="876300" y="3352800"/>
            <a:ext cx="7620000" cy="4095750"/>
          </a:xfrm>
          <a:prstGeom xmlns:a="http://schemas.openxmlformats.org/drawingml/2006/main" prst="roundRect">
            <a:avLst>
              <a:gd name="adj" fmla="val 1860"/>
            </a:avLst>
          </a:prstGeom>
          <a:solidFill xmlns:a="http://schemas.openxmlformats.org/drawingml/2006/main">
            <a:srgbClr val="E7F0F5"/>
          </a:solidFill>
          <a:ln xmlns:a="http://schemas.openxmlformats.org/drawingml/2006/main" w="19050">
            <a:solidFill>
              <a:srgbClr val="79A9C8"/>
            </a:solidFill>
          </a:ln>
        </p:spPr>
      </p:sp>
      <p:sp>
        <p:nvSpPr>
          <p:cNvPr id="15" name="">
            <a:extLst xmlns:a="http://schemas.openxmlformats.org/drawingml/2006/main">
              <a:ext uri="{FF2B5EF4-FFF2-40B4-BE49-F238E27FC236}">
                <a16:creationId xmlns:a16="http://schemas.microsoft.com/office/drawing/2014/main" id="{44572524-6798-4A82-8806-6F6A189BE203}"/>
              </a:ext>
            </a:extLst>
          </p:cNvPr>
          <p:cNvSpPr>
            <a:spLocks xmlns:a="http://schemas.openxmlformats.org/drawingml/2006/main" noGrp="1"/>
          </p:cNvSpPr>
          <p:nvPr/>
        </p:nvSpPr>
        <p:spPr>
          <a:xfrm xmlns:a="http://schemas.openxmlformats.org/drawingml/2006/main">
            <a:off x="1200150" y="3638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D8B84"/>
                </a:solidFill>
                <a:latin typeface="Arial"/>
                <a:ea typeface="Arial"/>
                <a:cs typeface="Arial"/>
              </a:defRPr>
            </a:pPr>
            <a:r>
              <a:rPr sz="1350" b="1" i="0">
                <a:solidFill>
                  <a:srgbClr val="2D8B84"/>
                </a:solidFill>
                <a:latin typeface="Arial"/>
                <a:ea typeface="Arial"/>
                <a:cs typeface="Arial"/>
              </a:rPr>
              <a:t>ALWAYS ON</a:t>
            </a:r>
          </a:p>
        </p:txBody>
      </p:sp>
      <p:sp>
        <p:nvSpPr>
          <p:cNvPr id="16" name="">
            <a:extLst xmlns:a="http://schemas.openxmlformats.org/drawingml/2006/main">
              <a:ext uri="{FF2B5EF4-FFF2-40B4-BE49-F238E27FC236}">
                <a16:creationId xmlns:a16="http://schemas.microsoft.com/office/drawing/2014/main" id="{3402B387-A590-4361-AAB4-D2E4A581ED4A}"/>
              </a:ext>
            </a:extLst>
          </p:cNvPr>
          <p:cNvSpPr>
            <a:spLocks xmlns:a="http://schemas.openxmlformats.org/drawingml/2006/main" noGrp="1"/>
          </p:cNvSpPr>
          <p:nvPr/>
        </p:nvSpPr>
        <p:spPr>
          <a:xfrm xmlns:a="http://schemas.openxmlformats.org/drawingml/2006/main">
            <a:off x="1200150" y="40767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Deterministic methodology engine</a:t>
            </a:r>
          </a:p>
        </p:txBody>
      </p:sp>
      <p:sp>
        <p:nvSpPr>
          <p:cNvPr id="17" name="">
            <a:extLst xmlns:a="http://schemas.openxmlformats.org/drawingml/2006/main">
              <a:ext uri="{FF2B5EF4-FFF2-40B4-BE49-F238E27FC236}">
                <a16:creationId xmlns:a16="http://schemas.microsoft.com/office/drawing/2014/main" id="{6518D7C1-1A5C-4940-994D-202939C5D702}"/>
              </a:ext>
            </a:extLst>
          </p:cNvPr>
          <p:cNvSpPr>
            <a:spLocks xmlns:a="http://schemas.openxmlformats.org/drawingml/2006/main" noGrp="1"/>
          </p:cNvSpPr>
          <p:nvPr/>
        </p:nvSpPr>
        <p:spPr>
          <a:xfrm xmlns:a="http://schemas.openxmlformats.org/drawingml/2006/main">
            <a:off x="1238250" y="4857750"/>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18E35609-A723-4D81-A035-B1D9256DB43A}"/>
              </a:ext>
            </a:extLst>
          </p:cNvPr>
          <p:cNvSpPr>
            <a:spLocks xmlns:a="http://schemas.openxmlformats.org/drawingml/2006/main" noGrp="1"/>
          </p:cNvSpPr>
          <p:nvPr/>
        </p:nvSpPr>
        <p:spPr>
          <a:xfrm xmlns:a="http://schemas.openxmlformats.org/drawingml/2006/main">
            <a:off x="1771650" y="48387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Widen domains and subdomains</a:t>
            </a:r>
          </a:p>
        </p:txBody>
      </p:sp>
      <p:sp>
        <p:nvSpPr>
          <p:cNvPr id="19" name="">
            <a:extLst xmlns:a="http://schemas.openxmlformats.org/drawingml/2006/main">
              <a:ext uri="{FF2B5EF4-FFF2-40B4-BE49-F238E27FC236}">
                <a16:creationId xmlns:a16="http://schemas.microsoft.com/office/drawing/2014/main" id="{2C61DE53-0D6A-4222-9FAA-E93E8C881DB5}"/>
              </a:ext>
            </a:extLst>
          </p:cNvPr>
          <p:cNvSpPr>
            <a:spLocks xmlns:a="http://schemas.openxmlformats.org/drawingml/2006/main" noGrp="1"/>
          </p:cNvSpPr>
          <p:nvPr/>
        </p:nvSpPr>
        <p:spPr>
          <a:xfrm xmlns:a="http://schemas.openxmlformats.org/drawingml/2006/main">
            <a:off x="1238250" y="5324475"/>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72CF8FF5-4B07-4777-A96D-A1279CE5EEC4}"/>
              </a:ext>
            </a:extLst>
          </p:cNvPr>
          <p:cNvSpPr>
            <a:spLocks xmlns:a="http://schemas.openxmlformats.org/drawingml/2006/main" noGrp="1"/>
          </p:cNvSpPr>
          <p:nvPr/>
        </p:nvSpPr>
        <p:spPr>
          <a:xfrm xmlns:a="http://schemas.openxmlformats.org/drawingml/2006/main">
            <a:off x="1771650" y="53054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Resolve, probe and map services</a:t>
            </a:r>
          </a:p>
        </p:txBody>
      </p:sp>
      <p:sp>
        <p:nvSpPr>
          <p:cNvPr id="21" name="">
            <a:extLst xmlns:a="http://schemas.openxmlformats.org/drawingml/2006/main">
              <a:ext uri="{FF2B5EF4-FFF2-40B4-BE49-F238E27FC236}">
                <a16:creationId xmlns:a16="http://schemas.microsoft.com/office/drawing/2014/main" id="{62B580C2-4940-4C1E-B5DC-78587A54449E}"/>
              </a:ext>
            </a:extLst>
          </p:cNvPr>
          <p:cNvSpPr>
            <a:spLocks xmlns:a="http://schemas.openxmlformats.org/drawingml/2006/main" noGrp="1"/>
          </p:cNvSpPr>
          <p:nvPr/>
        </p:nvSpPr>
        <p:spPr>
          <a:xfrm xmlns:a="http://schemas.openxmlformats.org/drawingml/2006/main">
            <a:off x="1238250" y="5791200"/>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48BB2B4D-747C-4456-B3B4-A65B86D5A21E}"/>
              </a:ext>
            </a:extLst>
          </p:cNvPr>
          <p:cNvSpPr>
            <a:spLocks xmlns:a="http://schemas.openxmlformats.org/drawingml/2006/main" noGrp="1"/>
          </p:cNvSpPr>
          <p:nvPr/>
        </p:nvSpPr>
        <p:spPr>
          <a:xfrm xmlns:a="http://schemas.openxmlformats.org/drawingml/2006/main">
            <a:off x="1771650" y="57721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Crawl, enumerate and run baseline scanners</a:t>
            </a:r>
          </a:p>
        </p:txBody>
      </p:sp>
      <p:sp>
        <p:nvSpPr>
          <p:cNvPr id="23" name="">
            <a:extLst xmlns:a="http://schemas.openxmlformats.org/drawingml/2006/main">
              <a:ext uri="{FF2B5EF4-FFF2-40B4-BE49-F238E27FC236}">
                <a16:creationId xmlns:a16="http://schemas.microsoft.com/office/drawing/2014/main" id="{44626194-1947-4365-9CDB-96EF5DD7EEBE}"/>
              </a:ext>
            </a:extLst>
          </p:cNvPr>
          <p:cNvSpPr>
            <a:spLocks xmlns:a="http://schemas.openxmlformats.org/drawingml/2006/main" noGrp="1"/>
          </p:cNvSpPr>
          <p:nvPr/>
        </p:nvSpPr>
        <p:spPr>
          <a:xfrm xmlns:a="http://schemas.openxmlformats.org/drawingml/2006/main">
            <a:off x="1238250" y="6257925"/>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DB6968CC-C0B0-4CAB-BD98-424AF2604297}"/>
              </a:ext>
            </a:extLst>
          </p:cNvPr>
          <p:cNvSpPr>
            <a:spLocks xmlns:a="http://schemas.openxmlformats.org/drawingml/2006/main" noGrp="1"/>
          </p:cNvSpPr>
          <p:nvPr/>
        </p:nvSpPr>
        <p:spPr>
          <a:xfrm xmlns:a="http://schemas.openxmlformats.org/drawingml/2006/main">
            <a:off x="1771650" y="623887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Track coverage and react to new evidence</a:t>
            </a:r>
          </a:p>
        </p:txBody>
      </p:sp>
      <p:sp>
        <p:nvSpPr>
          <p:cNvPr id="25" name="">
            <a:extLst xmlns:a="http://schemas.openxmlformats.org/drawingml/2006/main">
              <a:ext uri="{FF2B5EF4-FFF2-40B4-BE49-F238E27FC236}">
                <a16:creationId xmlns:a16="http://schemas.microsoft.com/office/drawing/2014/main" id="{9F7CFED8-AEA2-445F-8A0B-108F8B93D649}"/>
              </a:ext>
            </a:extLst>
          </p:cNvPr>
          <p:cNvSpPr>
            <a:spLocks xmlns:a="http://schemas.openxmlformats.org/drawingml/2006/main" noGrp="1"/>
          </p:cNvSpPr>
          <p:nvPr/>
        </p:nvSpPr>
        <p:spPr>
          <a:xfrm xmlns:a="http://schemas.openxmlformats.org/drawingml/2006/main">
            <a:off x="1238250" y="6724650"/>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1F9CE798-E630-4A19-A2BF-73AB569E8337}"/>
              </a:ext>
            </a:extLst>
          </p:cNvPr>
          <p:cNvSpPr>
            <a:spLocks xmlns:a="http://schemas.openxmlformats.org/drawingml/2006/main" noGrp="1"/>
          </p:cNvSpPr>
          <p:nvPr/>
        </p:nvSpPr>
        <p:spPr>
          <a:xfrm xmlns:a="http://schemas.openxmlformats.org/drawingml/2006/main">
            <a:off x="1771650" y="67056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Require proof before a finding is verified</a:t>
            </a:r>
          </a:p>
        </p:txBody>
      </p:sp>
      <p:sp>
        <p:nvSpPr>
          <p:cNvPr id="27" name="">
            <a:extLst xmlns:a="http://schemas.openxmlformats.org/drawingml/2006/main">
              <a:ext uri="{FF2B5EF4-FFF2-40B4-BE49-F238E27FC236}">
                <a16:creationId xmlns:a16="http://schemas.microsoft.com/office/drawing/2014/main" id="{DEDD49AB-528A-4BBF-BA82-D41A62BC1AEB}"/>
              </a:ext>
            </a:extLst>
          </p:cNvPr>
          <p:cNvSpPr>
            <a:spLocks xmlns:a="http://schemas.openxmlformats.org/drawingml/2006/main" noGrp="1"/>
          </p:cNvSpPr>
          <p:nvPr/>
        </p:nvSpPr>
        <p:spPr>
          <a:xfrm xmlns:a="http://schemas.openxmlformats.org/drawingml/2006/main">
            <a:off x="8839200" y="3352800"/>
            <a:ext cx="7810500" cy="4095750"/>
          </a:xfrm>
          <a:prstGeom xmlns:a="http://schemas.openxmlformats.org/drawingml/2006/main" prst="roundRect">
            <a:avLst>
              <a:gd name="adj" fmla="val 1860"/>
            </a:avLst>
          </a:prstGeom>
          <a:solidFill xmlns:a="http://schemas.openxmlformats.org/drawingml/2006/main">
            <a:srgbClr val="F3EADC"/>
          </a:solidFill>
          <a:ln xmlns:a="http://schemas.openxmlformats.org/drawingml/2006/main" w="19050">
            <a:solidFill>
              <a:srgbClr val="D79A32"/>
            </a:solidFill>
          </a:ln>
        </p:spPr>
      </p:sp>
      <p:sp>
        <p:nvSpPr>
          <p:cNvPr id="28" name="">
            <a:extLst xmlns:a="http://schemas.openxmlformats.org/drawingml/2006/main">
              <a:ext uri="{FF2B5EF4-FFF2-40B4-BE49-F238E27FC236}">
                <a16:creationId xmlns:a16="http://schemas.microsoft.com/office/drawing/2014/main" id="{FA7C0D2E-D8CF-4C26-89AE-3ACCBDD6A437}"/>
              </a:ext>
            </a:extLst>
          </p:cNvPr>
          <p:cNvSpPr>
            <a:spLocks xmlns:a="http://schemas.openxmlformats.org/drawingml/2006/main" noGrp="1"/>
          </p:cNvSpPr>
          <p:nvPr/>
        </p:nvSpPr>
        <p:spPr>
          <a:xfrm xmlns:a="http://schemas.openxmlformats.org/drawingml/2006/main">
            <a:off x="9163050" y="3638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D79A32"/>
                </a:solidFill>
                <a:latin typeface="Arial"/>
                <a:ea typeface="Arial"/>
                <a:cs typeface="Arial"/>
              </a:defRPr>
            </a:pPr>
            <a:r>
              <a:rPr sz="1350" b="1" i="0">
                <a:solidFill>
                  <a:srgbClr val="D79A32"/>
                </a:solidFill>
                <a:latin typeface="Arial"/>
                <a:ea typeface="Arial"/>
                <a:cs typeface="Arial"/>
              </a:rPr>
              <a:t>OPTIONAL</a:t>
            </a:r>
          </a:p>
        </p:txBody>
      </p:sp>
      <p:sp>
        <p:nvSpPr>
          <p:cNvPr id="29" name="">
            <a:extLst xmlns:a="http://schemas.openxmlformats.org/drawingml/2006/main">
              <a:ext uri="{FF2B5EF4-FFF2-40B4-BE49-F238E27FC236}">
                <a16:creationId xmlns:a16="http://schemas.microsoft.com/office/drawing/2014/main" id="{B4FA2064-5EC8-4615-A42B-DF63D93E57D1}"/>
              </a:ext>
            </a:extLst>
          </p:cNvPr>
          <p:cNvSpPr>
            <a:spLocks xmlns:a="http://schemas.openxmlformats.org/drawingml/2006/main" noGrp="1"/>
          </p:cNvSpPr>
          <p:nvPr/>
        </p:nvSpPr>
        <p:spPr>
          <a:xfrm xmlns:a="http://schemas.openxmlformats.org/drawingml/2006/main">
            <a:off x="9163050" y="4076700"/>
            <a:ext cx="676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AI-assisted operator reasoning</a:t>
            </a:r>
          </a:p>
        </p:txBody>
      </p:sp>
      <p:sp>
        <p:nvSpPr>
          <p:cNvPr id="30" name="">
            <a:extLst xmlns:a="http://schemas.openxmlformats.org/drawingml/2006/main">
              <a:ext uri="{FF2B5EF4-FFF2-40B4-BE49-F238E27FC236}">
                <a16:creationId xmlns:a16="http://schemas.microsoft.com/office/drawing/2014/main" id="{35A3D121-C9D0-4A30-89B6-3C2C4CB69A0F}"/>
              </a:ext>
            </a:extLst>
          </p:cNvPr>
          <p:cNvSpPr>
            <a:spLocks xmlns:a="http://schemas.openxmlformats.org/drawingml/2006/main" noGrp="1"/>
          </p:cNvSpPr>
          <p:nvPr/>
        </p:nvSpPr>
        <p:spPr>
          <a:xfrm xmlns:a="http://schemas.openxmlformats.org/drawingml/2006/main">
            <a:off x="9201150" y="4857750"/>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A68EB3A8-4DFA-4007-B02A-0E0A91E70070}"/>
              </a:ext>
            </a:extLst>
          </p:cNvPr>
          <p:cNvSpPr>
            <a:spLocks xmlns:a="http://schemas.openxmlformats.org/drawingml/2006/main" noGrp="1"/>
          </p:cNvSpPr>
          <p:nvPr/>
        </p:nvSpPr>
        <p:spPr>
          <a:xfrm xmlns:a="http://schemas.openxmlformats.org/drawingml/2006/main">
            <a:off x="9734550" y="48387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Interpret ambiguous or conflicting signals</a:t>
            </a:r>
          </a:p>
        </p:txBody>
      </p:sp>
      <p:sp>
        <p:nvSpPr>
          <p:cNvPr id="32" name="">
            <a:extLst xmlns:a="http://schemas.openxmlformats.org/drawingml/2006/main">
              <a:ext uri="{FF2B5EF4-FFF2-40B4-BE49-F238E27FC236}">
                <a16:creationId xmlns:a16="http://schemas.microsoft.com/office/drawing/2014/main" id="{C7689DF5-5EAC-435A-9F16-E23FF80B78FF}"/>
              </a:ext>
            </a:extLst>
          </p:cNvPr>
          <p:cNvSpPr>
            <a:spLocks xmlns:a="http://schemas.openxmlformats.org/drawingml/2006/main" noGrp="1"/>
          </p:cNvSpPr>
          <p:nvPr/>
        </p:nvSpPr>
        <p:spPr>
          <a:xfrm xmlns:a="http://schemas.openxmlformats.org/drawingml/2006/main">
            <a:off x="9201150" y="5324475"/>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F67FB71C-65B5-4B4F-95EE-0CAF36E4B0A0}"/>
              </a:ext>
            </a:extLst>
          </p:cNvPr>
          <p:cNvSpPr>
            <a:spLocks xmlns:a="http://schemas.openxmlformats.org/drawingml/2006/main" noGrp="1"/>
          </p:cNvSpPr>
          <p:nvPr/>
        </p:nvSpPr>
        <p:spPr>
          <a:xfrm xmlns:a="http://schemas.openxmlformats.org/drawingml/2006/main">
            <a:off x="9734550" y="5305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Correlate distant assets and observations</a:t>
            </a:r>
          </a:p>
        </p:txBody>
      </p:sp>
      <p:sp>
        <p:nvSpPr>
          <p:cNvPr id="34" name="">
            <a:extLst xmlns:a="http://schemas.openxmlformats.org/drawingml/2006/main">
              <a:ext uri="{FF2B5EF4-FFF2-40B4-BE49-F238E27FC236}">
                <a16:creationId xmlns:a16="http://schemas.microsoft.com/office/drawing/2014/main" id="{35D08FE4-0687-4CAE-ADDF-4379F4F44B89}"/>
              </a:ext>
            </a:extLst>
          </p:cNvPr>
          <p:cNvSpPr>
            <a:spLocks xmlns:a="http://schemas.openxmlformats.org/drawingml/2006/main" noGrp="1"/>
          </p:cNvSpPr>
          <p:nvPr/>
        </p:nvSpPr>
        <p:spPr>
          <a:xfrm xmlns:a="http://schemas.openxmlformats.org/drawingml/2006/main">
            <a:off x="9201150" y="5791200"/>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CDBAACAB-9355-4828-AF4A-6691D4FD82DB}"/>
              </a:ext>
            </a:extLst>
          </p:cNvPr>
          <p:cNvSpPr>
            <a:spLocks xmlns:a="http://schemas.openxmlformats.org/drawingml/2006/main" noGrp="1"/>
          </p:cNvSpPr>
          <p:nvPr/>
        </p:nvSpPr>
        <p:spPr>
          <a:xfrm xmlns:a="http://schemas.openxmlformats.org/drawingml/2006/main">
            <a:off x="9734550" y="57721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Choose deeper tests and creative pivots</a:t>
            </a:r>
          </a:p>
        </p:txBody>
      </p:sp>
      <p:sp>
        <p:nvSpPr>
          <p:cNvPr id="36" name="">
            <a:extLst xmlns:a="http://schemas.openxmlformats.org/drawingml/2006/main">
              <a:ext uri="{FF2B5EF4-FFF2-40B4-BE49-F238E27FC236}">
                <a16:creationId xmlns:a16="http://schemas.microsoft.com/office/drawing/2014/main" id="{D3E094D1-1962-45A7-8791-725A9D29A37C}"/>
              </a:ext>
            </a:extLst>
          </p:cNvPr>
          <p:cNvSpPr>
            <a:spLocks xmlns:a="http://schemas.openxmlformats.org/drawingml/2006/main" noGrp="1"/>
          </p:cNvSpPr>
          <p:nvPr/>
        </p:nvSpPr>
        <p:spPr>
          <a:xfrm xmlns:a="http://schemas.openxmlformats.org/drawingml/2006/main">
            <a:off x="9201150" y="6257925"/>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815F931E-ED0E-4DA9-8E02-0913A1CA2DDE}"/>
              </a:ext>
            </a:extLst>
          </p:cNvPr>
          <p:cNvSpPr>
            <a:spLocks xmlns:a="http://schemas.openxmlformats.org/drawingml/2006/main" noGrp="1"/>
          </p:cNvSpPr>
          <p:nvPr/>
        </p:nvSpPr>
        <p:spPr>
          <a:xfrm xmlns:a="http://schemas.openxmlformats.org/drawingml/2006/main">
            <a:off x="9734550" y="62388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Analyze business logic and application behavior</a:t>
            </a:r>
          </a:p>
        </p:txBody>
      </p:sp>
      <p:sp>
        <p:nvSpPr>
          <p:cNvPr id="38" name="">
            <a:extLst xmlns:a="http://schemas.openxmlformats.org/drawingml/2006/main">
              <a:ext uri="{FF2B5EF4-FFF2-40B4-BE49-F238E27FC236}">
                <a16:creationId xmlns:a16="http://schemas.microsoft.com/office/drawing/2014/main" id="{82EC9E57-8735-45B5-A947-566608B30961}"/>
              </a:ext>
            </a:extLst>
          </p:cNvPr>
          <p:cNvSpPr>
            <a:spLocks xmlns:a="http://schemas.openxmlformats.org/drawingml/2006/main" noGrp="1"/>
          </p:cNvSpPr>
          <p:nvPr/>
        </p:nvSpPr>
        <p:spPr>
          <a:xfrm xmlns:a="http://schemas.openxmlformats.org/drawingml/2006/main">
            <a:off x="9201150" y="6724650"/>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3B535A72-C5B7-4B3B-A64D-90A4081D7BCE}"/>
              </a:ext>
            </a:extLst>
          </p:cNvPr>
          <p:cNvSpPr>
            <a:spLocks xmlns:a="http://schemas.openxmlformats.org/drawingml/2006/main" noGrp="1"/>
          </p:cNvSpPr>
          <p:nvPr/>
        </p:nvSpPr>
        <p:spPr>
          <a:xfrm xmlns:a="http://schemas.openxmlformats.org/drawingml/2006/main">
            <a:off x="9734550" y="67056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Explain evidence and support the human operator</a:t>
            </a:r>
          </a:p>
        </p:txBody>
      </p:sp>
      <p:sp>
        <p:nvSpPr>
          <p:cNvPr id="40" name="">
            <a:extLst xmlns:a="http://schemas.openxmlformats.org/drawingml/2006/main">
              <a:ext uri="{FF2B5EF4-FFF2-40B4-BE49-F238E27FC236}">
                <a16:creationId xmlns:a16="http://schemas.microsoft.com/office/drawing/2014/main" id="{38C41CC4-A3E7-4D81-875D-B032FDEFAC40}"/>
              </a:ext>
            </a:extLst>
          </p:cNvPr>
          <p:cNvSpPr>
            <a:spLocks xmlns:a="http://schemas.openxmlformats.org/drawingml/2006/main" noGrp="1"/>
          </p:cNvSpPr>
          <p:nvPr/>
        </p:nvSpPr>
        <p:spPr>
          <a:xfrm xmlns:a="http://schemas.openxmlformats.org/drawingml/2006/main">
            <a:off x="876300" y="7867650"/>
            <a:ext cx="15773400" cy="819150"/>
          </a:xfrm>
          <a:prstGeom xmlns:a="http://schemas.openxmlformats.org/drawingml/2006/main" prst="roundRect">
            <a:avLst>
              <a:gd name="adj" fmla="val 9302"/>
            </a:avLst>
          </a:prstGeom>
          <a:solidFill xmlns:a="http://schemas.openxmlformats.org/drawingml/2006/main">
            <a:srgbClr val="123B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701B99C-FE7A-4C70-8816-63CCE179BE05}"/>
              </a:ext>
            </a:extLst>
          </p:cNvPr>
          <p:cNvSpPr>
            <a:spLocks xmlns:a="http://schemas.openxmlformats.org/drawingml/2006/main" noGrp="1"/>
          </p:cNvSpPr>
          <p:nvPr/>
        </p:nvSpPr>
        <p:spPr>
          <a:xfrm xmlns:a="http://schemas.openxmlformats.org/drawingml/2006/main">
            <a:off x="1219200" y="8096250"/>
            <a:ext cx="1504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146"/>
          </a:bodyPr>
          <a:lstStyle xmlns:a="http://schemas.openxmlformats.org/drawingml/2006/main"/>
          <a:p xmlns:a="http://schemas.openxmlformats.org/drawingml/2006/main">
            <a:pPr algn="ctr">
              <a:lnSpc>
                <a:spcPct val="100000"/>
              </a:lnSpc>
              <a:buNone/>
              <a:defRPr sz="2025" b="1" i="0">
                <a:solidFill>
                  <a:srgbClr val="FFFFFF"/>
                </a:solidFill>
                <a:latin typeface="Arial"/>
                <a:ea typeface="Arial"/>
                <a:cs typeface="Arial"/>
              </a:defRPr>
            </a:pPr>
            <a:r>
              <a:rPr sz="2025" b="1" i="0">
                <a:solidFill>
                  <a:srgbClr val="FFFFFF"/>
                </a:solidFill>
                <a:latin typeface="Arial"/>
                <a:ea typeface="Arial"/>
                <a:cs typeface="Arial"/>
              </a:rPr>
              <a:t>Do not spend API tokens rediscovering the standard playbook; spend them where human-like judgment changes the outcome.</a:t>
            </a:r>
          </a:p>
        </p:txBody>
      </p:sp>
    </p:spTree>
    <p:extLst>
      <p:ext uri="{BB962C8B-B14F-4D97-AF65-F5344CB8AC3E}">
        <p14:creationId xmlns:p14="http://schemas.microsoft.com/office/powerpoint/2010/main" val="205327694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34FAD2F-099F-4E30-B851-A1E9C1B55C2F}"/>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06 / PROPOSED ARCHITECTURE</a:t>
            </a:r>
          </a:p>
        </p:txBody>
      </p:sp>
      <p:sp>
        <p:nvSpPr>
          <p:cNvPr id="2" name="">
            <a:extLst xmlns:a="http://schemas.openxmlformats.org/drawingml/2006/main">
              <a:ext uri="{FF2B5EF4-FFF2-40B4-BE49-F238E27FC236}">
                <a16:creationId xmlns:a16="http://schemas.microsoft.com/office/drawing/2014/main" id="{AA3E2E8C-1167-42D7-BD8E-5923E4771604}"/>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CLI will be the harness—not just another interface</a:t>
            </a:r>
          </a:p>
        </p:txBody>
      </p:sp>
      <p:sp>
        <p:nvSpPr>
          <p:cNvPr id="3" name="">
            <a:extLst xmlns:a="http://schemas.openxmlformats.org/drawingml/2006/main">
              <a:ext uri="{FF2B5EF4-FFF2-40B4-BE49-F238E27FC236}">
                <a16:creationId xmlns:a16="http://schemas.microsoft.com/office/drawing/2014/main" id="{56314475-E3CF-4109-917C-EB5454961182}"/>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4C822722-ABCB-4556-966D-0E43E9E16477}"/>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097C6509-1B95-4652-815F-50B331BBC876}"/>
              </a:ext>
            </a:extLst>
          </p:cNvPr>
          <p:cNvSpPr>
            <a:spLocks xmlns:a="http://schemas.openxmlformats.org/drawingml/2006/main" noGrp="1"/>
          </p:cNvSpPr>
          <p:nvPr/>
        </p:nvSpPr>
        <p:spPr>
          <a:xfrm xmlns:a="http://schemas.openxmlformats.org/drawingml/2006/main">
            <a:off x="876300" y="2609850"/>
            <a:ext cx="2095500" cy="571500"/>
          </a:xfrm>
          <a:prstGeom xmlns:a="http://schemas.openxmlformats.org/drawingml/2006/main" prst="roundRect">
            <a:avLst>
              <a:gd name="adj" fmla="val 13333"/>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INTERACTION</a:t>
            </a:r>
          </a:p>
        </p:txBody>
      </p:sp>
      <p:sp>
        <p:nvSpPr>
          <p:cNvPr id="6" name="">
            <a:extLst xmlns:a="http://schemas.openxmlformats.org/drawingml/2006/main">
              <a:ext uri="{FF2B5EF4-FFF2-40B4-BE49-F238E27FC236}">
                <a16:creationId xmlns:a16="http://schemas.microsoft.com/office/drawing/2014/main" id="{089E1972-3FC5-4406-BEFB-3EF45F89007A}"/>
              </a:ext>
            </a:extLst>
          </p:cNvPr>
          <p:cNvSpPr>
            <a:spLocks xmlns:a="http://schemas.openxmlformats.org/drawingml/2006/main" noGrp="1"/>
          </p:cNvSpPr>
          <p:nvPr/>
        </p:nvSpPr>
        <p:spPr>
          <a:xfrm xmlns:a="http://schemas.openxmlformats.org/drawingml/2006/main">
            <a:off x="3314700" y="2343150"/>
            <a:ext cx="13335000" cy="1104900"/>
          </a:xfrm>
          <a:prstGeom xmlns:a="http://schemas.openxmlformats.org/drawingml/2006/main" prst="roundRect">
            <a:avLst>
              <a:gd name="adj" fmla="val 6897"/>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CF55177E-C54B-4CDF-AC9C-908903453547}"/>
              </a:ext>
            </a:extLst>
          </p:cNvPr>
          <p:cNvSpPr>
            <a:spLocks xmlns:a="http://schemas.openxmlformats.org/drawingml/2006/main" noGrp="1"/>
          </p:cNvSpPr>
          <p:nvPr/>
        </p:nvSpPr>
        <p:spPr>
          <a:xfrm xmlns:a="http://schemas.openxmlformats.org/drawingml/2006/main">
            <a:off x="3733800" y="258127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Primary: CLI operator session</a:t>
            </a:r>
          </a:p>
        </p:txBody>
      </p:sp>
      <p:sp>
        <p:nvSpPr>
          <p:cNvPr id="8" name="">
            <a:extLst xmlns:a="http://schemas.openxmlformats.org/drawingml/2006/main">
              <a:ext uri="{FF2B5EF4-FFF2-40B4-BE49-F238E27FC236}">
                <a16:creationId xmlns:a16="http://schemas.microsoft.com/office/drawing/2014/main" id="{C0461613-1D64-4167-BF8A-02426ECAC17B}"/>
              </a:ext>
            </a:extLst>
          </p:cNvPr>
          <p:cNvSpPr>
            <a:spLocks xmlns:a="http://schemas.openxmlformats.org/drawingml/2006/main" noGrp="1"/>
          </p:cNvSpPr>
          <p:nvPr/>
        </p:nvSpPr>
        <p:spPr>
          <a:xfrm xmlns:a="http://schemas.openxmlformats.org/drawingml/2006/main">
            <a:off x="9658350" y="2552700"/>
            <a:ext cx="0" cy="68580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C9FEBDE5-97F5-48BD-B759-DC6AB63CCB9F}"/>
              </a:ext>
            </a:extLst>
          </p:cNvPr>
          <p:cNvSpPr>
            <a:spLocks xmlns:a="http://schemas.openxmlformats.org/drawingml/2006/main" noGrp="1"/>
          </p:cNvSpPr>
          <p:nvPr/>
        </p:nvSpPr>
        <p:spPr>
          <a:xfrm xmlns:a="http://schemas.openxmlformats.org/drawingml/2006/main">
            <a:off x="10020300" y="2581275"/>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00" b="0" i="0">
                <a:solidFill>
                  <a:srgbClr val="5F7180"/>
                </a:solidFill>
                <a:latin typeface="Arial"/>
                <a:ea typeface="Arial"/>
                <a:cs typeface="Arial"/>
              </a:defRPr>
            </a:pPr>
            <a:r>
              <a:rPr sz="1800" b="0" i="0">
                <a:solidFill>
                  <a:srgbClr val="5F7180"/>
                </a:solidFill>
                <a:latin typeface="Arial"/>
                <a:ea typeface="Arial"/>
                <a:cs typeface="Arial"/>
              </a:rPr>
              <a:t>Secondary: dashboard · MCP clients</a:t>
            </a:r>
          </a:p>
        </p:txBody>
      </p:sp>
      <p:sp>
        <p:nvSpPr>
          <p:cNvPr id="10" name="">
            <a:extLst xmlns:a="http://schemas.openxmlformats.org/drawingml/2006/main">
              <a:ext uri="{FF2B5EF4-FFF2-40B4-BE49-F238E27FC236}">
                <a16:creationId xmlns:a16="http://schemas.microsoft.com/office/drawing/2014/main" id="{05F01165-FECD-4A37-9466-89F841349F83}"/>
              </a:ext>
            </a:extLst>
          </p:cNvPr>
          <p:cNvSpPr>
            <a:spLocks xmlns:a="http://schemas.openxmlformats.org/drawingml/2006/main" noGrp="1"/>
          </p:cNvSpPr>
          <p:nvPr/>
        </p:nvSpPr>
        <p:spPr>
          <a:xfrm xmlns:a="http://schemas.openxmlformats.org/drawingml/2006/main">
            <a:off x="876300" y="3895725"/>
            <a:ext cx="2095500" cy="571500"/>
          </a:xfrm>
          <a:prstGeom xmlns:a="http://schemas.openxmlformats.org/drawingml/2006/main" prst="roundRect">
            <a:avLst>
              <a:gd name="adj" fmla="val 13333"/>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CONTROL</a:t>
            </a:r>
          </a:p>
        </p:txBody>
      </p:sp>
      <p:sp>
        <p:nvSpPr>
          <p:cNvPr id="11" name="">
            <a:extLst xmlns:a="http://schemas.openxmlformats.org/drawingml/2006/main">
              <a:ext uri="{FF2B5EF4-FFF2-40B4-BE49-F238E27FC236}">
                <a16:creationId xmlns:a16="http://schemas.microsoft.com/office/drawing/2014/main" id="{2484A0C3-D4EA-4530-848B-629D2E4B32C2}"/>
              </a:ext>
            </a:extLst>
          </p:cNvPr>
          <p:cNvSpPr>
            <a:spLocks xmlns:a="http://schemas.openxmlformats.org/drawingml/2006/main" noGrp="1"/>
          </p:cNvSpPr>
          <p:nvPr/>
        </p:nvSpPr>
        <p:spPr>
          <a:xfrm xmlns:a="http://schemas.openxmlformats.org/drawingml/2006/main">
            <a:off x="3314700" y="3629025"/>
            <a:ext cx="13335000" cy="1104900"/>
          </a:xfrm>
          <a:prstGeom xmlns:a="http://schemas.openxmlformats.org/drawingml/2006/main" prst="roundRect">
            <a:avLst>
              <a:gd name="adj" fmla="val 6897"/>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04E7E899-7B9E-4B65-B2EB-F787B6D6982F}"/>
              </a:ext>
            </a:extLst>
          </p:cNvPr>
          <p:cNvSpPr>
            <a:spLocks xmlns:a="http://schemas.openxmlformats.org/drawingml/2006/main" noGrp="1"/>
          </p:cNvSpPr>
          <p:nvPr/>
        </p:nvSpPr>
        <p:spPr>
          <a:xfrm xmlns:a="http://schemas.openxmlformats.org/drawingml/2006/main">
            <a:off x="3733800" y="3867150"/>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Engagement + scope</a:t>
            </a:r>
          </a:p>
        </p:txBody>
      </p:sp>
      <p:sp>
        <p:nvSpPr>
          <p:cNvPr id="13" name="">
            <a:extLst xmlns:a="http://schemas.openxmlformats.org/drawingml/2006/main">
              <a:ext uri="{FF2B5EF4-FFF2-40B4-BE49-F238E27FC236}">
                <a16:creationId xmlns:a16="http://schemas.microsoft.com/office/drawing/2014/main" id="{05CD20EA-86B6-47AA-A694-BFDD4669D800}"/>
              </a:ext>
            </a:extLst>
          </p:cNvPr>
          <p:cNvSpPr>
            <a:spLocks xmlns:a="http://schemas.openxmlformats.org/drawingml/2006/main" noGrp="1"/>
          </p:cNvSpPr>
          <p:nvPr/>
        </p:nvSpPr>
        <p:spPr>
          <a:xfrm xmlns:a="http://schemas.openxmlformats.org/drawingml/2006/main">
            <a:off x="9658350" y="3838575"/>
            <a:ext cx="0" cy="68580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5878069B-1969-4803-ADE5-2D6D2DAA0427}"/>
              </a:ext>
            </a:extLst>
          </p:cNvPr>
          <p:cNvSpPr>
            <a:spLocks xmlns:a="http://schemas.openxmlformats.org/drawingml/2006/main" noGrp="1"/>
          </p:cNvSpPr>
          <p:nvPr/>
        </p:nvSpPr>
        <p:spPr>
          <a:xfrm xmlns:a="http://schemas.openxmlformats.org/drawingml/2006/main">
            <a:off x="10020300" y="3867150"/>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00" b="0" i="0">
                <a:solidFill>
                  <a:srgbClr val="5F7180"/>
                </a:solidFill>
                <a:latin typeface="Arial"/>
                <a:ea typeface="Arial"/>
                <a:cs typeface="Arial"/>
              </a:defRPr>
            </a:pPr>
            <a:r>
              <a:rPr sz="1800" b="0" i="0">
                <a:solidFill>
                  <a:srgbClr val="5F7180"/>
                </a:solidFill>
                <a:latin typeface="Arial"/>
                <a:ea typeface="Arial"/>
                <a:cs typeface="Arial"/>
              </a:rPr>
              <a:t>Methodology scheduler · approval gate</a:t>
            </a:r>
          </a:p>
        </p:txBody>
      </p:sp>
      <p:sp>
        <p:nvSpPr>
          <p:cNvPr id="15" name="">
            <a:extLst xmlns:a="http://schemas.openxmlformats.org/drawingml/2006/main">
              <a:ext uri="{FF2B5EF4-FFF2-40B4-BE49-F238E27FC236}">
                <a16:creationId xmlns:a16="http://schemas.microsoft.com/office/drawing/2014/main" id="{2CBC465D-A9B4-4581-A3DC-43B572802BDF}"/>
              </a:ext>
            </a:extLst>
          </p:cNvPr>
          <p:cNvSpPr>
            <a:spLocks xmlns:a="http://schemas.openxmlformats.org/drawingml/2006/main" noGrp="1"/>
          </p:cNvSpPr>
          <p:nvPr/>
        </p:nvSpPr>
        <p:spPr>
          <a:xfrm xmlns:a="http://schemas.openxmlformats.org/drawingml/2006/main">
            <a:off x="876300" y="5181600"/>
            <a:ext cx="2095500" cy="571500"/>
          </a:xfrm>
          <a:prstGeom xmlns:a="http://schemas.openxmlformats.org/drawingml/2006/main" prst="roundRect">
            <a:avLst>
              <a:gd name="adj" fmla="val 13333"/>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INTELLIGENCE</a:t>
            </a:r>
          </a:p>
        </p:txBody>
      </p:sp>
      <p:sp>
        <p:nvSpPr>
          <p:cNvPr id="16" name="">
            <a:extLst xmlns:a="http://schemas.openxmlformats.org/drawingml/2006/main">
              <a:ext uri="{FF2B5EF4-FFF2-40B4-BE49-F238E27FC236}">
                <a16:creationId xmlns:a16="http://schemas.microsoft.com/office/drawing/2014/main" id="{C0CB0F93-9D29-4804-8A1D-3EA19F3F15E3}"/>
              </a:ext>
            </a:extLst>
          </p:cNvPr>
          <p:cNvSpPr>
            <a:spLocks xmlns:a="http://schemas.openxmlformats.org/drawingml/2006/main" noGrp="1"/>
          </p:cNvSpPr>
          <p:nvPr/>
        </p:nvSpPr>
        <p:spPr>
          <a:xfrm xmlns:a="http://schemas.openxmlformats.org/drawingml/2006/main">
            <a:off x="3314700" y="4914900"/>
            <a:ext cx="13335000" cy="1104900"/>
          </a:xfrm>
          <a:prstGeom xmlns:a="http://schemas.openxmlformats.org/drawingml/2006/main" prst="roundRect">
            <a:avLst>
              <a:gd name="adj" fmla="val 6897"/>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8EFDC359-45E4-48CA-A7F7-16B440493CDC}"/>
              </a:ext>
            </a:extLst>
          </p:cNvPr>
          <p:cNvSpPr>
            <a:spLocks xmlns:a="http://schemas.openxmlformats.org/drawingml/2006/main" noGrp="1"/>
          </p:cNvSpPr>
          <p:nvPr/>
        </p:nvSpPr>
        <p:spPr>
          <a:xfrm xmlns:a="http://schemas.openxmlformats.org/drawingml/2006/main">
            <a:off x="3733800" y="515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Deterministic opportunity engine</a:t>
            </a:r>
          </a:p>
        </p:txBody>
      </p:sp>
      <p:sp>
        <p:nvSpPr>
          <p:cNvPr id="18" name="">
            <a:extLst xmlns:a="http://schemas.openxmlformats.org/drawingml/2006/main">
              <a:ext uri="{FF2B5EF4-FFF2-40B4-BE49-F238E27FC236}">
                <a16:creationId xmlns:a16="http://schemas.microsoft.com/office/drawing/2014/main" id="{838E8957-52CA-4CC4-8556-00C05A7743B4}"/>
              </a:ext>
            </a:extLst>
          </p:cNvPr>
          <p:cNvSpPr>
            <a:spLocks xmlns:a="http://schemas.openxmlformats.org/drawingml/2006/main" noGrp="1"/>
          </p:cNvSpPr>
          <p:nvPr/>
        </p:nvSpPr>
        <p:spPr>
          <a:xfrm xmlns:a="http://schemas.openxmlformats.org/drawingml/2006/main">
            <a:off x="9658350" y="5124450"/>
            <a:ext cx="0" cy="68580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19" name="">
            <a:extLst xmlns:a="http://schemas.openxmlformats.org/drawingml/2006/main">
              <a:ext uri="{FF2B5EF4-FFF2-40B4-BE49-F238E27FC236}">
                <a16:creationId xmlns:a16="http://schemas.microsoft.com/office/drawing/2014/main" id="{754F5126-A23D-4AAA-A276-C324D9AC3D5D}"/>
              </a:ext>
            </a:extLst>
          </p:cNvPr>
          <p:cNvSpPr>
            <a:spLocks xmlns:a="http://schemas.openxmlformats.org/drawingml/2006/main" noGrp="1"/>
          </p:cNvSpPr>
          <p:nvPr/>
        </p:nvSpPr>
        <p:spPr>
          <a:xfrm xmlns:a="http://schemas.openxmlformats.org/drawingml/2006/main">
            <a:off x="10020300" y="5153025"/>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00" b="0" i="0">
                <a:solidFill>
                  <a:srgbClr val="5F7180"/>
                </a:solidFill>
                <a:latin typeface="Arial"/>
                <a:ea typeface="Arial"/>
                <a:cs typeface="Arial"/>
              </a:defRPr>
            </a:pPr>
            <a:r>
              <a:rPr sz="1800" b="0" i="0">
                <a:solidFill>
                  <a:srgbClr val="5F7180"/>
                </a:solidFill>
                <a:latin typeface="Arial"/>
                <a:ea typeface="Arial"/>
                <a:cs typeface="Arial"/>
              </a:rPr>
              <a:t>Optional AI reasoning</a:t>
            </a:r>
          </a:p>
        </p:txBody>
      </p:sp>
      <p:sp>
        <p:nvSpPr>
          <p:cNvPr id="20" name="">
            <a:extLst xmlns:a="http://schemas.openxmlformats.org/drawingml/2006/main">
              <a:ext uri="{FF2B5EF4-FFF2-40B4-BE49-F238E27FC236}">
                <a16:creationId xmlns:a16="http://schemas.microsoft.com/office/drawing/2014/main" id="{DC077F26-4DC9-436F-9AF8-C68D29A3CA71}"/>
              </a:ext>
            </a:extLst>
          </p:cNvPr>
          <p:cNvSpPr>
            <a:spLocks xmlns:a="http://schemas.openxmlformats.org/drawingml/2006/main" noGrp="1"/>
          </p:cNvSpPr>
          <p:nvPr/>
        </p:nvSpPr>
        <p:spPr>
          <a:xfrm xmlns:a="http://schemas.openxmlformats.org/drawingml/2006/main">
            <a:off x="876300" y="6467475"/>
            <a:ext cx="2095500" cy="571500"/>
          </a:xfrm>
          <a:prstGeom xmlns:a="http://schemas.openxmlformats.org/drawingml/2006/main" prst="roundRect">
            <a:avLst>
              <a:gd name="adj" fmla="val 13333"/>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EXECUTION</a:t>
            </a:r>
          </a:p>
        </p:txBody>
      </p:sp>
      <p:sp>
        <p:nvSpPr>
          <p:cNvPr id="21" name="">
            <a:extLst xmlns:a="http://schemas.openxmlformats.org/drawingml/2006/main">
              <a:ext uri="{FF2B5EF4-FFF2-40B4-BE49-F238E27FC236}">
                <a16:creationId xmlns:a16="http://schemas.microsoft.com/office/drawing/2014/main" id="{304D0599-0EEC-4EAA-AA14-3742E28CBA1A}"/>
              </a:ext>
            </a:extLst>
          </p:cNvPr>
          <p:cNvSpPr>
            <a:spLocks xmlns:a="http://schemas.openxmlformats.org/drawingml/2006/main" noGrp="1"/>
          </p:cNvSpPr>
          <p:nvPr/>
        </p:nvSpPr>
        <p:spPr>
          <a:xfrm xmlns:a="http://schemas.openxmlformats.org/drawingml/2006/main">
            <a:off x="3314700" y="6200775"/>
            <a:ext cx="13335000" cy="1104900"/>
          </a:xfrm>
          <a:prstGeom xmlns:a="http://schemas.openxmlformats.org/drawingml/2006/main" prst="roundRect">
            <a:avLst>
              <a:gd name="adj" fmla="val 6897"/>
            </a:avLst>
          </a:prstGeom>
          <a:solidFill xmlns:a="http://schemas.openxmlformats.org/drawingml/2006/main">
            <a:srgbClr val="FFFDF9"/>
          </a:solidFill>
          <a:ln xmlns:a="http://schemas.openxmlformats.org/drawingml/2006/main" w="19050">
            <a:solidFill>
              <a:srgbClr val="CAD6DE"/>
            </a:solidFill>
          </a:ln>
        </p:spPr>
      </p:sp>
      <p:sp>
        <p:nvSpPr>
          <p:cNvPr id="22" name="">
            <a:extLst xmlns:a="http://schemas.openxmlformats.org/drawingml/2006/main">
              <a:ext uri="{FF2B5EF4-FFF2-40B4-BE49-F238E27FC236}">
                <a16:creationId xmlns:a16="http://schemas.microsoft.com/office/drawing/2014/main" id="{6BBD8D93-74C0-4A4E-9794-92EE09734E11}"/>
              </a:ext>
            </a:extLst>
          </p:cNvPr>
          <p:cNvSpPr>
            <a:spLocks xmlns:a="http://schemas.openxmlformats.org/drawingml/2006/main" noGrp="1"/>
          </p:cNvSpPr>
          <p:nvPr/>
        </p:nvSpPr>
        <p:spPr>
          <a:xfrm xmlns:a="http://schemas.openxmlformats.org/drawingml/2006/main">
            <a:off x="3733800" y="6438900"/>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Typed security tools</a:t>
            </a:r>
          </a:p>
        </p:txBody>
      </p:sp>
      <p:sp>
        <p:nvSpPr>
          <p:cNvPr id="23" name="">
            <a:extLst xmlns:a="http://schemas.openxmlformats.org/drawingml/2006/main">
              <a:ext uri="{FF2B5EF4-FFF2-40B4-BE49-F238E27FC236}">
                <a16:creationId xmlns:a16="http://schemas.microsoft.com/office/drawing/2014/main" id="{B26F9BE8-918C-4261-9D58-0D9FE7C177A0}"/>
              </a:ext>
            </a:extLst>
          </p:cNvPr>
          <p:cNvSpPr>
            <a:spLocks xmlns:a="http://schemas.openxmlformats.org/drawingml/2006/main" noGrp="1"/>
          </p:cNvSpPr>
          <p:nvPr/>
        </p:nvSpPr>
        <p:spPr>
          <a:xfrm xmlns:a="http://schemas.openxmlformats.org/drawingml/2006/main">
            <a:off x="9658350" y="6410325"/>
            <a:ext cx="0" cy="68580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24" name="">
            <a:extLst xmlns:a="http://schemas.openxmlformats.org/drawingml/2006/main">
              <a:ext uri="{FF2B5EF4-FFF2-40B4-BE49-F238E27FC236}">
                <a16:creationId xmlns:a16="http://schemas.microsoft.com/office/drawing/2014/main" id="{0103122F-2DB7-4E6B-B1FA-138CFC5FDA37}"/>
              </a:ext>
            </a:extLst>
          </p:cNvPr>
          <p:cNvSpPr>
            <a:spLocks xmlns:a="http://schemas.openxmlformats.org/drawingml/2006/main" noGrp="1"/>
          </p:cNvSpPr>
          <p:nvPr/>
        </p:nvSpPr>
        <p:spPr>
          <a:xfrm xmlns:a="http://schemas.openxmlformats.org/drawingml/2006/main">
            <a:off x="10020300" y="6438900"/>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00" b="0" i="0">
                <a:solidFill>
                  <a:srgbClr val="5F7180"/>
                </a:solidFill>
                <a:latin typeface="Arial"/>
                <a:ea typeface="Arial"/>
                <a:cs typeface="Arial"/>
              </a:defRPr>
            </a:pPr>
            <a:r>
              <a:rPr sz="1800" b="0" i="0">
                <a:solidFill>
                  <a:srgbClr val="5F7180"/>
                </a:solidFill>
                <a:latin typeface="Arial"/>
                <a:ea typeface="Arial"/>
                <a:cs typeface="Arial"/>
              </a:rPr>
              <a:t>Visible calls · parallel jobs · retries</a:t>
            </a:r>
          </a:p>
        </p:txBody>
      </p:sp>
      <p:sp>
        <p:nvSpPr>
          <p:cNvPr id="25" name="">
            <a:extLst xmlns:a="http://schemas.openxmlformats.org/drawingml/2006/main">
              <a:ext uri="{FF2B5EF4-FFF2-40B4-BE49-F238E27FC236}">
                <a16:creationId xmlns:a16="http://schemas.microsoft.com/office/drawing/2014/main" id="{25A7A3C4-33C7-47A3-A129-5A2EDCA02C64}"/>
              </a:ext>
            </a:extLst>
          </p:cNvPr>
          <p:cNvSpPr>
            <a:spLocks xmlns:a="http://schemas.openxmlformats.org/drawingml/2006/main" noGrp="1"/>
          </p:cNvSpPr>
          <p:nvPr/>
        </p:nvSpPr>
        <p:spPr>
          <a:xfrm xmlns:a="http://schemas.openxmlformats.org/drawingml/2006/main">
            <a:off x="876300" y="7753350"/>
            <a:ext cx="2095500" cy="571500"/>
          </a:xfrm>
          <a:prstGeom xmlns:a="http://schemas.openxmlformats.org/drawingml/2006/main" prst="roundRect">
            <a:avLst>
              <a:gd name="adj" fmla="val 13333"/>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MEMORY</a:t>
            </a:r>
          </a:p>
        </p:txBody>
      </p:sp>
      <p:sp>
        <p:nvSpPr>
          <p:cNvPr id="26" name="">
            <a:extLst xmlns:a="http://schemas.openxmlformats.org/drawingml/2006/main">
              <a:ext uri="{FF2B5EF4-FFF2-40B4-BE49-F238E27FC236}">
                <a16:creationId xmlns:a16="http://schemas.microsoft.com/office/drawing/2014/main" id="{FD8D4F18-CE03-487D-A010-DB44AE87DAAB}"/>
              </a:ext>
            </a:extLst>
          </p:cNvPr>
          <p:cNvSpPr>
            <a:spLocks xmlns:a="http://schemas.openxmlformats.org/drawingml/2006/main" noGrp="1"/>
          </p:cNvSpPr>
          <p:nvPr/>
        </p:nvSpPr>
        <p:spPr>
          <a:xfrm xmlns:a="http://schemas.openxmlformats.org/drawingml/2006/main">
            <a:off x="3314700" y="7486650"/>
            <a:ext cx="13335000" cy="1104900"/>
          </a:xfrm>
          <a:prstGeom xmlns:a="http://schemas.openxmlformats.org/drawingml/2006/main" prst="roundRect">
            <a:avLst>
              <a:gd name="adj" fmla="val 6897"/>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E9B6BF39-0A08-4DE8-AC8B-114148BF0556}"/>
              </a:ext>
            </a:extLst>
          </p:cNvPr>
          <p:cNvSpPr>
            <a:spLocks xmlns:a="http://schemas.openxmlformats.org/drawingml/2006/main" noGrp="1"/>
          </p:cNvSpPr>
          <p:nvPr/>
        </p:nvSpPr>
        <p:spPr>
          <a:xfrm xmlns:a="http://schemas.openxmlformats.org/drawingml/2006/main">
            <a:off x="3733800" y="772477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Artifacts → observations → graph</a:t>
            </a:r>
          </a:p>
        </p:txBody>
      </p:sp>
      <p:sp>
        <p:nvSpPr>
          <p:cNvPr id="28" name="">
            <a:extLst xmlns:a="http://schemas.openxmlformats.org/drawingml/2006/main">
              <a:ext uri="{FF2B5EF4-FFF2-40B4-BE49-F238E27FC236}">
                <a16:creationId xmlns:a16="http://schemas.microsoft.com/office/drawing/2014/main" id="{3FB7D7B5-7837-400E-B0C0-681DC8DC064F}"/>
              </a:ext>
            </a:extLst>
          </p:cNvPr>
          <p:cNvSpPr>
            <a:spLocks xmlns:a="http://schemas.openxmlformats.org/drawingml/2006/main" noGrp="1"/>
          </p:cNvSpPr>
          <p:nvPr/>
        </p:nvSpPr>
        <p:spPr>
          <a:xfrm xmlns:a="http://schemas.openxmlformats.org/drawingml/2006/main">
            <a:off x="9658350" y="7696200"/>
            <a:ext cx="0" cy="68580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29" name="">
            <a:extLst xmlns:a="http://schemas.openxmlformats.org/drawingml/2006/main">
              <a:ext uri="{FF2B5EF4-FFF2-40B4-BE49-F238E27FC236}">
                <a16:creationId xmlns:a16="http://schemas.microsoft.com/office/drawing/2014/main" id="{9A4EB5A0-6EC1-4BA6-AB36-E53446EF06F7}"/>
              </a:ext>
            </a:extLst>
          </p:cNvPr>
          <p:cNvSpPr>
            <a:spLocks xmlns:a="http://schemas.openxmlformats.org/drawingml/2006/main" noGrp="1"/>
          </p:cNvSpPr>
          <p:nvPr/>
        </p:nvSpPr>
        <p:spPr>
          <a:xfrm xmlns:a="http://schemas.openxmlformats.org/drawingml/2006/main">
            <a:off x="10020300" y="7724775"/>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00" b="0" i="0">
                <a:solidFill>
                  <a:srgbClr val="5F7180"/>
                </a:solidFill>
                <a:latin typeface="Arial"/>
                <a:ea typeface="Arial"/>
                <a:cs typeface="Arial"/>
              </a:defRPr>
            </a:pPr>
            <a:r>
              <a:rPr sz="1800" b="0" i="0">
                <a:solidFill>
                  <a:srgbClr val="5F7180"/>
                </a:solidFill>
                <a:latin typeface="Arial"/>
                <a:ea typeface="Arial"/>
                <a:cs typeface="Arial"/>
              </a:rPr>
              <a:t>Candidates → verified findings → report</a:t>
            </a:r>
          </a:p>
        </p:txBody>
      </p:sp>
      <p:sp>
        <p:nvSpPr>
          <p:cNvPr id="30" name="">
            <a:extLst xmlns:a="http://schemas.openxmlformats.org/drawingml/2006/main">
              <a:ext uri="{FF2B5EF4-FFF2-40B4-BE49-F238E27FC236}">
                <a16:creationId xmlns:a16="http://schemas.microsoft.com/office/drawing/2014/main" id="{198A2BF4-F6C2-4111-9170-0DC5DC9360D1}"/>
              </a:ext>
            </a:extLst>
          </p:cNvPr>
          <p:cNvSpPr>
            <a:spLocks xmlns:a="http://schemas.openxmlformats.org/drawingml/2006/main" noGrp="1"/>
          </p:cNvSpPr>
          <p:nvPr/>
        </p:nvSpPr>
        <p:spPr>
          <a:xfrm xmlns:a="http://schemas.openxmlformats.org/drawingml/2006/main">
            <a:off x="3714750" y="8915400"/>
            <a:ext cx="1200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59"/>
          </a:bodyPr>
          <a:lstStyle xmlns:a="http://schemas.openxmlformats.org/drawingml/2006/main"/>
          <a:p xmlns:a="http://schemas.openxmlformats.org/drawingml/2006/main">
            <a:pPr algn="ctr">
              <a:lnSpc>
                <a:spcPct val="100000"/>
              </a:lnSpc>
              <a:buNone/>
              <a:defRPr sz="1725" b="1" i="0">
                <a:solidFill>
                  <a:srgbClr val="2D8B84"/>
                </a:solidFill>
                <a:latin typeface="Arial"/>
                <a:ea typeface="Arial"/>
                <a:cs typeface="Arial"/>
              </a:defRPr>
            </a:pPr>
            <a:r>
              <a:rPr sz="1725" b="1" i="0">
                <a:solidFill>
                  <a:srgbClr val="2D8B84"/>
                </a:solidFill>
                <a:latin typeface="Arial"/>
                <a:ea typeface="Arial"/>
                <a:cs typeface="Arial"/>
              </a:rPr>
              <a:t>Every client uses the same scope, methodology, tools and evidence model. The CLI remains the main operational harness.</a:t>
            </a:r>
          </a:p>
        </p:txBody>
      </p:sp>
    </p:spTree>
    <p:extLst>
      <p:ext uri="{BB962C8B-B14F-4D97-AF65-F5344CB8AC3E}">
        <p14:creationId xmlns:p14="http://schemas.microsoft.com/office/powerpoint/2010/main" val="168507707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BB1C9224-C7BB-40C1-B3E1-E4C3DAA5AE7F}"/>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07 / NON-LLM INTELLIGENCE</a:t>
            </a:r>
          </a:p>
        </p:txBody>
      </p:sp>
      <p:sp>
        <p:nvSpPr>
          <p:cNvPr id="2" name="">
            <a:extLst xmlns:a="http://schemas.openxmlformats.org/drawingml/2006/main">
              <a:ext uri="{FF2B5EF4-FFF2-40B4-BE49-F238E27FC236}">
                <a16:creationId xmlns:a16="http://schemas.microsoft.com/office/drawing/2014/main" id="{99C8300E-29BA-4388-9A10-7152C56B7FDC}"/>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034"/>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baseline engine will behave like a pentester—not a fixed macro</a:t>
            </a:r>
          </a:p>
        </p:txBody>
      </p:sp>
      <p:sp>
        <p:nvSpPr>
          <p:cNvPr id="3" name="">
            <a:extLst xmlns:a="http://schemas.openxmlformats.org/drawingml/2006/main">
              <a:ext uri="{FF2B5EF4-FFF2-40B4-BE49-F238E27FC236}">
                <a16:creationId xmlns:a16="http://schemas.microsoft.com/office/drawing/2014/main" id="{F4527A88-CB4F-44F5-B0A2-FA0C53FFD41A}"/>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0D803A2A-B51E-4AEE-AD13-A54CB21BE1AA}"/>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82DB6769-795B-41E5-97F4-78F8BB0DDD49}"/>
              </a:ext>
            </a:extLst>
          </p:cNvPr>
          <p:cNvSpPr>
            <a:spLocks xmlns:a="http://schemas.openxmlformats.org/drawingml/2006/main" noGrp="1"/>
          </p:cNvSpPr>
          <p:nvPr/>
        </p:nvSpPr>
        <p:spPr>
          <a:xfrm xmlns:a="http://schemas.openxmlformats.org/drawingml/2006/main">
            <a:off x="876300" y="2095500"/>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Evidence-responsive methodology loop</a:t>
            </a:r>
          </a:p>
        </p:txBody>
      </p:sp>
      <p:sp>
        <p:nvSpPr>
          <p:cNvPr id="6" name="">
            <a:extLst xmlns:a="http://schemas.openxmlformats.org/drawingml/2006/main">
              <a:ext uri="{FF2B5EF4-FFF2-40B4-BE49-F238E27FC236}">
                <a16:creationId xmlns:a16="http://schemas.microsoft.com/office/drawing/2014/main" id="{97729418-9289-4675-A706-9180A9C35441}"/>
              </a:ext>
            </a:extLst>
          </p:cNvPr>
          <p:cNvSpPr>
            <a:spLocks xmlns:a="http://schemas.openxmlformats.org/drawingml/2006/main" noGrp="1"/>
          </p:cNvSpPr>
          <p:nvPr/>
        </p:nvSpPr>
        <p:spPr>
          <a:xfrm xmlns:a="http://schemas.openxmlformats.org/drawingml/2006/main">
            <a:off x="8763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B3918275-5937-4AD7-8BBD-4184C3A1DEEA}"/>
              </a:ext>
            </a:extLst>
          </p:cNvPr>
          <p:cNvSpPr>
            <a:spLocks xmlns:a="http://schemas.openxmlformats.org/drawingml/2006/main" noGrp="1"/>
          </p:cNvSpPr>
          <p:nvPr/>
        </p:nvSpPr>
        <p:spPr>
          <a:xfrm xmlns:a="http://schemas.openxmlformats.org/drawingml/2006/main">
            <a:off x="104775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9537AFB5-2404-4A7F-A3E8-20B9AC7B0C43}"/>
              </a:ext>
            </a:extLst>
          </p:cNvPr>
          <p:cNvSpPr>
            <a:spLocks xmlns:a="http://schemas.openxmlformats.org/drawingml/2006/main" noGrp="1"/>
          </p:cNvSpPr>
          <p:nvPr/>
        </p:nvSpPr>
        <p:spPr>
          <a:xfrm xmlns:a="http://schemas.openxmlformats.org/drawingml/2006/main">
            <a:off x="10668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Widen</a:t>
            </a:r>
          </a:p>
        </p:txBody>
      </p:sp>
      <p:sp>
        <p:nvSpPr>
          <p:cNvPr id="9" name="">
            <a:extLst xmlns:a="http://schemas.openxmlformats.org/drawingml/2006/main">
              <a:ext uri="{FF2B5EF4-FFF2-40B4-BE49-F238E27FC236}">
                <a16:creationId xmlns:a16="http://schemas.microsoft.com/office/drawing/2014/main" id="{7E693A12-42F4-4EF7-9D55-02169259BE2C}"/>
              </a:ext>
            </a:extLst>
          </p:cNvPr>
          <p:cNvSpPr>
            <a:spLocks xmlns:a="http://schemas.openxmlformats.org/drawingml/2006/main" noGrp="1"/>
          </p:cNvSpPr>
          <p:nvPr/>
        </p:nvSpPr>
        <p:spPr>
          <a:xfrm xmlns:a="http://schemas.openxmlformats.org/drawingml/2006/main">
            <a:off x="10668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sisters · subdomains · OSINT</a:t>
            </a:r>
          </a:p>
        </p:txBody>
      </p:sp>
      <p:sp>
        <p:nvSpPr>
          <p:cNvPr id="10" name="">
            <a:extLst xmlns:a="http://schemas.openxmlformats.org/drawingml/2006/main">
              <a:ext uri="{FF2B5EF4-FFF2-40B4-BE49-F238E27FC236}">
                <a16:creationId xmlns:a16="http://schemas.microsoft.com/office/drawing/2014/main" id="{D2EBD76B-3030-4954-83DD-B133091BD7D8}"/>
              </a:ext>
            </a:extLst>
          </p:cNvPr>
          <p:cNvSpPr>
            <a:spLocks xmlns:a="http://schemas.openxmlformats.org/drawingml/2006/main" noGrp="1"/>
          </p:cNvSpPr>
          <p:nvPr/>
        </p:nvSpPr>
        <p:spPr>
          <a:xfrm xmlns:a="http://schemas.openxmlformats.org/drawingml/2006/main">
            <a:off x="297180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F11B898-6382-4890-AD82-3BBB0C009663}"/>
              </a:ext>
            </a:extLst>
          </p:cNvPr>
          <p:cNvSpPr>
            <a:spLocks xmlns:a="http://schemas.openxmlformats.org/drawingml/2006/main" noGrp="1"/>
          </p:cNvSpPr>
          <p:nvPr/>
        </p:nvSpPr>
        <p:spPr>
          <a:xfrm xmlns:a="http://schemas.openxmlformats.org/drawingml/2006/main">
            <a:off x="314325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2CF78A37-A28A-4693-B83A-07B106D894FB}"/>
              </a:ext>
            </a:extLst>
          </p:cNvPr>
          <p:cNvSpPr>
            <a:spLocks xmlns:a="http://schemas.openxmlformats.org/drawingml/2006/main" noGrp="1"/>
          </p:cNvSpPr>
          <p:nvPr/>
        </p:nvSpPr>
        <p:spPr>
          <a:xfrm xmlns:a="http://schemas.openxmlformats.org/drawingml/2006/main">
            <a:off x="331470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DB68424C-5395-4F89-B7EA-15A37EDF64CA}"/>
              </a:ext>
            </a:extLst>
          </p:cNvPr>
          <p:cNvSpPr>
            <a:spLocks xmlns:a="http://schemas.openxmlformats.org/drawingml/2006/main" noGrp="1"/>
          </p:cNvSpPr>
          <p:nvPr/>
        </p:nvSpPr>
        <p:spPr>
          <a:xfrm xmlns:a="http://schemas.openxmlformats.org/drawingml/2006/main">
            <a:off x="333375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Verify</a:t>
            </a:r>
          </a:p>
        </p:txBody>
      </p:sp>
      <p:sp>
        <p:nvSpPr>
          <p:cNvPr id="14" name="">
            <a:extLst xmlns:a="http://schemas.openxmlformats.org/drawingml/2006/main">
              <a:ext uri="{FF2B5EF4-FFF2-40B4-BE49-F238E27FC236}">
                <a16:creationId xmlns:a16="http://schemas.microsoft.com/office/drawing/2014/main" id="{F81B4F7A-D498-4583-A815-237A3C90854D}"/>
              </a:ext>
            </a:extLst>
          </p:cNvPr>
          <p:cNvSpPr>
            <a:spLocks xmlns:a="http://schemas.openxmlformats.org/drawingml/2006/main" noGrp="1"/>
          </p:cNvSpPr>
          <p:nvPr/>
        </p:nvSpPr>
        <p:spPr>
          <a:xfrm xmlns:a="http://schemas.openxmlformats.org/drawingml/2006/main">
            <a:off x="333375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DNS · HTTP · TLS · live assets</a:t>
            </a:r>
          </a:p>
        </p:txBody>
      </p:sp>
      <p:sp>
        <p:nvSpPr>
          <p:cNvPr id="15" name="">
            <a:extLst xmlns:a="http://schemas.openxmlformats.org/drawingml/2006/main">
              <a:ext uri="{FF2B5EF4-FFF2-40B4-BE49-F238E27FC236}">
                <a16:creationId xmlns:a16="http://schemas.microsoft.com/office/drawing/2014/main" id="{843B1233-D8EA-4AAB-9DC8-59DBBACE38D3}"/>
              </a:ext>
            </a:extLst>
          </p:cNvPr>
          <p:cNvSpPr>
            <a:spLocks xmlns:a="http://schemas.openxmlformats.org/drawingml/2006/main" noGrp="1"/>
          </p:cNvSpPr>
          <p:nvPr/>
        </p:nvSpPr>
        <p:spPr>
          <a:xfrm xmlns:a="http://schemas.openxmlformats.org/drawingml/2006/main">
            <a:off x="523875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F9D9F28-F4B7-4DEA-8784-3FE3B03B6CE7}"/>
              </a:ext>
            </a:extLst>
          </p:cNvPr>
          <p:cNvSpPr>
            <a:spLocks xmlns:a="http://schemas.openxmlformats.org/drawingml/2006/main" noGrp="1"/>
          </p:cNvSpPr>
          <p:nvPr/>
        </p:nvSpPr>
        <p:spPr>
          <a:xfrm xmlns:a="http://schemas.openxmlformats.org/drawingml/2006/main">
            <a:off x="54102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BEE88EAC-49C3-44D9-BDDC-2CE092D15305}"/>
              </a:ext>
            </a:extLst>
          </p:cNvPr>
          <p:cNvSpPr>
            <a:spLocks xmlns:a="http://schemas.openxmlformats.org/drawingml/2006/main" noGrp="1"/>
          </p:cNvSpPr>
          <p:nvPr/>
        </p:nvSpPr>
        <p:spPr>
          <a:xfrm xmlns:a="http://schemas.openxmlformats.org/drawingml/2006/main">
            <a:off x="558165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0BCC4349-C023-4A28-A113-F20B00AE470F}"/>
              </a:ext>
            </a:extLst>
          </p:cNvPr>
          <p:cNvSpPr>
            <a:spLocks xmlns:a="http://schemas.openxmlformats.org/drawingml/2006/main" noGrp="1"/>
          </p:cNvSpPr>
          <p:nvPr/>
        </p:nvSpPr>
        <p:spPr>
          <a:xfrm xmlns:a="http://schemas.openxmlformats.org/drawingml/2006/main">
            <a:off x="56007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Map</a:t>
            </a:r>
          </a:p>
        </p:txBody>
      </p:sp>
      <p:sp>
        <p:nvSpPr>
          <p:cNvPr id="19" name="">
            <a:extLst xmlns:a="http://schemas.openxmlformats.org/drawingml/2006/main">
              <a:ext uri="{FF2B5EF4-FFF2-40B4-BE49-F238E27FC236}">
                <a16:creationId xmlns:a16="http://schemas.microsoft.com/office/drawing/2014/main" id="{E7513EB7-F593-4FF0-A52D-0F7A396B28AA}"/>
              </a:ext>
            </a:extLst>
          </p:cNvPr>
          <p:cNvSpPr>
            <a:spLocks xmlns:a="http://schemas.openxmlformats.org/drawingml/2006/main" noGrp="1"/>
          </p:cNvSpPr>
          <p:nvPr/>
        </p:nvSpPr>
        <p:spPr>
          <a:xfrm xmlns:a="http://schemas.openxmlformats.org/drawingml/2006/main">
            <a:off x="56007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IPs · CDN/origin · ports</a:t>
            </a:r>
          </a:p>
        </p:txBody>
      </p:sp>
      <p:sp>
        <p:nvSpPr>
          <p:cNvPr id="20" name="">
            <a:extLst xmlns:a="http://schemas.openxmlformats.org/drawingml/2006/main">
              <a:ext uri="{FF2B5EF4-FFF2-40B4-BE49-F238E27FC236}">
                <a16:creationId xmlns:a16="http://schemas.microsoft.com/office/drawing/2014/main" id="{F920E13C-4595-47DB-9B0A-2D548EB4EBB6}"/>
              </a:ext>
            </a:extLst>
          </p:cNvPr>
          <p:cNvSpPr>
            <a:spLocks xmlns:a="http://schemas.openxmlformats.org/drawingml/2006/main" noGrp="1"/>
          </p:cNvSpPr>
          <p:nvPr/>
        </p:nvSpPr>
        <p:spPr>
          <a:xfrm xmlns:a="http://schemas.openxmlformats.org/drawingml/2006/main">
            <a:off x="750570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67E18FA-A514-4189-879A-553B83A64329}"/>
              </a:ext>
            </a:extLst>
          </p:cNvPr>
          <p:cNvSpPr>
            <a:spLocks xmlns:a="http://schemas.openxmlformats.org/drawingml/2006/main" noGrp="1"/>
          </p:cNvSpPr>
          <p:nvPr/>
        </p:nvSpPr>
        <p:spPr>
          <a:xfrm xmlns:a="http://schemas.openxmlformats.org/drawingml/2006/main">
            <a:off x="767715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22" name="">
            <a:extLst xmlns:a="http://schemas.openxmlformats.org/drawingml/2006/main">
              <a:ext uri="{FF2B5EF4-FFF2-40B4-BE49-F238E27FC236}">
                <a16:creationId xmlns:a16="http://schemas.microsoft.com/office/drawing/2014/main" id="{39FD9231-1F6A-4EAC-AD7E-DA2914AE8AB9}"/>
              </a:ext>
            </a:extLst>
          </p:cNvPr>
          <p:cNvSpPr>
            <a:spLocks xmlns:a="http://schemas.openxmlformats.org/drawingml/2006/main" noGrp="1"/>
          </p:cNvSpPr>
          <p:nvPr/>
        </p:nvSpPr>
        <p:spPr>
          <a:xfrm xmlns:a="http://schemas.openxmlformats.org/drawingml/2006/main">
            <a:off x="784860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4CB9CCE3-50CF-4AB0-BB9F-6C47597AA239}"/>
              </a:ext>
            </a:extLst>
          </p:cNvPr>
          <p:cNvSpPr>
            <a:spLocks xmlns:a="http://schemas.openxmlformats.org/drawingml/2006/main" noGrp="1"/>
          </p:cNvSpPr>
          <p:nvPr/>
        </p:nvSpPr>
        <p:spPr>
          <a:xfrm xmlns:a="http://schemas.openxmlformats.org/drawingml/2006/main">
            <a:off x="786765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Profile</a:t>
            </a:r>
          </a:p>
        </p:txBody>
      </p:sp>
      <p:sp>
        <p:nvSpPr>
          <p:cNvPr id="24" name="">
            <a:extLst xmlns:a="http://schemas.openxmlformats.org/drawingml/2006/main">
              <a:ext uri="{FF2B5EF4-FFF2-40B4-BE49-F238E27FC236}">
                <a16:creationId xmlns:a16="http://schemas.microsoft.com/office/drawing/2014/main" id="{419CAA94-B400-498A-B1DA-257E2BE46FD9}"/>
              </a:ext>
            </a:extLst>
          </p:cNvPr>
          <p:cNvSpPr>
            <a:spLocks xmlns:a="http://schemas.openxmlformats.org/drawingml/2006/main" noGrp="1"/>
          </p:cNvSpPr>
          <p:nvPr/>
        </p:nvSpPr>
        <p:spPr>
          <a:xfrm xmlns:a="http://schemas.openxmlformats.org/drawingml/2006/main">
            <a:off x="786765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services · versions · tech</a:t>
            </a:r>
          </a:p>
        </p:txBody>
      </p:sp>
      <p:sp>
        <p:nvSpPr>
          <p:cNvPr id="25" name="">
            <a:extLst xmlns:a="http://schemas.openxmlformats.org/drawingml/2006/main">
              <a:ext uri="{FF2B5EF4-FFF2-40B4-BE49-F238E27FC236}">
                <a16:creationId xmlns:a16="http://schemas.microsoft.com/office/drawing/2014/main" id="{7F18802C-5CD6-438A-AE4E-37CE3ED537A5}"/>
              </a:ext>
            </a:extLst>
          </p:cNvPr>
          <p:cNvSpPr>
            <a:spLocks xmlns:a="http://schemas.openxmlformats.org/drawingml/2006/main" noGrp="1"/>
          </p:cNvSpPr>
          <p:nvPr/>
        </p:nvSpPr>
        <p:spPr>
          <a:xfrm xmlns:a="http://schemas.openxmlformats.org/drawingml/2006/main">
            <a:off x="977265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F48E278-38CF-4112-B800-19CAB6EDB634}"/>
              </a:ext>
            </a:extLst>
          </p:cNvPr>
          <p:cNvSpPr>
            <a:spLocks xmlns:a="http://schemas.openxmlformats.org/drawingml/2006/main" noGrp="1"/>
          </p:cNvSpPr>
          <p:nvPr/>
        </p:nvSpPr>
        <p:spPr>
          <a:xfrm xmlns:a="http://schemas.openxmlformats.org/drawingml/2006/main">
            <a:off x="99441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81285BDA-2885-4677-AA39-C426BCAAC675}"/>
              </a:ext>
            </a:extLst>
          </p:cNvPr>
          <p:cNvSpPr>
            <a:spLocks xmlns:a="http://schemas.openxmlformats.org/drawingml/2006/main" noGrp="1"/>
          </p:cNvSpPr>
          <p:nvPr/>
        </p:nvSpPr>
        <p:spPr>
          <a:xfrm xmlns:a="http://schemas.openxmlformats.org/drawingml/2006/main">
            <a:off x="10115550" y="2895600"/>
            <a:ext cx="419100" cy="381000"/>
          </a:xfrm>
          <a:prstGeom xmlns:a="http://schemas.openxmlformats.org/drawingml/2006/main" prst="roundRect">
            <a:avLst>
              <a:gd name="adj" fmla="val 20000"/>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8" name="">
            <a:extLst xmlns:a="http://schemas.openxmlformats.org/drawingml/2006/main">
              <a:ext uri="{FF2B5EF4-FFF2-40B4-BE49-F238E27FC236}">
                <a16:creationId xmlns:a16="http://schemas.microsoft.com/office/drawing/2014/main" id="{1628ECFD-9538-4C93-80FD-7A66F44348D2}"/>
              </a:ext>
            </a:extLst>
          </p:cNvPr>
          <p:cNvSpPr>
            <a:spLocks xmlns:a="http://schemas.openxmlformats.org/drawingml/2006/main" noGrp="1"/>
          </p:cNvSpPr>
          <p:nvPr/>
        </p:nvSpPr>
        <p:spPr>
          <a:xfrm xmlns:a="http://schemas.openxmlformats.org/drawingml/2006/main">
            <a:off x="101346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Discover</a:t>
            </a:r>
          </a:p>
        </p:txBody>
      </p:sp>
      <p:sp>
        <p:nvSpPr>
          <p:cNvPr id="29" name="">
            <a:extLst xmlns:a="http://schemas.openxmlformats.org/drawingml/2006/main">
              <a:ext uri="{FF2B5EF4-FFF2-40B4-BE49-F238E27FC236}">
                <a16:creationId xmlns:a16="http://schemas.microsoft.com/office/drawing/2014/main" id="{CB2E68EF-FC54-473E-9E85-9033A2D273E9}"/>
              </a:ext>
            </a:extLst>
          </p:cNvPr>
          <p:cNvSpPr>
            <a:spLocks xmlns:a="http://schemas.openxmlformats.org/drawingml/2006/main" noGrp="1"/>
          </p:cNvSpPr>
          <p:nvPr/>
        </p:nvSpPr>
        <p:spPr>
          <a:xfrm xmlns:a="http://schemas.openxmlformats.org/drawingml/2006/main">
            <a:off x="101346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paths · endpoints · parameters</a:t>
            </a:r>
          </a:p>
        </p:txBody>
      </p:sp>
      <p:sp>
        <p:nvSpPr>
          <p:cNvPr id="30" name="">
            <a:extLst xmlns:a="http://schemas.openxmlformats.org/drawingml/2006/main">
              <a:ext uri="{FF2B5EF4-FFF2-40B4-BE49-F238E27FC236}">
                <a16:creationId xmlns:a16="http://schemas.microsoft.com/office/drawing/2014/main" id="{E1BD36D4-D67A-4235-9511-8CA6C2405A2D}"/>
              </a:ext>
            </a:extLst>
          </p:cNvPr>
          <p:cNvSpPr>
            <a:spLocks xmlns:a="http://schemas.openxmlformats.org/drawingml/2006/main" noGrp="1"/>
          </p:cNvSpPr>
          <p:nvPr/>
        </p:nvSpPr>
        <p:spPr>
          <a:xfrm xmlns:a="http://schemas.openxmlformats.org/drawingml/2006/main">
            <a:off x="1203960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6E35D44-CBD9-43BB-89B8-262C0BC4A2F2}"/>
              </a:ext>
            </a:extLst>
          </p:cNvPr>
          <p:cNvSpPr>
            <a:spLocks xmlns:a="http://schemas.openxmlformats.org/drawingml/2006/main" noGrp="1"/>
          </p:cNvSpPr>
          <p:nvPr/>
        </p:nvSpPr>
        <p:spPr>
          <a:xfrm xmlns:a="http://schemas.openxmlformats.org/drawingml/2006/main">
            <a:off x="1221105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32" name="">
            <a:extLst xmlns:a="http://schemas.openxmlformats.org/drawingml/2006/main">
              <a:ext uri="{FF2B5EF4-FFF2-40B4-BE49-F238E27FC236}">
                <a16:creationId xmlns:a16="http://schemas.microsoft.com/office/drawing/2014/main" id="{0F29BEF6-2ACC-4C8C-B42D-2AFB9AD1DB65}"/>
              </a:ext>
            </a:extLst>
          </p:cNvPr>
          <p:cNvSpPr>
            <a:spLocks xmlns:a="http://schemas.openxmlformats.org/drawingml/2006/main" noGrp="1"/>
          </p:cNvSpPr>
          <p:nvPr/>
        </p:nvSpPr>
        <p:spPr>
          <a:xfrm xmlns:a="http://schemas.openxmlformats.org/drawingml/2006/main">
            <a:off x="12382500" y="2895600"/>
            <a:ext cx="419100" cy="381000"/>
          </a:xfrm>
          <a:prstGeom xmlns:a="http://schemas.openxmlformats.org/drawingml/2006/main" prst="roundRect">
            <a:avLst>
              <a:gd name="adj" fmla="val 20000"/>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33" name="">
            <a:extLst xmlns:a="http://schemas.openxmlformats.org/drawingml/2006/main">
              <a:ext uri="{FF2B5EF4-FFF2-40B4-BE49-F238E27FC236}">
                <a16:creationId xmlns:a16="http://schemas.microsoft.com/office/drawing/2014/main" id="{33F4C9FF-B848-4568-A73F-198576A2F14F}"/>
              </a:ext>
            </a:extLst>
          </p:cNvPr>
          <p:cNvSpPr>
            <a:spLocks xmlns:a="http://schemas.openxmlformats.org/drawingml/2006/main" noGrp="1"/>
          </p:cNvSpPr>
          <p:nvPr/>
        </p:nvSpPr>
        <p:spPr>
          <a:xfrm xmlns:a="http://schemas.openxmlformats.org/drawingml/2006/main">
            <a:off x="1240155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Scan</a:t>
            </a:r>
          </a:p>
        </p:txBody>
      </p:sp>
      <p:sp>
        <p:nvSpPr>
          <p:cNvPr id="34" name="">
            <a:extLst xmlns:a="http://schemas.openxmlformats.org/drawingml/2006/main">
              <a:ext uri="{FF2B5EF4-FFF2-40B4-BE49-F238E27FC236}">
                <a16:creationId xmlns:a16="http://schemas.microsoft.com/office/drawing/2014/main" id="{86EDA38D-3731-4D4F-BAB4-408473955E32}"/>
              </a:ext>
            </a:extLst>
          </p:cNvPr>
          <p:cNvSpPr>
            <a:spLocks xmlns:a="http://schemas.openxmlformats.org/drawingml/2006/main" noGrp="1"/>
          </p:cNvSpPr>
          <p:nvPr/>
        </p:nvSpPr>
        <p:spPr>
          <a:xfrm xmlns:a="http://schemas.openxmlformats.org/drawingml/2006/main">
            <a:off x="1240155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Nuclei · SQLmap · specialist checks</a:t>
            </a:r>
          </a:p>
        </p:txBody>
      </p:sp>
      <p:sp>
        <p:nvSpPr>
          <p:cNvPr id="35" name="">
            <a:extLst xmlns:a="http://schemas.openxmlformats.org/drawingml/2006/main">
              <a:ext uri="{FF2B5EF4-FFF2-40B4-BE49-F238E27FC236}">
                <a16:creationId xmlns:a16="http://schemas.microsoft.com/office/drawing/2014/main" id="{67CD0B83-BEC8-44F6-BF93-AEAE587CE9D8}"/>
              </a:ext>
            </a:extLst>
          </p:cNvPr>
          <p:cNvSpPr>
            <a:spLocks xmlns:a="http://schemas.openxmlformats.org/drawingml/2006/main" noGrp="1"/>
          </p:cNvSpPr>
          <p:nvPr/>
        </p:nvSpPr>
        <p:spPr>
          <a:xfrm xmlns:a="http://schemas.openxmlformats.org/drawingml/2006/main">
            <a:off x="1430655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B69ACD7-30DC-47F1-ABC8-F15BA28BAFF0}"/>
              </a:ext>
            </a:extLst>
          </p:cNvPr>
          <p:cNvSpPr>
            <a:spLocks xmlns:a="http://schemas.openxmlformats.org/drawingml/2006/main" noGrp="1"/>
          </p:cNvSpPr>
          <p:nvPr/>
        </p:nvSpPr>
        <p:spPr>
          <a:xfrm xmlns:a="http://schemas.openxmlformats.org/drawingml/2006/main">
            <a:off x="144780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37" name="">
            <a:extLst xmlns:a="http://schemas.openxmlformats.org/drawingml/2006/main">
              <a:ext uri="{FF2B5EF4-FFF2-40B4-BE49-F238E27FC236}">
                <a16:creationId xmlns:a16="http://schemas.microsoft.com/office/drawing/2014/main" id="{F893E6DC-25AB-4946-98AC-F1C7F171951F}"/>
              </a:ext>
            </a:extLst>
          </p:cNvPr>
          <p:cNvSpPr>
            <a:spLocks xmlns:a="http://schemas.openxmlformats.org/drawingml/2006/main" noGrp="1"/>
          </p:cNvSpPr>
          <p:nvPr/>
        </p:nvSpPr>
        <p:spPr>
          <a:xfrm xmlns:a="http://schemas.openxmlformats.org/drawingml/2006/main">
            <a:off x="14649450" y="2895600"/>
            <a:ext cx="419100" cy="381000"/>
          </a:xfrm>
          <a:prstGeom xmlns:a="http://schemas.openxmlformats.org/drawingml/2006/main" prst="roundRect">
            <a:avLst>
              <a:gd name="adj" fmla="val 20000"/>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7</a:t>
            </a:r>
          </a:p>
        </p:txBody>
      </p:sp>
      <p:sp>
        <p:nvSpPr>
          <p:cNvPr id="38" name="">
            <a:extLst xmlns:a="http://schemas.openxmlformats.org/drawingml/2006/main">
              <a:ext uri="{FF2B5EF4-FFF2-40B4-BE49-F238E27FC236}">
                <a16:creationId xmlns:a16="http://schemas.microsoft.com/office/drawing/2014/main" id="{D9B3D3BD-0603-4FA1-BC47-19F1240E00B7}"/>
              </a:ext>
            </a:extLst>
          </p:cNvPr>
          <p:cNvSpPr>
            <a:spLocks xmlns:a="http://schemas.openxmlformats.org/drawingml/2006/main" noGrp="1"/>
          </p:cNvSpPr>
          <p:nvPr/>
        </p:nvSpPr>
        <p:spPr>
          <a:xfrm xmlns:a="http://schemas.openxmlformats.org/drawingml/2006/main">
            <a:off x="146685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Confirm</a:t>
            </a:r>
          </a:p>
        </p:txBody>
      </p:sp>
      <p:sp>
        <p:nvSpPr>
          <p:cNvPr id="39" name="">
            <a:extLst xmlns:a="http://schemas.openxmlformats.org/drawingml/2006/main">
              <a:ext uri="{FF2B5EF4-FFF2-40B4-BE49-F238E27FC236}">
                <a16:creationId xmlns:a16="http://schemas.microsoft.com/office/drawing/2014/main" id="{1489F78D-25D7-4861-889A-C1538039CBDE}"/>
              </a:ext>
            </a:extLst>
          </p:cNvPr>
          <p:cNvSpPr>
            <a:spLocks xmlns:a="http://schemas.openxmlformats.org/drawingml/2006/main" noGrp="1"/>
          </p:cNvSpPr>
          <p:nvPr/>
        </p:nvSpPr>
        <p:spPr>
          <a:xfrm xmlns:a="http://schemas.openxmlformats.org/drawingml/2006/main">
            <a:off x="146685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reproduce · cite evidence · report</a:t>
            </a:r>
          </a:p>
        </p:txBody>
      </p:sp>
      <p:sp>
        <p:nvSpPr>
          <p:cNvPr id="40" name="">
            <a:extLst xmlns:a="http://schemas.openxmlformats.org/drawingml/2006/main">
              <a:ext uri="{FF2B5EF4-FFF2-40B4-BE49-F238E27FC236}">
                <a16:creationId xmlns:a16="http://schemas.microsoft.com/office/drawing/2014/main" id="{EF562581-70C8-489C-BCD6-184422413CD3}"/>
              </a:ext>
            </a:extLst>
          </p:cNvPr>
          <p:cNvSpPr>
            <a:spLocks xmlns:a="http://schemas.openxmlformats.org/drawingml/2006/main" noGrp="1"/>
          </p:cNvSpPr>
          <p:nvPr/>
        </p:nvSpPr>
        <p:spPr>
          <a:xfrm xmlns:a="http://schemas.openxmlformats.org/drawingml/2006/main">
            <a:off x="876300" y="5181600"/>
            <a:ext cx="15773400" cy="857250"/>
          </a:xfrm>
          <a:prstGeom xmlns:a="http://schemas.openxmlformats.org/drawingml/2006/main" prst="roundRect">
            <a:avLst>
              <a:gd name="adj" fmla="val 8889"/>
            </a:avLst>
          </a:prstGeom>
          <a:solidFill xmlns:a="http://schemas.openxmlformats.org/drawingml/2006/main">
            <a:srgbClr val="DDEEEB"/>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E7097CD-F203-4D71-968E-A5E51D53F5AC}"/>
              </a:ext>
            </a:extLst>
          </p:cNvPr>
          <p:cNvSpPr>
            <a:spLocks xmlns:a="http://schemas.openxmlformats.org/drawingml/2006/main" noGrp="1"/>
          </p:cNvSpPr>
          <p:nvPr/>
        </p:nvSpPr>
        <p:spPr>
          <a:xfrm xmlns:a="http://schemas.openxmlformats.org/drawingml/2006/main">
            <a:off x="1200150" y="5429250"/>
            <a:ext cx="1504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6206"/>
          </a:bodyPr>
          <a:lstStyle xmlns:a="http://schemas.openxmlformats.org/drawingml/2006/main"/>
          <a:p xmlns:a="http://schemas.openxmlformats.org/drawingml/2006/main">
            <a:pPr algn="ctr">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A new host, service, endpoint, credential or vulnerability re-opens only the relevant earlier work—without restarting the engagement.</a:t>
            </a:r>
          </a:p>
        </p:txBody>
      </p:sp>
      <p:sp>
        <p:nvSpPr>
          <p:cNvPr id="42" name="">
            <a:extLst xmlns:a="http://schemas.openxmlformats.org/drawingml/2006/main">
              <a:ext uri="{FF2B5EF4-FFF2-40B4-BE49-F238E27FC236}">
                <a16:creationId xmlns:a16="http://schemas.microsoft.com/office/drawing/2014/main" id="{8E527A16-1419-49FF-BCBF-9115F625CCDA}"/>
              </a:ext>
            </a:extLst>
          </p:cNvPr>
          <p:cNvSpPr>
            <a:spLocks xmlns:a="http://schemas.openxmlformats.org/drawingml/2006/main" noGrp="1"/>
          </p:cNvSpPr>
          <p:nvPr/>
        </p:nvSpPr>
        <p:spPr>
          <a:xfrm xmlns:a="http://schemas.openxmlformats.org/drawingml/2006/main">
            <a:off x="876300" y="659130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What makes this intelligent without an LLM</a:t>
            </a:r>
          </a:p>
        </p:txBody>
      </p:sp>
      <p:sp>
        <p:nvSpPr>
          <p:cNvPr id="43" name="">
            <a:extLst xmlns:a="http://schemas.openxmlformats.org/drawingml/2006/main">
              <a:ext uri="{FF2B5EF4-FFF2-40B4-BE49-F238E27FC236}">
                <a16:creationId xmlns:a16="http://schemas.microsoft.com/office/drawing/2014/main" id="{D51B88E0-D4F9-4D23-9C8D-D996DD9406AB}"/>
              </a:ext>
            </a:extLst>
          </p:cNvPr>
          <p:cNvSpPr>
            <a:spLocks xmlns:a="http://schemas.openxmlformats.org/drawingml/2006/main" noGrp="1"/>
          </p:cNvSpPr>
          <p:nvPr/>
        </p:nvSpPr>
        <p:spPr>
          <a:xfrm xmlns:a="http://schemas.openxmlformats.org/drawingml/2006/main">
            <a:off x="87630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44" name="">
            <a:extLst xmlns:a="http://schemas.openxmlformats.org/drawingml/2006/main">
              <a:ext uri="{FF2B5EF4-FFF2-40B4-BE49-F238E27FC236}">
                <a16:creationId xmlns:a16="http://schemas.microsoft.com/office/drawing/2014/main" id="{BBB7DFD9-9A39-4ACF-B0F8-34EAA18D991A}"/>
              </a:ext>
            </a:extLst>
          </p:cNvPr>
          <p:cNvSpPr>
            <a:spLocks xmlns:a="http://schemas.openxmlformats.org/drawingml/2006/main" noGrp="1"/>
          </p:cNvSpPr>
          <p:nvPr/>
        </p:nvSpPr>
        <p:spPr>
          <a:xfrm xmlns:a="http://schemas.openxmlformats.org/drawingml/2006/main">
            <a:off x="876300" y="7124700"/>
            <a:ext cx="85725" cy="16573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32F8979C-C979-4688-B358-842EFA646387}"/>
              </a:ext>
            </a:extLst>
          </p:cNvPr>
          <p:cNvSpPr>
            <a:spLocks xmlns:a="http://schemas.openxmlformats.org/drawingml/2006/main" noGrp="1"/>
          </p:cNvSpPr>
          <p:nvPr/>
        </p:nvSpPr>
        <p:spPr>
          <a:xfrm xmlns:a="http://schemas.openxmlformats.org/drawingml/2006/main">
            <a:off x="114300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Evidence unlocks work</a:t>
            </a:r>
          </a:p>
        </p:txBody>
      </p:sp>
      <p:sp>
        <p:nvSpPr>
          <p:cNvPr id="46" name="">
            <a:extLst xmlns:a="http://schemas.openxmlformats.org/drawingml/2006/main">
              <a:ext uri="{FF2B5EF4-FFF2-40B4-BE49-F238E27FC236}">
                <a16:creationId xmlns:a16="http://schemas.microsoft.com/office/drawing/2014/main" id="{F962CA30-CECA-4CF6-89AB-8882382EE72F}"/>
              </a:ext>
            </a:extLst>
          </p:cNvPr>
          <p:cNvSpPr>
            <a:spLocks xmlns:a="http://schemas.openxmlformats.org/drawingml/2006/main" noGrp="1"/>
          </p:cNvSpPr>
          <p:nvPr/>
        </p:nvSpPr>
        <p:spPr>
          <a:xfrm xmlns:a="http://schemas.openxmlformats.org/drawingml/2006/main">
            <a:off x="114300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 real live host or service creates new test opportunities.</a:t>
            </a:r>
          </a:p>
        </p:txBody>
      </p:sp>
      <p:sp>
        <p:nvSpPr>
          <p:cNvPr id="47" name="">
            <a:extLst xmlns:a="http://schemas.openxmlformats.org/drawingml/2006/main">
              <a:ext uri="{FF2B5EF4-FFF2-40B4-BE49-F238E27FC236}">
                <a16:creationId xmlns:a16="http://schemas.microsoft.com/office/drawing/2014/main" id="{F0BF81DA-F87E-4DD5-814C-E23936CB259A}"/>
              </a:ext>
            </a:extLst>
          </p:cNvPr>
          <p:cNvSpPr>
            <a:spLocks xmlns:a="http://schemas.openxmlformats.org/drawingml/2006/main" noGrp="1"/>
          </p:cNvSpPr>
          <p:nvPr/>
        </p:nvSpPr>
        <p:spPr>
          <a:xfrm xmlns:a="http://schemas.openxmlformats.org/drawingml/2006/main">
            <a:off x="481965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48" name="">
            <a:extLst xmlns:a="http://schemas.openxmlformats.org/drawingml/2006/main">
              <a:ext uri="{FF2B5EF4-FFF2-40B4-BE49-F238E27FC236}">
                <a16:creationId xmlns:a16="http://schemas.microsoft.com/office/drawing/2014/main" id="{9D99884C-F78F-4D8C-91DC-46601D26A1FB}"/>
              </a:ext>
            </a:extLst>
          </p:cNvPr>
          <p:cNvSpPr>
            <a:spLocks xmlns:a="http://schemas.openxmlformats.org/drawingml/2006/main" noGrp="1"/>
          </p:cNvSpPr>
          <p:nvPr/>
        </p:nvSpPr>
        <p:spPr>
          <a:xfrm xmlns:a="http://schemas.openxmlformats.org/drawingml/2006/main">
            <a:off x="4819650" y="7124700"/>
            <a:ext cx="85725" cy="16573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3861374-41A0-4F5C-AC75-67119A22D894}"/>
              </a:ext>
            </a:extLst>
          </p:cNvPr>
          <p:cNvSpPr>
            <a:spLocks xmlns:a="http://schemas.openxmlformats.org/drawingml/2006/main" noGrp="1"/>
          </p:cNvSpPr>
          <p:nvPr/>
        </p:nvSpPr>
        <p:spPr>
          <a:xfrm xmlns:a="http://schemas.openxmlformats.org/drawingml/2006/main">
            <a:off x="508635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Coverage is per asset</a:t>
            </a:r>
          </a:p>
        </p:txBody>
      </p:sp>
      <p:sp>
        <p:nvSpPr>
          <p:cNvPr id="50" name="">
            <a:extLst xmlns:a="http://schemas.openxmlformats.org/drawingml/2006/main">
              <a:ext uri="{FF2B5EF4-FFF2-40B4-BE49-F238E27FC236}">
                <a16:creationId xmlns:a16="http://schemas.microsoft.com/office/drawing/2014/main" id="{DDDFA94A-8F15-4340-9AA6-B69FB639453F}"/>
              </a:ext>
            </a:extLst>
          </p:cNvPr>
          <p:cNvSpPr>
            <a:spLocks xmlns:a="http://schemas.openxmlformats.org/drawingml/2006/main" noGrp="1"/>
          </p:cNvSpPr>
          <p:nvPr/>
        </p:nvSpPr>
        <p:spPr>
          <a:xfrm xmlns:a="http://schemas.openxmlformats.org/drawingml/2006/main">
            <a:off x="508635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Each host and application is tracked individually, even on shared infrastructure.</a:t>
            </a:r>
          </a:p>
        </p:txBody>
      </p:sp>
      <p:sp>
        <p:nvSpPr>
          <p:cNvPr id="51" name="">
            <a:extLst xmlns:a="http://schemas.openxmlformats.org/drawingml/2006/main">
              <a:ext uri="{FF2B5EF4-FFF2-40B4-BE49-F238E27FC236}">
                <a16:creationId xmlns:a16="http://schemas.microsoft.com/office/drawing/2014/main" id="{585C3410-BC20-4025-A041-69FD4C2F0228}"/>
              </a:ext>
            </a:extLst>
          </p:cNvPr>
          <p:cNvSpPr>
            <a:spLocks xmlns:a="http://schemas.openxmlformats.org/drawingml/2006/main" noGrp="1"/>
          </p:cNvSpPr>
          <p:nvPr/>
        </p:nvSpPr>
        <p:spPr>
          <a:xfrm xmlns:a="http://schemas.openxmlformats.org/drawingml/2006/main">
            <a:off x="876300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52" name="">
            <a:extLst xmlns:a="http://schemas.openxmlformats.org/drawingml/2006/main">
              <a:ext uri="{FF2B5EF4-FFF2-40B4-BE49-F238E27FC236}">
                <a16:creationId xmlns:a16="http://schemas.microsoft.com/office/drawing/2014/main" id="{724FBEA5-E1CC-474A-982E-903F8530F28E}"/>
              </a:ext>
            </a:extLst>
          </p:cNvPr>
          <p:cNvSpPr>
            <a:spLocks xmlns:a="http://schemas.openxmlformats.org/drawingml/2006/main" noGrp="1"/>
          </p:cNvSpPr>
          <p:nvPr/>
        </p:nvSpPr>
        <p:spPr>
          <a:xfrm xmlns:a="http://schemas.openxmlformats.org/drawingml/2006/main">
            <a:off x="8763000" y="7124700"/>
            <a:ext cx="85725" cy="16573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A4BDFD3-57B4-4542-83C0-57969823C7FA}"/>
              </a:ext>
            </a:extLst>
          </p:cNvPr>
          <p:cNvSpPr>
            <a:spLocks xmlns:a="http://schemas.openxmlformats.org/drawingml/2006/main" noGrp="1"/>
          </p:cNvSpPr>
          <p:nvPr/>
        </p:nvSpPr>
        <p:spPr>
          <a:xfrm xmlns:a="http://schemas.openxmlformats.org/drawingml/2006/main">
            <a:off x="902970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Priority follows signals</a:t>
            </a:r>
          </a:p>
        </p:txBody>
      </p:sp>
      <p:sp>
        <p:nvSpPr>
          <p:cNvPr id="54" name="">
            <a:extLst xmlns:a="http://schemas.openxmlformats.org/drawingml/2006/main">
              <a:ext uri="{FF2B5EF4-FFF2-40B4-BE49-F238E27FC236}">
                <a16:creationId xmlns:a16="http://schemas.microsoft.com/office/drawing/2014/main" id="{C926595F-E848-42AE-8AD2-BF0C46F7866F}"/>
              </a:ext>
            </a:extLst>
          </p:cNvPr>
          <p:cNvSpPr>
            <a:spLocks xmlns:a="http://schemas.openxmlformats.org/drawingml/2006/main" noGrp="1"/>
          </p:cNvSpPr>
          <p:nvPr/>
        </p:nvSpPr>
        <p:spPr>
          <a:xfrm xmlns:a="http://schemas.openxmlformats.org/drawingml/2006/main">
            <a:off x="902970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Observed technologies, exposure and proof reorder the queue.</a:t>
            </a:r>
          </a:p>
        </p:txBody>
      </p:sp>
      <p:sp>
        <p:nvSpPr>
          <p:cNvPr id="55" name="">
            <a:extLst xmlns:a="http://schemas.openxmlformats.org/drawingml/2006/main">
              <a:ext uri="{FF2B5EF4-FFF2-40B4-BE49-F238E27FC236}">
                <a16:creationId xmlns:a16="http://schemas.microsoft.com/office/drawing/2014/main" id="{1D8E0EF6-C1DB-42E1-9AAE-5EDFD515999C}"/>
              </a:ext>
            </a:extLst>
          </p:cNvPr>
          <p:cNvSpPr>
            <a:spLocks xmlns:a="http://schemas.openxmlformats.org/drawingml/2006/main" noGrp="1"/>
          </p:cNvSpPr>
          <p:nvPr/>
        </p:nvSpPr>
        <p:spPr>
          <a:xfrm xmlns:a="http://schemas.openxmlformats.org/drawingml/2006/main">
            <a:off x="1270635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56" name="">
            <a:extLst xmlns:a="http://schemas.openxmlformats.org/drawingml/2006/main">
              <a:ext uri="{FF2B5EF4-FFF2-40B4-BE49-F238E27FC236}">
                <a16:creationId xmlns:a16="http://schemas.microsoft.com/office/drawing/2014/main" id="{FB0B68E1-6704-45B5-947B-364363F6C3F3}"/>
              </a:ext>
            </a:extLst>
          </p:cNvPr>
          <p:cNvSpPr>
            <a:spLocks xmlns:a="http://schemas.openxmlformats.org/drawingml/2006/main" noGrp="1"/>
          </p:cNvSpPr>
          <p:nvPr/>
        </p:nvSpPr>
        <p:spPr>
          <a:xfrm xmlns:a="http://schemas.openxmlformats.org/drawingml/2006/main">
            <a:off x="12706350" y="7124700"/>
            <a:ext cx="85725" cy="16573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0070C279-4661-4170-9AB9-EBD87E3BCA5C}"/>
              </a:ext>
            </a:extLst>
          </p:cNvPr>
          <p:cNvSpPr>
            <a:spLocks xmlns:a="http://schemas.openxmlformats.org/drawingml/2006/main" noGrp="1"/>
          </p:cNvSpPr>
          <p:nvPr/>
        </p:nvSpPr>
        <p:spPr>
          <a:xfrm xmlns:a="http://schemas.openxmlformats.org/drawingml/2006/main">
            <a:off x="1297305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Methodology is configurable</a:t>
            </a:r>
          </a:p>
        </p:txBody>
      </p:sp>
      <p:sp>
        <p:nvSpPr>
          <p:cNvPr id="58" name="">
            <a:extLst xmlns:a="http://schemas.openxmlformats.org/drawingml/2006/main">
              <a:ext uri="{FF2B5EF4-FFF2-40B4-BE49-F238E27FC236}">
                <a16:creationId xmlns:a16="http://schemas.microsoft.com/office/drawing/2014/main" id="{DE88B6BB-F4DF-485F-A2F3-FCB239A63568}"/>
              </a:ext>
            </a:extLst>
          </p:cNvPr>
          <p:cNvSpPr>
            <a:spLocks xmlns:a="http://schemas.openxmlformats.org/drawingml/2006/main" noGrp="1"/>
          </p:cNvSpPr>
          <p:nvPr/>
        </p:nvSpPr>
        <p:spPr>
          <a:xfrm xmlns:a="http://schemas.openxmlformats.org/drawingml/2006/main">
            <a:off x="1297305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Teams can change policy and coverage without rewriting the engine.</a:t>
            </a:r>
          </a:p>
        </p:txBody>
      </p:sp>
    </p:spTree>
    <p:extLst>
      <p:ext uri="{BB962C8B-B14F-4D97-AF65-F5344CB8AC3E}">
        <p14:creationId xmlns:p14="http://schemas.microsoft.com/office/powerpoint/2010/main" val="1216047788"/>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A2A79FB-A768-4BFE-8F77-9781E76AA537}"/>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08 / TRUSTWORTHY MEMORY</a:t>
            </a:r>
          </a:p>
        </p:txBody>
      </p:sp>
      <p:sp>
        <p:nvSpPr>
          <p:cNvPr id="2" name="">
            <a:extLst xmlns:a="http://schemas.openxmlformats.org/drawingml/2006/main">
              <a:ext uri="{FF2B5EF4-FFF2-40B4-BE49-F238E27FC236}">
                <a16:creationId xmlns:a16="http://schemas.microsoft.com/office/drawing/2014/main" id="{306DB9CE-DCEC-4886-8BE9-452E23E43D3E}"/>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One evidence model will prevent false positives and lost context</a:t>
            </a:r>
          </a:p>
        </p:txBody>
      </p:sp>
      <p:sp>
        <p:nvSpPr>
          <p:cNvPr id="3" name="">
            <a:extLst xmlns:a="http://schemas.openxmlformats.org/drawingml/2006/main">
              <a:ext uri="{FF2B5EF4-FFF2-40B4-BE49-F238E27FC236}">
                <a16:creationId xmlns:a16="http://schemas.microsoft.com/office/drawing/2014/main" id="{D77239D1-FC0C-4254-AFBB-BCD1DDC7FFDB}"/>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F0982F8-AF57-465A-9836-EF62A2CC9071}"/>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6848449E-C855-499A-BEEA-A48B6923F4FE}"/>
              </a:ext>
            </a:extLst>
          </p:cNvPr>
          <p:cNvSpPr>
            <a:spLocks xmlns:a="http://schemas.openxmlformats.org/drawingml/2006/main" noGrp="1"/>
          </p:cNvSpPr>
          <p:nvPr/>
        </p:nvSpPr>
        <p:spPr>
          <a:xfrm xmlns:a="http://schemas.openxmlformats.org/drawingml/2006/main">
            <a:off x="876300" y="2476500"/>
            <a:ext cx="2247900" cy="1428750"/>
          </a:xfrm>
          <a:prstGeom xmlns:a="http://schemas.openxmlformats.org/drawingml/2006/main" prst="roundRect">
            <a:avLst>
              <a:gd name="adj" fmla="val 5333"/>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AE6961E-9B98-4CD7-8FBC-8A0C1530511C}"/>
              </a:ext>
            </a:extLst>
          </p:cNvPr>
          <p:cNvSpPr>
            <a:spLocks xmlns:a="http://schemas.openxmlformats.org/drawingml/2006/main" noGrp="1"/>
          </p:cNvSpPr>
          <p:nvPr/>
        </p:nvSpPr>
        <p:spPr>
          <a:xfrm xmlns:a="http://schemas.openxmlformats.org/drawingml/2006/main">
            <a:off x="104775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Target</a:t>
            </a:r>
          </a:p>
        </p:txBody>
      </p:sp>
      <p:sp>
        <p:nvSpPr>
          <p:cNvPr id="7" name="">
            <a:extLst xmlns:a="http://schemas.openxmlformats.org/drawingml/2006/main">
              <a:ext uri="{FF2B5EF4-FFF2-40B4-BE49-F238E27FC236}">
                <a16:creationId xmlns:a16="http://schemas.microsoft.com/office/drawing/2014/main" id="{5AB130DB-A0F7-44A6-A74A-CFB07717DA6F}"/>
              </a:ext>
            </a:extLst>
          </p:cNvPr>
          <p:cNvSpPr>
            <a:spLocks xmlns:a="http://schemas.openxmlformats.org/drawingml/2006/main" noGrp="1"/>
          </p:cNvSpPr>
          <p:nvPr/>
        </p:nvSpPr>
        <p:spPr>
          <a:xfrm xmlns:a="http://schemas.openxmlformats.org/drawingml/2006/main">
            <a:off x="104775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authorized scope</a:t>
            </a:r>
          </a:p>
        </p:txBody>
      </p:sp>
      <p:sp>
        <p:nvSpPr>
          <p:cNvPr id="8" name="">
            <a:extLst xmlns:a="http://schemas.openxmlformats.org/drawingml/2006/main">
              <a:ext uri="{FF2B5EF4-FFF2-40B4-BE49-F238E27FC236}">
                <a16:creationId xmlns:a16="http://schemas.microsoft.com/office/drawing/2014/main" id="{76BF7E55-BB3E-43B9-8936-81AB66F88168}"/>
              </a:ext>
            </a:extLst>
          </p:cNvPr>
          <p:cNvSpPr>
            <a:spLocks xmlns:a="http://schemas.openxmlformats.org/drawingml/2006/main" noGrp="1"/>
          </p:cNvSpPr>
          <p:nvPr/>
        </p:nvSpPr>
        <p:spPr>
          <a:xfrm xmlns:a="http://schemas.openxmlformats.org/drawingml/2006/main">
            <a:off x="316230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55935C7-FA92-4052-A083-CE7BAB457BC7}"/>
              </a:ext>
            </a:extLst>
          </p:cNvPr>
          <p:cNvSpPr>
            <a:spLocks xmlns:a="http://schemas.openxmlformats.org/drawingml/2006/main" noGrp="1"/>
          </p:cNvSpPr>
          <p:nvPr/>
        </p:nvSpPr>
        <p:spPr>
          <a:xfrm xmlns:a="http://schemas.openxmlformats.org/drawingml/2006/main">
            <a:off x="3533775" y="2476500"/>
            <a:ext cx="2247900" cy="1428750"/>
          </a:xfrm>
          <a:prstGeom xmlns:a="http://schemas.openxmlformats.org/drawingml/2006/main" prst="roundRect">
            <a:avLst>
              <a:gd name="adj" fmla="val 5333"/>
            </a:avLst>
          </a:prstGeom>
          <a:solidFill xmlns:a="http://schemas.openxmlformats.org/drawingml/2006/main">
            <a:srgbClr val="2C669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A0018E-61F9-4E7B-8C5F-CE36EB9A2A3D}"/>
              </a:ext>
            </a:extLst>
          </p:cNvPr>
          <p:cNvSpPr>
            <a:spLocks xmlns:a="http://schemas.openxmlformats.org/drawingml/2006/main" noGrp="1"/>
          </p:cNvSpPr>
          <p:nvPr/>
        </p:nvSpPr>
        <p:spPr>
          <a:xfrm xmlns:a="http://schemas.openxmlformats.org/drawingml/2006/main">
            <a:off x="370522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Asset</a:t>
            </a:r>
          </a:p>
        </p:txBody>
      </p:sp>
      <p:sp>
        <p:nvSpPr>
          <p:cNvPr id="11" name="">
            <a:extLst xmlns:a="http://schemas.openxmlformats.org/drawingml/2006/main">
              <a:ext uri="{FF2B5EF4-FFF2-40B4-BE49-F238E27FC236}">
                <a16:creationId xmlns:a16="http://schemas.microsoft.com/office/drawing/2014/main" id="{A36D3694-031D-4A61-837F-4F56D8194D86}"/>
              </a:ext>
            </a:extLst>
          </p:cNvPr>
          <p:cNvSpPr>
            <a:spLocks xmlns:a="http://schemas.openxmlformats.org/drawingml/2006/main" noGrp="1"/>
          </p:cNvSpPr>
          <p:nvPr/>
        </p:nvSpPr>
        <p:spPr>
          <a:xfrm xmlns:a="http://schemas.openxmlformats.org/drawingml/2006/main">
            <a:off x="370522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domain · IP · service</a:t>
            </a:r>
          </a:p>
        </p:txBody>
      </p:sp>
      <p:sp>
        <p:nvSpPr>
          <p:cNvPr id="12" name="">
            <a:extLst xmlns:a="http://schemas.openxmlformats.org/drawingml/2006/main">
              <a:ext uri="{FF2B5EF4-FFF2-40B4-BE49-F238E27FC236}">
                <a16:creationId xmlns:a16="http://schemas.microsoft.com/office/drawing/2014/main" id="{6A5BA38E-2802-4F42-81EA-F19419563357}"/>
              </a:ext>
            </a:extLst>
          </p:cNvPr>
          <p:cNvSpPr>
            <a:spLocks xmlns:a="http://schemas.openxmlformats.org/drawingml/2006/main" noGrp="1"/>
          </p:cNvSpPr>
          <p:nvPr/>
        </p:nvSpPr>
        <p:spPr>
          <a:xfrm xmlns:a="http://schemas.openxmlformats.org/drawingml/2006/main">
            <a:off x="5819775"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C75E917-2904-4084-BBBB-773B488BB972}"/>
              </a:ext>
            </a:extLst>
          </p:cNvPr>
          <p:cNvSpPr>
            <a:spLocks xmlns:a="http://schemas.openxmlformats.org/drawingml/2006/main" noGrp="1"/>
          </p:cNvSpPr>
          <p:nvPr/>
        </p:nvSpPr>
        <p:spPr>
          <a:xfrm xmlns:a="http://schemas.openxmlformats.org/drawingml/2006/main">
            <a:off x="6191250" y="2476500"/>
            <a:ext cx="2247900" cy="1428750"/>
          </a:xfrm>
          <a:prstGeom xmlns:a="http://schemas.openxmlformats.org/drawingml/2006/main" prst="roundRect">
            <a:avLst>
              <a:gd name="adj" fmla="val 5333"/>
            </a:avLst>
          </a:prstGeom>
          <a:solidFill xmlns:a="http://schemas.openxmlformats.org/drawingml/2006/main">
            <a:srgbClr val="2D8B8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0746543-43AD-49F5-9199-5E8E6F481409}"/>
              </a:ext>
            </a:extLst>
          </p:cNvPr>
          <p:cNvSpPr>
            <a:spLocks xmlns:a="http://schemas.openxmlformats.org/drawingml/2006/main" noGrp="1"/>
          </p:cNvSpPr>
          <p:nvPr/>
        </p:nvSpPr>
        <p:spPr>
          <a:xfrm xmlns:a="http://schemas.openxmlformats.org/drawingml/2006/main">
            <a:off x="636270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Observation</a:t>
            </a:r>
          </a:p>
        </p:txBody>
      </p:sp>
      <p:sp>
        <p:nvSpPr>
          <p:cNvPr id="15" name="">
            <a:extLst xmlns:a="http://schemas.openxmlformats.org/drawingml/2006/main">
              <a:ext uri="{FF2B5EF4-FFF2-40B4-BE49-F238E27FC236}">
                <a16:creationId xmlns:a16="http://schemas.microsoft.com/office/drawing/2014/main" id="{D2C4D6AF-8DCC-4C46-842B-0BD804A2ED21}"/>
              </a:ext>
            </a:extLst>
          </p:cNvPr>
          <p:cNvSpPr>
            <a:spLocks xmlns:a="http://schemas.openxmlformats.org/drawingml/2006/main" noGrp="1"/>
          </p:cNvSpPr>
          <p:nvPr/>
        </p:nvSpPr>
        <p:spPr>
          <a:xfrm xmlns:a="http://schemas.openxmlformats.org/drawingml/2006/main">
            <a:off x="636270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recorded tool output</a:t>
            </a:r>
          </a:p>
        </p:txBody>
      </p:sp>
      <p:sp>
        <p:nvSpPr>
          <p:cNvPr id="16" name="">
            <a:extLst xmlns:a="http://schemas.openxmlformats.org/drawingml/2006/main">
              <a:ext uri="{FF2B5EF4-FFF2-40B4-BE49-F238E27FC236}">
                <a16:creationId xmlns:a16="http://schemas.microsoft.com/office/drawing/2014/main" id="{007171DD-1C23-41C1-8F0B-272A09769C0F}"/>
              </a:ext>
            </a:extLst>
          </p:cNvPr>
          <p:cNvSpPr>
            <a:spLocks xmlns:a="http://schemas.openxmlformats.org/drawingml/2006/main" noGrp="1"/>
          </p:cNvSpPr>
          <p:nvPr/>
        </p:nvSpPr>
        <p:spPr>
          <a:xfrm xmlns:a="http://schemas.openxmlformats.org/drawingml/2006/main">
            <a:off x="847725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A58DBD3-1E36-4E0B-BE6C-B869F4606E8B}"/>
              </a:ext>
            </a:extLst>
          </p:cNvPr>
          <p:cNvSpPr>
            <a:spLocks xmlns:a="http://schemas.openxmlformats.org/drawingml/2006/main" noGrp="1"/>
          </p:cNvSpPr>
          <p:nvPr/>
        </p:nvSpPr>
        <p:spPr>
          <a:xfrm xmlns:a="http://schemas.openxmlformats.org/drawingml/2006/main">
            <a:off x="8848725" y="2476500"/>
            <a:ext cx="2247900" cy="1428750"/>
          </a:xfrm>
          <a:prstGeom xmlns:a="http://schemas.openxmlformats.org/drawingml/2006/main" prst="roundRect">
            <a:avLst>
              <a:gd name="adj" fmla="val 5333"/>
            </a:avLst>
          </a:prstGeom>
          <a:solidFill xmlns:a="http://schemas.openxmlformats.org/drawingml/2006/main">
            <a:srgbClr val="D79A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A7ABBE8-1B08-4B66-BD60-42CBAEA0E501}"/>
              </a:ext>
            </a:extLst>
          </p:cNvPr>
          <p:cNvSpPr>
            <a:spLocks xmlns:a="http://schemas.openxmlformats.org/drawingml/2006/main" noGrp="1"/>
          </p:cNvSpPr>
          <p:nvPr/>
        </p:nvSpPr>
        <p:spPr>
          <a:xfrm xmlns:a="http://schemas.openxmlformats.org/drawingml/2006/main">
            <a:off x="902017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Candidate</a:t>
            </a:r>
          </a:p>
        </p:txBody>
      </p:sp>
      <p:sp>
        <p:nvSpPr>
          <p:cNvPr id="19" name="">
            <a:extLst xmlns:a="http://schemas.openxmlformats.org/drawingml/2006/main">
              <a:ext uri="{FF2B5EF4-FFF2-40B4-BE49-F238E27FC236}">
                <a16:creationId xmlns:a16="http://schemas.microsoft.com/office/drawing/2014/main" id="{41909558-17FE-4802-AFDD-A390D3AEBB45}"/>
              </a:ext>
            </a:extLst>
          </p:cNvPr>
          <p:cNvSpPr>
            <a:spLocks xmlns:a="http://schemas.openxmlformats.org/drawingml/2006/main" noGrp="1"/>
          </p:cNvSpPr>
          <p:nvPr/>
        </p:nvSpPr>
        <p:spPr>
          <a:xfrm xmlns:a="http://schemas.openxmlformats.org/drawingml/2006/main">
            <a:off x="902017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lead requiring proof</a:t>
            </a:r>
          </a:p>
        </p:txBody>
      </p:sp>
      <p:sp>
        <p:nvSpPr>
          <p:cNvPr id="20" name="">
            <a:extLst xmlns:a="http://schemas.openxmlformats.org/drawingml/2006/main">
              <a:ext uri="{FF2B5EF4-FFF2-40B4-BE49-F238E27FC236}">
                <a16:creationId xmlns:a16="http://schemas.microsoft.com/office/drawing/2014/main" id="{670622C0-AEBB-43A6-8161-1FD5C8001043}"/>
              </a:ext>
            </a:extLst>
          </p:cNvPr>
          <p:cNvSpPr>
            <a:spLocks xmlns:a="http://schemas.openxmlformats.org/drawingml/2006/main" noGrp="1"/>
          </p:cNvSpPr>
          <p:nvPr/>
        </p:nvSpPr>
        <p:spPr>
          <a:xfrm xmlns:a="http://schemas.openxmlformats.org/drawingml/2006/main">
            <a:off x="11134725"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AC1947F-BA24-45A7-ABD3-61A5683FC942}"/>
              </a:ext>
            </a:extLst>
          </p:cNvPr>
          <p:cNvSpPr>
            <a:spLocks xmlns:a="http://schemas.openxmlformats.org/drawingml/2006/main" noGrp="1"/>
          </p:cNvSpPr>
          <p:nvPr/>
        </p:nvSpPr>
        <p:spPr>
          <a:xfrm xmlns:a="http://schemas.openxmlformats.org/drawingml/2006/main">
            <a:off x="11506200" y="2476500"/>
            <a:ext cx="2247900" cy="1428750"/>
          </a:xfrm>
          <a:prstGeom xmlns:a="http://schemas.openxmlformats.org/drawingml/2006/main" prst="roundRect">
            <a:avLst>
              <a:gd name="adj" fmla="val 5333"/>
            </a:avLst>
          </a:prstGeom>
          <a:solidFill xmlns:a="http://schemas.openxmlformats.org/drawingml/2006/main">
            <a:srgbClr val="4F8B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AD1DA4F-CADB-49EB-9227-954394105722}"/>
              </a:ext>
            </a:extLst>
          </p:cNvPr>
          <p:cNvSpPr>
            <a:spLocks xmlns:a="http://schemas.openxmlformats.org/drawingml/2006/main" noGrp="1"/>
          </p:cNvSpPr>
          <p:nvPr/>
        </p:nvSpPr>
        <p:spPr>
          <a:xfrm xmlns:a="http://schemas.openxmlformats.org/drawingml/2006/main">
            <a:off x="1167765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Verified finding</a:t>
            </a:r>
          </a:p>
        </p:txBody>
      </p:sp>
      <p:sp>
        <p:nvSpPr>
          <p:cNvPr id="23" name="">
            <a:extLst xmlns:a="http://schemas.openxmlformats.org/drawingml/2006/main">
              <a:ext uri="{FF2B5EF4-FFF2-40B4-BE49-F238E27FC236}">
                <a16:creationId xmlns:a16="http://schemas.microsoft.com/office/drawing/2014/main" id="{0E208A88-6119-4FE8-8384-8352A1C31863}"/>
              </a:ext>
            </a:extLst>
          </p:cNvPr>
          <p:cNvSpPr>
            <a:spLocks xmlns:a="http://schemas.openxmlformats.org/drawingml/2006/main" noGrp="1"/>
          </p:cNvSpPr>
          <p:nvPr/>
        </p:nvSpPr>
        <p:spPr>
          <a:xfrm xmlns:a="http://schemas.openxmlformats.org/drawingml/2006/main">
            <a:off x="1167765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claim + cited evidence</a:t>
            </a:r>
          </a:p>
        </p:txBody>
      </p:sp>
      <p:sp>
        <p:nvSpPr>
          <p:cNvPr id="24" name="">
            <a:extLst xmlns:a="http://schemas.openxmlformats.org/drawingml/2006/main">
              <a:ext uri="{FF2B5EF4-FFF2-40B4-BE49-F238E27FC236}">
                <a16:creationId xmlns:a16="http://schemas.microsoft.com/office/drawing/2014/main" id="{BEA77498-7005-4CDC-9A34-2BEE126E1928}"/>
              </a:ext>
            </a:extLst>
          </p:cNvPr>
          <p:cNvSpPr>
            <a:spLocks xmlns:a="http://schemas.openxmlformats.org/drawingml/2006/main" noGrp="1"/>
          </p:cNvSpPr>
          <p:nvPr/>
        </p:nvSpPr>
        <p:spPr>
          <a:xfrm xmlns:a="http://schemas.openxmlformats.org/drawingml/2006/main">
            <a:off x="1379220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2ED63D0-1F3D-4202-98DC-F0BE06883DA5}"/>
              </a:ext>
            </a:extLst>
          </p:cNvPr>
          <p:cNvSpPr>
            <a:spLocks xmlns:a="http://schemas.openxmlformats.org/drawingml/2006/main" noGrp="1"/>
          </p:cNvSpPr>
          <p:nvPr/>
        </p:nvSpPr>
        <p:spPr>
          <a:xfrm xmlns:a="http://schemas.openxmlformats.org/drawingml/2006/main">
            <a:off x="14163675" y="2476500"/>
            <a:ext cx="2247900" cy="1428750"/>
          </a:xfrm>
          <a:prstGeom xmlns:a="http://schemas.openxmlformats.org/drawingml/2006/main" prst="roundRect">
            <a:avLst>
              <a:gd name="adj" fmla="val 5333"/>
            </a:avLst>
          </a:prstGeom>
          <a:solidFill xmlns:a="http://schemas.openxmlformats.org/drawingml/2006/main">
            <a:srgbClr val="123B6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FB98F40-A934-4F6B-ADD4-B7497FB82923}"/>
              </a:ext>
            </a:extLst>
          </p:cNvPr>
          <p:cNvSpPr>
            <a:spLocks xmlns:a="http://schemas.openxmlformats.org/drawingml/2006/main" noGrp="1"/>
          </p:cNvSpPr>
          <p:nvPr/>
        </p:nvSpPr>
        <p:spPr>
          <a:xfrm xmlns:a="http://schemas.openxmlformats.org/drawingml/2006/main">
            <a:off x="1433512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Report</a:t>
            </a:r>
          </a:p>
        </p:txBody>
      </p:sp>
      <p:sp>
        <p:nvSpPr>
          <p:cNvPr id="27" name="">
            <a:extLst xmlns:a="http://schemas.openxmlformats.org/drawingml/2006/main">
              <a:ext uri="{FF2B5EF4-FFF2-40B4-BE49-F238E27FC236}">
                <a16:creationId xmlns:a16="http://schemas.microsoft.com/office/drawing/2014/main" id="{A94EC80C-53AB-4341-A6A1-0CDD686BB487}"/>
              </a:ext>
            </a:extLst>
          </p:cNvPr>
          <p:cNvSpPr>
            <a:spLocks xmlns:a="http://schemas.openxmlformats.org/drawingml/2006/main" noGrp="1"/>
          </p:cNvSpPr>
          <p:nvPr/>
        </p:nvSpPr>
        <p:spPr>
          <a:xfrm xmlns:a="http://schemas.openxmlformats.org/drawingml/2006/main">
            <a:off x="1433512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human-reviewable result</a:t>
            </a:r>
          </a:p>
        </p:txBody>
      </p:sp>
      <p:sp>
        <p:nvSpPr>
          <p:cNvPr id="28" name="">
            <a:extLst xmlns:a="http://schemas.openxmlformats.org/drawingml/2006/main">
              <a:ext uri="{FF2B5EF4-FFF2-40B4-BE49-F238E27FC236}">
                <a16:creationId xmlns:a16="http://schemas.microsoft.com/office/drawing/2014/main" id="{4929CA8D-D365-4B93-A616-205364959BF7}"/>
              </a:ext>
            </a:extLst>
          </p:cNvPr>
          <p:cNvSpPr>
            <a:spLocks xmlns:a="http://schemas.openxmlformats.org/drawingml/2006/main" noGrp="1"/>
          </p:cNvSpPr>
          <p:nvPr/>
        </p:nvSpPr>
        <p:spPr>
          <a:xfrm xmlns:a="http://schemas.openxmlformats.org/drawingml/2006/main">
            <a:off x="876300" y="44958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Storage rules</a:t>
            </a:r>
          </a:p>
        </p:txBody>
      </p:sp>
      <p:sp>
        <p:nvSpPr>
          <p:cNvPr id="29" name="">
            <a:extLst xmlns:a="http://schemas.openxmlformats.org/drawingml/2006/main">
              <a:ext uri="{FF2B5EF4-FFF2-40B4-BE49-F238E27FC236}">
                <a16:creationId xmlns:a16="http://schemas.microsoft.com/office/drawing/2014/main" id="{625E6164-C02B-42B5-9EBB-0265FAFF9E46}"/>
              </a:ext>
            </a:extLst>
          </p:cNvPr>
          <p:cNvSpPr>
            <a:spLocks xmlns:a="http://schemas.openxmlformats.org/drawingml/2006/main" noGrp="1"/>
          </p:cNvSpPr>
          <p:nvPr/>
        </p:nvSpPr>
        <p:spPr>
          <a:xfrm xmlns:a="http://schemas.openxmlformats.org/drawingml/2006/main">
            <a:off x="8763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0" name="">
            <a:extLst xmlns:a="http://schemas.openxmlformats.org/drawingml/2006/main">
              <a:ext uri="{FF2B5EF4-FFF2-40B4-BE49-F238E27FC236}">
                <a16:creationId xmlns:a16="http://schemas.microsoft.com/office/drawing/2014/main" id="{A3530142-2838-4E11-9B7C-A7CD0AB42054}"/>
              </a:ext>
            </a:extLst>
          </p:cNvPr>
          <p:cNvSpPr>
            <a:spLocks xmlns:a="http://schemas.openxmlformats.org/drawingml/2006/main" noGrp="1"/>
          </p:cNvSpPr>
          <p:nvPr/>
        </p:nvSpPr>
        <p:spPr>
          <a:xfrm xmlns:a="http://schemas.openxmlformats.org/drawingml/2006/main">
            <a:off x="876300" y="5048250"/>
            <a:ext cx="85725" cy="1581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248A294-E9CC-4ACA-AF13-2969160AA418}"/>
              </a:ext>
            </a:extLst>
          </p:cNvPr>
          <p:cNvSpPr>
            <a:spLocks xmlns:a="http://schemas.openxmlformats.org/drawingml/2006/main" noGrp="1"/>
          </p:cNvSpPr>
          <p:nvPr/>
        </p:nvSpPr>
        <p:spPr>
          <a:xfrm xmlns:a="http://schemas.openxmlformats.org/drawingml/2006/main">
            <a:off x="11430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Raw evidence remains intact</a:t>
            </a:r>
          </a:p>
        </p:txBody>
      </p:sp>
      <p:sp>
        <p:nvSpPr>
          <p:cNvPr id="32" name="">
            <a:extLst xmlns:a="http://schemas.openxmlformats.org/drawingml/2006/main">
              <a:ext uri="{FF2B5EF4-FFF2-40B4-BE49-F238E27FC236}">
                <a16:creationId xmlns:a16="http://schemas.microsoft.com/office/drawing/2014/main" id="{2773D422-D3B1-4199-A30C-4933F70A08DD}"/>
              </a:ext>
            </a:extLst>
          </p:cNvPr>
          <p:cNvSpPr>
            <a:spLocks xmlns:a="http://schemas.openxmlformats.org/drawingml/2006/main" noGrp="1"/>
          </p:cNvSpPr>
          <p:nvPr/>
        </p:nvSpPr>
        <p:spPr>
          <a:xfrm xmlns:a="http://schemas.openxmlformats.org/drawingml/2006/main">
            <a:off x="11430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Artifacts preserve what the tool actually returned.</a:t>
            </a:r>
          </a:p>
        </p:txBody>
      </p:sp>
      <p:sp>
        <p:nvSpPr>
          <p:cNvPr id="33" name="">
            <a:extLst xmlns:a="http://schemas.openxmlformats.org/drawingml/2006/main">
              <a:ext uri="{FF2B5EF4-FFF2-40B4-BE49-F238E27FC236}">
                <a16:creationId xmlns:a16="http://schemas.microsoft.com/office/drawing/2014/main" id="{E8845B0F-ADCE-47AB-876E-3F6E93F7BE51}"/>
              </a:ext>
            </a:extLst>
          </p:cNvPr>
          <p:cNvSpPr>
            <a:spLocks xmlns:a="http://schemas.openxmlformats.org/drawingml/2006/main" noGrp="1"/>
          </p:cNvSpPr>
          <p:nvPr/>
        </p:nvSpPr>
        <p:spPr>
          <a:xfrm xmlns:a="http://schemas.openxmlformats.org/drawingml/2006/main">
            <a:off x="61341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D78C9AFA-2F63-4A9B-96A9-38246FED15CB}"/>
              </a:ext>
            </a:extLst>
          </p:cNvPr>
          <p:cNvSpPr>
            <a:spLocks xmlns:a="http://schemas.openxmlformats.org/drawingml/2006/main" noGrp="1"/>
          </p:cNvSpPr>
          <p:nvPr/>
        </p:nvSpPr>
        <p:spPr>
          <a:xfrm xmlns:a="http://schemas.openxmlformats.org/drawingml/2006/main">
            <a:off x="6134100" y="5048250"/>
            <a:ext cx="85725" cy="1581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67A7DC4-B30A-4DA2-8FC6-92DB03FF35E0}"/>
              </a:ext>
            </a:extLst>
          </p:cNvPr>
          <p:cNvSpPr>
            <a:spLocks xmlns:a="http://schemas.openxmlformats.org/drawingml/2006/main" noGrp="1"/>
          </p:cNvSpPr>
          <p:nvPr/>
        </p:nvSpPr>
        <p:spPr>
          <a:xfrm xmlns:a="http://schemas.openxmlformats.org/drawingml/2006/main">
            <a:off x="64008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Observations are not vulnerabilities</a:t>
            </a:r>
          </a:p>
        </p:txBody>
      </p:sp>
      <p:sp>
        <p:nvSpPr>
          <p:cNvPr id="36" name="">
            <a:extLst xmlns:a="http://schemas.openxmlformats.org/drawingml/2006/main">
              <a:ext uri="{FF2B5EF4-FFF2-40B4-BE49-F238E27FC236}">
                <a16:creationId xmlns:a16="http://schemas.microsoft.com/office/drawing/2014/main" id="{EE8C2EB2-CA20-4184-8C24-0ECBC4F52668}"/>
              </a:ext>
            </a:extLst>
          </p:cNvPr>
          <p:cNvSpPr>
            <a:spLocks xmlns:a="http://schemas.openxmlformats.org/drawingml/2006/main" noGrp="1"/>
          </p:cNvSpPr>
          <p:nvPr/>
        </p:nvSpPr>
        <p:spPr>
          <a:xfrm xmlns:a="http://schemas.openxmlformats.org/drawingml/2006/main">
            <a:off x="64008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 banner, port or scanner title cannot silently become a confirmed finding.</a:t>
            </a:r>
          </a:p>
        </p:txBody>
      </p:sp>
      <p:sp>
        <p:nvSpPr>
          <p:cNvPr id="37" name="">
            <a:extLst xmlns:a="http://schemas.openxmlformats.org/drawingml/2006/main">
              <a:ext uri="{FF2B5EF4-FFF2-40B4-BE49-F238E27FC236}">
                <a16:creationId xmlns:a16="http://schemas.microsoft.com/office/drawing/2014/main" id="{47509DE1-7425-46AE-BE20-1A3CC6C2193C}"/>
              </a:ext>
            </a:extLst>
          </p:cNvPr>
          <p:cNvSpPr>
            <a:spLocks xmlns:a="http://schemas.openxmlformats.org/drawingml/2006/main" noGrp="1"/>
          </p:cNvSpPr>
          <p:nvPr/>
        </p:nvSpPr>
        <p:spPr>
          <a:xfrm xmlns:a="http://schemas.openxmlformats.org/drawingml/2006/main">
            <a:off x="113919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58AE5525-F486-4F08-94C8-A33EAF8DBF1A}"/>
              </a:ext>
            </a:extLst>
          </p:cNvPr>
          <p:cNvSpPr>
            <a:spLocks xmlns:a="http://schemas.openxmlformats.org/drawingml/2006/main" noGrp="1"/>
          </p:cNvSpPr>
          <p:nvPr/>
        </p:nvSpPr>
        <p:spPr>
          <a:xfrm xmlns:a="http://schemas.openxmlformats.org/drawingml/2006/main">
            <a:off x="11391900" y="5048250"/>
            <a:ext cx="85725" cy="1581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24429D2-3BA1-43E0-A396-45BC6F5071EA}"/>
              </a:ext>
            </a:extLst>
          </p:cNvPr>
          <p:cNvSpPr>
            <a:spLocks xmlns:a="http://schemas.openxmlformats.org/drawingml/2006/main" noGrp="1"/>
          </p:cNvSpPr>
          <p:nvPr/>
        </p:nvSpPr>
        <p:spPr>
          <a:xfrm xmlns:a="http://schemas.openxmlformats.org/drawingml/2006/main">
            <a:off x="116586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Hypotheses stay separate</a:t>
            </a:r>
          </a:p>
        </p:txBody>
      </p:sp>
      <p:sp>
        <p:nvSpPr>
          <p:cNvPr id="40" name="">
            <a:extLst xmlns:a="http://schemas.openxmlformats.org/drawingml/2006/main">
              <a:ext uri="{FF2B5EF4-FFF2-40B4-BE49-F238E27FC236}">
                <a16:creationId xmlns:a16="http://schemas.microsoft.com/office/drawing/2014/main" id="{656E1AD5-1B5D-48BB-B345-979C98BF4D60}"/>
              </a:ext>
            </a:extLst>
          </p:cNvPr>
          <p:cNvSpPr>
            <a:spLocks xmlns:a="http://schemas.openxmlformats.org/drawingml/2006/main" noGrp="1"/>
          </p:cNvSpPr>
          <p:nvPr/>
        </p:nvSpPr>
        <p:spPr>
          <a:xfrm xmlns:a="http://schemas.openxmlformats.org/drawingml/2006/main">
            <a:off x="116586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AI interpretations and candidate leads remain provisional until verified.</a:t>
            </a:r>
          </a:p>
        </p:txBody>
      </p:sp>
      <p:sp>
        <p:nvSpPr>
          <p:cNvPr id="41" name="">
            <a:extLst xmlns:a="http://schemas.openxmlformats.org/drawingml/2006/main">
              <a:ext uri="{FF2B5EF4-FFF2-40B4-BE49-F238E27FC236}">
                <a16:creationId xmlns:a16="http://schemas.microsoft.com/office/drawing/2014/main" id="{3C44A0A4-3F22-412B-853A-40D9AD544CA2}"/>
              </a:ext>
            </a:extLst>
          </p:cNvPr>
          <p:cNvSpPr>
            <a:spLocks xmlns:a="http://schemas.openxmlformats.org/drawingml/2006/main" noGrp="1"/>
          </p:cNvSpPr>
          <p:nvPr/>
        </p:nvSpPr>
        <p:spPr>
          <a:xfrm xmlns:a="http://schemas.openxmlformats.org/drawingml/2006/main">
            <a:off x="8763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A9BFCE53-E0E1-421A-85FA-95795B7F8FBB}"/>
              </a:ext>
            </a:extLst>
          </p:cNvPr>
          <p:cNvSpPr>
            <a:spLocks xmlns:a="http://schemas.openxmlformats.org/drawingml/2006/main" noGrp="1"/>
          </p:cNvSpPr>
          <p:nvPr/>
        </p:nvSpPr>
        <p:spPr>
          <a:xfrm xmlns:a="http://schemas.openxmlformats.org/drawingml/2006/main">
            <a:off x="876300" y="6915150"/>
            <a:ext cx="85725" cy="1581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17D24BA-1E38-43F5-89DD-7ED422EADA3F}"/>
              </a:ext>
            </a:extLst>
          </p:cNvPr>
          <p:cNvSpPr>
            <a:spLocks xmlns:a="http://schemas.openxmlformats.org/drawingml/2006/main" noGrp="1"/>
          </p:cNvSpPr>
          <p:nvPr/>
        </p:nvSpPr>
        <p:spPr>
          <a:xfrm xmlns:a="http://schemas.openxmlformats.org/drawingml/2006/main">
            <a:off x="11430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Findings cite exact proof</a:t>
            </a:r>
          </a:p>
        </p:txBody>
      </p:sp>
      <p:sp>
        <p:nvSpPr>
          <p:cNvPr id="44" name="">
            <a:extLst xmlns:a="http://schemas.openxmlformats.org/drawingml/2006/main">
              <a:ext uri="{FF2B5EF4-FFF2-40B4-BE49-F238E27FC236}">
                <a16:creationId xmlns:a16="http://schemas.microsoft.com/office/drawing/2014/main" id="{98712EB2-B544-45DD-9087-D2B8A763E5A7}"/>
              </a:ext>
            </a:extLst>
          </p:cNvPr>
          <p:cNvSpPr>
            <a:spLocks xmlns:a="http://schemas.openxmlformats.org/drawingml/2006/main" noGrp="1"/>
          </p:cNvSpPr>
          <p:nvPr/>
        </p:nvSpPr>
        <p:spPr>
          <a:xfrm xmlns:a="http://schemas.openxmlformats.org/drawingml/2006/main">
            <a:off x="11430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Every high-impact claim points back to recorded, reproducible evidence.</a:t>
            </a:r>
          </a:p>
        </p:txBody>
      </p:sp>
      <p:sp>
        <p:nvSpPr>
          <p:cNvPr id="45" name="">
            <a:extLst xmlns:a="http://schemas.openxmlformats.org/drawingml/2006/main">
              <a:ext uri="{FF2B5EF4-FFF2-40B4-BE49-F238E27FC236}">
                <a16:creationId xmlns:a16="http://schemas.microsoft.com/office/drawing/2014/main" id="{F74C71B6-886E-432B-B162-06BD83ED2E6C}"/>
              </a:ext>
            </a:extLst>
          </p:cNvPr>
          <p:cNvSpPr>
            <a:spLocks xmlns:a="http://schemas.openxmlformats.org/drawingml/2006/main" noGrp="1"/>
          </p:cNvSpPr>
          <p:nvPr/>
        </p:nvSpPr>
        <p:spPr>
          <a:xfrm xmlns:a="http://schemas.openxmlformats.org/drawingml/2006/main">
            <a:off x="61341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46" name="">
            <a:extLst xmlns:a="http://schemas.openxmlformats.org/drawingml/2006/main">
              <a:ext uri="{FF2B5EF4-FFF2-40B4-BE49-F238E27FC236}">
                <a16:creationId xmlns:a16="http://schemas.microsoft.com/office/drawing/2014/main" id="{B908810A-FEF9-4576-B29D-35977ACA36AC}"/>
              </a:ext>
            </a:extLst>
          </p:cNvPr>
          <p:cNvSpPr>
            <a:spLocks xmlns:a="http://schemas.openxmlformats.org/drawingml/2006/main" noGrp="1"/>
          </p:cNvSpPr>
          <p:nvPr/>
        </p:nvSpPr>
        <p:spPr>
          <a:xfrm xmlns:a="http://schemas.openxmlformats.org/drawingml/2006/main">
            <a:off x="6134100" y="6915150"/>
            <a:ext cx="85725" cy="1581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E44E279-4C51-41F5-A9C7-D0F0D21550AE}"/>
              </a:ext>
            </a:extLst>
          </p:cNvPr>
          <p:cNvSpPr>
            <a:spLocks xmlns:a="http://schemas.openxmlformats.org/drawingml/2006/main" noGrp="1"/>
          </p:cNvSpPr>
          <p:nvPr/>
        </p:nvSpPr>
        <p:spPr>
          <a:xfrm xmlns:a="http://schemas.openxmlformats.org/drawingml/2006/main">
            <a:off x="64008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Coverage is not severity</a:t>
            </a:r>
          </a:p>
        </p:txBody>
      </p:sp>
      <p:sp>
        <p:nvSpPr>
          <p:cNvPr id="48" name="">
            <a:extLst xmlns:a="http://schemas.openxmlformats.org/drawingml/2006/main">
              <a:ext uri="{FF2B5EF4-FFF2-40B4-BE49-F238E27FC236}">
                <a16:creationId xmlns:a16="http://schemas.microsoft.com/office/drawing/2014/main" id="{6A78056F-9485-42DB-890B-AA157A590106}"/>
              </a:ext>
            </a:extLst>
          </p:cNvPr>
          <p:cNvSpPr>
            <a:spLocks xmlns:a="http://schemas.openxmlformats.org/drawingml/2006/main" noGrp="1"/>
          </p:cNvSpPr>
          <p:nvPr/>
        </p:nvSpPr>
        <p:spPr>
          <a:xfrm xmlns:a="http://schemas.openxmlformats.org/drawingml/2006/main">
            <a:off x="64008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What has been tested is tracked separately from how dangerous a finding is.</a:t>
            </a:r>
          </a:p>
        </p:txBody>
      </p:sp>
      <p:sp>
        <p:nvSpPr>
          <p:cNvPr id="49" name="">
            <a:extLst xmlns:a="http://schemas.openxmlformats.org/drawingml/2006/main">
              <a:ext uri="{FF2B5EF4-FFF2-40B4-BE49-F238E27FC236}">
                <a16:creationId xmlns:a16="http://schemas.microsoft.com/office/drawing/2014/main" id="{6A9C8F53-391B-477E-9EA5-D8EC28A91528}"/>
              </a:ext>
            </a:extLst>
          </p:cNvPr>
          <p:cNvSpPr>
            <a:spLocks xmlns:a="http://schemas.openxmlformats.org/drawingml/2006/main" noGrp="1"/>
          </p:cNvSpPr>
          <p:nvPr/>
        </p:nvSpPr>
        <p:spPr>
          <a:xfrm xmlns:a="http://schemas.openxmlformats.org/drawingml/2006/main">
            <a:off x="113919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50" name="">
            <a:extLst xmlns:a="http://schemas.openxmlformats.org/drawingml/2006/main">
              <a:ext uri="{FF2B5EF4-FFF2-40B4-BE49-F238E27FC236}">
                <a16:creationId xmlns:a16="http://schemas.microsoft.com/office/drawing/2014/main" id="{9A14704C-50AC-4C15-BB79-CE35C3D18C96}"/>
              </a:ext>
            </a:extLst>
          </p:cNvPr>
          <p:cNvSpPr>
            <a:spLocks xmlns:a="http://schemas.openxmlformats.org/drawingml/2006/main" noGrp="1"/>
          </p:cNvSpPr>
          <p:nvPr/>
        </p:nvSpPr>
        <p:spPr>
          <a:xfrm xmlns:a="http://schemas.openxmlformats.org/drawingml/2006/main">
            <a:off x="11391900" y="6915150"/>
            <a:ext cx="85725" cy="1581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6AFA323C-5161-4687-A5EB-6996A2307CF5}"/>
              </a:ext>
            </a:extLst>
          </p:cNvPr>
          <p:cNvSpPr>
            <a:spLocks xmlns:a="http://schemas.openxmlformats.org/drawingml/2006/main" noGrp="1"/>
          </p:cNvSpPr>
          <p:nvPr/>
        </p:nvSpPr>
        <p:spPr>
          <a:xfrm xmlns:a="http://schemas.openxmlformats.org/drawingml/2006/main">
            <a:off x="116586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One shared graph</a:t>
            </a:r>
          </a:p>
        </p:txBody>
      </p:sp>
      <p:sp>
        <p:nvSpPr>
          <p:cNvPr id="52" name="">
            <a:extLst xmlns:a="http://schemas.openxmlformats.org/drawingml/2006/main">
              <a:ext uri="{FF2B5EF4-FFF2-40B4-BE49-F238E27FC236}">
                <a16:creationId xmlns:a16="http://schemas.microsoft.com/office/drawing/2014/main" id="{452FA00F-DB67-4813-8B9B-C089091BF072}"/>
              </a:ext>
            </a:extLst>
          </p:cNvPr>
          <p:cNvSpPr>
            <a:spLocks xmlns:a="http://schemas.openxmlformats.org/drawingml/2006/main" noGrp="1"/>
          </p:cNvSpPr>
          <p:nvPr/>
        </p:nvSpPr>
        <p:spPr>
          <a:xfrm xmlns:a="http://schemas.openxmlformats.org/drawingml/2006/main">
            <a:off x="116586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CLI, deterministic engine and AI operate on the same connected state.</a:t>
            </a:r>
          </a:p>
        </p:txBody>
      </p:sp>
    </p:spTree>
    <p:extLst>
      <p:ext uri="{BB962C8B-B14F-4D97-AF65-F5344CB8AC3E}">
        <p14:creationId xmlns:p14="http://schemas.microsoft.com/office/powerpoint/2010/main" val="22277869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BA0F4DDA-9A6E-43C5-894C-237E598231D6}"/>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09 / DELIVERY PLAN</a:t>
            </a:r>
          </a:p>
        </p:txBody>
      </p:sp>
      <p:sp>
        <p:nvSpPr>
          <p:cNvPr id="2" name="">
            <a:extLst xmlns:a="http://schemas.openxmlformats.org/drawingml/2006/main">
              <a:ext uri="{FF2B5EF4-FFF2-40B4-BE49-F238E27FC236}">
                <a16:creationId xmlns:a16="http://schemas.microsoft.com/office/drawing/2014/main" id="{3D818DEA-B655-46E1-9259-9BDCD8203CD3}"/>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Planned timeline and milestones</a:t>
            </a:r>
          </a:p>
        </p:txBody>
      </p:sp>
      <p:sp>
        <p:nvSpPr>
          <p:cNvPr id="3" name="">
            <a:extLst xmlns:a="http://schemas.openxmlformats.org/drawingml/2006/main">
              <a:ext uri="{FF2B5EF4-FFF2-40B4-BE49-F238E27FC236}">
                <a16:creationId xmlns:a16="http://schemas.microsoft.com/office/drawing/2014/main" id="{3402BD6B-331A-4E4D-8AC2-E7A2C13EB576}"/>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9B883617-3D7D-4868-915D-2DA8D5A3A365}"/>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A1567EE-9ACB-4B76-8804-B8C4364DAA49}"/>
              </a:ext>
            </a:extLst>
          </p:cNvPr>
          <p:cNvSpPr>
            <a:spLocks xmlns:a="http://schemas.openxmlformats.org/drawingml/2006/main" noGrp="1"/>
          </p:cNvSpPr>
          <p:nvPr/>
        </p:nvSpPr>
        <p:spPr>
          <a:xfrm xmlns:a="http://schemas.openxmlformats.org/drawingml/2006/main">
            <a:off x="876300" y="20574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i="0">
                <a:solidFill>
                  <a:srgbClr val="5F7180"/>
                </a:solidFill>
                <a:latin typeface="Arial"/>
                <a:ea typeface="Arial"/>
                <a:cs typeface="Arial"/>
              </a:defRPr>
            </a:pPr>
            <a:r>
              <a:rPr sz="2025" b="0" i="0">
                <a:solidFill>
                  <a:srgbClr val="5F7180"/>
                </a:solidFill>
                <a:latin typeface="Arial"/>
                <a:ea typeface="Arial"/>
                <a:cs typeface="Arial"/>
              </a:rPr>
              <a:t>September 2026 → April 2027</a:t>
            </a:r>
          </a:p>
        </p:txBody>
      </p:sp>
      <p:sp>
        <p:nvSpPr>
          <p:cNvPr id="6" name="">
            <a:extLst xmlns:a="http://schemas.openxmlformats.org/drawingml/2006/main">
              <a:ext uri="{FF2B5EF4-FFF2-40B4-BE49-F238E27FC236}">
                <a16:creationId xmlns:a16="http://schemas.microsoft.com/office/drawing/2014/main" id="{0C337A6F-3FAE-48D9-AD01-D14980698D33}"/>
              </a:ext>
            </a:extLst>
          </p:cNvPr>
          <p:cNvSpPr>
            <a:spLocks xmlns:a="http://schemas.openxmlformats.org/drawingml/2006/main" noGrp="1"/>
          </p:cNvSpPr>
          <p:nvPr/>
        </p:nvSpPr>
        <p:spPr>
          <a:xfrm xmlns:a="http://schemas.openxmlformats.org/drawingml/2006/main">
            <a:off x="1504950" y="4171950"/>
            <a:ext cx="14382750" cy="0"/>
          </a:xfrm>
          <a:prstGeom xmlns:a="http://schemas.openxmlformats.org/drawingml/2006/main" prst="line">
            <a:avLst/>
          </a:prstGeom>
          <a:noFill xmlns:a="http://schemas.openxmlformats.org/drawingml/2006/main"/>
          <a:ln xmlns:a="http://schemas.openxmlformats.org/drawingml/2006/main" w="57150">
            <a:solidFill>
              <a:srgbClr val="CAD6DE"/>
            </a:solidFill>
          </a:ln>
        </p:spPr>
      </p:sp>
      <p:sp>
        <p:nvSpPr>
          <p:cNvPr id="7" name="">
            <a:extLst xmlns:a="http://schemas.openxmlformats.org/drawingml/2006/main">
              <a:ext uri="{FF2B5EF4-FFF2-40B4-BE49-F238E27FC236}">
                <a16:creationId xmlns:a16="http://schemas.microsoft.com/office/drawing/2014/main" id="{701E8FC3-E11C-4695-866D-86E698A2DBF0}"/>
              </a:ext>
            </a:extLst>
          </p:cNvPr>
          <p:cNvSpPr>
            <a:spLocks xmlns:a="http://schemas.openxmlformats.org/drawingml/2006/main" noGrp="1"/>
          </p:cNvSpPr>
          <p:nvPr/>
        </p:nvSpPr>
        <p:spPr>
          <a:xfrm xmlns:a="http://schemas.openxmlformats.org/drawingml/2006/main">
            <a:off x="8763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460A6622-B7A8-4C05-BB27-049B88D159C7}"/>
              </a:ext>
            </a:extLst>
          </p:cNvPr>
          <p:cNvSpPr>
            <a:spLocks xmlns:a="http://schemas.openxmlformats.org/drawingml/2006/main" noGrp="1"/>
          </p:cNvSpPr>
          <p:nvPr/>
        </p:nvSpPr>
        <p:spPr>
          <a:xfrm xmlns:a="http://schemas.openxmlformats.org/drawingml/2006/main">
            <a:off x="1162050"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SEP</a:t>
            </a:r>
          </a:p>
        </p:txBody>
      </p:sp>
      <p:sp>
        <p:nvSpPr>
          <p:cNvPr id="9" name="">
            <a:extLst xmlns:a="http://schemas.openxmlformats.org/drawingml/2006/main">
              <a:ext uri="{FF2B5EF4-FFF2-40B4-BE49-F238E27FC236}">
                <a16:creationId xmlns:a16="http://schemas.microsoft.com/office/drawing/2014/main" id="{53BD71BA-EC39-4498-BBBA-C527FBAA717C}"/>
              </a:ext>
            </a:extLst>
          </p:cNvPr>
          <p:cNvSpPr>
            <a:spLocks xmlns:a="http://schemas.openxmlformats.org/drawingml/2006/main" noGrp="1"/>
          </p:cNvSpPr>
          <p:nvPr/>
        </p:nvSpPr>
        <p:spPr>
          <a:xfrm xmlns:a="http://schemas.openxmlformats.org/drawingml/2006/main">
            <a:off x="9715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Planning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98D7D9DF-F456-4ED2-B9B6-5B56A1B99420}"/>
              </a:ext>
            </a:extLst>
          </p:cNvPr>
          <p:cNvSpPr>
            <a:spLocks xmlns:a="http://schemas.openxmlformats.org/drawingml/2006/main" noGrp="1"/>
          </p:cNvSpPr>
          <p:nvPr/>
        </p:nvSpPr>
        <p:spPr>
          <a:xfrm xmlns:a="http://schemas.openxmlformats.org/drawingml/2006/main">
            <a:off x="28479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A16F6FC7-B34D-438C-88AC-321B9656E503}"/>
              </a:ext>
            </a:extLst>
          </p:cNvPr>
          <p:cNvSpPr>
            <a:spLocks xmlns:a="http://schemas.openxmlformats.org/drawingml/2006/main" noGrp="1"/>
          </p:cNvSpPr>
          <p:nvPr/>
        </p:nvSpPr>
        <p:spPr>
          <a:xfrm xmlns:a="http://schemas.openxmlformats.org/drawingml/2006/main">
            <a:off x="3133725" y="3295650"/>
            <a:ext cx="1085850" cy="457200"/>
          </a:xfrm>
          <a:prstGeom xmlns:a="http://schemas.openxmlformats.org/drawingml/2006/main" prst="roundRect">
            <a:avLst>
              <a:gd name="adj" fmla="val 16667"/>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OCT</a:t>
            </a:r>
          </a:p>
        </p:txBody>
      </p:sp>
      <p:sp>
        <p:nvSpPr>
          <p:cNvPr id="12" name="">
            <a:extLst xmlns:a="http://schemas.openxmlformats.org/drawingml/2006/main">
              <a:ext uri="{FF2B5EF4-FFF2-40B4-BE49-F238E27FC236}">
                <a16:creationId xmlns:a16="http://schemas.microsoft.com/office/drawing/2014/main" id="{7405D162-7EEE-410D-BCCC-29D6C510410B}"/>
              </a:ext>
            </a:extLst>
          </p:cNvPr>
          <p:cNvSpPr>
            <a:spLocks xmlns:a="http://schemas.openxmlformats.org/drawingml/2006/main" noGrp="1"/>
          </p:cNvSpPr>
          <p:nvPr/>
        </p:nvSpPr>
        <p:spPr>
          <a:xfrm xmlns:a="http://schemas.openxmlformats.org/drawingml/2006/main">
            <a:off x="29432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Reconnaissance</a:t>
            </a:r>
          </a:p>
        </p:txBody>
      </p:sp>
      <p:sp>
        <p:nvSpPr>
          <p:cNvPr id="13" name="">
            <a:extLst xmlns:a="http://schemas.openxmlformats.org/drawingml/2006/main">
              <a:ext uri="{FF2B5EF4-FFF2-40B4-BE49-F238E27FC236}">
                <a16:creationId xmlns:a16="http://schemas.microsoft.com/office/drawing/2014/main" id="{73CD0CE0-B221-4C2A-92C6-AE2A42A6D500}"/>
              </a:ext>
            </a:extLst>
          </p:cNvPr>
          <p:cNvSpPr>
            <a:spLocks xmlns:a="http://schemas.openxmlformats.org/drawingml/2006/main" noGrp="1"/>
          </p:cNvSpPr>
          <p:nvPr/>
        </p:nvSpPr>
        <p:spPr>
          <a:xfrm xmlns:a="http://schemas.openxmlformats.org/drawingml/2006/main">
            <a:off x="48196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56617BE8-468D-41ED-B698-91D60C4C0E78}"/>
              </a:ext>
            </a:extLst>
          </p:cNvPr>
          <p:cNvSpPr>
            <a:spLocks xmlns:a="http://schemas.openxmlformats.org/drawingml/2006/main" noGrp="1"/>
          </p:cNvSpPr>
          <p:nvPr/>
        </p:nvSpPr>
        <p:spPr>
          <a:xfrm xmlns:a="http://schemas.openxmlformats.org/drawingml/2006/main">
            <a:off x="51054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NOV</a:t>
            </a:r>
          </a:p>
        </p:txBody>
      </p:sp>
      <p:sp>
        <p:nvSpPr>
          <p:cNvPr id="15" name="">
            <a:extLst xmlns:a="http://schemas.openxmlformats.org/drawingml/2006/main">
              <a:ext uri="{FF2B5EF4-FFF2-40B4-BE49-F238E27FC236}">
                <a16:creationId xmlns:a16="http://schemas.microsoft.com/office/drawing/2014/main" id="{82235DC7-15BE-4DC8-A971-59F70D676634}"/>
              </a:ext>
            </a:extLst>
          </p:cNvPr>
          <p:cNvSpPr>
            <a:spLocks xmlns:a="http://schemas.openxmlformats.org/drawingml/2006/main" noGrp="1"/>
          </p:cNvSpPr>
          <p:nvPr/>
        </p:nvSpPr>
        <p:spPr>
          <a:xfrm xmlns:a="http://schemas.openxmlformats.org/drawingml/2006/main">
            <a:off x="49149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Network &amp; web</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assessment</a:t>
            </a:r>
          </a:p>
        </p:txBody>
      </p:sp>
      <p:sp>
        <p:nvSpPr>
          <p:cNvPr id="16" name="">
            <a:extLst xmlns:a="http://schemas.openxmlformats.org/drawingml/2006/main">
              <a:ext uri="{FF2B5EF4-FFF2-40B4-BE49-F238E27FC236}">
                <a16:creationId xmlns:a16="http://schemas.microsoft.com/office/drawing/2014/main" id="{068AF9A2-67EE-4DDC-B435-DF4EFB91AC93}"/>
              </a:ext>
            </a:extLst>
          </p:cNvPr>
          <p:cNvSpPr>
            <a:spLocks xmlns:a="http://schemas.openxmlformats.org/drawingml/2006/main" noGrp="1"/>
          </p:cNvSpPr>
          <p:nvPr/>
        </p:nvSpPr>
        <p:spPr>
          <a:xfrm xmlns:a="http://schemas.openxmlformats.org/drawingml/2006/main">
            <a:off x="67913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073ABA64-8275-4236-8BFE-237071E12A2A}"/>
              </a:ext>
            </a:extLst>
          </p:cNvPr>
          <p:cNvSpPr>
            <a:spLocks xmlns:a="http://schemas.openxmlformats.org/drawingml/2006/main" noGrp="1"/>
          </p:cNvSpPr>
          <p:nvPr/>
        </p:nvSpPr>
        <p:spPr>
          <a:xfrm xmlns:a="http://schemas.openxmlformats.org/drawingml/2006/main">
            <a:off x="7077075" y="3295650"/>
            <a:ext cx="1085850" cy="457200"/>
          </a:xfrm>
          <a:prstGeom xmlns:a="http://schemas.openxmlformats.org/drawingml/2006/main" prst="roundRect">
            <a:avLst>
              <a:gd name="adj" fmla="val 16667"/>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DEC</a:t>
            </a:r>
          </a:p>
        </p:txBody>
      </p:sp>
      <p:sp>
        <p:nvSpPr>
          <p:cNvPr id="18" name="">
            <a:extLst xmlns:a="http://schemas.openxmlformats.org/drawingml/2006/main">
              <a:ext uri="{FF2B5EF4-FFF2-40B4-BE49-F238E27FC236}">
                <a16:creationId xmlns:a16="http://schemas.microsoft.com/office/drawing/2014/main" id="{5CC911E7-A868-45C5-BBAD-A450BA4AF2E5}"/>
              </a:ext>
            </a:extLst>
          </p:cNvPr>
          <p:cNvSpPr>
            <a:spLocks xmlns:a="http://schemas.openxmlformats.org/drawingml/2006/main" noGrp="1"/>
          </p:cNvSpPr>
          <p:nvPr/>
        </p:nvSpPr>
        <p:spPr>
          <a:xfrm xmlns:a="http://schemas.openxmlformats.org/drawingml/2006/main">
            <a:off x="68865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Integration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correlation</a:t>
            </a:r>
          </a:p>
        </p:txBody>
      </p:sp>
      <p:sp>
        <p:nvSpPr>
          <p:cNvPr id="19" name="">
            <a:extLst xmlns:a="http://schemas.openxmlformats.org/drawingml/2006/main">
              <a:ext uri="{FF2B5EF4-FFF2-40B4-BE49-F238E27FC236}">
                <a16:creationId xmlns:a16="http://schemas.microsoft.com/office/drawing/2014/main" id="{482F8040-64B8-46C8-AB07-6FE4E333AF14}"/>
              </a:ext>
            </a:extLst>
          </p:cNvPr>
          <p:cNvSpPr>
            <a:spLocks xmlns:a="http://schemas.openxmlformats.org/drawingml/2006/main" noGrp="1"/>
          </p:cNvSpPr>
          <p:nvPr/>
        </p:nvSpPr>
        <p:spPr>
          <a:xfrm xmlns:a="http://schemas.openxmlformats.org/drawingml/2006/main">
            <a:off x="87630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3EBB8A5E-CD41-4CB3-854C-F9A81B12BE1F}"/>
              </a:ext>
            </a:extLst>
          </p:cNvPr>
          <p:cNvSpPr>
            <a:spLocks xmlns:a="http://schemas.openxmlformats.org/drawingml/2006/main" noGrp="1"/>
          </p:cNvSpPr>
          <p:nvPr/>
        </p:nvSpPr>
        <p:spPr>
          <a:xfrm xmlns:a="http://schemas.openxmlformats.org/drawingml/2006/main">
            <a:off x="9048750" y="3295650"/>
            <a:ext cx="1085850" cy="457200"/>
          </a:xfrm>
          <a:prstGeom xmlns:a="http://schemas.openxmlformats.org/drawingml/2006/main" prst="roundRect">
            <a:avLst>
              <a:gd name="adj" fmla="val 16667"/>
            </a:avLst>
          </a:prstGeom>
          <a:solidFill xmlns:a="http://schemas.openxmlformats.org/drawingml/2006/main">
            <a:srgbClr val="C55B48"/>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JAN</a:t>
            </a:r>
          </a:p>
        </p:txBody>
      </p:sp>
      <p:sp>
        <p:nvSpPr>
          <p:cNvPr id="21" name="">
            <a:extLst xmlns:a="http://schemas.openxmlformats.org/drawingml/2006/main">
              <a:ext uri="{FF2B5EF4-FFF2-40B4-BE49-F238E27FC236}">
                <a16:creationId xmlns:a16="http://schemas.microsoft.com/office/drawing/2014/main" id="{EF6E5439-DB43-4002-A4CE-EC48C5D59ABE}"/>
              </a:ext>
            </a:extLst>
          </p:cNvPr>
          <p:cNvSpPr>
            <a:spLocks xmlns:a="http://schemas.openxmlformats.org/drawingml/2006/main" noGrp="1"/>
          </p:cNvSpPr>
          <p:nvPr/>
        </p:nvSpPr>
        <p:spPr>
          <a:xfrm xmlns:a="http://schemas.openxmlformats.org/drawingml/2006/main">
            <a:off x="88582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Business logic</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&amp; safety</a:t>
            </a:r>
          </a:p>
        </p:txBody>
      </p:sp>
      <p:sp>
        <p:nvSpPr>
          <p:cNvPr id="22" name="">
            <a:extLst xmlns:a="http://schemas.openxmlformats.org/drawingml/2006/main">
              <a:ext uri="{FF2B5EF4-FFF2-40B4-BE49-F238E27FC236}">
                <a16:creationId xmlns:a16="http://schemas.microsoft.com/office/drawing/2014/main" id="{A099D967-DDBB-4ED1-A1FB-987695D7749D}"/>
              </a:ext>
            </a:extLst>
          </p:cNvPr>
          <p:cNvSpPr>
            <a:spLocks xmlns:a="http://schemas.openxmlformats.org/drawingml/2006/main" noGrp="1"/>
          </p:cNvSpPr>
          <p:nvPr/>
        </p:nvSpPr>
        <p:spPr>
          <a:xfrm xmlns:a="http://schemas.openxmlformats.org/drawingml/2006/main">
            <a:off x="107346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B4F870E2-A0C3-4C90-84C2-2472C2F380E4}"/>
              </a:ext>
            </a:extLst>
          </p:cNvPr>
          <p:cNvSpPr>
            <a:spLocks xmlns:a="http://schemas.openxmlformats.org/drawingml/2006/main" noGrp="1"/>
          </p:cNvSpPr>
          <p:nvPr/>
        </p:nvSpPr>
        <p:spPr>
          <a:xfrm xmlns:a="http://schemas.openxmlformats.org/drawingml/2006/main">
            <a:off x="11020425" y="3295650"/>
            <a:ext cx="1085850" cy="457200"/>
          </a:xfrm>
          <a:prstGeom xmlns:a="http://schemas.openxmlformats.org/drawingml/2006/main" prst="roundRect">
            <a:avLst>
              <a:gd name="adj" fmla="val 16667"/>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FEB</a:t>
            </a:r>
          </a:p>
        </p:txBody>
      </p:sp>
      <p:sp>
        <p:nvSpPr>
          <p:cNvPr id="24" name="">
            <a:extLst xmlns:a="http://schemas.openxmlformats.org/drawingml/2006/main">
              <a:ext uri="{FF2B5EF4-FFF2-40B4-BE49-F238E27FC236}">
                <a16:creationId xmlns:a16="http://schemas.microsoft.com/office/drawing/2014/main" id="{3534467E-7248-4B15-846F-8074748AA76D}"/>
              </a:ext>
            </a:extLst>
          </p:cNvPr>
          <p:cNvSpPr>
            <a:spLocks xmlns:a="http://schemas.openxmlformats.org/drawingml/2006/main" noGrp="1"/>
          </p:cNvSpPr>
          <p:nvPr/>
        </p:nvSpPr>
        <p:spPr>
          <a:xfrm xmlns:a="http://schemas.openxmlformats.org/drawingml/2006/main">
            <a:off x="108299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Dual-mode</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orchestration</a:t>
            </a:r>
          </a:p>
        </p:txBody>
      </p:sp>
      <p:sp>
        <p:nvSpPr>
          <p:cNvPr id="25" name="">
            <a:extLst xmlns:a="http://schemas.openxmlformats.org/drawingml/2006/main">
              <a:ext uri="{FF2B5EF4-FFF2-40B4-BE49-F238E27FC236}">
                <a16:creationId xmlns:a16="http://schemas.microsoft.com/office/drawing/2014/main" id="{104E4F2D-42DE-40D5-9AFA-D1AED55AE11C}"/>
              </a:ext>
            </a:extLst>
          </p:cNvPr>
          <p:cNvSpPr>
            <a:spLocks xmlns:a="http://schemas.openxmlformats.org/drawingml/2006/main" noGrp="1"/>
          </p:cNvSpPr>
          <p:nvPr/>
        </p:nvSpPr>
        <p:spPr>
          <a:xfrm xmlns:a="http://schemas.openxmlformats.org/drawingml/2006/main">
            <a:off x="127063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6" name="">
            <a:extLst xmlns:a="http://schemas.openxmlformats.org/drawingml/2006/main">
              <a:ext uri="{FF2B5EF4-FFF2-40B4-BE49-F238E27FC236}">
                <a16:creationId xmlns:a16="http://schemas.microsoft.com/office/drawing/2014/main" id="{498F81D8-8DE5-4042-821C-A34C22CC3249}"/>
              </a:ext>
            </a:extLst>
          </p:cNvPr>
          <p:cNvSpPr>
            <a:spLocks xmlns:a="http://schemas.openxmlformats.org/drawingml/2006/main" noGrp="1"/>
          </p:cNvSpPr>
          <p:nvPr/>
        </p:nvSpPr>
        <p:spPr>
          <a:xfrm xmlns:a="http://schemas.openxmlformats.org/drawingml/2006/main">
            <a:off x="129921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MAR</a:t>
            </a:r>
          </a:p>
        </p:txBody>
      </p:sp>
      <p:sp>
        <p:nvSpPr>
          <p:cNvPr id="27" name="">
            <a:extLst xmlns:a="http://schemas.openxmlformats.org/drawingml/2006/main">
              <a:ext uri="{FF2B5EF4-FFF2-40B4-BE49-F238E27FC236}">
                <a16:creationId xmlns:a16="http://schemas.microsoft.com/office/drawing/2014/main" id="{5BD1F6E0-7C2D-4276-8268-624F815E7449}"/>
              </a:ext>
            </a:extLst>
          </p:cNvPr>
          <p:cNvSpPr>
            <a:spLocks xmlns:a="http://schemas.openxmlformats.org/drawingml/2006/main" noGrp="1"/>
          </p:cNvSpPr>
          <p:nvPr/>
        </p:nvSpPr>
        <p:spPr>
          <a:xfrm xmlns:a="http://schemas.openxmlformats.org/drawingml/2006/main">
            <a:off x="128016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Testing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refinement</a:t>
            </a:r>
          </a:p>
        </p:txBody>
      </p:sp>
      <p:sp>
        <p:nvSpPr>
          <p:cNvPr id="28" name="">
            <a:extLst xmlns:a="http://schemas.openxmlformats.org/drawingml/2006/main">
              <a:ext uri="{FF2B5EF4-FFF2-40B4-BE49-F238E27FC236}">
                <a16:creationId xmlns:a16="http://schemas.microsoft.com/office/drawing/2014/main" id="{9F989355-71C0-4D38-BED2-9E4D3BA52E92}"/>
              </a:ext>
            </a:extLst>
          </p:cNvPr>
          <p:cNvSpPr>
            <a:spLocks xmlns:a="http://schemas.openxmlformats.org/drawingml/2006/main" noGrp="1"/>
          </p:cNvSpPr>
          <p:nvPr/>
        </p:nvSpPr>
        <p:spPr>
          <a:xfrm xmlns:a="http://schemas.openxmlformats.org/drawingml/2006/main">
            <a:off x="146780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9" name="">
            <a:extLst xmlns:a="http://schemas.openxmlformats.org/drawingml/2006/main">
              <a:ext uri="{FF2B5EF4-FFF2-40B4-BE49-F238E27FC236}">
                <a16:creationId xmlns:a16="http://schemas.microsoft.com/office/drawing/2014/main" id="{15081A80-B3A3-4CD3-AB17-07F64F463047}"/>
              </a:ext>
            </a:extLst>
          </p:cNvPr>
          <p:cNvSpPr>
            <a:spLocks xmlns:a="http://schemas.openxmlformats.org/drawingml/2006/main" noGrp="1"/>
          </p:cNvSpPr>
          <p:nvPr/>
        </p:nvSpPr>
        <p:spPr>
          <a:xfrm xmlns:a="http://schemas.openxmlformats.org/drawingml/2006/main">
            <a:off x="14963775"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APR</a:t>
            </a:r>
          </a:p>
        </p:txBody>
      </p:sp>
      <p:sp>
        <p:nvSpPr>
          <p:cNvPr id="30" name="">
            <a:extLst xmlns:a="http://schemas.openxmlformats.org/drawingml/2006/main">
              <a:ext uri="{FF2B5EF4-FFF2-40B4-BE49-F238E27FC236}">
                <a16:creationId xmlns:a16="http://schemas.microsoft.com/office/drawing/2014/main" id="{5A84626F-11B6-410D-BCBA-034C3AE88E46}"/>
              </a:ext>
            </a:extLst>
          </p:cNvPr>
          <p:cNvSpPr>
            <a:spLocks xmlns:a="http://schemas.openxmlformats.org/drawingml/2006/main" noGrp="1"/>
          </p:cNvSpPr>
          <p:nvPr/>
        </p:nvSpPr>
        <p:spPr>
          <a:xfrm xmlns:a="http://schemas.openxmlformats.org/drawingml/2006/main">
            <a:off x="147732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Evaluation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defense</a:t>
            </a:r>
          </a:p>
        </p:txBody>
      </p:sp>
      <p:sp>
        <p:nvSpPr>
          <p:cNvPr id="31" name="">
            <a:extLst xmlns:a="http://schemas.openxmlformats.org/drawingml/2006/main">
              <a:ext uri="{FF2B5EF4-FFF2-40B4-BE49-F238E27FC236}">
                <a16:creationId xmlns:a16="http://schemas.microsoft.com/office/drawing/2014/main" id="{BD885E03-B086-4648-A303-9FF5D95E97A1}"/>
              </a:ext>
            </a:extLst>
          </p:cNvPr>
          <p:cNvSpPr>
            <a:spLocks xmlns:a="http://schemas.openxmlformats.org/drawingml/2006/main" noGrp="1"/>
          </p:cNvSpPr>
          <p:nvPr/>
        </p:nvSpPr>
        <p:spPr>
          <a:xfrm xmlns:a="http://schemas.openxmlformats.org/drawingml/2006/main">
            <a:off x="876300" y="5867400"/>
            <a:ext cx="15773400" cy="2247900"/>
          </a:xfrm>
          <a:prstGeom xmlns:a="http://schemas.openxmlformats.org/drawingml/2006/main" prst="roundRect">
            <a:avLst>
              <a:gd name="adj" fmla="val 3390"/>
            </a:avLst>
          </a:prstGeom>
          <a:solidFill xmlns:a="http://schemas.openxmlformats.org/drawingml/2006/main">
            <a:srgbClr val="E8EFF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69349CC-83A0-4CE2-A643-9EBE6A628744}"/>
              </a:ext>
            </a:extLst>
          </p:cNvPr>
          <p:cNvSpPr>
            <a:spLocks xmlns:a="http://schemas.openxmlformats.org/drawingml/2006/main" noGrp="1"/>
          </p:cNvSpPr>
          <p:nvPr/>
        </p:nvSpPr>
        <p:spPr>
          <a:xfrm xmlns:a="http://schemas.openxmlformats.org/drawingml/2006/main">
            <a:off x="12192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Evaluation focus</a:t>
            </a:r>
          </a:p>
        </p:txBody>
      </p:sp>
      <p:sp>
        <p:nvSpPr>
          <p:cNvPr id="33" name="">
            <a:extLst xmlns:a="http://schemas.openxmlformats.org/drawingml/2006/main">
              <a:ext uri="{FF2B5EF4-FFF2-40B4-BE49-F238E27FC236}">
                <a16:creationId xmlns:a16="http://schemas.microsoft.com/office/drawing/2014/main" id="{3C4C91A0-9C96-4DC1-ADA0-40CF463A7BFD}"/>
              </a:ext>
            </a:extLst>
          </p:cNvPr>
          <p:cNvSpPr>
            <a:spLocks xmlns:a="http://schemas.openxmlformats.org/drawingml/2006/main" noGrp="1"/>
          </p:cNvSpPr>
          <p:nvPr/>
        </p:nvSpPr>
        <p:spPr>
          <a:xfrm xmlns:a="http://schemas.openxmlformats.org/drawingml/2006/main">
            <a:off x="12192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9FFD8D54-EE79-423F-A042-D22A0985BBEC}"/>
              </a:ext>
            </a:extLst>
          </p:cNvPr>
          <p:cNvSpPr>
            <a:spLocks xmlns:a="http://schemas.openxmlformats.org/drawingml/2006/main" noGrp="1"/>
          </p:cNvSpPr>
          <p:nvPr/>
        </p:nvSpPr>
        <p:spPr>
          <a:xfrm xmlns:a="http://schemas.openxmlformats.org/drawingml/2006/main">
            <a:off x="1219200" y="6724650"/>
            <a:ext cx="85725" cy="10668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A203E15-2919-4B30-B498-6A4488B5B318}"/>
              </a:ext>
            </a:extLst>
          </p:cNvPr>
          <p:cNvSpPr>
            <a:spLocks xmlns:a="http://schemas.openxmlformats.org/drawingml/2006/main" noGrp="1"/>
          </p:cNvSpPr>
          <p:nvPr/>
        </p:nvSpPr>
        <p:spPr>
          <a:xfrm xmlns:a="http://schemas.openxmlformats.org/drawingml/2006/main">
            <a:off x="14859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Coverage</a:t>
            </a:r>
          </a:p>
        </p:txBody>
      </p:sp>
      <p:sp>
        <p:nvSpPr>
          <p:cNvPr id="36" name="">
            <a:extLst xmlns:a="http://schemas.openxmlformats.org/drawingml/2006/main">
              <a:ext uri="{FF2B5EF4-FFF2-40B4-BE49-F238E27FC236}">
                <a16:creationId xmlns:a16="http://schemas.microsoft.com/office/drawing/2014/main" id="{B24C651A-6AEF-4077-86A0-77D688ADEF6C}"/>
              </a:ext>
            </a:extLst>
          </p:cNvPr>
          <p:cNvSpPr>
            <a:spLocks xmlns:a="http://schemas.openxmlformats.org/drawingml/2006/main" noGrp="1"/>
          </p:cNvSpPr>
          <p:nvPr/>
        </p:nvSpPr>
        <p:spPr>
          <a:xfrm xmlns:a="http://schemas.openxmlformats.org/drawingml/2006/main">
            <a:off x="14859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Attack-surface discovery and vulnerability coverage.</a:t>
            </a:r>
          </a:p>
        </p:txBody>
      </p:sp>
      <p:sp>
        <p:nvSpPr>
          <p:cNvPr id="37" name="">
            <a:extLst xmlns:a="http://schemas.openxmlformats.org/drawingml/2006/main">
              <a:ext uri="{FF2B5EF4-FFF2-40B4-BE49-F238E27FC236}">
                <a16:creationId xmlns:a16="http://schemas.microsoft.com/office/drawing/2014/main" id="{45852F4C-70C7-443E-A297-C5960DBD067B}"/>
              </a:ext>
            </a:extLst>
          </p:cNvPr>
          <p:cNvSpPr>
            <a:spLocks xmlns:a="http://schemas.openxmlformats.org/drawingml/2006/main" noGrp="1"/>
          </p:cNvSpPr>
          <p:nvPr/>
        </p:nvSpPr>
        <p:spPr>
          <a:xfrm xmlns:a="http://schemas.openxmlformats.org/drawingml/2006/main">
            <a:off x="59436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307BD26F-FD74-4C2E-89F3-BFD3AB77C4A6}"/>
              </a:ext>
            </a:extLst>
          </p:cNvPr>
          <p:cNvSpPr>
            <a:spLocks xmlns:a="http://schemas.openxmlformats.org/drawingml/2006/main" noGrp="1"/>
          </p:cNvSpPr>
          <p:nvPr/>
        </p:nvSpPr>
        <p:spPr>
          <a:xfrm xmlns:a="http://schemas.openxmlformats.org/drawingml/2006/main">
            <a:off x="5943600" y="6724650"/>
            <a:ext cx="85725" cy="10668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E06C997-C40C-42CF-93F7-072706031D9A}"/>
              </a:ext>
            </a:extLst>
          </p:cNvPr>
          <p:cNvSpPr>
            <a:spLocks xmlns:a="http://schemas.openxmlformats.org/drawingml/2006/main" noGrp="1"/>
          </p:cNvSpPr>
          <p:nvPr/>
        </p:nvSpPr>
        <p:spPr>
          <a:xfrm xmlns:a="http://schemas.openxmlformats.org/drawingml/2006/main">
            <a:off x="62103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Reliability</a:t>
            </a:r>
          </a:p>
        </p:txBody>
      </p:sp>
      <p:sp>
        <p:nvSpPr>
          <p:cNvPr id="40" name="">
            <a:extLst xmlns:a="http://schemas.openxmlformats.org/drawingml/2006/main">
              <a:ext uri="{FF2B5EF4-FFF2-40B4-BE49-F238E27FC236}">
                <a16:creationId xmlns:a16="http://schemas.microsoft.com/office/drawing/2014/main" id="{6E3E7685-7BC6-424E-B2D1-EFA003D277AC}"/>
              </a:ext>
            </a:extLst>
          </p:cNvPr>
          <p:cNvSpPr>
            <a:spLocks xmlns:a="http://schemas.openxmlformats.org/drawingml/2006/main" noGrp="1"/>
          </p:cNvSpPr>
          <p:nvPr/>
        </p:nvSpPr>
        <p:spPr>
          <a:xfrm xmlns:a="http://schemas.openxmlformats.org/drawingml/2006/main">
            <a:off x="62103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Comparable operation with and without an LLM.</a:t>
            </a:r>
          </a:p>
        </p:txBody>
      </p:sp>
      <p:sp>
        <p:nvSpPr>
          <p:cNvPr id="41" name="">
            <a:extLst xmlns:a="http://schemas.openxmlformats.org/drawingml/2006/main">
              <a:ext uri="{FF2B5EF4-FFF2-40B4-BE49-F238E27FC236}">
                <a16:creationId xmlns:a16="http://schemas.microsoft.com/office/drawing/2014/main" id="{625B99E4-9042-445F-8AD1-66AE3ECD1247}"/>
              </a:ext>
            </a:extLst>
          </p:cNvPr>
          <p:cNvSpPr>
            <a:spLocks xmlns:a="http://schemas.openxmlformats.org/drawingml/2006/main" noGrp="1"/>
          </p:cNvSpPr>
          <p:nvPr/>
        </p:nvSpPr>
        <p:spPr>
          <a:xfrm xmlns:a="http://schemas.openxmlformats.org/drawingml/2006/main">
            <a:off x="10668000" y="6724650"/>
            <a:ext cx="5619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21E26187-25F5-4E52-A742-3C83B204244D}"/>
              </a:ext>
            </a:extLst>
          </p:cNvPr>
          <p:cNvSpPr>
            <a:spLocks xmlns:a="http://schemas.openxmlformats.org/drawingml/2006/main" noGrp="1"/>
          </p:cNvSpPr>
          <p:nvPr/>
        </p:nvSpPr>
        <p:spPr>
          <a:xfrm xmlns:a="http://schemas.openxmlformats.org/drawingml/2006/main">
            <a:off x="10668000" y="6724650"/>
            <a:ext cx="85725" cy="10668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64684A1-F5DD-4789-8C06-ACC805C61E9D}"/>
              </a:ext>
            </a:extLst>
          </p:cNvPr>
          <p:cNvSpPr>
            <a:spLocks xmlns:a="http://schemas.openxmlformats.org/drawingml/2006/main" noGrp="1"/>
          </p:cNvSpPr>
          <p:nvPr/>
        </p:nvSpPr>
        <p:spPr>
          <a:xfrm xmlns:a="http://schemas.openxmlformats.org/drawingml/2006/main">
            <a:off x="10934700" y="693420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Safety and efficiency</a:t>
            </a:r>
          </a:p>
        </p:txBody>
      </p:sp>
      <p:sp>
        <p:nvSpPr>
          <p:cNvPr id="44" name="">
            <a:extLst xmlns:a="http://schemas.openxmlformats.org/drawingml/2006/main">
              <a:ext uri="{FF2B5EF4-FFF2-40B4-BE49-F238E27FC236}">
                <a16:creationId xmlns:a16="http://schemas.microsoft.com/office/drawing/2014/main" id="{A8761699-BC59-4D7F-88E2-C15F642F14A5}"/>
              </a:ext>
            </a:extLst>
          </p:cNvPr>
          <p:cNvSpPr>
            <a:spLocks xmlns:a="http://schemas.openxmlformats.org/drawingml/2006/main" noGrp="1"/>
          </p:cNvSpPr>
          <p:nvPr/>
        </p:nvSpPr>
        <p:spPr>
          <a:xfrm xmlns:a="http://schemas.openxmlformats.org/drawingml/2006/main">
            <a:off x="10934700" y="7467600"/>
            <a:ext cx="5124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Zero scope violations and measurable time improvement.</a:t>
            </a:r>
          </a:p>
        </p:txBody>
      </p:sp>
    </p:spTree>
    <p:extLst>
      <p:ext uri="{BB962C8B-B14F-4D97-AF65-F5344CB8AC3E}">
        <p14:creationId xmlns:p14="http://schemas.microsoft.com/office/powerpoint/2010/main" val="164692026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BCFF16F-07EE-48AE-AE4A-B46C9625E73E}"/>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10 / TEAM</a:t>
            </a:r>
          </a:p>
        </p:txBody>
      </p:sp>
      <p:sp>
        <p:nvSpPr>
          <p:cNvPr id="2" name="">
            <a:extLst xmlns:a="http://schemas.openxmlformats.org/drawingml/2006/main">
              <a:ext uri="{FF2B5EF4-FFF2-40B4-BE49-F238E27FC236}">
                <a16:creationId xmlns:a16="http://schemas.microsoft.com/office/drawing/2014/main" id="{EB0D8358-5501-49EE-983A-CCAA7E849C45}"/>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Team responsibilities and shared ownership</a:t>
            </a:r>
          </a:p>
        </p:txBody>
      </p:sp>
      <p:sp>
        <p:nvSpPr>
          <p:cNvPr id="3" name="">
            <a:extLst xmlns:a="http://schemas.openxmlformats.org/drawingml/2006/main">
              <a:ext uri="{FF2B5EF4-FFF2-40B4-BE49-F238E27FC236}">
                <a16:creationId xmlns:a16="http://schemas.microsoft.com/office/drawing/2014/main" id="{276F8C86-F9F6-4E55-BE86-6D0FF15BDC92}"/>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1023EB6-2053-40F9-B352-ADE665BF3727}"/>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28195FBF-F466-4FF1-8C41-1459B36BFBD1}"/>
              </a:ext>
            </a:extLst>
          </p:cNvPr>
          <p:cNvSpPr>
            <a:spLocks xmlns:a="http://schemas.openxmlformats.org/drawingml/2006/main" noGrp="1"/>
          </p:cNvSpPr>
          <p:nvPr/>
        </p:nvSpPr>
        <p:spPr>
          <a:xfrm xmlns:a="http://schemas.openxmlformats.org/drawingml/2006/main">
            <a:off x="87630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27D5E630-BF72-430F-ACBB-B2A1A5A98631}"/>
              </a:ext>
            </a:extLst>
          </p:cNvPr>
          <p:cNvSpPr>
            <a:spLocks xmlns:a="http://schemas.openxmlformats.org/drawingml/2006/main" noGrp="1"/>
          </p:cNvSpPr>
          <p:nvPr/>
        </p:nvSpPr>
        <p:spPr>
          <a:xfrm xmlns:a="http://schemas.openxmlformats.org/drawingml/2006/main">
            <a:off x="876300" y="2533650"/>
            <a:ext cx="85725" cy="33147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EF0562E-A5C2-4050-8996-FD3F1C57B472}"/>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Abdul Ahad</a:t>
            </a:r>
          </a:p>
        </p:txBody>
      </p:sp>
      <p:sp>
        <p:nvSpPr>
          <p:cNvPr id="8" name="">
            <a:extLst xmlns:a="http://schemas.openxmlformats.org/drawingml/2006/main">
              <a:ext uri="{FF2B5EF4-FFF2-40B4-BE49-F238E27FC236}">
                <a16:creationId xmlns:a16="http://schemas.microsoft.com/office/drawing/2014/main" id="{4C2EB02D-CF22-4BAC-A295-51257ED8BC11}"/>
              </a:ext>
            </a:extLst>
          </p:cNvPr>
          <p:cNvSpPr>
            <a:spLocks xmlns:a="http://schemas.openxmlformats.org/drawingml/2006/main" noGrp="1"/>
          </p:cNvSpPr>
          <p:nvPr/>
        </p:nvSpPr>
        <p:spPr>
          <a:xfrm xmlns:a="http://schemas.openxmlformats.org/drawingml/2006/main">
            <a:off x="114300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System architecture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AI orchestration</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Methodology integration</a:t>
            </a:r>
          </a:p>
        </p:txBody>
      </p:sp>
      <p:sp>
        <p:nvSpPr>
          <p:cNvPr id="9" name="">
            <a:extLst xmlns:a="http://schemas.openxmlformats.org/drawingml/2006/main">
              <a:ext uri="{FF2B5EF4-FFF2-40B4-BE49-F238E27FC236}">
                <a16:creationId xmlns:a16="http://schemas.microsoft.com/office/drawing/2014/main" id="{0B9E553F-778D-42F6-8359-76794C26E1A4}"/>
              </a:ext>
            </a:extLst>
          </p:cNvPr>
          <p:cNvSpPr>
            <a:spLocks xmlns:a="http://schemas.openxmlformats.org/drawingml/2006/main" noGrp="1"/>
          </p:cNvSpPr>
          <p:nvPr/>
        </p:nvSpPr>
        <p:spPr>
          <a:xfrm xmlns:a="http://schemas.openxmlformats.org/drawingml/2006/main">
            <a:off x="600075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747783F4-0149-45F6-B6E2-C65BB30FB66E}"/>
              </a:ext>
            </a:extLst>
          </p:cNvPr>
          <p:cNvSpPr>
            <a:spLocks xmlns:a="http://schemas.openxmlformats.org/drawingml/2006/main" noGrp="1"/>
          </p:cNvSpPr>
          <p:nvPr/>
        </p:nvSpPr>
        <p:spPr>
          <a:xfrm xmlns:a="http://schemas.openxmlformats.org/drawingml/2006/main">
            <a:off x="6000750" y="2533650"/>
            <a:ext cx="85725" cy="33147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968D3C-1B76-4ACD-8E37-EE8E020CFDDE}"/>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Muhammad Usman Hamed</a:t>
            </a:r>
          </a:p>
        </p:txBody>
      </p:sp>
      <p:sp>
        <p:nvSpPr>
          <p:cNvPr id="12" name="">
            <a:extLst xmlns:a="http://schemas.openxmlformats.org/drawingml/2006/main">
              <a:ext uri="{FF2B5EF4-FFF2-40B4-BE49-F238E27FC236}">
                <a16:creationId xmlns:a16="http://schemas.microsoft.com/office/drawing/2014/main" id="{94BA731B-651D-43B8-BA26-9B43623D527F}"/>
              </a:ext>
            </a:extLst>
          </p:cNvPr>
          <p:cNvSpPr>
            <a:spLocks xmlns:a="http://schemas.openxmlformats.org/drawingml/2006/main" noGrp="1"/>
          </p:cNvSpPr>
          <p:nvPr/>
        </p:nvSpPr>
        <p:spPr>
          <a:xfrm xmlns:a="http://schemas.openxmlformats.org/drawingml/2006/main">
            <a:off x="626745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Reconnaissance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Security assessment</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Tool evaluation</a:t>
            </a:r>
          </a:p>
        </p:txBody>
      </p:sp>
      <p:sp>
        <p:nvSpPr>
          <p:cNvPr id="13" name="">
            <a:extLst xmlns:a="http://schemas.openxmlformats.org/drawingml/2006/main">
              <a:ext uri="{FF2B5EF4-FFF2-40B4-BE49-F238E27FC236}">
                <a16:creationId xmlns:a16="http://schemas.microsoft.com/office/drawing/2014/main" id="{98EBBB55-7536-4345-ADAB-2E715989C4B4}"/>
              </a:ext>
            </a:extLst>
          </p:cNvPr>
          <p:cNvSpPr>
            <a:spLocks xmlns:a="http://schemas.openxmlformats.org/drawingml/2006/main" noGrp="1"/>
          </p:cNvSpPr>
          <p:nvPr/>
        </p:nvSpPr>
        <p:spPr>
          <a:xfrm xmlns:a="http://schemas.openxmlformats.org/drawingml/2006/main">
            <a:off x="11125200" y="2533650"/>
            <a:ext cx="55245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14A7ECE3-2EE8-45ED-9533-02616100726E}"/>
              </a:ext>
            </a:extLst>
          </p:cNvPr>
          <p:cNvSpPr>
            <a:spLocks xmlns:a="http://schemas.openxmlformats.org/drawingml/2006/main" noGrp="1"/>
          </p:cNvSpPr>
          <p:nvPr/>
        </p:nvSpPr>
        <p:spPr>
          <a:xfrm xmlns:a="http://schemas.openxmlformats.org/drawingml/2006/main">
            <a:off x="11125200" y="2533650"/>
            <a:ext cx="85725" cy="33147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D6F081E-54BB-4DBE-9B57-4361318254D7}"/>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Obaid Ishtiaq Satti</a:t>
            </a:r>
          </a:p>
        </p:txBody>
      </p:sp>
      <p:sp>
        <p:nvSpPr>
          <p:cNvPr id="16" name="">
            <a:extLst xmlns:a="http://schemas.openxmlformats.org/drawingml/2006/main">
              <a:ext uri="{FF2B5EF4-FFF2-40B4-BE49-F238E27FC236}">
                <a16:creationId xmlns:a16="http://schemas.microsoft.com/office/drawing/2014/main" id="{73382596-0869-4A32-9516-858CE652BBF9}"/>
              </a:ext>
            </a:extLst>
          </p:cNvPr>
          <p:cNvSpPr>
            <a:spLocks xmlns:a="http://schemas.openxmlformats.org/drawingml/2006/main" noGrp="1"/>
          </p:cNvSpPr>
          <p:nvPr/>
        </p:nvSpPr>
        <p:spPr>
          <a:xfrm xmlns:a="http://schemas.openxmlformats.org/drawingml/2006/main">
            <a:off x="11391900" y="3276600"/>
            <a:ext cx="50292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Platform and interface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Reporting</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Deployment support</a:t>
            </a:r>
          </a:p>
        </p:txBody>
      </p:sp>
      <p:sp>
        <p:nvSpPr>
          <p:cNvPr id="17" name="">
            <a:extLst xmlns:a="http://schemas.openxmlformats.org/drawingml/2006/main">
              <a:ext uri="{FF2B5EF4-FFF2-40B4-BE49-F238E27FC236}">
                <a16:creationId xmlns:a16="http://schemas.microsoft.com/office/drawing/2014/main" id="{E4EBABA3-B11A-4397-80EC-301B58DE1ED0}"/>
              </a:ext>
            </a:extLst>
          </p:cNvPr>
          <p:cNvSpPr>
            <a:spLocks xmlns:a="http://schemas.openxmlformats.org/drawingml/2006/main" noGrp="1"/>
          </p:cNvSpPr>
          <p:nvPr/>
        </p:nvSpPr>
        <p:spPr>
          <a:xfrm xmlns:a="http://schemas.openxmlformats.org/drawingml/2006/main">
            <a:off x="876300" y="6362700"/>
            <a:ext cx="157734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7F00C42-CDD1-4415-8DEE-AC557324911E}"/>
              </a:ext>
            </a:extLst>
          </p:cNvPr>
          <p:cNvSpPr>
            <a:spLocks xmlns:a="http://schemas.openxmlformats.org/drawingml/2006/main" noGrp="1"/>
          </p:cNvSpPr>
          <p:nvPr/>
        </p:nvSpPr>
        <p:spPr>
          <a:xfrm xmlns:a="http://schemas.openxmlformats.org/drawingml/2006/main">
            <a:off x="1219200" y="67056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79A9C8"/>
                </a:solidFill>
                <a:latin typeface="Arial"/>
                <a:ea typeface="Arial"/>
                <a:cs typeface="Arial"/>
              </a:defRPr>
            </a:pPr>
            <a:r>
              <a:rPr sz="1875" b="1" i="0">
                <a:solidFill>
                  <a:srgbClr val="79A9C8"/>
                </a:solidFill>
                <a:latin typeface="Arial"/>
                <a:ea typeface="Arial"/>
                <a:cs typeface="Arial"/>
              </a:rPr>
              <a:t>Shared across the team</a:t>
            </a:r>
          </a:p>
        </p:txBody>
      </p:sp>
      <p:sp>
        <p:nvSpPr>
          <p:cNvPr id="19" name="">
            <a:extLst xmlns:a="http://schemas.openxmlformats.org/drawingml/2006/main">
              <a:ext uri="{FF2B5EF4-FFF2-40B4-BE49-F238E27FC236}">
                <a16:creationId xmlns:a16="http://schemas.microsoft.com/office/drawing/2014/main" id="{BBE26AE5-DB52-4897-BBF8-F92D50D66D8E}"/>
              </a:ext>
            </a:extLst>
          </p:cNvPr>
          <p:cNvSpPr>
            <a:spLocks xmlns:a="http://schemas.openxmlformats.org/drawingml/2006/main" noGrp="1"/>
          </p:cNvSpPr>
          <p:nvPr/>
        </p:nvSpPr>
        <p:spPr>
          <a:xfrm xmlns:a="http://schemas.openxmlformats.org/drawingml/2006/main">
            <a:off x="1219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Integration</a:t>
            </a:r>
          </a:p>
        </p:txBody>
      </p:sp>
      <p:sp>
        <p:nvSpPr>
          <p:cNvPr id="20" name="">
            <a:extLst xmlns:a="http://schemas.openxmlformats.org/drawingml/2006/main">
              <a:ext uri="{FF2B5EF4-FFF2-40B4-BE49-F238E27FC236}">
                <a16:creationId xmlns:a16="http://schemas.microsoft.com/office/drawing/2014/main" id="{CEFE04BD-14B8-4D35-9D95-04606168DCF9}"/>
              </a:ext>
            </a:extLst>
          </p:cNvPr>
          <p:cNvSpPr>
            <a:spLocks xmlns:a="http://schemas.openxmlformats.org/drawingml/2006/main" noGrp="1"/>
          </p:cNvSpPr>
          <p:nvPr/>
        </p:nvSpPr>
        <p:spPr>
          <a:xfrm xmlns:a="http://schemas.openxmlformats.org/drawingml/2006/main">
            <a:off x="59817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Testing</a:t>
            </a:r>
          </a:p>
        </p:txBody>
      </p:sp>
      <p:sp>
        <p:nvSpPr>
          <p:cNvPr id="21" name="">
            <a:extLst xmlns:a="http://schemas.openxmlformats.org/drawingml/2006/main">
              <a:ext uri="{FF2B5EF4-FFF2-40B4-BE49-F238E27FC236}">
                <a16:creationId xmlns:a16="http://schemas.microsoft.com/office/drawing/2014/main" id="{4E93A920-A61E-40E9-81EB-026117E024C3}"/>
              </a:ext>
            </a:extLst>
          </p:cNvPr>
          <p:cNvSpPr>
            <a:spLocks xmlns:a="http://schemas.openxmlformats.org/drawingml/2006/main" noGrp="1"/>
          </p:cNvSpPr>
          <p:nvPr/>
        </p:nvSpPr>
        <p:spPr>
          <a:xfrm xmlns:a="http://schemas.openxmlformats.org/drawingml/2006/main">
            <a:off x="10744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Validation</a:t>
            </a:r>
          </a:p>
        </p:txBody>
      </p:sp>
      <p:sp>
        <p:nvSpPr>
          <p:cNvPr id="22" name="">
            <a:extLst xmlns:a="http://schemas.openxmlformats.org/drawingml/2006/main">
              <a:ext uri="{FF2B5EF4-FFF2-40B4-BE49-F238E27FC236}">
                <a16:creationId xmlns:a16="http://schemas.microsoft.com/office/drawing/2014/main" id="{46172B43-6ACA-46C9-B649-27877D886F41}"/>
              </a:ext>
            </a:extLst>
          </p:cNvPr>
          <p:cNvSpPr>
            <a:spLocks xmlns:a="http://schemas.openxmlformats.org/drawingml/2006/main" noGrp="1"/>
          </p:cNvSpPr>
          <p:nvPr/>
        </p:nvSpPr>
        <p:spPr>
          <a:xfrm xmlns:a="http://schemas.openxmlformats.org/drawingml/2006/main">
            <a:off x="1219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Debugging</a:t>
            </a:r>
          </a:p>
        </p:txBody>
      </p:sp>
      <p:sp>
        <p:nvSpPr>
          <p:cNvPr id="23" name="">
            <a:extLst xmlns:a="http://schemas.openxmlformats.org/drawingml/2006/main">
              <a:ext uri="{FF2B5EF4-FFF2-40B4-BE49-F238E27FC236}">
                <a16:creationId xmlns:a16="http://schemas.microsoft.com/office/drawing/2014/main" id="{DB87DCFA-03E0-4B28-B994-802498246015}"/>
              </a:ext>
            </a:extLst>
          </p:cNvPr>
          <p:cNvSpPr>
            <a:spLocks xmlns:a="http://schemas.openxmlformats.org/drawingml/2006/main" noGrp="1"/>
          </p:cNvSpPr>
          <p:nvPr/>
        </p:nvSpPr>
        <p:spPr>
          <a:xfrm xmlns:a="http://schemas.openxmlformats.org/drawingml/2006/main">
            <a:off x="59817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Performance evaluation</a:t>
            </a:r>
          </a:p>
        </p:txBody>
      </p:sp>
      <p:sp>
        <p:nvSpPr>
          <p:cNvPr id="24" name="">
            <a:extLst xmlns:a="http://schemas.openxmlformats.org/drawingml/2006/main">
              <a:ext uri="{FF2B5EF4-FFF2-40B4-BE49-F238E27FC236}">
                <a16:creationId xmlns:a16="http://schemas.microsoft.com/office/drawing/2014/main" id="{6595AAA6-8A2C-4AAE-A0B2-F112B21D3E89}"/>
              </a:ext>
            </a:extLst>
          </p:cNvPr>
          <p:cNvSpPr>
            <a:spLocks xmlns:a="http://schemas.openxmlformats.org/drawingml/2006/main" noGrp="1"/>
          </p:cNvSpPr>
          <p:nvPr/>
        </p:nvSpPr>
        <p:spPr>
          <a:xfrm xmlns:a="http://schemas.openxmlformats.org/drawingml/2006/main">
            <a:off x="10744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Documentation</a:t>
            </a:r>
          </a:p>
        </p:txBody>
      </p:sp>
    </p:spTree>
    <p:extLst>
      <p:ext uri="{BB962C8B-B14F-4D97-AF65-F5344CB8AC3E}">
        <p14:creationId xmlns:p14="http://schemas.microsoft.com/office/powerpoint/2010/main" val="6054780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32B9F38-E5AC-4B42-9867-D4EDF485190F}"/>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11 / IMPACT</a:t>
            </a:r>
          </a:p>
        </p:txBody>
      </p:sp>
      <p:sp>
        <p:nvSpPr>
          <p:cNvPr id="2" name="">
            <a:extLst xmlns:a="http://schemas.openxmlformats.org/drawingml/2006/main">
              <a:ext uri="{FF2B5EF4-FFF2-40B4-BE49-F238E27FC236}">
                <a16:creationId xmlns:a16="http://schemas.microsoft.com/office/drawing/2014/main" id="{B682FE82-E080-4880-9BA3-FA7CF1884E93}"/>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Who will use the proposed system?</a:t>
            </a:r>
          </a:p>
        </p:txBody>
      </p:sp>
      <p:sp>
        <p:nvSpPr>
          <p:cNvPr id="3" name="">
            <a:extLst xmlns:a="http://schemas.openxmlformats.org/drawingml/2006/main">
              <a:ext uri="{FF2B5EF4-FFF2-40B4-BE49-F238E27FC236}">
                <a16:creationId xmlns:a16="http://schemas.microsoft.com/office/drawing/2014/main" id="{D8B25F8F-16DD-403A-899C-3C8ADAC701A2}"/>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462A6683-E3D5-4FA0-B2EA-688209902F5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87C84E52-5354-433A-8970-3956E3CEED91}"/>
              </a:ext>
            </a:extLst>
          </p:cNvPr>
          <p:cNvSpPr>
            <a:spLocks xmlns:a="http://schemas.openxmlformats.org/drawingml/2006/main" noGrp="1"/>
          </p:cNvSpPr>
          <p:nvPr/>
        </p:nvSpPr>
        <p:spPr>
          <a:xfrm xmlns:a="http://schemas.openxmlformats.org/drawingml/2006/main">
            <a:off x="8763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B5D3C44A-C57C-4A01-91EA-412E0E143C8E}"/>
              </a:ext>
            </a:extLst>
          </p:cNvPr>
          <p:cNvSpPr>
            <a:spLocks xmlns:a="http://schemas.openxmlformats.org/drawingml/2006/main" noGrp="1"/>
          </p:cNvSpPr>
          <p:nvPr/>
        </p:nvSpPr>
        <p:spPr>
          <a:xfrm xmlns:a="http://schemas.openxmlformats.org/drawingml/2006/main">
            <a:off x="876300" y="2476500"/>
            <a:ext cx="85725" cy="2724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A80CACD-D01F-4E61-8476-32781A5FA28B}"/>
              </a:ext>
            </a:extLst>
          </p:cNvPr>
          <p:cNvSpPr>
            <a:spLocks xmlns:a="http://schemas.openxmlformats.org/drawingml/2006/main" noGrp="1"/>
          </p:cNvSpPr>
          <p:nvPr/>
        </p:nvSpPr>
        <p:spPr>
          <a:xfrm xmlns:a="http://schemas.openxmlformats.org/drawingml/2006/main">
            <a:off x="11430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Penetration testing firms</a:t>
            </a:r>
          </a:p>
        </p:txBody>
      </p:sp>
      <p:sp>
        <p:nvSpPr>
          <p:cNvPr id="8" name="">
            <a:extLst xmlns:a="http://schemas.openxmlformats.org/drawingml/2006/main">
              <a:ext uri="{FF2B5EF4-FFF2-40B4-BE49-F238E27FC236}">
                <a16:creationId xmlns:a16="http://schemas.microsoft.com/office/drawing/2014/main" id="{5ABDA4E1-2348-46E1-8E7F-6DA58FDF760D}"/>
              </a:ext>
            </a:extLst>
          </p:cNvPr>
          <p:cNvSpPr>
            <a:spLocks xmlns:a="http://schemas.openxmlformats.org/drawingml/2006/main" noGrp="1"/>
          </p:cNvSpPr>
          <p:nvPr/>
        </p:nvSpPr>
        <p:spPr>
          <a:xfrm xmlns:a="http://schemas.openxmlformats.org/drawingml/2006/main">
            <a:off x="11430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Repeatable external assessments across wide client surfaces.</a:t>
            </a:r>
          </a:p>
        </p:txBody>
      </p:sp>
      <p:sp>
        <p:nvSpPr>
          <p:cNvPr id="9" name="">
            <a:extLst xmlns:a="http://schemas.openxmlformats.org/drawingml/2006/main">
              <a:ext uri="{FF2B5EF4-FFF2-40B4-BE49-F238E27FC236}">
                <a16:creationId xmlns:a16="http://schemas.microsoft.com/office/drawing/2014/main" id="{58FB1DE6-6B1D-44CD-9329-3626F41545FB}"/>
              </a:ext>
            </a:extLst>
          </p:cNvPr>
          <p:cNvSpPr>
            <a:spLocks xmlns:a="http://schemas.openxmlformats.org/drawingml/2006/main" noGrp="1"/>
          </p:cNvSpPr>
          <p:nvPr/>
        </p:nvSpPr>
        <p:spPr>
          <a:xfrm xmlns:a="http://schemas.openxmlformats.org/drawingml/2006/main">
            <a:off x="48196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F2761C6C-FDDA-49EF-B0D2-02A94DF60B8A}"/>
              </a:ext>
            </a:extLst>
          </p:cNvPr>
          <p:cNvSpPr>
            <a:spLocks xmlns:a="http://schemas.openxmlformats.org/drawingml/2006/main" noGrp="1"/>
          </p:cNvSpPr>
          <p:nvPr/>
        </p:nvSpPr>
        <p:spPr>
          <a:xfrm xmlns:a="http://schemas.openxmlformats.org/drawingml/2006/main">
            <a:off x="4819650" y="2476500"/>
            <a:ext cx="85725" cy="2724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3757E9-76AB-4CA2-9D36-057DE4881086}"/>
              </a:ext>
            </a:extLst>
          </p:cNvPr>
          <p:cNvSpPr>
            <a:spLocks xmlns:a="http://schemas.openxmlformats.org/drawingml/2006/main" noGrp="1"/>
          </p:cNvSpPr>
          <p:nvPr/>
        </p:nvSpPr>
        <p:spPr>
          <a:xfrm xmlns:a="http://schemas.openxmlformats.org/drawingml/2006/main">
            <a:off x="50863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Internal security teams</a:t>
            </a:r>
          </a:p>
        </p:txBody>
      </p:sp>
      <p:sp>
        <p:nvSpPr>
          <p:cNvPr id="12" name="">
            <a:extLst xmlns:a="http://schemas.openxmlformats.org/drawingml/2006/main">
              <a:ext uri="{FF2B5EF4-FFF2-40B4-BE49-F238E27FC236}">
                <a16:creationId xmlns:a16="http://schemas.microsoft.com/office/drawing/2014/main" id="{C5B0B930-0857-4048-90C1-640F963C6D4D}"/>
              </a:ext>
            </a:extLst>
          </p:cNvPr>
          <p:cNvSpPr>
            <a:spLocks xmlns:a="http://schemas.openxmlformats.org/drawingml/2006/main" noGrp="1"/>
          </p:cNvSpPr>
          <p:nvPr/>
        </p:nvSpPr>
        <p:spPr>
          <a:xfrm xmlns:a="http://schemas.openxmlformats.org/drawingml/2006/main">
            <a:off x="50863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Continuous visibility and evidence across changing infrastructure.</a:t>
            </a:r>
          </a:p>
        </p:txBody>
      </p:sp>
      <p:sp>
        <p:nvSpPr>
          <p:cNvPr id="13" name="">
            <a:extLst xmlns:a="http://schemas.openxmlformats.org/drawingml/2006/main">
              <a:ext uri="{FF2B5EF4-FFF2-40B4-BE49-F238E27FC236}">
                <a16:creationId xmlns:a16="http://schemas.microsoft.com/office/drawing/2014/main" id="{7AF934AF-5D26-4910-9457-CCF7CD56C178}"/>
              </a:ext>
            </a:extLst>
          </p:cNvPr>
          <p:cNvSpPr>
            <a:spLocks xmlns:a="http://schemas.openxmlformats.org/drawingml/2006/main" noGrp="1"/>
          </p:cNvSpPr>
          <p:nvPr/>
        </p:nvSpPr>
        <p:spPr>
          <a:xfrm xmlns:a="http://schemas.openxmlformats.org/drawingml/2006/main">
            <a:off x="87630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539C48F0-4EFF-4DE8-A66D-A3F7099EECF3}"/>
              </a:ext>
            </a:extLst>
          </p:cNvPr>
          <p:cNvSpPr>
            <a:spLocks xmlns:a="http://schemas.openxmlformats.org/drawingml/2006/main" noGrp="1"/>
          </p:cNvSpPr>
          <p:nvPr/>
        </p:nvSpPr>
        <p:spPr>
          <a:xfrm xmlns:a="http://schemas.openxmlformats.org/drawingml/2006/main">
            <a:off x="8763000" y="2476500"/>
            <a:ext cx="85725" cy="2724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7D1DB0C-5EC8-4DF7-90A2-B388430B6BFF}"/>
              </a:ext>
            </a:extLst>
          </p:cNvPr>
          <p:cNvSpPr>
            <a:spLocks xmlns:a="http://schemas.openxmlformats.org/drawingml/2006/main" noGrp="1"/>
          </p:cNvSpPr>
          <p:nvPr/>
        </p:nvSpPr>
        <p:spPr>
          <a:xfrm xmlns:a="http://schemas.openxmlformats.org/drawingml/2006/main">
            <a:off x="90297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39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Managed security providers</a:t>
            </a:r>
          </a:p>
        </p:txBody>
      </p:sp>
      <p:sp>
        <p:nvSpPr>
          <p:cNvPr id="16" name="">
            <a:extLst xmlns:a="http://schemas.openxmlformats.org/drawingml/2006/main">
              <a:ext uri="{FF2B5EF4-FFF2-40B4-BE49-F238E27FC236}">
                <a16:creationId xmlns:a16="http://schemas.microsoft.com/office/drawing/2014/main" id="{958C5208-3FC6-40F7-BD6E-2440FC4CBCD3}"/>
              </a:ext>
            </a:extLst>
          </p:cNvPr>
          <p:cNvSpPr>
            <a:spLocks xmlns:a="http://schemas.openxmlformats.org/drawingml/2006/main" noGrp="1"/>
          </p:cNvSpPr>
          <p:nvPr/>
        </p:nvSpPr>
        <p:spPr>
          <a:xfrm xmlns:a="http://schemas.openxmlformats.org/drawingml/2006/main">
            <a:off x="90297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Standardized multi-engagement execution and reporting.</a:t>
            </a:r>
          </a:p>
        </p:txBody>
      </p:sp>
      <p:sp>
        <p:nvSpPr>
          <p:cNvPr id="17" name="">
            <a:extLst xmlns:a="http://schemas.openxmlformats.org/drawingml/2006/main">
              <a:ext uri="{FF2B5EF4-FFF2-40B4-BE49-F238E27FC236}">
                <a16:creationId xmlns:a16="http://schemas.microsoft.com/office/drawing/2014/main" id="{3A203A69-39D3-4463-BBBB-634031766A89}"/>
              </a:ext>
            </a:extLst>
          </p:cNvPr>
          <p:cNvSpPr>
            <a:spLocks xmlns:a="http://schemas.openxmlformats.org/drawingml/2006/main" noGrp="1"/>
          </p:cNvSpPr>
          <p:nvPr/>
        </p:nvSpPr>
        <p:spPr>
          <a:xfrm xmlns:a="http://schemas.openxmlformats.org/drawingml/2006/main">
            <a:off x="127063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8" name="">
            <a:extLst xmlns:a="http://schemas.openxmlformats.org/drawingml/2006/main">
              <a:ext uri="{FF2B5EF4-FFF2-40B4-BE49-F238E27FC236}">
                <a16:creationId xmlns:a16="http://schemas.microsoft.com/office/drawing/2014/main" id="{6FCA3F5B-A285-498F-B951-AA9D53C2EFE2}"/>
              </a:ext>
            </a:extLst>
          </p:cNvPr>
          <p:cNvSpPr>
            <a:spLocks xmlns:a="http://schemas.openxmlformats.org/drawingml/2006/main" noGrp="1"/>
          </p:cNvSpPr>
          <p:nvPr/>
        </p:nvSpPr>
        <p:spPr>
          <a:xfrm xmlns:a="http://schemas.openxmlformats.org/drawingml/2006/main">
            <a:off x="12706350" y="2476500"/>
            <a:ext cx="85725" cy="27241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2347A0E-6126-4E72-A33E-6D8351817774}"/>
              </a:ext>
            </a:extLst>
          </p:cNvPr>
          <p:cNvSpPr>
            <a:spLocks xmlns:a="http://schemas.openxmlformats.org/drawingml/2006/main" noGrp="1"/>
          </p:cNvSpPr>
          <p:nvPr/>
        </p:nvSpPr>
        <p:spPr>
          <a:xfrm xmlns:a="http://schemas.openxmlformats.org/drawingml/2006/main">
            <a:off x="129730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DevSecOps teams</a:t>
            </a:r>
          </a:p>
        </p:txBody>
      </p:sp>
      <p:sp>
        <p:nvSpPr>
          <p:cNvPr id="20" name="">
            <a:extLst xmlns:a="http://schemas.openxmlformats.org/drawingml/2006/main">
              <a:ext uri="{FF2B5EF4-FFF2-40B4-BE49-F238E27FC236}">
                <a16:creationId xmlns:a16="http://schemas.microsoft.com/office/drawing/2014/main" id="{440DC2B3-28F8-428A-AD1F-7BB1AF31166D}"/>
              </a:ext>
            </a:extLst>
          </p:cNvPr>
          <p:cNvSpPr>
            <a:spLocks xmlns:a="http://schemas.openxmlformats.org/drawingml/2006/main" noGrp="1"/>
          </p:cNvSpPr>
          <p:nvPr/>
        </p:nvSpPr>
        <p:spPr>
          <a:xfrm xmlns:a="http://schemas.openxmlformats.org/drawingml/2006/main">
            <a:off x="129730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Security assessment integrated into engineering workflows.</a:t>
            </a:r>
          </a:p>
        </p:txBody>
      </p:sp>
      <p:sp>
        <p:nvSpPr>
          <p:cNvPr id="21" name="">
            <a:extLst xmlns:a="http://schemas.openxmlformats.org/drawingml/2006/main">
              <a:ext uri="{FF2B5EF4-FFF2-40B4-BE49-F238E27FC236}">
                <a16:creationId xmlns:a16="http://schemas.microsoft.com/office/drawing/2014/main" id="{235545F0-4ABD-4F06-B14B-B85B1797CC11}"/>
              </a:ext>
            </a:extLst>
          </p:cNvPr>
          <p:cNvSpPr>
            <a:spLocks xmlns:a="http://schemas.openxmlformats.org/drawingml/2006/main" noGrp="1"/>
          </p:cNvSpPr>
          <p:nvPr/>
        </p:nvSpPr>
        <p:spPr>
          <a:xfrm xmlns:a="http://schemas.openxmlformats.org/drawingml/2006/main">
            <a:off x="876300" y="58483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UN Sustainable Development Goal alignment</a:t>
            </a:r>
          </a:p>
        </p:txBody>
      </p:sp>
      <p:sp>
        <p:nvSpPr>
          <p:cNvPr id="22" name="">
            <a:extLst xmlns:a="http://schemas.openxmlformats.org/drawingml/2006/main">
              <a:ext uri="{FF2B5EF4-FFF2-40B4-BE49-F238E27FC236}">
                <a16:creationId xmlns:a16="http://schemas.microsoft.com/office/drawing/2014/main" id="{977F1A12-683A-4F5B-98E6-4F959CB3BE93}"/>
              </a:ext>
            </a:extLst>
          </p:cNvPr>
          <p:cNvSpPr>
            <a:spLocks xmlns:a="http://schemas.openxmlformats.org/drawingml/2006/main" noGrp="1"/>
          </p:cNvSpPr>
          <p:nvPr/>
        </p:nvSpPr>
        <p:spPr>
          <a:xfrm xmlns:a="http://schemas.openxmlformats.org/drawingml/2006/main">
            <a:off x="87630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46420EE0-6163-470B-A44C-568DA83FDE55}"/>
              </a:ext>
            </a:extLst>
          </p:cNvPr>
          <p:cNvSpPr>
            <a:spLocks xmlns:a="http://schemas.openxmlformats.org/drawingml/2006/main" noGrp="1"/>
          </p:cNvSpPr>
          <p:nvPr/>
        </p:nvSpPr>
        <p:spPr>
          <a:xfrm xmlns:a="http://schemas.openxmlformats.org/drawingml/2006/main">
            <a:off x="876300" y="6496050"/>
            <a:ext cx="85725" cy="16954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C9BA4F5-AC38-4505-A199-C4ED2D1E0D14}"/>
              </a:ext>
            </a:extLst>
          </p:cNvPr>
          <p:cNvSpPr>
            <a:spLocks xmlns:a="http://schemas.openxmlformats.org/drawingml/2006/main" noGrp="1"/>
          </p:cNvSpPr>
          <p:nvPr/>
        </p:nvSpPr>
        <p:spPr>
          <a:xfrm xmlns:a="http://schemas.openxmlformats.org/drawingml/2006/main">
            <a:off x="114300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9</a:t>
            </a:r>
          </a:p>
        </p:txBody>
      </p:sp>
      <p:sp>
        <p:nvSpPr>
          <p:cNvPr id="25" name="">
            <a:extLst xmlns:a="http://schemas.openxmlformats.org/drawingml/2006/main">
              <a:ext uri="{FF2B5EF4-FFF2-40B4-BE49-F238E27FC236}">
                <a16:creationId xmlns:a16="http://schemas.microsoft.com/office/drawing/2014/main" id="{621F308D-B5C7-4F6E-A289-84586FA15410}"/>
              </a:ext>
            </a:extLst>
          </p:cNvPr>
          <p:cNvSpPr>
            <a:spLocks xmlns:a="http://schemas.openxmlformats.org/drawingml/2006/main" noGrp="1"/>
          </p:cNvSpPr>
          <p:nvPr/>
        </p:nvSpPr>
        <p:spPr>
          <a:xfrm xmlns:a="http://schemas.openxmlformats.org/drawingml/2006/main">
            <a:off x="114300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Industry, innovation and resilient infrastructure.</a:t>
            </a:r>
          </a:p>
        </p:txBody>
      </p:sp>
      <p:sp>
        <p:nvSpPr>
          <p:cNvPr id="26" name="">
            <a:extLst xmlns:a="http://schemas.openxmlformats.org/drawingml/2006/main">
              <a:ext uri="{FF2B5EF4-FFF2-40B4-BE49-F238E27FC236}">
                <a16:creationId xmlns:a16="http://schemas.microsoft.com/office/drawing/2014/main" id="{59E2DFE3-6CBF-4279-BBAB-FC9497426F6E}"/>
              </a:ext>
            </a:extLst>
          </p:cNvPr>
          <p:cNvSpPr>
            <a:spLocks xmlns:a="http://schemas.openxmlformats.org/drawingml/2006/main" noGrp="1"/>
          </p:cNvSpPr>
          <p:nvPr/>
        </p:nvSpPr>
        <p:spPr>
          <a:xfrm xmlns:a="http://schemas.openxmlformats.org/drawingml/2006/main">
            <a:off x="600075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24267AD5-9046-404D-8EB7-DA49A2631BD3}"/>
              </a:ext>
            </a:extLst>
          </p:cNvPr>
          <p:cNvSpPr>
            <a:spLocks xmlns:a="http://schemas.openxmlformats.org/drawingml/2006/main" noGrp="1"/>
          </p:cNvSpPr>
          <p:nvPr/>
        </p:nvSpPr>
        <p:spPr>
          <a:xfrm xmlns:a="http://schemas.openxmlformats.org/drawingml/2006/main">
            <a:off x="6000750" y="6496050"/>
            <a:ext cx="85725" cy="16954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BEC0EE0-41FB-4602-9A78-705D81C7334B}"/>
              </a:ext>
            </a:extLst>
          </p:cNvPr>
          <p:cNvSpPr>
            <a:spLocks xmlns:a="http://schemas.openxmlformats.org/drawingml/2006/main" noGrp="1"/>
          </p:cNvSpPr>
          <p:nvPr/>
        </p:nvSpPr>
        <p:spPr>
          <a:xfrm xmlns:a="http://schemas.openxmlformats.org/drawingml/2006/main">
            <a:off x="626745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16</a:t>
            </a:r>
          </a:p>
        </p:txBody>
      </p:sp>
      <p:sp>
        <p:nvSpPr>
          <p:cNvPr id="29" name="">
            <a:extLst xmlns:a="http://schemas.openxmlformats.org/drawingml/2006/main">
              <a:ext uri="{FF2B5EF4-FFF2-40B4-BE49-F238E27FC236}">
                <a16:creationId xmlns:a16="http://schemas.microsoft.com/office/drawing/2014/main" id="{6757560A-0EC5-42DE-B01D-37DFC946A36A}"/>
              </a:ext>
            </a:extLst>
          </p:cNvPr>
          <p:cNvSpPr>
            <a:spLocks xmlns:a="http://schemas.openxmlformats.org/drawingml/2006/main" noGrp="1"/>
          </p:cNvSpPr>
          <p:nvPr/>
        </p:nvSpPr>
        <p:spPr>
          <a:xfrm xmlns:a="http://schemas.openxmlformats.org/drawingml/2006/main">
            <a:off x="626745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Stronger institutions through improved cyber resilience.</a:t>
            </a:r>
          </a:p>
        </p:txBody>
      </p:sp>
      <p:sp>
        <p:nvSpPr>
          <p:cNvPr id="30" name="">
            <a:extLst xmlns:a="http://schemas.openxmlformats.org/drawingml/2006/main">
              <a:ext uri="{FF2B5EF4-FFF2-40B4-BE49-F238E27FC236}">
                <a16:creationId xmlns:a16="http://schemas.microsoft.com/office/drawing/2014/main" id="{F84233A0-A36F-433F-A698-349C891B3EE1}"/>
              </a:ext>
            </a:extLst>
          </p:cNvPr>
          <p:cNvSpPr>
            <a:spLocks xmlns:a="http://schemas.openxmlformats.org/drawingml/2006/main" noGrp="1"/>
          </p:cNvSpPr>
          <p:nvPr/>
        </p:nvSpPr>
        <p:spPr>
          <a:xfrm xmlns:a="http://schemas.openxmlformats.org/drawingml/2006/main">
            <a:off x="11125200" y="6496050"/>
            <a:ext cx="55245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31" name="">
            <a:extLst xmlns:a="http://schemas.openxmlformats.org/drawingml/2006/main">
              <a:ext uri="{FF2B5EF4-FFF2-40B4-BE49-F238E27FC236}">
                <a16:creationId xmlns:a16="http://schemas.microsoft.com/office/drawing/2014/main" id="{F5040210-DC21-42C3-88E7-1CC6FCB3F849}"/>
              </a:ext>
            </a:extLst>
          </p:cNvPr>
          <p:cNvSpPr>
            <a:spLocks xmlns:a="http://schemas.openxmlformats.org/drawingml/2006/main" noGrp="1"/>
          </p:cNvSpPr>
          <p:nvPr/>
        </p:nvSpPr>
        <p:spPr>
          <a:xfrm xmlns:a="http://schemas.openxmlformats.org/drawingml/2006/main">
            <a:off x="11125200" y="6496050"/>
            <a:ext cx="85725" cy="16954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B7314BE-8BD0-4742-9641-A37B41372B9D}"/>
              </a:ext>
            </a:extLst>
          </p:cNvPr>
          <p:cNvSpPr>
            <a:spLocks xmlns:a="http://schemas.openxmlformats.org/drawingml/2006/main" noGrp="1"/>
          </p:cNvSpPr>
          <p:nvPr/>
        </p:nvSpPr>
        <p:spPr>
          <a:xfrm xmlns:a="http://schemas.openxmlformats.org/drawingml/2006/main">
            <a:off x="11391900" y="67056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17</a:t>
            </a:r>
          </a:p>
        </p:txBody>
      </p:sp>
      <p:sp>
        <p:nvSpPr>
          <p:cNvPr id="33" name="">
            <a:extLst xmlns:a="http://schemas.openxmlformats.org/drawingml/2006/main">
              <a:ext uri="{FF2B5EF4-FFF2-40B4-BE49-F238E27FC236}">
                <a16:creationId xmlns:a16="http://schemas.microsoft.com/office/drawing/2014/main" id="{21857E56-60BF-455B-AB5B-EFB15B8F1A6F}"/>
              </a:ext>
            </a:extLst>
          </p:cNvPr>
          <p:cNvSpPr>
            <a:spLocks xmlns:a="http://schemas.openxmlformats.org/drawingml/2006/main" noGrp="1"/>
          </p:cNvSpPr>
          <p:nvPr/>
        </p:nvSpPr>
        <p:spPr>
          <a:xfrm xmlns:a="http://schemas.openxmlformats.org/drawingml/2006/main">
            <a:off x="11391900" y="7239000"/>
            <a:ext cx="5029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Partnerships through interoperable, open security tooling.</a:t>
            </a:r>
          </a:p>
        </p:txBody>
      </p:sp>
    </p:spTree>
    <p:extLst>
      <p:ext uri="{BB962C8B-B14F-4D97-AF65-F5344CB8AC3E}">
        <p14:creationId xmlns:p14="http://schemas.microsoft.com/office/powerpoint/2010/main" val="82377180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310FC3-8EF7-4257-B937-6893C66232CA}"/>
              </a:ext>
            </a:extLst>
          </p:cNvPr>
          <p:cNvSpPr>
            <a:spLocks xmlns:a="http://schemas.openxmlformats.org/drawingml/2006/main" noGrp="1"/>
          </p:cNvSpPr>
          <p:nvPr/>
        </p:nvSpPr>
        <p:spPr>
          <a:xfrm xmlns:a="http://schemas.openxmlformats.org/drawingml/2006/main">
            <a:off x="876300" y="723900"/>
            <a:ext cx="27241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2D8B84"/>
                </a:solidFill>
                <a:latin typeface="Arial"/>
                <a:ea typeface="Arial"/>
                <a:cs typeface="Arial"/>
              </a:defRPr>
            </a:pPr>
            <a:r>
              <a:rPr sz="1350" b="1">
                <a:solidFill>
                  <a:srgbClr val="2D8B84"/>
                </a:solidFill>
                <a:latin typeface="Arial"/>
                <a:ea typeface="Arial"/>
                <a:cs typeface="Arial"/>
              </a:rPr>
              <a:t>FYP PROPOSAL DEFENSE</a:t>
            </a:r>
          </a:p>
        </p:txBody>
      </p:sp>
      <p:sp>
        <p:nvSpPr>
          <p:cNvPr id="2" name="">
            <a:extLst xmlns:a="http://schemas.openxmlformats.org/drawingml/2006/main">
              <a:ext uri="{FF2B5EF4-FFF2-40B4-BE49-F238E27FC236}">
                <a16:creationId xmlns:a16="http://schemas.microsoft.com/office/drawing/2014/main" id="{BCAE4F53-319B-42DE-AEE4-559E2BEEA7DD}"/>
              </a:ext>
            </a:extLst>
          </p:cNvPr>
          <p:cNvSpPr>
            <a:spLocks xmlns:a="http://schemas.openxmlformats.org/drawingml/2006/main" noGrp="1"/>
          </p:cNvSpPr>
          <p:nvPr/>
        </p:nvSpPr>
        <p:spPr>
          <a:xfrm xmlns:a="http://schemas.openxmlformats.org/drawingml/2006/main">
            <a:off x="876300" y="1790700"/>
            <a:ext cx="857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850" b="1" i="0">
                <a:solidFill>
                  <a:srgbClr val="123B63"/>
                </a:solidFill>
                <a:latin typeface="Arial"/>
                <a:ea typeface="Arial"/>
                <a:cs typeface="Arial"/>
              </a:defRPr>
            </a:pPr>
            <a:r>
              <a:rPr sz="5850" b="1" i="0">
                <a:solidFill>
                  <a:srgbClr val="123B63"/>
                </a:solidFill>
                <a:latin typeface="Arial"/>
                <a:ea typeface="Arial"/>
                <a:cs typeface="Arial"/>
              </a:rPr>
              <a:t>Thank you</a:t>
            </a:r>
          </a:p>
        </p:txBody>
      </p:sp>
      <p:sp>
        <p:nvSpPr>
          <p:cNvPr id="3" name="">
            <a:extLst xmlns:a="http://schemas.openxmlformats.org/drawingml/2006/main">
              <a:ext uri="{FF2B5EF4-FFF2-40B4-BE49-F238E27FC236}">
                <a16:creationId xmlns:a16="http://schemas.microsoft.com/office/drawing/2014/main" id="{633FA0A9-81EE-45F3-8CFB-016A88E5E1F0}"/>
              </a:ext>
            </a:extLst>
          </p:cNvPr>
          <p:cNvSpPr>
            <a:spLocks xmlns:a="http://schemas.openxmlformats.org/drawingml/2006/main" noGrp="1"/>
          </p:cNvSpPr>
          <p:nvPr/>
        </p:nvSpPr>
        <p:spPr>
          <a:xfrm xmlns:a="http://schemas.openxmlformats.org/drawingml/2006/main">
            <a:off x="914400" y="312420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0" i="0">
                <a:solidFill>
                  <a:srgbClr val="5F7180"/>
                </a:solidFill>
                <a:latin typeface="Arial"/>
                <a:ea typeface="Arial"/>
                <a:cs typeface="Arial"/>
              </a:defRPr>
            </a:pPr>
            <a:r>
              <a:rPr sz="2550" b="0" i="0">
                <a:solidFill>
                  <a:srgbClr val="5F7180"/>
                </a:solidFill>
                <a:latin typeface="Arial"/>
                <a:ea typeface="Arial"/>
                <a:cs typeface="Arial"/>
              </a:rPr>
              <a:t>Questions and discussion</a:t>
            </a:r>
          </a:p>
        </p:txBody>
      </p:sp>
      <p:sp>
        <p:nvSpPr>
          <p:cNvPr id="4" name="">
            <a:extLst xmlns:a="http://schemas.openxmlformats.org/drawingml/2006/main">
              <a:ext uri="{FF2B5EF4-FFF2-40B4-BE49-F238E27FC236}">
                <a16:creationId xmlns:a16="http://schemas.microsoft.com/office/drawing/2014/main" id="{A01C3140-EB2B-4C19-B694-3B07F7E8953E}"/>
              </a:ext>
            </a:extLst>
          </p:cNvPr>
          <p:cNvSpPr>
            <a:spLocks xmlns:a="http://schemas.openxmlformats.org/drawingml/2006/main" noGrp="1"/>
          </p:cNvSpPr>
          <p:nvPr/>
        </p:nvSpPr>
        <p:spPr>
          <a:xfrm xmlns:a="http://schemas.openxmlformats.org/drawingml/2006/main">
            <a:off x="914400" y="39624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0DB6EE8D-6CF1-4A8C-B90A-50063650261C}"/>
              </a:ext>
            </a:extLst>
          </p:cNvPr>
          <p:cNvSpPr>
            <a:spLocks xmlns:a="http://schemas.openxmlformats.org/drawingml/2006/main" noGrp="1"/>
          </p:cNvSpPr>
          <p:nvPr/>
        </p:nvSpPr>
        <p:spPr>
          <a:xfrm xmlns:a="http://schemas.openxmlformats.org/drawingml/2006/main">
            <a:off x="914400" y="432435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8334B"/>
                </a:solidFill>
                <a:latin typeface="Arial"/>
                <a:ea typeface="Arial"/>
                <a:cs typeface="Arial"/>
              </a:defRPr>
            </a:pPr>
            <a:r>
              <a:rPr sz="1800" b="1" i="0">
                <a:solidFill>
                  <a:srgbClr val="18334B"/>
                </a:solidFill>
                <a:latin typeface="Arial"/>
                <a:ea typeface="Arial"/>
                <a:cs typeface="Arial"/>
              </a:rPr>
              <a:t>Proposed autonomous web security assessment framework</a:t>
            </a:r>
          </a:p>
        </p:txBody>
      </p:sp>
      <p:sp>
        <p:nvSpPr>
          <p:cNvPr id="6" name="">
            <a:extLst xmlns:a="http://schemas.openxmlformats.org/drawingml/2006/main">
              <a:ext uri="{FF2B5EF4-FFF2-40B4-BE49-F238E27FC236}">
                <a16:creationId xmlns:a16="http://schemas.microsoft.com/office/drawing/2014/main" id="{04C40BA9-A00E-4B7C-ADDD-1F32AFDA2656}"/>
              </a:ext>
            </a:extLst>
          </p:cNvPr>
          <p:cNvSpPr>
            <a:spLocks xmlns:a="http://schemas.openxmlformats.org/drawingml/2006/main" noGrp="1"/>
          </p:cNvSpPr>
          <p:nvPr/>
        </p:nvSpPr>
        <p:spPr>
          <a:xfrm xmlns:a="http://schemas.openxmlformats.org/drawingml/2006/main">
            <a:off x="914400" y="491490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Working title · proposed architecture · planned evaluation</a:t>
            </a:r>
          </a:p>
        </p:txBody>
      </p:sp>
      <p:sp>
        <p:nvSpPr>
          <p:cNvPr id="7" name="">
            <a:extLst xmlns:a="http://schemas.openxmlformats.org/drawingml/2006/main">
              <a:ext uri="{FF2B5EF4-FFF2-40B4-BE49-F238E27FC236}">
                <a16:creationId xmlns:a16="http://schemas.microsoft.com/office/drawing/2014/main" id="{EF13C9D4-06BC-465A-A1E1-3DC71D600271}"/>
              </a:ext>
            </a:extLst>
          </p:cNvPr>
          <p:cNvSpPr>
            <a:spLocks xmlns:a="http://schemas.openxmlformats.org/drawingml/2006/main" noGrp="1"/>
          </p:cNvSpPr>
          <p:nvPr/>
        </p:nvSpPr>
        <p:spPr>
          <a:xfrm xmlns:a="http://schemas.openxmlformats.org/drawingml/2006/main">
            <a:off x="10477500" y="1352550"/>
            <a:ext cx="6191250" cy="6572250"/>
          </a:xfrm>
          <a:prstGeom xmlns:a="http://schemas.openxmlformats.org/drawingml/2006/main" prst="roundRect">
            <a:avLst>
              <a:gd name="adj" fmla="val 1231"/>
            </a:avLst>
          </a:prstGeom>
          <a:solidFill xmlns:a="http://schemas.openxmlformats.org/drawingml/2006/main">
            <a:srgbClr val="123B6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B441694-74A2-4A98-B44E-A5356996AF83}"/>
              </a:ext>
            </a:extLst>
          </p:cNvPr>
          <p:cNvSpPr>
            <a:spLocks xmlns:a="http://schemas.openxmlformats.org/drawingml/2006/main" noGrp="1"/>
          </p:cNvSpPr>
          <p:nvPr/>
        </p:nvSpPr>
        <p:spPr>
          <a:xfrm xmlns:a="http://schemas.openxmlformats.org/drawingml/2006/main">
            <a:off x="11049000" y="19240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79A9C8"/>
                </a:solidFill>
                <a:latin typeface="Arial"/>
                <a:ea typeface="Arial"/>
                <a:cs typeface="Arial"/>
              </a:defRPr>
            </a:pPr>
            <a:r>
              <a:rPr sz="1500" b="1" i="0">
                <a:solidFill>
                  <a:srgbClr val="79A9C8"/>
                </a:solidFill>
                <a:latin typeface="Arial"/>
                <a:ea typeface="Arial"/>
                <a:cs typeface="Arial"/>
              </a:rPr>
              <a:t>DISCUSSION</a:t>
            </a:r>
          </a:p>
        </p:txBody>
      </p:sp>
      <p:sp>
        <p:nvSpPr>
          <p:cNvPr id="9" name="">
            <a:extLst xmlns:a="http://schemas.openxmlformats.org/drawingml/2006/main">
              <a:ext uri="{FF2B5EF4-FFF2-40B4-BE49-F238E27FC236}">
                <a16:creationId xmlns:a16="http://schemas.microsoft.com/office/drawing/2014/main" id="{4BA113F3-1153-47E8-AC4F-D4D94B7E16E8}"/>
              </a:ext>
            </a:extLst>
          </p:cNvPr>
          <p:cNvSpPr>
            <a:spLocks xmlns:a="http://schemas.openxmlformats.org/drawingml/2006/main" noGrp="1"/>
          </p:cNvSpPr>
          <p:nvPr/>
        </p:nvSpPr>
        <p:spPr>
          <a:xfrm xmlns:a="http://schemas.openxmlformats.org/drawingml/2006/main">
            <a:off x="11144250" y="2667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FFFFFF"/>
                </a:solidFill>
                <a:latin typeface="Arial"/>
                <a:ea typeface="Arial"/>
                <a:cs typeface="Arial"/>
              </a:defRPr>
            </a:pPr>
            <a:r>
              <a:rPr sz="2850" b="1" i="0">
                <a:solidFill>
                  <a:srgbClr val="FFFFFF"/>
                </a:solidFill>
                <a:latin typeface="Arial"/>
                <a:ea typeface="Arial"/>
                <a:cs typeface="Arial"/>
              </a:rPr>
              <a:t>How can a pentesting harness remain useful when AI is unavailable?</a:t>
            </a:r>
          </a:p>
        </p:txBody>
      </p:sp>
      <p:sp>
        <p:nvSpPr>
          <p:cNvPr id="10" name="">
            <a:extLst xmlns:a="http://schemas.openxmlformats.org/drawingml/2006/main">
              <a:ext uri="{FF2B5EF4-FFF2-40B4-BE49-F238E27FC236}">
                <a16:creationId xmlns:a16="http://schemas.microsoft.com/office/drawing/2014/main" id="{87DA2DD2-4B2F-4648-A7F2-8B86B872BE3C}"/>
              </a:ext>
            </a:extLst>
          </p:cNvPr>
          <p:cNvSpPr>
            <a:spLocks xmlns:a="http://schemas.openxmlformats.org/drawingml/2006/main" noGrp="1"/>
          </p:cNvSpPr>
          <p:nvPr/>
        </p:nvSpPr>
        <p:spPr>
          <a:xfrm xmlns:a="http://schemas.openxmlformats.org/drawingml/2006/main">
            <a:off x="11239500" y="4895850"/>
            <a:ext cx="2095500" cy="552450"/>
          </a:xfrm>
          <a:prstGeom xmlns:a="http://schemas.openxmlformats.org/drawingml/2006/main" prst="roundRect">
            <a:avLst>
              <a:gd name="adj" fmla="val 13793"/>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Methodology</a:t>
            </a:r>
          </a:p>
        </p:txBody>
      </p:sp>
      <p:sp>
        <p:nvSpPr>
          <p:cNvPr id="11" name="">
            <a:extLst xmlns:a="http://schemas.openxmlformats.org/drawingml/2006/main">
              <a:ext uri="{FF2B5EF4-FFF2-40B4-BE49-F238E27FC236}">
                <a16:creationId xmlns:a16="http://schemas.microsoft.com/office/drawing/2014/main" id="{AFEF52DE-431D-44FD-AD21-2AF09995DF0D}"/>
              </a:ext>
            </a:extLst>
          </p:cNvPr>
          <p:cNvSpPr>
            <a:spLocks xmlns:a="http://schemas.openxmlformats.org/drawingml/2006/main" noGrp="1"/>
          </p:cNvSpPr>
          <p:nvPr/>
        </p:nvSpPr>
        <p:spPr>
          <a:xfrm xmlns:a="http://schemas.openxmlformats.org/drawingml/2006/main">
            <a:off x="13811250" y="4895850"/>
            <a:ext cx="209550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Evidence</a:t>
            </a:r>
          </a:p>
        </p:txBody>
      </p:sp>
      <p:sp>
        <p:nvSpPr>
          <p:cNvPr id="12" name="">
            <a:extLst xmlns:a="http://schemas.openxmlformats.org/drawingml/2006/main">
              <a:ext uri="{FF2B5EF4-FFF2-40B4-BE49-F238E27FC236}">
                <a16:creationId xmlns:a16="http://schemas.microsoft.com/office/drawing/2014/main" id="{ECA32866-4636-47C9-B117-D2E7806D180D}"/>
              </a:ext>
            </a:extLst>
          </p:cNvPr>
          <p:cNvSpPr>
            <a:spLocks xmlns:a="http://schemas.openxmlformats.org/drawingml/2006/main" noGrp="1"/>
          </p:cNvSpPr>
          <p:nvPr/>
        </p:nvSpPr>
        <p:spPr>
          <a:xfrm xmlns:a="http://schemas.openxmlformats.org/drawingml/2006/main">
            <a:off x="11239500" y="5791200"/>
            <a:ext cx="46672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D79A32"/>
                </a:solidFill>
                <a:latin typeface="Arial"/>
                <a:ea typeface="Arial"/>
                <a:cs typeface="Arial"/>
              </a:defRPr>
            </a:pPr>
            <a:r>
              <a:rPr sz="1500" b="1">
                <a:solidFill>
                  <a:srgbClr val="D79A32"/>
                </a:solidFill>
                <a:latin typeface="Arial"/>
                <a:ea typeface="Arial"/>
                <a:cs typeface="Arial"/>
              </a:rPr>
              <a:t>Human control</a:t>
            </a:r>
          </a:p>
        </p:txBody>
      </p:sp>
      <p:sp>
        <p:nvSpPr>
          <p:cNvPr id="13" name="">
            <a:extLst xmlns:a="http://schemas.openxmlformats.org/drawingml/2006/main">
              <a:ext uri="{FF2B5EF4-FFF2-40B4-BE49-F238E27FC236}">
                <a16:creationId xmlns:a16="http://schemas.microsoft.com/office/drawing/2014/main" id="{D1410BBC-612C-4671-BB98-8A212EA656CE}"/>
              </a:ext>
            </a:extLst>
          </p:cNvPr>
          <p:cNvSpPr>
            <a:spLocks xmlns:a="http://schemas.openxmlformats.org/drawingml/2006/main" noGrp="1"/>
          </p:cNvSpPr>
          <p:nvPr/>
        </p:nvSpPr>
        <p:spPr>
          <a:xfrm xmlns:a="http://schemas.openxmlformats.org/drawingml/2006/main">
            <a:off x="10934700" y="7162800"/>
            <a:ext cx="527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DCE8F0"/>
                </a:solidFill>
                <a:latin typeface="Arial"/>
                <a:ea typeface="Arial"/>
                <a:cs typeface="Arial"/>
              </a:defRPr>
            </a:pPr>
            <a:r>
              <a:rPr sz="1350" b="0" i="0">
                <a:solidFill>
                  <a:srgbClr val="DCE8F0"/>
                </a:solidFill>
                <a:latin typeface="Arial"/>
                <a:ea typeface="Arial"/>
                <a:cs typeface="Arial"/>
              </a:rPr>
              <a:t>Muhammad Usman Hamed · Abdul Ahad · Obaid Ishtiaq Satti</a:t>
            </a:r>
          </a:p>
        </p:txBody>
      </p:sp>
    </p:spTree>
    <p:extLst>
      <p:ext uri="{BB962C8B-B14F-4D97-AF65-F5344CB8AC3E}">
        <p14:creationId xmlns:p14="http://schemas.microsoft.com/office/powerpoint/2010/main" val="195269338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2026-10-01T14:51:29.4710000Z</dcterms:created>
  <dcterms:modified xsi:type="dcterms:W3CDTF">2026-10-01T14:51:29.4710000Z</dcterms:modified>
</coreProperties>
</file>