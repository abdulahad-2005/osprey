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ffdf83f0ad41dc" /><Relationship Type="http://schemas.openxmlformats.org/officeDocument/2006/relationships/extended-properties" Target="/docProps/app.xml" Id="R76a3b1249e604f59" /><Relationship Type="http://schemas.openxmlformats.org/officeDocument/2006/relationships/officeDocument" Target="/ppt/presentation.xml" Id="Redb804163fc74d24"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7ef54ec0f5d548cf"/>
  </p:sldMasterIdLst>
  <p:notesMasterIdLst>
    <p:notesMasterId xmlns:r="http://schemas.openxmlformats.org/officeDocument/2006/relationships" r:id="Rbf85c439881b4c2d"/>
  </p:notesMasterIdLst>
  <p:sldIdLst>
    <p:sldId xmlns:r="http://schemas.openxmlformats.org/officeDocument/2006/relationships" id="256" r:id="R376e98eb4d0c4f60"/>
    <p:sldId xmlns:r="http://schemas.openxmlformats.org/officeDocument/2006/relationships" id="257" r:id="Ra04194948a304927"/>
    <p:sldId xmlns:r="http://schemas.openxmlformats.org/officeDocument/2006/relationships" id="258" r:id="Rad973dcaf80e41ab"/>
    <p:sldId xmlns:r="http://schemas.openxmlformats.org/officeDocument/2006/relationships" id="259" r:id="Ra0b62563def54682"/>
    <p:sldId xmlns:r="http://schemas.openxmlformats.org/officeDocument/2006/relationships" id="260" r:id="Rb2617c1106ed468f"/>
    <p:sldId xmlns:r="http://schemas.openxmlformats.org/officeDocument/2006/relationships" id="261" r:id="Rc85ad0ec165b42d7"/>
    <p:sldId xmlns:r="http://schemas.openxmlformats.org/officeDocument/2006/relationships" id="262" r:id="R5879fc13290f4665"/>
    <p:sldId xmlns:r="http://schemas.openxmlformats.org/officeDocument/2006/relationships" id="263" r:id="Ra585819890a549bf"/>
    <p:sldId xmlns:r="http://schemas.openxmlformats.org/officeDocument/2006/relationships" id="264" r:id="R6a8203aafcb24306"/>
    <p:sldId xmlns:r="http://schemas.openxmlformats.org/officeDocument/2006/relationships" id="265" r:id="Rab84dc617f9b46a5"/>
    <p:sldId xmlns:r="http://schemas.openxmlformats.org/officeDocument/2006/relationships" id="266" r:id="R809ce328a6344ced"/>
    <p:sldId xmlns:r="http://schemas.openxmlformats.org/officeDocument/2006/relationships" id="267" r:id="R082ef83c0f264c35"/>
    <p:sldId xmlns:r="http://schemas.openxmlformats.org/officeDocument/2006/relationships" id="268" r:id="R3f110b5b31174a9c"/>
    <p:sldId xmlns:r="http://schemas.openxmlformats.org/officeDocument/2006/relationships" id="269" r:id="R4bf1e4ccad204633"/>
  </p:sldIdLst>
  <p:sldSz cx="18288000" cy="10287000"/>
  <p:notesSz cx="6858000" cy="9144000"/>
  <p:embeddedFontLst>
    <p:embeddedFont>
      <p:font typeface="Anton"/>
      <p:regular xmlns:r="http://schemas.openxmlformats.org/officeDocument/2006/relationships" r:id="R740c6ef52d39443f"/>
    </p:embeddedFont>
    <p:embeddedFont>
      <p:font typeface="Canva Sans"/>
      <p:regular xmlns:r="http://schemas.openxmlformats.org/officeDocument/2006/relationships" r:id="R8a3aa76001014232"/>
    </p:embeddedFont>
    <p:embeddedFont>
      <p:font typeface="Canva Sans Bold"/>
      <p:regular xmlns:r="http://schemas.openxmlformats.org/officeDocument/2006/relationships" r:id="R1c87e0bb52bb491f"/>
    </p:embeddedFont>
    <p:embeddedFont>
      <p:font typeface="Glacial Indifference"/>
      <p:regular xmlns:r="http://schemas.openxmlformats.org/officeDocument/2006/relationships" r:id="R03bf99bce91e433c"/>
    </p:embeddedFont>
    <p:embeddedFont>
      <p:font typeface="Glacial Indifference Bold"/>
      <p:regular xmlns:r="http://schemas.openxmlformats.org/officeDocument/2006/relationships" r:id="Rb6b5ec0a9ec649a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0ca414998f141b5" /><Relationship Type="http://schemas.openxmlformats.org/officeDocument/2006/relationships/slideMaster" Target="/ppt/slideMasters/slideMaster1.xml" Id="R7ef54ec0f5d548cf" /><Relationship Type="http://schemas.openxmlformats.org/officeDocument/2006/relationships/notesMaster" Target="/ppt/notesMasters/notesMaster1.xml" Id="Rbf85c439881b4c2d" /><Relationship Type="http://schemas.openxmlformats.org/officeDocument/2006/relationships/presProps" Target="/ppt/presProps.xml" Id="Rd8df00cd7d9b4525" /><Relationship Type="http://schemas.openxmlformats.org/officeDocument/2006/relationships/viewProps" Target="/ppt/viewProps.xml" Id="Re15e8a743dc746f2" /><Relationship Type="http://schemas.openxmlformats.org/officeDocument/2006/relationships/tableStyles" Target="/ppt/tableStyles.xml" Id="R820a746d3db74d8c" /><Relationship Type="http://schemas.openxmlformats.org/officeDocument/2006/relationships/font" Target="/ppt/fonts/font.dat" Id="R740c6ef52d39443f" /><Relationship Type="http://schemas.openxmlformats.org/officeDocument/2006/relationships/font" Target="/ppt/fonts/font2.dat" Id="R8a3aa76001014232" /><Relationship Type="http://schemas.openxmlformats.org/officeDocument/2006/relationships/font" Target="/ppt/fonts/font3.dat" Id="R1c87e0bb52bb491f" /><Relationship Type="http://schemas.openxmlformats.org/officeDocument/2006/relationships/font" Target="/ppt/fonts/font4.dat" Id="R03bf99bce91e433c" /><Relationship Type="http://schemas.openxmlformats.org/officeDocument/2006/relationships/font" Target="/ppt/fonts/font5.dat" Id="Rb6b5ec0a9ec649a6" /><Relationship Type="http://schemas.openxmlformats.org/officeDocument/2006/relationships/slide" Target="/ppt/slides/slide1.xml" Id="R376e98eb4d0c4f60" /><Relationship Type="http://schemas.openxmlformats.org/officeDocument/2006/relationships/slide" Target="/ppt/slides/slide2.xml" Id="Ra04194948a304927" /><Relationship Type="http://schemas.openxmlformats.org/officeDocument/2006/relationships/slide" Target="/ppt/slides/slide3.xml" Id="Rad973dcaf80e41ab" /><Relationship Type="http://schemas.openxmlformats.org/officeDocument/2006/relationships/slide" Target="/ppt/slides/slide4.xml" Id="Ra0b62563def54682" /><Relationship Type="http://schemas.openxmlformats.org/officeDocument/2006/relationships/slide" Target="/ppt/slides/slide5.xml" Id="Rb2617c1106ed468f" /><Relationship Type="http://schemas.openxmlformats.org/officeDocument/2006/relationships/slide" Target="/ppt/slides/slide6.xml" Id="Rc85ad0ec165b42d7" /><Relationship Type="http://schemas.openxmlformats.org/officeDocument/2006/relationships/slide" Target="/ppt/slides/slide7.xml" Id="R5879fc13290f4665" /><Relationship Type="http://schemas.openxmlformats.org/officeDocument/2006/relationships/slide" Target="/ppt/slides/slide8.xml" Id="Ra585819890a549bf" /><Relationship Type="http://schemas.openxmlformats.org/officeDocument/2006/relationships/slide" Target="/ppt/slides/slide9.xml" Id="R6a8203aafcb24306" /><Relationship Type="http://schemas.openxmlformats.org/officeDocument/2006/relationships/slide" Target="/ppt/slides/slide10.xml" Id="Rab84dc617f9b46a5" /><Relationship Type="http://schemas.openxmlformats.org/officeDocument/2006/relationships/slide" Target="/ppt/slides/slide11.xml" Id="R809ce328a6344ced" /><Relationship Type="http://schemas.openxmlformats.org/officeDocument/2006/relationships/slide" Target="/ppt/slides/slide12.xml" Id="R082ef83c0f264c35" /><Relationship Type="http://schemas.openxmlformats.org/officeDocument/2006/relationships/slide" Target="/ppt/slides/slide13.xml" Id="R3f110b5b31174a9c" /><Relationship Type="http://schemas.openxmlformats.org/officeDocument/2006/relationships/slide" Target="/ppt/slides/slide14.xml" Id="R4bf1e4ccad2046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384eb6fa84a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d9bb32b9144cb0" /><Relationship Type="http://schemas.openxmlformats.org/officeDocument/2006/relationships/notesMaster" Target="/ppt/notesMasters/notesMaster1.xml" Id="R3683d818610741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a77d32e2d248d6" /><Relationship Type="http://schemas.openxmlformats.org/officeDocument/2006/relationships/notesMaster" Target="/ppt/notesMasters/notesMaster1.xml" Id="R0d590d9ac6814a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3a7558a15a46ed" /><Relationship Type="http://schemas.openxmlformats.org/officeDocument/2006/relationships/notesMaster" Target="/ppt/notesMasters/notesMaster1.xml" Id="R34e8f483ba204e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c3125f1a5c43a5" /><Relationship Type="http://schemas.openxmlformats.org/officeDocument/2006/relationships/notesMaster" Target="/ppt/notesMasters/notesMaster1.xml" Id="R133aa603aeba42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3623a7001d486d" /><Relationship Type="http://schemas.openxmlformats.org/officeDocument/2006/relationships/notesMaster" Target="/ppt/notesMasters/notesMaster1.xml" Id="R0f5de434275742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1eaae0c0074ec7" /><Relationship Type="http://schemas.openxmlformats.org/officeDocument/2006/relationships/notesMaster" Target="/ppt/notesMasters/notesMaster1.xml" Id="R75137a2b4b154c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366a25b43342fd" /><Relationship Type="http://schemas.openxmlformats.org/officeDocument/2006/relationships/notesMaster" Target="/ppt/notesMasters/notesMaster1.xml" Id="R03a6298a96a947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43125ef3f346f6" /><Relationship Type="http://schemas.openxmlformats.org/officeDocument/2006/relationships/notesMaster" Target="/ppt/notesMasters/notesMaster1.xml" Id="Refcca47002df41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3a2c6fd0b947ee" /><Relationship Type="http://schemas.openxmlformats.org/officeDocument/2006/relationships/notesMaster" Target="/ppt/notesMasters/notesMaster1.xml" Id="R43a22814323541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508366b10a4b8f" /><Relationship Type="http://schemas.openxmlformats.org/officeDocument/2006/relationships/notesMaster" Target="/ppt/notesMasters/notesMaster1.xml" Id="R0fad1e9b03b944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79f9bf44254092" /><Relationship Type="http://schemas.openxmlformats.org/officeDocument/2006/relationships/notesMaster" Target="/ppt/notesMasters/notesMaster1.xml" Id="Rae18510dfc5641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323f329f774d13" /><Relationship Type="http://schemas.openxmlformats.org/officeDocument/2006/relationships/notesMaster" Target="/ppt/notesMasters/notesMaster1.xml" Id="R7049d37e262a4d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7445e75cf04e2d" /><Relationship Type="http://schemas.openxmlformats.org/officeDocument/2006/relationships/notesMaster" Target="/ppt/notesMasters/notesMaster1.xml" Id="R378484ccdadc40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6f99716b7d42ac" /><Relationship Type="http://schemas.openxmlformats.org/officeDocument/2006/relationships/notesMaster" Target="/ppt/notesMasters/notesMaster1.xml" Id="Rbc211f3b01124e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at the top shows the steps a tester normally performs. The table compares conventional tools, AI pentesting agents and AI security frameworks. Conventional tools are mature but fragmented. AI systems add reasoning, yet many depend on external models and do not provide broad, continuous reconnaissance or persistent cross-stage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three formal objectives at a high level. The first objective creates one unified assessment harness. The second keeps the system functional without an external LLM. The third covers scope, evidence and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architecture. The central idea is a world model: every tool observation updates shared memory, specialized agents act on that state, and both deterministic and reasoning-driven execution use the same tools and evidence. Use the three buttons for optional explanations, then return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pentester continuously observes, stores evidence, forms a hypothesis, tests it, validates the result and updates memory. That updated state changes the next decision. This loop is the world model that connects the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 agents follow the standard pentesting methodology. Reconnaissance maps the surface, vulnerability assessment tests it, and validation confirms evidence before reporting. Each agent has appropriate tools and skills, while shared memory prevents the phases from becoming disconnected.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execution paths use the same skills and evidence. The deterministic pipeline performs repeatable, battle-tested steps without an LLM. The LLM oversees the wider context and adds judgment where uncertainty or adaptive reasoning matters. Skill files provide the extensible knowledge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why the platform will not rely on promotion calculations or a mixed bucket of findings. Memory will reflect an evidence lifecycle: raw tool facts first, hypotheses and candidates separately, then verified findings only when proof exists. This reduces false positives without adding another complex scoring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6098e3c76e4e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c6aa26a3ca40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37e2284a004f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b935758c9e4e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0d2571efa044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84376fcc88417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3ea232e3cbe402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bd7e4820d644ef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6b0a988002b46e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9f1331b03104a4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d39a95b7bf441c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2A523DE-B747-476D-8A6B-FC65EAC395C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AFA1845-CDF1-48EB-B10C-89331111FC6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82944F53-11E7-4BD9-A1CC-DDD721CE85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2A78A9A1-F2F1-45C9-9230-9C152E1BBB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C89622E-83FD-40B4-B85E-AB91517931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1FBE98-F1B2-464F-9FBF-EDBC4E86CA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9B025D5-28ED-4A06-A0FA-00A29E3B19B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0EFBA67-9C02-4953-B770-6C4FF4345C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6012087B-CA1D-43F1-A2D9-AC956F1F38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1D6F59E-A41C-4E72-A5FA-D4D288CB7F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213130-7B4B-4F96-B2E0-87CE7B3ABDF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3EB5E94-8E49-4DEF-9E45-8C87E19CD5C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C659C4F-2E93-48CC-9F56-D598B096A8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FF1E7B56-402A-4086-BE89-BEB3CBF720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8F906A9-66C2-4FDC-97AF-7CD01C0C88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0245E8-29E0-4665-A8E2-4CC1C826E5D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24BC0F0-D3EB-4556-B7E5-C5C376FEBFF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843F1F1-3396-4377-9B4E-B7FDED39A9A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A93A19D-5A6C-4746-9E4C-3B3A37175A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2989542C-3890-45C3-B09B-995F55F986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233E16E-CCFC-4D6E-908C-C2DB93E00F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336469-E5AB-4B52-B658-CDC54A0E07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C746533-D7EC-4E14-9DF4-BBE165D952F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A7FA9F0-7C62-43CE-9E38-C4E4AE2A05D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067A25B3-F6F1-44B7-B931-0001C431540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5BC20C1-2420-4F98-ABBE-DA7F81B42B0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519F73EE-1DAF-4297-963F-1EC47ABAC8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054D13A1-9B16-47B7-9D23-1481107D78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7FF6BF9-9DEE-46F7-8739-4F3FD71E54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A1E87C-53BC-4840-831F-4F496D28D38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F36C84C1-FCC4-4045-A60B-2C1706082E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D9ECABA8-DE26-4880-9040-15EA2B98A5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6A02E06-11C3-4BBF-92FD-43FA2071A8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F89B2BE-719B-49AA-861E-98F931079F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67E69986-ADAB-4BBB-A787-FA0A1E1FDF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FFBDC8C-9E8E-4C70-9FB1-CEE26773A5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DEB76E-36CB-405F-A01D-10BAA74B5F3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FD3448F-B660-428A-8F68-E4F24B64D1E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55340F9-68FA-4D0E-B91E-A821D15202FD}"/>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50A893C-A38A-4948-A3A8-12C94FF4FD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A32B7179-871A-4E69-A35B-183E59B33F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D590E33-4D5B-4C3C-B99E-073C0FED86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C870EA-1E8F-457A-9B52-CE14F276E1D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F6E703D-120C-4FCB-8D05-B7D611EDA3E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3C88EE1-25A9-41D9-9DF8-1614A79E1CD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CB2E0BB-8FB7-41A0-8560-7EA1D4CE37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4F9C829D-5DC7-4866-9F86-0D9B06D9D8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EF11407-4990-49AB-8493-60A80CE2A7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DC4A00A-7EB8-4727-B24B-9308D5BE704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179D77D-DB47-47D6-817D-0836ABB6523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56F5B8F-0BD8-489A-A5E7-AACFBF49C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742439F0-B208-483B-A579-771BCDE280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FC9F264-D164-424E-BC66-D48A357DE4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F102BBB-B130-4EFB-A9AF-64A5928D200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DD69510-7E28-4CE8-B85F-E5531E36745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F2BBE93-9230-43B4-8576-6973A98484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179AC25A-218D-414A-ACFE-1562DDE1DF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6CF33A3-37FD-4E1B-9101-C0DD931404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088c131baf409b" /><Relationship Type="http://schemas.openxmlformats.org/officeDocument/2006/relationships/slideLayout" Target="/ppt/slideLayouts/slideLayout1.xml" Id="Ra4fceab2fc6348a8" /><Relationship Type="http://schemas.openxmlformats.org/officeDocument/2006/relationships/slideLayout" Target="/ppt/slideLayouts/slideLayout2.xml" Id="R26ae2629f90d42b0" /><Relationship Type="http://schemas.openxmlformats.org/officeDocument/2006/relationships/slideLayout" Target="/ppt/slideLayouts/slideLayout3.xml" Id="R383d69626a1f4b12" /><Relationship Type="http://schemas.openxmlformats.org/officeDocument/2006/relationships/slideLayout" Target="/ppt/slideLayouts/slideLayout4.xml" Id="R3dc498f947a44dfb" /><Relationship Type="http://schemas.openxmlformats.org/officeDocument/2006/relationships/slideLayout" Target="/ppt/slideLayouts/slideLayout5.xml" Id="R3fac096c930e455e" /><Relationship Type="http://schemas.openxmlformats.org/officeDocument/2006/relationships/slideLayout" Target="/ppt/slideLayouts/slideLayout6.xml" Id="R132e355066e14f58" /><Relationship Type="http://schemas.openxmlformats.org/officeDocument/2006/relationships/slideLayout" Target="/ppt/slideLayouts/slideLayout7.xml" Id="R7bf5d2082c0a402b" /><Relationship Type="http://schemas.openxmlformats.org/officeDocument/2006/relationships/slideLayout" Target="/ppt/slideLayouts/slideLayout8.xml" Id="R8952f58fa10542a6" /><Relationship Type="http://schemas.openxmlformats.org/officeDocument/2006/relationships/slideLayout" Target="/ppt/slideLayouts/slideLayout9.xml" Id="R32bf6afd112a44c2" /><Relationship Type="http://schemas.openxmlformats.org/officeDocument/2006/relationships/slideLayout" Target="/ppt/slideLayouts/slideLayout10.xml" Id="R0fc0afdac30c4f4b" /><Relationship Type="http://schemas.openxmlformats.org/officeDocument/2006/relationships/slideLayout" Target="/ppt/slideLayouts/slideLayout11.xml" Id="Rc5823542038b457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8C36C9D-4603-4F9C-9F9F-55DE2542B48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7761CE2-70A6-4B72-A6ED-E9A380CF5C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27E20AF-AD91-49EE-8654-1DCE2DB5DF8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696EB3F-BBDB-4137-9F30-E992BDF820F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B195018-0496-4B91-B393-91BBAD13141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fceab2fc6348a8"/>
    <p:sldLayoutId xmlns:r="http://schemas.openxmlformats.org/officeDocument/2006/relationships" id="2147483650" r:id="R26ae2629f90d42b0"/>
    <p:sldLayoutId xmlns:r="http://schemas.openxmlformats.org/officeDocument/2006/relationships" id="2147483651" r:id="R383d69626a1f4b12"/>
    <p:sldLayoutId xmlns:r="http://schemas.openxmlformats.org/officeDocument/2006/relationships" id="2147483652" r:id="R3dc498f947a44dfb"/>
    <p:sldLayoutId xmlns:r="http://schemas.openxmlformats.org/officeDocument/2006/relationships" id="2147483653" r:id="R3fac096c930e455e"/>
    <p:sldLayoutId xmlns:r="http://schemas.openxmlformats.org/officeDocument/2006/relationships" id="2147483654" r:id="R132e355066e14f58"/>
    <p:sldLayoutId xmlns:r="http://schemas.openxmlformats.org/officeDocument/2006/relationships" id="2147483655" r:id="R7bf5d2082c0a402b"/>
    <p:sldLayoutId xmlns:r="http://schemas.openxmlformats.org/officeDocument/2006/relationships" id="2147483656" r:id="R8952f58fa10542a6"/>
    <p:sldLayoutId xmlns:r="http://schemas.openxmlformats.org/officeDocument/2006/relationships" id="2147483657" r:id="R32bf6afd112a44c2"/>
    <p:sldLayoutId xmlns:r="http://schemas.openxmlformats.org/officeDocument/2006/relationships" id="2147483658" r:id="R0fc0afdac30c4f4b"/>
    <p:sldLayoutId xmlns:r="http://schemas.openxmlformats.org/officeDocument/2006/relationships" id="2147483659" r:id="Rc5823542038b4577"/>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14de105e0d64ace" /><Relationship Type="http://schemas.openxmlformats.org/officeDocument/2006/relationships/notesSlide" Target="/ppt/notesSlides/notesSlide1.xml" Id="Rc72cb90b3ad340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d1f355e655884a3d" /><Relationship Type="http://schemas.openxmlformats.org/officeDocument/2006/relationships/notesSlide" Target="/ppt/notesSlides/notesSlide2.xml" Id="Rb67bbad51e6e4b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98f65240af9426a" /><Relationship Type="http://schemas.openxmlformats.org/officeDocument/2006/relationships/notesSlide" Target="/ppt/notesSlides/notesSlide3.xml" Id="R135a20a9e3974e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f8f023de5ed4f3b" /><Relationship Type="http://schemas.openxmlformats.org/officeDocument/2006/relationships/notesSlide" Target="/ppt/notesSlides/notesSlide4.xml" Id="R58673a4bfb2440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066431edbed4f99" /><Relationship Type="http://schemas.openxmlformats.org/officeDocument/2006/relationships/notesSlide" Target="/ppt/notesSlides/notesSlide5.xml" Id="R8ff3c0f10b3342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a6b8f4944e148f5" /><Relationship Type="http://schemas.openxmlformats.org/officeDocument/2006/relationships/image" Target="/ppt/media/image.png" Id="R032b84636c444546" /><Relationship Type="http://schemas.openxmlformats.org/officeDocument/2006/relationships/slide" Target="../slides/slide7.xml" Id="R78b0c4408d7d48de" /><Relationship Type="http://schemas.openxmlformats.org/officeDocument/2006/relationships/slide" Target="../slides/slide8.xml" Id="Rdf8538d8825c4fd9" /><Relationship Type="http://schemas.openxmlformats.org/officeDocument/2006/relationships/slide" Target="../slides/slide9.xml" Id="Rc9ff2159d6ec4669" /><Relationship Type="http://schemas.openxmlformats.org/officeDocument/2006/relationships/notesSlide" Target="/ppt/notesSlides/notesSlide6.xml" Id="Rd1d678f3c55149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012f405f8e94618" /><Relationship Type="http://schemas.openxmlformats.org/officeDocument/2006/relationships/slide" Target="../slides/slide6.xml" Id="R6aebae361b764cb0" /><Relationship Type="http://schemas.openxmlformats.org/officeDocument/2006/relationships/notesSlide" Target="/ppt/notesSlides/notesSlide7.xml" Id="R36c89d8d0edf46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571d1c6179604b8c" /><Relationship Type="http://schemas.openxmlformats.org/officeDocument/2006/relationships/image" Target="/ppt/media/image2.png" Id="Rb561178858d8451b" /><Relationship Type="http://schemas.openxmlformats.org/officeDocument/2006/relationships/slide" Target="../slides/slide6.xml" Id="R9a0a4e545c6648f6" /><Relationship Type="http://schemas.openxmlformats.org/officeDocument/2006/relationships/notesSlide" Target="/ppt/notesSlides/notesSlide8.xml" Id="Rf0e8d747909146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8deed50c63b40ac" /><Relationship Type="http://schemas.openxmlformats.org/officeDocument/2006/relationships/image" Target="/ppt/media/image3.png" Id="R8b4d82e4f6e0436a" /><Relationship Type="http://schemas.openxmlformats.org/officeDocument/2006/relationships/slide" Target="../slides/slide6.xml" Id="R8735603cdd28497c" /><Relationship Type="http://schemas.openxmlformats.org/officeDocument/2006/relationships/notesSlide" Target="/ppt/notesSlides/notesSlide9.xml" Id="R3502e751d85443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706a369278946c8" /><Relationship Type="http://schemas.openxmlformats.org/officeDocument/2006/relationships/notesSlide" Target="/ppt/notesSlides/notesSlide10.xml" Id="Re6472d7afc424d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a899dba6b6e54365" /><Relationship Type="http://schemas.openxmlformats.org/officeDocument/2006/relationships/notesSlide" Target="/ppt/notesSlides/notesSlide11.xml" Id="Rf97b678229a84e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c93158e6f714d49" /><Relationship Type="http://schemas.openxmlformats.org/officeDocument/2006/relationships/notesSlide" Target="/ppt/notesSlides/notesSlide12.xml" Id="R6dd65246ba5049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80de1018b694437e" /><Relationship Type="http://schemas.openxmlformats.org/officeDocument/2006/relationships/notesSlide" Target="/ppt/notesSlides/notesSlide13.xml" Id="R4e7ea572e8c54f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d3578c058e146ca" /><Relationship Type="http://schemas.openxmlformats.org/officeDocument/2006/relationships/notesSlide" Target="/ppt/notesSlides/notesSlide14.xml" Id="R5f98753610c443a6"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2F38CC1-E601-4829-BD12-BC1FD4BA7D18}"/>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A2EF460E-0B03-4FDA-9AA4-02196BF075B8}"/>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8FF2E1F8-671A-4BB4-B0BC-E86CF5117ECE}"/>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0" i="0">
                <a:solidFill>
                  <a:srgbClr val="5F7180"/>
                </a:solidFill>
                <a:latin typeface="Arial"/>
                <a:ea typeface="Arial"/>
                <a:cs typeface="Arial"/>
              </a:defRPr>
            </a:pPr>
            <a:r>
              <a:rPr sz="2100" b="0" i="0">
                <a:solidFill>
                  <a:srgbClr val="5F7180"/>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81AC3C00-A82B-4D32-A248-6E800DA327C8}"/>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7955ECEF-9237-4F5D-9AD9-C03B73CDB3FB}"/>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EF7BE0AA-A923-49DA-BAB6-659961AB277D}"/>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5F7180"/>
                </a:solidFill>
                <a:latin typeface="Arial"/>
                <a:ea typeface="Arial"/>
                <a:cs typeface="Arial"/>
              </a:defRPr>
            </a:pPr>
            <a:r>
              <a:rPr sz="1500" b="0" i="0">
                <a:solidFill>
                  <a:srgbClr val="5F7180"/>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D58234E5-0AF3-4C8F-B191-0EC77988A173}"/>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4A71FF5C-085B-4112-B160-A36AB57FB795}"/>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9F9F332A-9092-4B60-B5A9-CD796EACC3E4}"/>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33288705-0270-47FB-95F5-3A7FE7F3600F}"/>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123B63"/>
                </a:solidFill>
                <a:latin typeface="Arial"/>
                <a:ea typeface="Arial"/>
                <a:cs typeface="Arial"/>
              </a:defRPr>
            </a:pPr>
            <a:r>
              <a:rPr sz="165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249D1019-0FE6-4CE6-AD57-5389D08F0B02}"/>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010C68-B94D-428A-BB86-21095B100F72}"/>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6D9AE10-E10D-4B4B-BE18-F0BD25D545B1}"/>
              </a:ext>
            </a:extLst>
          </p:cNvPr>
          <p:cNvSpPr>
            <a:spLocks xmlns:a="http://schemas.openxmlformats.org/drawingml/2006/main" noGrp="1"/>
          </p:cNvSpPr>
          <p:nvPr/>
        </p:nvSpPr>
        <p:spPr>
          <a:xfrm xmlns:a="http://schemas.openxmlformats.org/drawingml/2006/main">
            <a:off x="11906250" y="37909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i="0">
                <a:solidFill>
                  <a:srgbClr val="FFFFFF"/>
                </a:solidFill>
                <a:latin typeface="Arial"/>
                <a:ea typeface="Arial"/>
                <a:cs typeface="Arial"/>
              </a:defRPr>
            </a:pPr>
            <a:r>
              <a:rPr sz="2400" b="1" i="0">
                <a:solidFill>
                  <a:srgbClr val="FFFFFF"/>
                </a:solidFill>
                <a:latin typeface="Arial"/>
                <a:ea typeface="Arial"/>
                <a:cs typeface="Arial"/>
              </a:rPr>
              <a:t>UNIFIED HARNESS</a:t>
            </a:r>
          </a:p>
        </p:txBody>
      </p:sp>
      <p:sp>
        <p:nvSpPr>
          <p:cNvPr id="14" name="">
            <a:extLst xmlns:a="http://schemas.openxmlformats.org/drawingml/2006/main">
              <a:ext uri="{FF2B5EF4-FFF2-40B4-BE49-F238E27FC236}">
                <a16:creationId xmlns:a16="http://schemas.microsoft.com/office/drawing/2014/main" id="{96377ADE-8496-4B7C-8ED0-AD3067F7877D}"/>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Deterministic methodology</a:t>
            </a:r>
          </a:p>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1899F99A-2DD8-47C5-AA48-1C069407497E}"/>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E5727CB-A16E-4377-AD52-051494525D05}"/>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123B63"/>
                </a:solidFill>
                <a:latin typeface="Arial"/>
                <a:ea typeface="Arial"/>
                <a:cs typeface="Arial"/>
              </a:defRPr>
            </a:pPr>
            <a:r>
              <a:rPr sz="135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E0C8E333-7955-48E1-9385-2D3B94EE8146}"/>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5819512E-8195-4913-8B74-D467B6CF3784}"/>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D79A32"/>
                </a:solidFill>
                <a:latin typeface="Arial"/>
                <a:ea typeface="Arial"/>
                <a:cs typeface="Arial"/>
              </a:defRPr>
            </a:pPr>
            <a:r>
              <a:rPr sz="135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941BAE68-AB2F-41C9-84E3-BCB36A60E951}"/>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5F7180"/>
                </a:solidFill>
                <a:latin typeface="Arial"/>
                <a:ea typeface="Arial"/>
                <a:cs typeface="Arial"/>
              </a:defRPr>
            </a:pPr>
            <a:r>
              <a:rPr sz="1425" b="0" i="1">
                <a:solidFill>
                  <a:srgbClr val="5F7180"/>
                </a:solidFill>
                <a:latin typeface="Arial"/>
                <a:ea typeface="Arial"/>
                <a:cs typeface="Arial"/>
              </a:rPr>
              <a:t>Proposed system — not a completed product</a:t>
            </a:r>
          </a:p>
        </p:txBody>
      </p:sp>
    </p:spTree>
    <p:extLst>
      <p:ext uri="{BB962C8B-B14F-4D97-AF65-F5344CB8AC3E}">
        <p14:creationId xmlns:p14="http://schemas.microsoft.com/office/powerpoint/2010/main" val="1847605364"/>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0053C41-CA9A-45A6-9F87-48A1368716FC}"/>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EC4F3029-1E9D-43B1-96B0-2F82FFF26DB4}"/>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1E955F27-AF7B-4DF6-A663-DB6A7033F08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3F1EEC80-759C-44F0-B00A-FC00F620D69A}"/>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C00CA4D-5A54-403F-9E11-F2FA9F2F8182}"/>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63D60D-92F4-42EB-8BBA-95FD364AF122}"/>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C1C4A3EA-5471-44A0-8D41-C06CE534C075}"/>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914550E0-2050-4A64-92DF-86A2DBF55BF6}"/>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DCE8F0"/>
                </a:solidFill>
                <a:latin typeface="Arial"/>
                <a:ea typeface="Arial"/>
                <a:cs typeface="Arial"/>
              </a:defRPr>
            </a:pPr>
            <a:r>
              <a:rPr sz="150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62ADD2FE-3B54-48A0-AAB7-BC8FA58952B2}"/>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C55B48"/>
                </a:solidFill>
                <a:latin typeface="Arial"/>
                <a:ea typeface="Arial"/>
                <a:cs typeface="Arial"/>
              </a:defRPr>
            </a:pPr>
            <a:r>
              <a:rPr sz="165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755C0446-7883-4B8D-86AF-C7BDA4459E5F}"/>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16EA310D-A3D0-4822-BFB3-8772B3FD2991}"/>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577D04FC-2CF9-4D75-BD0F-E09CBCB79F81}"/>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E2E95E-F91B-4B13-BA4E-F6BE79B03460}"/>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1C080631-54E0-495C-A5F9-6C16F025C230}"/>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26F8971A-C752-4E8E-BB65-1DD9D9C4A27E}"/>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F7545FA1-6CB3-4FBA-9F9D-F878AAE04B29}"/>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06CBA54-8ED8-48D2-A86D-138D7D744EE1}"/>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C2F3787B-9824-400A-90EE-E0D9F9623BF0}"/>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17FFE113-84A5-4E36-A8E9-0880253EAD38}"/>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0B3DAC4D-F23A-4372-B0F7-E6623DA87B9D}"/>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D1CD56F-971E-42CE-B043-5C65E5DE7450}"/>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2F33781A-29A7-4942-A149-F555B7024B7D}"/>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014E68C3-D533-4230-B690-FD6C6509B837}"/>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A4B6597-EAA9-4531-A2FF-D5BD78772D52}"/>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D6A983B9-3F1B-4FAB-B837-65382DF6C343}"/>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8334B"/>
                </a:solidFill>
                <a:latin typeface="Arial"/>
                <a:ea typeface="Arial"/>
                <a:cs typeface="Arial"/>
              </a:defRPr>
            </a:pPr>
            <a:r>
              <a:rPr sz="2175" b="1" i="0">
                <a:solidFill>
                  <a:srgbClr val="18334B"/>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41DF41BC-1775-49EA-A9B2-1BCD2BD3E2B2}"/>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26618838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24C2F5-EDB6-46ED-9090-6CCDE3D2D48E}"/>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BA9E8D87-4BE2-4E0F-9682-AF84B3D4A897}"/>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Existing tools and technologies</a:t>
            </a:r>
          </a:p>
        </p:txBody>
      </p:sp>
      <p:sp>
        <p:nvSpPr>
          <p:cNvPr id="3" name="">
            <a:extLst xmlns:a="http://schemas.openxmlformats.org/drawingml/2006/main">
              <a:ext uri="{FF2B5EF4-FFF2-40B4-BE49-F238E27FC236}">
                <a16:creationId xmlns:a16="http://schemas.microsoft.com/office/drawing/2014/main" id="{E0E53D0E-8894-4B05-88F5-86FF1F1D8FE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09CF6347-2850-4388-BFDC-F2DABD92B870}"/>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BABC1DB-7FF1-4623-8C6C-A7A76C5F83E4}"/>
              </a:ext>
            </a:extLst>
          </p:cNvPr>
          <p:cNvSpPr>
            <a:spLocks xmlns:a="http://schemas.openxmlformats.org/drawingml/2006/main" noGrp="1"/>
          </p:cNvSpPr>
          <p:nvPr/>
        </p:nvSpPr>
        <p:spPr>
          <a:xfrm xmlns:a="http://schemas.openxmlformats.org/drawingml/2006/main">
            <a:off x="87630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Typical pentesting workflow</a:t>
            </a:r>
          </a:p>
        </p:txBody>
      </p:sp>
      <p:sp>
        <p:nvSpPr>
          <p:cNvPr id="6" name="">
            <a:extLst xmlns:a="http://schemas.openxmlformats.org/drawingml/2006/main">
              <a:ext uri="{FF2B5EF4-FFF2-40B4-BE49-F238E27FC236}">
                <a16:creationId xmlns:a16="http://schemas.microsoft.com/office/drawing/2014/main" id="{8B34E89B-7DF3-4370-B707-A1B4E3DD5815}"/>
              </a:ext>
            </a:extLst>
          </p:cNvPr>
          <p:cNvSpPr>
            <a:spLocks xmlns:a="http://schemas.openxmlformats.org/drawingml/2006/main" noGrp="1"/>
          </p:cNvSpPr>
          <p:nvPr/>
        </p:nvSpPr>
        <p:spPr>
          <a:xfrm xmlns:a="http://schemas.openxmlformats.org/drawingml/2006/main">
            <a:off x="87630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2D8B84"/>
                </a:solidFill>
                <a:latin typeface="Arial"/>
                <a:ea typeface="Arial"/>
                <a:cs typeface="Arial"/>
              </a:defRPr>
            </a:pPr>
            <a:r>
              <a:rPr sz="1425" b="1">
                <a:solidFill>
                  <a:srgbClr val="2D8B84"/>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D7A613BA-5DDC-4201-892B-931144C71614}"/>
              </a:ext>
            </a:extLst>
          </p:cNvPr>
          <p:cNvSpPr>
            <a:spLocks xmlns:a="http://schemas.openxmlformats.org/drawingml/2006/main" noGrp="1"/>
          </p:cNvSpPr>
          <p:nvPr/>
        </p:nvSpPr>
        <p:spPr>
          <a:xfrm xmlns:a="http://schemas.openxmlformats.org/drawingml/2006/main">
            <a:off x="37338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E06D67-10E4-4435-A785-14206BC5022F}"/>
              </a:ext>
            </a:extLst>
          </p:cNvPr>
          <p:cNvSpPr>
            <a:spLocks xmlns:a="http://schemas.openxmlformats.org/drawingml/2006/main" noGrp="1"/>
          </p:cNvSpPr>
          <p:nvPr/>
        </p:nvSpPr>
        <p:spPr>
          <a:xfrm xmlns:a="http://schemas.openxmlformats.org/drawingml/2006/main">
            <a:off x="405765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2D8B84"/>
                </a:solidFill>
                <a:latin typeface="Arial"/>
                <a:ea typeface="Arial"/>
                <a:cs typeface="Arial"/>
              </a:defRPr>
            </a:pPr>
            <a:r>
              <a:rPr sz="1425" b="1">
                <a:solidFill>
                  <a:srgbClr val="2D8B84"/>
                </a:solidFill>
                <a:latin typeface="Arial"/>
                <a:ea typeface="Arial"/>
                <a:cs typeface="Arial"/>
              </a:rPr>
              <a:t>Resolve and probe</a:t>
            </a:r>
          </a:p>
        </p:txBody>
      </p:sp>
      <p:sp>
        <p:nvSpPr>
          <p:cNvPr id="9" name="">
            <a:extLst xmlns:a="http://schemas.openxmlformats.org/drawingml/2006/main">
              <a:ext uri="{FF2B5EF4-FFF2-40B4-BE49-F238E27FC236}">
                <a16:creationId xmlns:a16="http://schemas.microsoft.com/office/drawing/2014/main" id="{BF709D15-DA6C-4450-88C9-218322824384}"/>
              </a:ext>
            </a:extLst>
          </p:cNvPr>
          <p:cNvSpPr>
            <a:spLocks xmlns:a="http://schemas.openxmlformats.org/drawingml/2006/main" noGrp="1"/>
          </p:cNvSpPr>
          <p:nvPr/>
        </p:nvSpPr>
        <p:spPr>
          <a:xfrm xmlns:a="http://schemas.openxmlformats.org/drawingml/2006/main">
            <a:off x="69151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F022D1-71AC-4818-922C-AEC1CB4ACD90}"/>
              </a:ext>
            </a:extLst>
          </p:cNvPr>
          <p:cNvSpPr>
            <a:spLocks xmlns:a="http://schemas.openxmlformats.org/drawingml/2006/main" noGrp="1"/>
          </p:cNvSpPr>
          <p:nvPr/>
        </p:nvSpPr>
        <p:spPr>
          <a:xfrm xmlns:a="http://schemas.openxmlformats.org/drawingml/2006/main">
            <a:off x="723900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Map services</a:t>
            </a:r>
          </a:p>
        </p:txBody>
      </p:sp>
      <p:sp>
        <p:nvSpPr>
          <p:cNvPr id="11" name="">
            <a:extLst xmlns:a="http://schemas.openxmlformats.org/drawingml/2006/main">
              <a:ext uri="{FF2B5EF4-FFF2-40B4-BE49-F238E27FC236}">
                <a16:creationId xmlns:a16="http://schemas.microsoft.com/office/drawing/2014/main" id="{090F425C-875D-44D8-AD9F-FDCD5DA0B0F2}"/>
              </a:ext>
            </a:extLst>
          </p:cNvPr>
          <p:cNvSpPr>
            <a:spLocks xmlns:a="http://schemas.openxmlformats.org/drawingml/2006/main" noGrp="1"/>
          </p:cNvSpPr>
          <p:nvPr/>
        </p:nvSpPr>
        <p:spPr>
          <a:xfrm xmlns:a="http://schemas.openxmlformats.org/drawingml/2006/main">
            <a:off x="100965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A9A629-87C1-446C-A6E0-1CD9B18C22DE}"/>
              </a:ext>
            </a:extLst>
          </p:cNvPr>
          <p:cNvSpPr>
            <a:spLocks xmlns:a="http://schemas.openxmlformats.org/drawingml/2006/main" noGrp="1"/>
          </p:cNvSpPr>
          <p:nvPr/>
        </p:nvSpPr>
        <p:spPr>
          <a:xfrm xmlns:a="http://schemas.openxmlformats.org/drawingml/2006/main">
            <a:off x="1042035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Test applications</a:t>
            </a:r>
          </a:p>
        </p:txBody>
      </p:sp>
      <p:sp>
        <p:nvSpPr>
          <p:cNvPr id="13" name="">
            <a:extLst xmlns:a="http://schemas.openxmlformats.org/drawingml/2006/main">
              <a:ext uri="{FF2B5EF4-FFF2-40B4-BE49-F238E27FC236}">
                <a16:creationId xmlns:a16="http://schemas.microsoft.com/office/drawing/2014/main" id="{FF603D46-D5F8-4EF4-9766-14DA38F42F25}"/>
              </a:ext>
            </a:extLst>
          </p:cNvPr>
          <p:cNvSpPr>
            <a:spLocks xmlns:a="http://schemas.openxmlformats.org/drawingml/2006/main" noGrp="1"/>
          </p:cNvSpPr>
          <p:nvPr/>
        </p:nvSpPr>
        <p:spPr>
          <a:xfrm xmlns:a="http://schemas.openxmlformats.org/drawingml/2006/main">
            <a:off x="132778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1E92F3F-56E0-46E8-AE5F-033AD583B0A6}"/>
              </a:ext>
            </a:extLst>
          </p:cNvPr>
          <p:cNvSpPr>
            <a:spLocks xmlns:a="http://schemas.openxmlformats.org/drawingml/2006/main" noGrp="1"/>
          </p:cNvSpPr>
          <p:nvPr/>
        </p:nvSpPr>
        <p:spPr>
          <a:xfrm xmlns:a="http://schemas.openxmlformats.org/drawingml/2006/main">
            <a:off x="13601700" y="2571750"/>
            <a:ext cx="2762250" cy="514350"/>
          </a:xfrm>
          <a:prstGeom xmlns:a="http://schemas.openxmlformats.org/drawingml/2006/main" prst="roundRect">
            <a:avLst>
              <a:gd name="adj" fmla="val 14815"/>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D79A32"/>
                </a:solidFill>
                <a:latin typeface="Arial"/>
                <a:ea typeface="Arial"/>
                <a:cs typeface="Arial"/>
              </a:defRPr>
            </a:pPr>
            <a:r>
              <a:rPr sz="1425" b="1">
                <a:solidFill>
                  <a:srgbClr val="D79A32"/>
                </a:solidFill>
                <a:latin typeface="Arial"/>
                <a:ea typeface="Arial"/>
                <a:cs typeface="Arial"/>
              </a:rPr>
              <a:t>Validate and report</a:t>
            </a:r>
          </a:p>
        </p:txBody>
      </p:sp>
      <p:graphicFrame>
        <p:nvGraphicFramePr>
          <p:cNvPr id="31" name=""/>
          <p:cNvGraphicFramePr/>
          <p:nvPr/>
        </p:nvGraphicFramePr>
        <p:xfrm>
          <a:off xmlns:a="http://schemas.openxmlformats.org/drawingml/2006/main" x="876300" y="3524250"/>
          <a:ext xmlns:a="http://schemas.openxmlformats.org/drawingml/2006/main" cx="15773400" cy="4495800"/>
        </p:xfrm>
        <a:graphic xmlns:a="http://schemas.openxmlformats.org/drawingml/2006/main">
          <a:graphicData uri="http://schemas.openxmlformats.org/drawingml/2006/table">
            <a:tbl>
              <a:tblPr/>
              <a:tblGrid>
                <a:gridCol w="2857500"/>
                <a:gridCol w="4953000"/>
                <a:gridCol w="3429000"/>
                <a:gridCol w="4533900"/>
              </a:tblGrid>
              <a:tr h="609600">
                <a:tc>
                  <a:txBody>
                    <a:bodyPr lIns="114300" tIns="95250" rIns="114300" bIns="95250">
                      <a:normAutofit/>
                    </a:bodyPr>
                    <a:lstStyle/>
                    <a:p>
                      <a:r>
                        <a:rPr sz="1650" b="1">
                          <a:solidFill>
                            <a:srgbClr val="FFFFFF"/>
                          </a:solidFill>
                          <a:latin typeface="Arial"/>
                          <a:ea typeface="Arial"/>
                          <a:cs typeface="Arial"/>
                        </a:rPr>
                        <a:t>Category</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Examples</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Strength</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Limitation</a:t>
                      </a:r>
                    </a:p>
                  </a:txBody>
                  <a:tcPr marL="91440" marR="91440" marT="45720" marB="45720" anchor="ctr">
                    <a:solidFill>
                      <a:srgbClr val="123B63"/>
                    </a:solidFill>
                  </a:tcPr>
                </a:tc>
              </a:tr>
              <a:tr h="1200150">
                <a:tc>
                  <a:txBody>
                    <a:bodyPr lIns="114300" tIns="95250" rIns="114300" bIns="95250">
                      <a:normAutofit/>
                    </a:bodyPr>
                    <a:lstStyle/>
                    <a:p>
                      <a:r>
                        <a:rPr sz="1500" b="1">
                          <a:solidFill>
                            <a:srgbClr val="18334B"/>
                          </a:solidFill>
                          <a:latin typeface="Arial"/>
                          <a:ea typeface="Arial"/>
                          <a:cs typeface="Arial"/>
                        </a:rPr>
                        <a:t>Conventional security tools</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Subfinder, Amass, Nmap, Nuclei, SQLmap, ZAP, Metasploit</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Mature, specialized and repeatable</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Require manual coordination. Outputs remain disconnected and provide limited contextual reasoning.</a:t>
                      </a:r>
                    </a:p>
                  </a:txBody>
                  <a:tcPr marL="91440" marR="91440" marT="45720" marB="45720" anchor="ctr">
                    <a:solidFill>
                      <a:srgbClr val="FFFDF9"/>
                    </a:solidFill>
                  </a:tcPr>
                </a:tc>
              </a:tr>
              <a:tr h="1485900">
                <a:tc>
                  <a:txBody>
                    <a:bodyPr lIns="114300" tIns="95250" rIns="114300" bIns="95250">
                      <a:normAutofit/>
                    </a:bodyPr>
                    <a:lstStyle/>
                    <a:p>
                      <a:r>
                        <a:rPr sz="1500" b="1">
                          <a:solidFill>
                            <a:srgbClr val="18334B"/>
                          </a:solidFill>
                          <a:latin typeface="Arial"/>
                          <a:ea typeface="Arial"/>
                          <a:cs typeface="Arial"/>
                        </a:rPr>
                        <a:t>AI pentesting agents</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PentestGPT, HackSynth, PentestAgent, AutoPentester, AutoAttacker, PentAGI, DarkMoon</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Adaptive planning and interpretation</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Depend on LLMs. Many evaluations use bounded tasks and provide limited broad reconnaissance coverage.</a:t>
                      </a:r>
                    </a:p>
                  </a:txBody>
                  <a:tcPr marL="91440" marR="91440" marT="45720" marB="45720" anchor="ctr">
                    <a:solidFill>
                      <a:srgbClr val="EDF3F5"/>
                    </a:solidFill>
                  </a:tcPr>
                </a:tc>
              </a:tr>
              <a:tr h="1200150">
                <a:tc>
                  <a:txBody>
                    <a:bodyPr lIns="114300" tIns="95250" rIns="114300" bIns="95250">
                      <a:normAutofit/>
                    </a:bodyPr>
                    <a:lstStyle/>
                    <a:p>
                      <a:r>
                        <a:rPr sz="1500" b="1">
                          <a:solidFill>
                            <a:srgbClr val="18334B"/>
                          </a:solidFill>
                          <a:latin typeface="Arial"/>
                          <a:ea typeface="Arial"/>
                          <a:cs typeface="Arial"/>
                        </a:rPr>
                        <a:t>AI security frameworks</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HexStrike AI, pentestMCP, Shannon</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Centralized tool access and automation</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Tool access alone does not provide a complete workflow or persistent correlation across testing stages.</a:t>
                      </a:r>
                    </a:p>
                  </a:txBody>
                  <a:tcPr marL="91440" marR="91440" marT="45720" marB="45720" anchor="ctr">
                    <a:solidFill>
                      <a:srgbClr val="FFFDF9"/>
                    </a:solidFill>
                  </a:tcPr>
                </a:tc>
              </a:tr>
            </a:tbl>
          </a:graphicData>
        </a:graphic>
      </p:graphicFrame>
      <p:sp>
        <p:nvSpPr>
          <p:cNvPr id="16" name="">
            <a:extLst xmlns:a="http://schemas.openxmlformats.org/drawingml/2006/main">
              <a:ext uri="{FF2B5EF4-FFF2-40B4-BE49-F238E27FC236}">
                <a16:creationId xmlns:a16="http://schemas.microsoft.com/office/drawing/2014/main" id="{B5F1B817-9EC0-41E9-B96F-E27861FAEC95}"/>
              </a:ext>
            </a:extLst>
          </p:cNvPr>
          <p:cNvSpPr>
            <a:spLocks xmlns:a="http://schemas.openxmlformats.org/drawingml/2006/main" noGrp="1"/>
          </p:cNvSpPr>
          <p:nvPr/>
        </p:nvSpPr>
        <p:spPr>
          <a:xfrm xmlns:a="http://schemas.openxmlformats.org/drawingml/2006/main">
            <a:off x="914400" y="85725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1842169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E70F88E-8420-4B95-9620-BEBC6D115944}"/>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9BEC66CB-7C1E-4456-B430-9D941F3480E8}"/>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3ACB9657-41CA-4165-B7E2-FC3753E221D0}"/>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D9DFAA47-9616-4A37-B017-C779572A78C1}"/>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EE53AD3-8838-4F90-B805-A65C2074B4EB}"/>
              </a:ext>
            </a:extLst>
          </p:cNvPr>
          <p:cNvSpPr>
            <a:spLocks xmlns:a="http://schemas.openxmlformats.org/drawingml/2006/main" noGrp="1"/>
          </p:cNvSpPr>
          <p:nvPr/>
        </p:nvSpPr>
        <p:spPr>
          <a:xfrm xmlns:a="http://schemas.openxmlformats.org/drawingml/2006/main">
            <a:off x="876300" y="20574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5F7180"/>
                </a:solidFill>
                <a:latin typeface="Arial"/>
                <a:ea typeface="Arial"/>
                <a:cs typeface="Arial"/>
              </a:defRPr>
            </a:pPr>
            <a:r>
              <a:rPr sz="2025" b="0" i="0">
                <a:solidFill>
                  <a:srgbClr val="5F7180"/>
                </a:solidFill>
                <a:latin typeface="Arial"/>
                <a:ea typeface="Arial"/>
                <a:cs typeface="Arial"/>
              </a:rPr>
              <a:t>Practical limitations prevent current tools from covering large infrastructures as one connected assessment.</a:t>
            </a:r>
          </a:p>
        </p:txBody>
      </p:sp>
      <p:sp>
        <p:nvSpPr>
          <p:cNvPr id="6" name="">
            <a:extLst xmlns:a="http://schemas.openxmlformats.org/drawingml/2006/main">
              <a:ext uri="{FF2B5EF4-FFF2-40B4-BE49-F238E27FC236}">
                <a16:creationId xmlns:a16="http://schemas.microsoft.com/office/drawing/2014/main" id="{96274695-054D-418F-9F12-E9C1460F632D}"/>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47837BE4-41C0-49C1-A5E3-2A8DD4AD8268}"/>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BB06AD3-8CEE-4C1D-8C6E-F7633A2CBB9E}"/>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72C60A48-D87F-4451-B405-649A9B69C68F}"/>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D6535F88-B252-4D9C-9637-3274F922E82F}"/>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A0F4958A-762C-42B8-BE9B-B5DF60CFA6E0}"/>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6CB8EF-3EA0-48C9-9A7A-A19F0DFD81EF}"/>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DFEBA55C-9579-4A5F-8A3B-8DD9D6C06691}"/>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6FB24C8E-4850-4F59-9129-F0ABCB6CC464}"/>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8D510573-0753-400E-99C5-B10D4E04DEE7}"/>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C382DF3-E92B-4C7C-9A3C-195C5BB3FB7A}"/>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77B293A1-D840-423B-BB8D-5E35C504F837}"/>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14E68316-318F-4239-A50D-6DB13DBFA1BB}"/>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AD0E9DB-35C4-465A-85C4-9A1C85AC3BF1}"/>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D7EC802F-FCB6-4A24-8A27-CB95B770C02F}"/>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3A2F0910-9F52-4A99-9DCB-D7C4816F8B8B}"/>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EA4F48C8-6A4F-47B3-B597-131EE2CD2036}"/>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7181F3F3-1DB4-45AE-B834-7B2E67691DFD}"/>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pp. 10–12.</a:t>
            </a:r>
          </a:p>
        </p:txBody>
      </p:sp>
    </p:spTree>
    <p:extLst>
      <p:ext uri="{BB962C8B-B14F-4D97-AF65-F5344CB8AC3E}">
        <p14:creationId xmlns:p14="http://schemas.microsoft.com/office/powerpoint/2010/main" val="88415704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D3A9C81-F3D3-479B-A8C9-58CA4B04E729}"/>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04 / PROJECT OBJECTIVES</a:t>
            </a:r>
          </a:p>
        </p:txBody>
      </p:sp>
      <p:sp>
        <p:nvSpPr>
          <p:cNvPr id="2" name="">
            <a:extLst xmlns:a="http://schemas.openxmlformats.org/drawingml/2006/main">
              <a:ext uri="{FF2B5EF4-FFF2-40B4-BE49-F238E27FC236}">
                <a16:creationId xmlns:a16="http://schemas.microsoft.com/office/drawing/2014/main" id="{C9243C09-EC11-48D0-9DEC-588B95AA904B}"/>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DC9A61D9-F6AE-4C78-939F-C4677D4D7FA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FAAD04FD-B41D-4541-A2E9-4DF615E4BACE}"/>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4B5457D-763D-46B3-B2EB-F893299ACD61}"/>
              </a:ext>
            </a:extLst>
          </p:cNvPr>
          <p:cNvSpPr>
            <a:spLocks xmlns:a="http://schemas.openxmlformats.org/drawingml/2006/main" noGrp="1"/>
          </p:cNvSpPr>
          <p:nvPr/>
        </p:nvSpPr>
        <p:spPr>
          <a:xfrm xmlns:a="http://schemas.openxmlformats.org/drawingml/2006/main">
            <a:off x="87630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1D4D3503-5146-42BE-8307-247120E7722A}"/>
              </a:ext>
            </a:extLst>
          </p:cNvPr>
          <p:cNvSpPr>
            <a:spLocks xmlns:a="http://schemas.openxmlformats.org/drawingml/2006/main" noGrp="1"/>
          </p:cNvSpPr>
          <p:nvPr/>
        </p:nvSpPr>
        <p:spPr>
          <a:xfrm xmlns:a="http://schemas.openxmlformats.org/drawingml/2006/main">
            <a:off x="876300" y="2533650"/>
            <a:ext cx="85725" cy="42862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BB7FEF2-DDCC-44E7-A0C5-EA2F76BA8313}"/>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5"/>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Integrated security assessment</a:t>
            </a:r>
          </a:p>
        </p:txBody>
      </p:sp>
      <p:sp>
        <p:nvSpPr>
          <p:cNvPr id="8" name="">
            <a:extLst xmlns:a="http://schemas.openxmlformats.org/drawingml/2006/main">
              <a:ext uri="{FF2B5EF4-FFF2-40B4-BE49-F238E27FC236}">
                <a16:creationId xmlns:a16="http://schemas.microsoft.com/office/drawing/2014/main" id="{E54F90C9-2D5B-4959-8DF8-2C72118B985F}"/>
              </a:ext>
            </a:extLst>
          </p:cNvPr>
          <p:cNvSpPr>
            <a:spLocks xmlns:a="http://schemas.openxmlformats.org/drawingml/2006/main" noGrp="1"/>
          </p:cNvSpPr>
          <p:nvPr/>
        </p:nvSpPr>
        <p:spPr>
          <a:xfrm xmlns:a="http://schemas.openxmlformats.org/drawingml/2006/main">
            <a:off x="114300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Develop one unified harness covering reconnaissance, progressive attack-surface discovery, scanning, vulnerability identification, business-logic analysis, correlation and reporting.</a:t>
            </a:r>
          </a:p>
        </p:txBody>
      </p:sp>
      <p:sp>
        <p:nvSpPr>
          <p:cNvPr id="9" name="">
            <a:extLst xmlns:a="http://schemas.openxmlformats.org/drawingml/2006/main">
              <a:ext uri="{FF2B5EF4-FFF2-40B4-BE49-F238E27FC236}">
                <a16:creationId xmlns:a16="http://schemas.microsoft.com/office/drawing/2014/main" id="{F4F01EC8-F5AA-4012-8F07-FA3BD3F3CE76}"/>
              </a:ext>
            </a:extLst>
          </p:cNvPr>
          <p:cNvSpPr>
            <a:spLocks xmlns:a="http://schemas.openxmlformats.org/drawingml/2006/main" noGrp="1"/>
          </p:cNvSpPr>
          <p:nvPr/>
        </p:nvSpPr>
        <p:spPr>
          <a:xfrm xmlns:a="http://schemas.openxmlformats.org/drawingml/2006/main">
            <a:off x="600075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BED8B514-9DC5-459A-B94C-DE45EFE5845B}"/>
              </a:ext>
            </a:extLst>
          </p:cNvPr>
          <p:cNvSpPr>
            <a:spLocks xmlns:a="http://schemas.openxmlformats.org/drawingml/2006/main" noGrp="1"/>
          </p:cNvSpPr>
          <p:nvPr/>
        </p:nvSpPr>
        <p:spPr>
          <a:xfrm xmlns:a="http://schemas.openxmlformats.org/drawingml/2006/main">
            <a:off x="6000750" y="2533650"/>
            <a:ext cx="85725" cy="42862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DF06D3-DA28-43BE-B486-574EA4AC6917}"/>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Dual-mode orchestration</a:t>
            </a:r>
          </a:p>
        </p:txBody>
      </p:sp>
      <p:sp>
        <p:nvSpPr>
          <p:cNvPr id="12" name="">
            <a:extLst xmlns:a="http://schemas.openxmlformats.org/drawingml/2006/main">
              <a:ext uri="{FF2B5EF4-FFF2-40B4-BE49-F238E27FC236}">
                <a16:creationId xmlns:a16="http://schemas.microsoft.com/office/drawing/2014/main" id="{0A49323A-DF77-45B6-8254-49A79DE1D1F6}"/>
              </a:ext>
            </a:extLst>
          </p:cNvPr>
          <p:cNvSpPr>
            <a:spLocks xmlns:a="http://schemas.openxmlformats.org/drawingml/2006/main" noGrp="1"/>
          </p:cNvSpPr>
          <p:nvPr/>
        </p:nvSpPr>
        <p:spPr>
          <a:xfrm xmlns:a="http://schemas.openxmlformats.org/drawingml/2006/main">
            <a:off x="626745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Use LLM reasoning when available while maintaining a deterministic rule-based mode with no mandatory LLM dependency.</a:t>
            </a:r>
          </a:p>
        </p:txBody>
      </p:sp>
      <p:sp>
        <p:nvSpPr>
          <p:cNvPr id="13" name="">
            <a:extLst xmlns:a="http://schemas.openxmlformats.org/drawingml/2006/main">
              <a:ext uri="{FF2B5EF4-FFF2-40B4-BE49-F238E27FC236}">
                <a16:creationId xmlns:a16="http://schemas.microsoft.com/office/drawing/2014/main" id="{75536B49-67EC-4F28-8C6A-6FB289772592}"/>
              </a:ext>
            </a:extLst>
          </p:cNvPr>
          <p:cNvSpPr>
            <a:spLocks xmlns:a="http://schemas.openxmlformats.org/drawingml/2006/main" noGrp="1"/>
          </p:cNvSpPr>
          <p:nvPr/>
        </p:nvSpPr>
        <p:spPr>
          <a:xfrm xmlns:a="http://schemas.openxmlformats.org/drawingml/2006/main">
            <a:off x="11125200" y="2533650"/>
            <a:ext cx="55245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2F15D4D8-D4EE-4762-AD67-B91E26440E1B}"/>
              </a:ext>
            </a:extLst>
          </p:cNvPr>
          <p:cNvSpPr>
            <a:spLocks xmlns:a="http://schemas.openxmlformats.org/drawingml/2006/main" noGrp="1"/>
          </p:cNvSpPr>
          <p:nvPr/>
        </p:nvSpPr>
        <p:spPr>
          <a:xfrm xmlns:a="http://schemas.openxmlformats.org/drawingml/2006/main">
            <a:off x="11125200" y="2533650"/>
            <a:ext cx="85725" cy="42862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0582EB2-3F45-4806-9F9B-386A0E6C55B1}"/>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3 · Safe and controlled testing</a:t>
            </a:r>
          </a:p>
        </p:txBody>
      </p:sp>
      <p:sp>
        <p:nvSpPr>
          <p:cNvPr id="16" name="">
            <a:extLst xmlns:a="http://schemas.openxmlformats.org/drawingml/2006/main">
              <a:ext uri="{FF2B5EF4-FFF2-40B4-BE49-F238E27FC236}">
                <a16:creationId xmlns:a16="http://schemas.microsoft.com/office/drawing/2014/main" id="{BBF9B7F4-71D4-46CA-B229-B3581FF8158E}"/>
              </a:ext>
            </a:extLst>
          </p:cNvPr>
          <p:cNvSpPr>
            <a:spLocks xmlns:a="http://schemas.openxmlformats.org/drawingml/2006/main" noGrp="1"/>
          </p:cNvSpPr>
          <p:nvPr/>
        </p:nvSpPr>
        <p:spPr>
          <a:xfrm xmlns:a="http://schemas.openxmlformats.org/drawingml/2006/main">
            <a:off x="11391900" y="3276600"/>
            <a:ext cx="5029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Enforce the authorized scope, validate findings with evidence and require human approval before potentially impactful actions.</a:t>
            </a:r>
          </a:p>
        </p:txBody>
      </p:sp>
      <p:sp>
        <p:nvSpPr>
          <p:cNvPr id="17" name="">
            <a:extLst xmlns:a="http://schemas.openxmlformats.org/drawingml/2006/main">
              <a:ext uri="{FF2B5EF4-FFF2-40B4-BE49-F238E27FC236}">
                <a16:creationId xmlns:a16="http://schemas.microsoft.com/office/drawing/2014/main" id="{CF0326D5-CED0-4590-9A2E-17D3D491F2F6}"/>
              </a:ext>
            </a:extLst>
          </p:cNvPr>
          <p:cNvSpPr>
            <a:spLocks xmlns:a="http://schemas.openxmlformats.org/drawingml/2006/main" noGrp="1"/>
          </p:cNvSpPr>
          <p:nvPr/>
        </p:nvSpPr>
        <p:spPr>
          <a:xfrm xmlns:a="http://schemas.openxmlformats.org/drawingml/2006/main">
            <a:off x="876300" y="7334250"/>
            <a:ext cx="15773400" cy="1028700"/>
          </a:xfrm>
          <a:prstGeom xmlns:a="http://schemas.openxmlformats.org/drawingml/2006/main" prst="roundRect">
            <a:avLst>
              <a:gd name="adj" fmla="val 7407"/>
            </a:avLst>
          </a:prstGeom>
          <a:solidFill xmlns:a="http://schemas.openxmlformats.org/drawingml/2006/main">
            <a:srgbClr val="E8EF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5F99389-0F7B-45EC-A528-B6439F237CC4}"/>
              </a:ext>
            </a:extLst>
          </p:cNvPr>
          <p:cNvSpPr>
            <a:spLocks xmlns:a="http://schemas.openxmlformats.org/drawingml/2006/main" noGrp="1"/>
          </p:cNvSpPr>
          <p:nvPr/>
        </p:nvSpPr>
        <p:spPr>
          <a:xfrm xmlns:a="http://schemas.openxmlformats.org/drawingml/2006/main">
            <a:off x="1257300" y="7620000"/>
            <a:ext cx="15011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The proposed framework combines one unified harness, reliable non-LLM operation and controlled AI assistance.</a:t>
            </a:r>
          </a:p>
        </p:txBody>
      </p:sp>
      <p:sp>
        <p:nvSpPr>
          <p:cNvPr id="19" name="">
            <a:extLst xmlns:a="http://schemas.openxmlformats.org/drawingml/2006/main">
              <a:ext uri="{FF2B5EF4-FFF2-40B4-BE49-F238E27FC236}">
                <a16:creationId xmlns:a16="http://schemas.microsoft.com/office/drawing/2014/main" id="{9598C8BB-4BD3-4FA9-8CBD-7945213D6C08}"/>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Objectives, p. 14.</a:t>
            </a:r>
          </a:p>
        </p:txBody>
      </p:sp>
    </p:spTree>
    <p:extLst>
      <p:ext uri="{BB962C8B-B14F-4D97-AF65-F5344CB8AC3E}">
        <p14:creationId xmlns:p14="http://schemas.microsoft.com/office/powerpoint/2010/main" val="121056383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03A115-9065-4EB3-83F8-97EBC6B54A2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05 / PROPOSED ARCHITECTURE</a:t>
            </a:r>
          </a:p>
        </p:txBody>
      </p:sp>
      <p:sp>
        <p:nvSpPr>
          <p:cNvPr id="2" name="">
            <a:extLst xmlns:a="http://schemas.openxmlformats.org/drawingml/2006/main">
              <a:ext uri="{FF2B5EF4-FFF2-40B4-BE49-F238E27FC236}">
                <a16:creationId xmlns:a16="http://schemas.microsoft.com/office/drawing/2014/main" id="{907F47DC-96DA-4CEB-B541-EFB647E157FD}"/>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WORLD MODEL FOR PENTESTING</a:t>
            </a:r>
          </a:p>
        </p:txBody>
      </p:sp>
      <p:sp>
        <p:nvSpPr>
          <p:cNvPr id="3" name="">
            <a:extLst xmlns:a="http://schemas.openxmlformats.org/drawingml/2006/main">
              <a:ext uri="{FF2B5EF4-FFF2-40B4-BE49-F238E27FC236}">
                <a16:creationId xmlns:a16="http://schemas.microsoft.com/office/drawing/2014/main" id="{0FDD3CD4-431B-4D8D-8709-06819CCEA1CB}"/>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84B31504-030C-4135-B6EB-F70E8A6F5F75}"/>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EF497BD-87A4-4AC0-8BF3-5078087CDEF8}"/>
              </a:ext>
            </a:extLst>
          </p:cNvPr>
          <p:cNvSpPr>
            <a:spLocks xmlns:a="http://schemas.openxmlformats.org/drawingml/2006/main" noGrp="1"/>
          </p:cNvSpPr>
          <p:nvPr/>
        </p:nvSpPr>
        <p:spPr>
          <a:xfrm xmlns:a="http://schemas.openxmlformats.org/drawingml/2006/main">
            <a:off x="685800" y="2076450"/>
            <a:ext cx="13049250" cy="7029450"/>
          </a:xfrm>
          <a:prstGeom xmlns:a="http://schemas.openxmlformats.org/drawingml/2006/main" prst="roundRect">
            <a:avLst>
              <a:gd name="adj" fmla="val 1084"/>
            </a:avLst>
          </a:prstGeom>
          <a:solidFill xmlns:a="http://schemas.openxmlformats.org/drawingml/2006/main">
            <a:srgbClr val="FFFFFF"/>
          </a:solidFill>
          <a:ln xmlns:a="http://schemas.openxmlformats.org/drawingml/2006/main" w="19050">
            <a:solidFill>
              <a:srgbClr val="CAD6DE"/>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32b84636c444546"/>
          <a:stretch xmlns:a="http://schemas.openxmlformats.org/drawingml/2006/main"/>
        </p:blipFill>
        <p:spPr>
          <a:xfrm xmlns:a="http://schemas.openxmlformats.org/drawingml/2006/main">
            <a:off x="1967715" y="2228850"/>
            <a:ext cx="10485421" cy="6724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A29E27-723E-4F52-AF6E-4D368A37E547}"/>
              </a:ext>
            </a:extLst>
          </p:cNvPr>
          <p:cNvSpPr>
            <a:spLocks xmlns:a="http://schemas.openxmlformats.org/drawingml/2006/main" noGrp="1"/>
          </p:cNvSpPr>
          <p:nvPr/>
        </p:nvSpPr>
        <p:spPr>
          <a:xfrm xmlns:a="http://schemas.openxmlformats.org/drawingml/2006/main">
            <a:off x="14211300" y="24384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EXPLORE THE MODEL</a:t>
            </a:r>
          </a:p>
        </p:txBody>
      </p:sp>
      <p:sp>
        <p:nvSpPr>
          <p:cNvPr id="8" name="">
            <a:extLst xmlns:a="http://schemas.openxmlformats.org/drawingml/2006/main">
              <a:ext uri="{FF2B5EF4-FFF2-40B4-BE49-F238E27FC236}">
                <a16:creationId xmlns:a16="http://schemas.microsoft.com/office/drawing/2014/main" id="{C87A48F9-9BAF-4234-99C7-5C8CCD6B3047}"/>
              </a:ext>
            </a:extLst>
          </p:cNvPr>
          <p:cNvSpPr>
            <a:spLocks xmlns:a="http://schemas.openxmlformats.org/drawingml/2006/main" noGrp="1"/>
          </p:cNvSpPr>
          <p:nvPr/>
        </p:nvSpPr>
        <p:spPr>
          <a:xfrm xmlns:a="http://schemas.openxmlformats.org/drawingml/2006/main">
            <a:off x="14039850" y="3086100"/>
            <a:ext cx="3048000" cy="876300"/>
          </a:xfrm>
          <a:prstGeom xmlns:a="http://schemas.openxmlformats.org/drawingml/2006/main" prst="roundRect">
            <a:avLst>
              <a:gd name="adj" fmla="val 8696"/>
            </a:avLst>
          </a:prstGeom>
          <a:solidFill xmlns:a="http://schemas.openxmlformats.org/drawingml/2006/main">
            <a:srgbClr val="2D8B84"/>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hlinkClick xmlns:r="http://schemas.openxmlformats.org/officeDocument/2006/relationships" r:id="R78b0c4408d7d48de" action="ppaction://hlinksldjump"/>
              </a:rPr>
              <a:t>World model?</a:t>
            </a:r>
          </a:p>
        </p:txBody>
      </p:sp>
      <p:sp>
        <p:nvSpPr>
          <p:cNvPr id="9" name="">
            <a:extLst xmlns:a="http://schemas.openxmlformats.org/drawingml/2006/main">
              <a:ext uri="{FF2B5EF4-FFF2-40B4-BE49-F238E27FC236}">
                <a16:creationId xmlns:a16="http://schemas.microsoft.com/office/drawing/2014/main" id="{DE8981E5-8C93-40CD-BC0A-FEF893834F81}"/>
              </a:ext>
            </a:extLst>
          </p:cNvPr>
          <p:cNvSpPr>
            <a:spLocks xmlns:a="http://schemas.openxmlformats.org/drawingml/2006/main" noGrp="1"/>
          </p:cNvSpPr>
          <p:nvPr/>
        </p:nvSpPr>
        <p:spPr>
          <a:xfrm xmlns:a="http://schemas.openxmlformats.org/drawingml/2006/main">
            <a:off x="14039850" y="4362450"/>
            <a:ext cx="3048000" cy="876300"/>
          </a:xfrm>
          <a:prstGeom xmlns:a="http://schemas.openxmlformats.org/drawingml/2006/main" prst="roundRect">
            <a:avLst>
              <a:gd name="adj" fmla="val 8696"/>
            </a:avLst>
          </a:prstGeom>
          <a:solidFill xmlns:a="http://schemas.openxmlformats.org/drawingml/2006/main">
            <a:srgbClr val="2C669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hlinkClick xmlns:r="http://schemas.openxmlformats.org/officeDocument/2006/relationships" r:id="Rdf8538d8825c4fd9" action="ppaction://hlinksldjump"/>
              </a:rPr>
              <a:t>Phase agents?</a:t>
            </a:r>
          </a:p>
        </p:txBody>
      </p:sp>
      <p:sp>
        <p:nvSpPr>
          <p:cNvPr id="10" name="">
            <a:extLst xmlns:a="http://schemas.openxmlformats.org/drawingml/2006/main">
              <a:ext uri="{FF2B5EF4-FFF2-40B4-BE49-F238E27FC236}">
                <a16:creationId xmlns:a16="http://schemas.microsoft.com/office/drawing/2014/main" id="{F945321A-00F6-446F-AA5B-A76423F75637}"/>
              </a:ext>
            </a:extLst>
          </p:cNvPr>
          <p:cNvSpPr>
            <a:spLocks xmlns:a="http://schemas.openxmlformats.org/drawingml/2006/main" noGrp="1"/>
          </p:cNvSpPr>
          <p:nvPr/>
        </p:nvSpPr>
        <p:spPr>
          <a:xfrm xmlns:a="http://schemas.openxmlformats.org/drawingml/2006/main">
            <a:off x="14039850" y="5638800"/>
            <a:ext cx="3048000" cy="990600"/>
          </a:xfrm>
          <a:prstGeom xmlns:a="http://schemas.openxmlformats.org/drawingml/2006/main" prst="roundRect">
            <a:avLst>
              <a:gd name="adj" fmla="val 7692"/>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hlinkClick xmlns:r="http://schemas.openxmlformats.org/officeDocument/2006/relationships" r:id="Rc9ff2159d6ec4669" action="ppaction://hlinksldjump"/>
              </a:rPr>
              <a:t>How will it all work?</a:t>
            </a:r>
          </a:p>
        </p:txBody>
      </p:sp>
      <p:sp>
        <p:nvSpPr>
          <p:cNvPr id="11" name="">
            <a:extLst xmlns:a="http://schemas.openxmlformats.org/drawingml/2006/main">
              <a:ext uri="{FF2B5EF4-FFF2-40B4-BE49-F238E27FC236}">
                <a16:creationId xmlns:a16="http://schemas.microsoft.com/office/drawing/2014/main" id="{08F5AE89-8F20-40AD-9452-5F03BA8F2102}"/>
              </a:ext>
            </a:extLst>
          </p:cNvPr>
          <p:cNvSpPr>
            <a:spLocks xmlns:a="http://schemas.openxmlformats.org/drawingml/2006/main" noGrp="1"/>
          </p:cNvSpPr>
          <p:nvPr/>
        </p:nvSpPr>
        <p:spPr>
          <a:xfrm xmlns:a="http://schemas.openxmlformats.org/drawingml/2006/main">
            <a:off x="14097000" y="7105650"/>
            <a:ext cx="2933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Select a question during the presentation to open its explanation.</a:t>
            </a:r>
          </a:p>
        </p:txBody>
      </p:sp>
    </p:spTree>
    <p:extLst>
      <p:ext uri="{BB962C8B-B14F-4D97-AF65-F5344CB8AC3E}">
        <p14:creationId xmlns:p14="http://schemas.microsoft.com/office/powerpoint/2010/main" val="58122182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E51D01E-2793-4B66-9BEA-8C6A01DDBEB1}"/>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06 / WORLD MODEL</a:t>
            </a:r>
          </a:p>
        </p:txBody>
      </p:sp>
      <p:sp>
        <p:nvSpPr>
          <p:cNvPr id="2" name="">
            <a:extLst xmlns:a="http://schemas.openxmlformats.org/drawingml/2006/main">
              <a:ext uri="{FF2B5EF4-FFF2-40B4-BE49-F238E27FC236}">
                <a16:creationId xmlns:a16="http://schemas.microsoft.com/office/drawing/2014/main" id="{6D182045-B0A8-4113-BFF0-4B424D9B394A}"/>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a real pentester works</a:t>
            </a:r>
          </a:p>
        </p:txBody>
      </p:sp>
      <p:sp>
        <p:nvSpPr>
          <p:cNvPr id="3" name="">
            <a:extLst xmlns:a="http://schemas.openxmlformats.org/drawingml/2006/main">
              <a:ext uri="{FF2B5EF4-FFF2-40B4-BE49-F238E27FC236}">
                <a16:creationId xmlns:a16="http://schemas.microsoft.com/office/drawing/2014/main" id="{43E2D31D-7EDD-4388-BDB9-1A74E95AC96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D77A6227-E820-4FF0-AC64-8DC0CD9860D6}"/>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E1DA1FD-EE90-42C9-8F9B-FDA63E7B7D3A}"/>
              </a:ext>
            </a:extLst>
          </p:cNvPr>
          <p:cNvSpPr>
            <a:spLocks xmlns:a="http://schemas.openxmlformats.org/drawingml/2006/main" noGrp="1"/>
          </p:cNvSpPr>
          <p:nvPr/>
        </p:nvSpPr>
        <p:spPr>
          <a:xfrm xmlns:a="http://schemas.openxmlformats.org/drawingml/2006/main">
            <a:off x="876300" y="2076450"/>
            <a:ext cx="1628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THE WORLD MODEL FOR PENTESTING</a:t>
            </a:r>
          </a:p>
        </p:txBody>
      </p:sp>
      <p:sp>
        <p:nvSpPr>
          <p:cNvPr id="6" name="">
            <a:extLst xmlns:a="http://schemas.openxmlformats.org/drawingml/2006/main">
              <a:ext uri="{FF2B5EF4-FFF2-40B4-BE49-F238E27FC236}">
                <a16:creationId xmlns:a16="http://schemas.microsoft.com/office/drawing/2014/main" id="{0D6D460D-3D0B-4621-A8BA-1EF4392F739B}"/>
              </a:ext>
            </a:extLst>
          </p:cNvPr>
          <p:cNvSpPr>
            <a:spLocks xmlns:a="http://schemas.openxmlformats.org/drawingml/2006/main" noGrp="1"/>
          </p:cNvSpPr>
          <p:nvPr/>
        </p:nvSpPr>
        <p:spPr>
          <a:xfrm xmlns:a="http://schemas.openxmlformats.org/drawingml/2006/main">
            <a:off x="8763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AC2BCAA8-1428-4254-989C-0FE31E16AD3B}"/>
              </a:ext>
            </a:extLst>
          </p:cNvPr>
          <p:cNvSpPr>
            <a:spLocks xmlns:a="http://schemas.openxmlformats.org/drawingml/2006/main" noGrp="1"/>
          </p:cNvSpPr>
          <p:nvPr/>
        </p:nvSpPr>
        <p:spPr>
          <a:xfrm xmlns:a="http://schemas.openxmlformats.org/drawingml/2006/main">
            <a:off x="876300" y="2819400"/>
            <a:ext cx="85725" cy="23241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F02378-3A31-47BD-B63C-40E7C01764DE}"/>
              </a:ext>
            </a:extLst>
          </p:cNvPr>
          <p:cNvSpPr>
            <a:spLocks xmlns:a="http://schemas.openxmlformats.org/drawingml/2006/main" noGrp="1"/>
          </p:cNvSpPr>
          <p:nvPr/>
        </p:nvSpPr>
        <p:spPr>
          <a:xfrm xmlns:a="http://schemas.openxmlformats.org/drawingml/2006/main">
            <a:off x="11430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1 · Observe</a:t>
            </a:r>
          </a:p>
        </p:txBody>
      </p:sp>
      <p:sp>
        <p:nvSpPr>
          <p:cNvPr id="9" name="">
            <a:extLst xmlns:a="http://schemas.openxmlformats.org/drawingml/2006/main">
              <a:ext uri="{FF2B5EF4-FFF2-40B4-BE49-F238E27FC236}">
                <a16:creationId xmlns:a16="http://schemas.microsoft.com/office/drawing/2014/main" id="{C4A29408-5093-4CB2-8422-601E649351C4}"/>
              </a:ext>
            </a:extLst>
          </p:cNvPr>
          <p:cNvSpPr>
            <a:spLocks xmlns:a="http://schemas.openxmlformats.org/drawingml/2006/main" noGrp="1"/>
          </p:cNvSpPr>
          <p:nvPr/>
        </p:nvSpPr>
        <p:spPr>
          <a:xfrm xmlns:a="http://schemas.openxmlformats.org/drawingml/2006/main">
            <a:off x="11430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Collect signals from tools, targets and prior evidence.</a:t>
            </a:r>
          </a:p>
        </p:txBody>
      </p:sp>
      <p:sp>
        <p:nvSpPr>
          <p:cNvPr id="10" name="">
            <a:extLst xmlns:a="http://schemas.openxmlformats.org/drawingml/2006/main">
              <a:ext uri="{FF2B5EF4-FFF2-40B4-BE49-F238E27FC236}">
                <a16:creationId xmlns:a16="http://schemas.microsoft.com/office/drawing/2014/main" id="{0D37E85B-7EED-4D3C-B2C6-10A3E4CD55F0}"/>
              </a:ext>
            </a:extLst>
          </p:cNvPr>
          <p:cNvSpPr>
            <a:spLocks xmlns:a="http://schemas.openxmlformats.org/drawingml/2006/main" noGrp="1"/>
          </p:cNvSpPr>
          <p:nvPr/>
        </p:nvSpPr>
        <p:spPr>
          <a:xfrm xmlns:a="http://schemas.openxmlformats.org/drawingml/2006/main">
            <a:off x="44958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8BE894-593D-45F8-BAFB-491C778FC3C0}"/>
              </a:ext>
            </a:extLst>
          </p:cNvPr>
          <p:cNvSpPr>
            <a:spLocks xmlns:a="http://schemas.openxmlformats.org/drawingml/2006/main" noGrp="1"/>
          </p:cNvSpPr>
          <p:nvPr/>
        </p:nvSpPr>
        <p:spPr>
          <a:xfrm xmlns:a="http://schemas.openxmlformats.org/drawingml/2006/main">
            <a:off x="48196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26D0437A-EC4C-4A57-A101-1A842E408ABD}"/>
              </a:ext>
            </a:extLst>
          </p:cNvPr>
          <p:cNvSpPr>
            <a:spLocks xmlns:a="http://schemas.openxmlformats.org/drawingml/2006/main" noGrp="1"/>
          </p:cNvSpPr>
          <p:nvPr/>
        </p:nvSpPr>
        <p:spPr>
          <a:xfrm xmlns:a="http://schemas.openxmlformats.org/drawingml/2006/main">
            <a:off x="4819650" y="2819400"/>
            <a:ext cx="85725" cy="23241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FF318F-2536-45DB-8836-69330ACF9552}"/>
              </a:ext>
            </a:extLst>
          </p:cNvPr>
          <p:cNvSpPr>
            <a:spLocks xmlns:a="http://schemas.openxmlformats.org/drawingml/2006/main" noGrp="1"/>
          </p:cNvSpPr>
          <p:nvPr/>
        </p:nvSpPr>
        <p:spPr>
          <a:xfrm xmlns:a="http://schemas.openxmlformats.org/drawingml/2006/main">
            <a:off x="50863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2 · Store in memory</a:t>
            </a:r>
          </a:p>
        </p:txBody>
      </p:sp>
      <p:sp>
        <p:nvSpPr>
          <p:cNvPr id="14" name="">
            <a:extLst xmlns:a="http://schemas.openxmlformats.org/drawingml/2006/main">
              <a:ext uri="{FF2B5EF4-FFF2-40B4-BE49-F238E27FC236}">
                <a16:creationId xmlns:a16="http://schemas.microsoft.com/office/drawing/2014/main" id="{9F9B3ED2-F943-4FBE-AFBA-A6547D1527FA}"/>
              </a:ext>
            </a:extLst>
          </p:cNvPr>
          <p:cNvSpPr>
            <a:spLocks xmlns:a="http://schemas.openxmlformats.org/drawingml/2006/main" noGrp="1"/>
          </p:cNvSpPr>
          <p:nvPr/>
        </p:nvSpPr>
        <p:spPr>
          <a:xfrm xmlns:a="http://schemas.openxmlformats.org/drawingml/2006/main">
            <a:off x="50863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Preserve assets, observations, relationships and source evidence.</a:t>
            </a:r>
          </a:p>
        </p:txBody>
      </p:sp>
      <p:sp>
        <p:nvSpPr>
          <p:cNvPr id="15" name="">
            <a:extLst xmlns:a="http://schemas.openxmlformats.org/drawingml/2006/main">
              <a:ext uri="{FF2B5EF4-FFF2-40B4-BE49-F238E27FC236}">
                <a16:creationId xmlns:a16="http://schemas.microsoft.com/office/drawing/2014/main" id="{A9A9182F-D124-4413-B8F7-48A83FB14709}"/>
              </a:ext>
            </a:extLst>
          </p:cNvPr>
          <p:cNvSpPr>
            <a:spLocks xmlns:a="http://schemas.openxmlformats.org/drawingml/2006/main" noGrp="1"/>
          </p:cNvSpPr>
          <p:nvPr/>
        </p:nvSpPr>
        <p:spPr>
          <a:xfrm xmlns:a="http://schemas.openxmlformats.org/drawingml/2006/main">
            <a:off x="843915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9D3624-DAE7-4EFF-8FB0-53EC3CE4601F}"/>
              </a:ext>
            </a:extLst>
          </p:cNvPr>
          <p:cNvSpPr>
            <a:spLocks xmlns:a="http://schemas.openxmlformats.org/drawingml/2006/main" noGrp="1"/>
          </p:cNvSpPr>
          <p:nvPr/>
        </p:nvSpPr>
        <p:spPr>
          <a:xfrm xmlns:a="http://schemas.openxmlformats.org/drawingml/2006/main">
            <a:off x="87630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5BC05FE0-2015-4CB4-941F-8E0EA1567A0D}"/>
              </a:ext>
            </a:extLst>
          </p:cNvPr>
          <p:cNvSpPr>
            <a:spLocks xmlns:a="http://schemas.openxmlformats.org/drawingml/2006/main" noGrp="1"/>
          </p:cNvSpPr>
          <p:nvPr/>
        </p:nvSpPr>
        <p:spPr>
          <a:xfrm xmlns:a="http://schemas.openxmlformats.org/drawingml/2006/main">
            <a:off x="8763000" y="2819400"/>
            <a:ext cx="85725" cy="23241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DF88CD4-40C1-4440-A3C9-C1EF1068CEF4}"/>
              </a:ext>
            </a:extLst>
          </p:cNvPr>
          <p:cNvSpPr>
            <a:spLocks xmlns:a="http://schemas.openxmlformats.org/drawingml/2006/main" noGrp="1"/>
          </p:cNvSpPr>
          <p:nvPr/>
        </p:nvSpPr>
        <p:spPr>
          <a:xfrm xmlns:a="http://schemas.openxmlformats.org/drawingml/2006/main">
            <a:off x="90297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3 · Form a hypothesis</a:t>
            </a:r>
          </a:p>
        </p:txBody>
      </p:sp>
      <p:sp>
        <p:nvSpPr>
          <p:cNvPr id="19" name="">
            <a:extLst xmlns:a="http://schemas.openxmlformats.org/drawingml/2006/main">
              <a:ext uri="{FF2B5EF4-FFF2-40B4-BE49-F238E27FC236}">
                <a16:creationId xmlns:a16="http://schemas.microsoft.com/office/drawing/2014/main" id="{6014B521-5DC6-41EF-AAEF-2DF0C34E1964}"/>
              </a:ext>
            </a:extLst>
          </p:cNvPr>
          <p:cNvSpPr>
            <a:spLocks xmlns:a="http://schemas.openxmlformats.org/drawingml/2006/main" noGrp="1"/>
          </p:cNvSpPr>
          <p:nvPr/>
        </p:nvSpPr>
        <p:spPr>
          <a:xfrm xmlns:a="http://schemas.openxmlformats.org/drawingml/2006/main">
            <a:off x="90297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Explain what the evidence may mean and what could be vulnerable.</a:t>
            </a:r>
          </a:p>
        </p:txBody>
      </p:sp>
      <p:sp>
        <p:nvSpPr>
          <p:cNvPr id="20" name="">
            <a:extLst xmlns:a="http://schemas.openxmlformats.org/drawingml/2006/main">
              <a:ext uri="{FF2B5EF4-FFF2-40B4-BE49-F238E27FC236}">
                <a16:creationId xmlns:a16="http://schemas.microsoft.com/office/drawing/2014/main" id="{B2B01321-DA6A-45C8-AF45-FAD06DE99873}"/>
              </a:ext>
            </a:extLst>
          </p:cNvPr>
          <p:cNvSpPr>
            <a:spLocks xmlns:a="http://schemas.openxmlformats.org/drawingml/2006/main" noGrp="1"/>
          </p:cNvSpPr>
          <p:nvPr/>
        </p:nvSpPr>
        <p:spPr>
          <a:xfrm xmlns:a="http://schemas.openxmlformats.org/drawingml/2006/main">
            <a:off x="123825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1144231-26C4-40C8-9777-69A7CCCC3B0D}"/>
              </a:ext>
            </a:extLst>
          </p:cNvPr>
          <p:cNvSpPr>
            <a:spLocks xmlns:a="http://schemas.openxmlformats.org/drawingml/2006/main" noGrp="1"/>
          </p:cNvSpPr>
          <p:nvPr/>
        </p:nvSpPr>
        <p:spPr>
          <a:xfrm xmlns:a="http://schemas.openxmlformats.org/drawingml/2006/main">
            <a:off x="127063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8EB5DBAE-B30F-412F-8763-856F4C215C42}"/>
              </a:ext>
            </a:extLst>
          </p:cNvPr>
          <p:cNvSpPr>
            <a:spLocks xmlns:a="http://schemas.openxmlformats.org/drawingml/2006/main" noGrp="1"/>
          </p:cNvSpPr>
          <p:nvPr/>
        </p:nvSpPr>
        <p:spPr>
          <a:xfrm xmlns:a="http://schemas.openxmlformats.org/drawingml/2006/main">
            <a:off x="12706350" y="2819400"/>
            <a:ext cx="85725" cy="23241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308FA36-7210-4835-8CBA-00F9556D1E0B}"/>
              </a:ext>
            </a:extLst>
          </p:cNvPr>
          <p:cNvSpPr>
            <a:spLocks xmlns:a="http://schemas.openxmlformats.org/drawingml/2006/main" noGrp="1"/>
          </p:cNvSpPr>
          <p:nvPr/>
        </p:nvSpPr>
        <p:spPr>
          <a:xfrm xmlns:a="http://schemas.openxmlformats.org/drawingml/2006/main">
            <a:off x="129730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4 · Test</a:t>
            </a:r>
          </a:p>
        </p:txBody>
      </p:sp>
      <p:sp>
        <p:nvSpPr>
          <p:cNvPr id="24" name="">
            <a:extLst xmlns:a="http://schemas.openxmlformats.org/drawingml/2006/main">
              <a:ext uri="{FF2B5EF4-FFF2-40B4-BE49-F238E27FC236}">
                <a16:creationId xmlns:a16="http://schemas.microsoft.com/office/drawing/2014/main" id="{D0387572-E16F-41DF-B13A-7180DAF04E38}"/>
              </a:ext>
            </a:extLst>
          </p:cNvPr>
          <p:cNvSpPr>
            <a:spLocks xmlns:a="http://schemas.openxmlformats.org/drawingml/2006/main" noGrp="1"/>
          </p:cNvSpPr>
          <p:nvPr/>
        </p:nvSpPr>
        <p:spPr>
          <a:xfrm xmlns:a="http://schemas.openxmlformats.org/drawingml/2006/main">
            <a:off x="129730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Choose the next useful probe and run the appropriate security tool.</a:t>
            </a:r>
          </a:p>
        </p:txBody>
      </p:sp>
      <p:sp>
        <p:nvSpPr>
          <p:cNvPr id="25" name="">
            <a:extLst xmlns:a="http://schemas.openxmlformats.org/drawingml/2006/main">
              <a:ext uri="{FF2B5EF4-FFF2-40B4-BE49-F238E27FC236}">
                <a16:creationId xmlns:a16="http://schemas.microsoft.com/office/drawing/2014/main" id="{46E5489C-618C-4190-9EE6-4D44099E2922}"/>
              </a:ext>
            </a:extLst>
          </p:cNvPr>
          <p:cNvSpPr>
            <a:spLocks xmlns:a="http://schemas.openxmlformats.org/drawingml/2006/main" noGrp="1"/>
          </p:cNvSpPr>
          <p:nvPr/>
        </p:nvSpPr>
        <p:spPr>
          <a:xfrm xmlns:a="http://schemas.openxmlformats.org/drawingml/2006/main">
            <a:off x="15830550" y="5276850"/>
            <a:ext cx="323850" cy="609600"/>
          </a:xfrm>
          <a:prstGeom xmlns:a="http://schemas.openxmlformats.org/drawingml/2006/main" prst="down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1CDBC78-0A65-4EBE-AA49-193A2A5F0371}"/>
              </a:ext>
            </a:extLst>
          </p:cNvPr>
          <p:cNvSpPr>
            <a:spLocks xmlns:a="http://schemas.openxmlformats.org/drawingml/2006/main" noGrp="1"/>
          </p:cNvSpPr>
          <p:nvPr/>
        </p:nvSpPr>
        <p:spPr>
          <a:xfrm xmlns:a="http://schemas.openxmlformats.org/drawingml/2006/main">
            <a:off x="12001500" y="6191250"/>
            <a:ext cx="464820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0B640957-930B-4095-9174-8F0B632B9EF6}"/>
              </a:ext>
            </a:extLst>
          </p:cNvPr>
          <p:cNvSpPr>
            <a:spLocks xmlns:a="http://schemas.openxmlformats.org/drawingml/2006/main" noGrp="1"/>
          </p:cNvSpPr>
          <p:nvPr/>
        </p:nvSpPr>
        <p:spPr>
          <a:xfrm xmlns:a="http://schemas.openxmlformats.org/drawingml/2006/main">
            <a:off x="12001500" y="6191250"/>
            <a:ext cx="85725" cy="17716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C3FB481-AAE3-4662-B0D2-A6E713004D9A}"/>
              </a:ext>
            </a:extLst>
          </p:cNvPr>
          <p:cNvSpPr>
            <a:spLocks xmlns:a="http://schemas.openxmlformats.org/drawingml/2006/main" noGrp="1"/>
          </p:cNvSpPr>
          <p:nvPr/>
        </p:nvSpPr>
        <p:spPr>
          <a:xfrm xmlns:a="http://schemas.openxmlformats.org/drawingml/2006/main">
            <a:off x="12268200" y="6400800"/>
            <a:ext cx="4152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5 · Validate</a:t>
            </a:r>
          </a:p>
        </p:txBody>
      </p:sp>
      <p:sp>
        <p:nvSpPr>
          <p:cNvPr id="29" name="">
            <a:extLst xmlns:a="http://schemas.openxmlformats.org/drawingml/2006/main">
              <a:ext uri="{FF2B5EF4-FFF2-40B4-BE49-F238E27FC236}">
                <a16:creationId xmlns:a16="http://schemas.microsoft.com/office/drawing/2014/main" id="{0E97783B-92C5-43C8-9192-17F8B96C883A}"/>
              </a:ext>
            </a:extLst>
          </p:cNvPr>
          <p:cNvSpPr>
            <a:spLocks xmlns:a="http://schemas.openxmlformats.org/drawingml/2006/main" noGrp="1"/>
          </p:cNvSpPr>
          <p:nvPr/>
        </p:nvSpPr>
        <p:spPr>
          <a:xfrm xmlns:a="http://schemas.openxmlformats.org/drawingml/2006/main">
            <a:off x="12268200" y="6934200"/>
            <a:ext cx="4152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Compare outcomes, reproduce the result and separate a lead from verified evidence.</a:t>
            </a:r>
          </a:p>
        </p:txBody>
      </p:sp>
      <p:sp>
        <p:nvSpPr>
          <p:cNvPr id="30" name="">
            <a:extLst xmlns:a="http://schemas.openxmlformats.org/drawingml/2006/main">
              <a:ext uri="{FF2B5EF4-FFF2-40B4-BE49-F238E27FC236}">
                <a16:creationId xmlns:a16="http://schemas.microsoft.com/office/drawing/2014/main" id="{652D2C16-942F-4179-A768-3C4E055D3FD5}"/>
              </a:ext>
            </a:extLst>
          </p:cNvPr>
          <p:cNvSpPr>
            <a:spLocks xmlns:a="http://schemas.openxmlformats.org/drawingml/2006/main" noGrp="1"/>
          </p:cNvSpPr>
          <p:nvPr/>
        </p:nvSpPr>
        <p:spPr>
          <a:xfrm xmlns:a="http://schemas.openxmlformats.org/drawingml/2006/main">
            <a:off x="11087100" y="6819900"/>
            <a:ext cx="72390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EE33425-1A8A-4D46-804F-830031065297}"/>
              </a:ext>
            </a:extLst>
          </p:cNvPr>
          <p:cNvSpPr>
            <a:spLocks xmlns:a="http://schemas.openxmlformats.org/drawingml/2006/main" noGrp="1"/>
          </p:cNvSpPr>
          <p:nvPr/>
        </p:nvSpPr>
        <p:spPr>
          <a:xfrm xmlns:a="http://schemas.openxmlformats.org/drawingml/2006/main">
            <a:off x="6000750" y="6191250"/>
            <a:ext cx="485775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32" name="">
            <a:extLst xmlns:a="http://schemas.openxmlformats.org/drawingml/2006/main">
              <a:ext uri="{FF2B5EF4-FFF2-40B4-BE49-F238E27FC236}">
                <a16:creationId xmlns:a16="http://schemas.microsoft.com/office/drawing/2014/main" id="{2180AD7C-562A-47BB-8626-07261125D797}"/>
              </a:ext>
            </a:extLst>
          </p:cNvPr>
          <p:cNvSpPr>
            <a:spLocks xmlns:a="http://schemas.openxmlformats.org/drawingml/2006/main" noGrp="1"/>
          </p:cNvSpPr>
          <p:nvPr/>
        </p:nvSpPr>
        <p:spPr>
          <a:xfrm xmlns:a="http://schemas.openxmlformats.org/drawingml/2006/main">
            <a:off x="6000750" y="6191250"/>
            <a:ext cx="85725" cy="17716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83798CC-79A0-4775-9601-389BB217612F}"/>
              </a:ext>
            </a:extLst>
          </p:cNvPr>
          <p:cNvSpPr>
            <a:spLocks xmlns:a="http://schemas.openxmlformats.org/drawingml/2006/main" noGrp="1"/>
          </p:cNvSpPr>
          <p:nvPr/>
        </p:nvSpPr>
        <p:spPr>
          <a:xfrm xmlns:a="http://schemas.openxmlformats.org/drawingml/2006/main">
            <a:off x="6267450" y="6400800"/>
            <a:ext cx="436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6 · Update memory</a:t>
            </a:r>
          </a:p>
        </p:txBody>
      </p:sp>
      <p:sp>
        <p:nvSpPr>
          <p:cNvPr id="34" name="">
            <a:extLst xmlns:a="http://schemas.openxmlformats.org/drawingml/2006/main">
              <a:ext uri="{FF2B5EF4-FFF2-40B4-BE49-F238E27FC236}">
                <a16:creationId xmlns:a16="http://schemas.microsoft.com/office/drawing/2014/main" id="{92CA2900-DB65-4511-A85D-2BD380B99A00}"/>
              </a:ext>
            </a:extLst>
          </p:cNvPr>
          <p:cNvSpPr>
            <a:spLocks xmlns:a="http://schemas.openxmlformats.org/drawingml/2006/main" noGrp="1"/>
          </p:cNvSpPr>
          <p:nvPr/>
        </p:nvSpPr>
        <p:spPr>
          <a:xfrm xmlns:a="http://schemas.openxmlformats.org/drawingml/2006/main">
            <a:off x="6267450" y="6934200"/>
            <a:ext cx="4362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Record what changed, connect the evidence and revise what should be tested next.</a:t>
            </a:r>
          </a:p>
        </p:txBody>
      </p:sp>
      <p:sp>
        <p:nvSpPr>
          <p:cNvPr id="35" name="">
            <a:extLst xmlns:a="http://schemas.openxmlformats.org/drawingml/2006/main">
              <a:ext uri="{FF2B5EF4-FFF2-40B4-BE49-F238E27FC236}">
                <a16:creationId xmlns:a16="http://schemas.microsoft.com/office/drawing/2014/main" id="{59A2F8C5-7F79-4983-8786-A12B7E881BE4}"/>
              </a:ext>
            </a:extLst>
          </p:cNvPr>
          <p:cNvSpPr>
            <a:spLocks xmlns:a="http://schemas.openxmlformats.org/drawingml/2006/main" noGrp="1"/>
          </p:cNvSpPr>
          <p:nvPr/>
        </p:nvSpPr>
        <p:spPr>
          <a:xfrm xmlns:a="http://schemas.openxmlformats.org/drawingml/2006/main">
            <a:off x="5029200" y="6819900"/>
            <a:ext cx="74295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BC1379A-908B-433C-BF22-82AFB89EBF60}"/>
              </a:ext>
            </a:extLst>
          </p:cNvPr>
          <p:cNvSpPr>
            <a:spLocks xmlns:a="http://schemas.openxmlformats.org/drawingml/2006/main" noGrp="1"/>
          </p:cNvSpPr>
          <p:nvPr/>
        </p:nvSpPr>
        <p:spPr>
          <a:xfrm xmlns:a="http://schemas.openxmlformats.org/drawingml/2006/main">
            <a:off x="876300" y="6191250"/>
            <a:ext cx="3943350" cy="1771650"/>
          </a:xfrm>
          <a:prstGeom xmlns:a="http://schemas.openxmlformats.org/drawingml/2006/main" prst="roundRect">
            <a:avLst>
              <a:gd name="adj" fmla="val 4301"/>
            </a:avLst>
          </a:prstGeom>
          <a:solidFill xmlns:a="http://schemas.openxmlformats.org/drawingml/2006/main">
            <a:srgbClr val="123B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044884A-5A3A-4A99-8867-24F3312D920F}"/>
              </a:ext>
            </a:extLst>
          </p:cNvPr>
          <p:cNvSpPr>
            <a:spLocks xmlns:a="http://schemas.openxmlformats.org/drawingml/2006/main" noGrp="1"/>
          </p:cNvSpPr>
          <p:nvPr/>
        </p:nvSpPr>
        <p:spPr>
          <a:xfrm xmlns:a="http://schemas.openxmlformats.org/drawingml/2006/main">
            <a:off x="1181100" y="65151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i="0">
                <a:solidFill>
                  <a:srgbClr val="FFFFFF"/>
                </a:solidFill>
                <a:latin typeface="Arial"/>
                <a:ea typeface="Arial"/>
                <a:cs typeface="Arial"/>
              </a:defRPr>
            </a:pPr>
            <a:r>
              <a:rPr sz="2250" b="1" i="0">
                <a:solidFill>
                  <a:srgbClr val="FFFFFF"/>
                </a:solidFill>
                <a:latin typeface="Arial"/>
                <a:ea typeface="Arial"/>
                <a:cs typeface="Arial"/>
              </a:rPr>
              <a:t>Repeat</a:t>
            </a:r>
          </a:p>
        </p:txBody>
      </p:sp>
      <p:sp>
        <p:nvSpPr>
          <p:cNvPr id="38" name="">
            <a:extLst xmlns:a="http://schemas.openxmlformats.org/drawingml/2006/main">
              <a:ext uri="{FF2B5EF4-FFF2-40B4-BE49-F238E27FC236}">
                <a16:creationId xmlns:a16="http://schemas.microsoft.com/office/drawing/2014/main" id="{5ABA2DDF-2725-4C78-A02B-3693B2D09842}"/>
              </a:ext>
            </a:extLst>
          </p:cNvPr>
          <p:cNvSpPr>
            <a:spLocks xmlns:a="http://schemas.openxmlformats.org/drawingml/2006/main" noGrp="1"/>
          </p:cNvSpPr>
          <p:nvPr/>
        </p:nvSpPr>
        <p:spPr>
          <a:xfrm xmlns:a="http://schemas.openxmlformats.org/drawingml/2006/main">
            <a:off x="1181100" y="70675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DCE8F0"/>
                </a:solidFill>
                <a:latin typeface="Arial"/>
                <a:ea typeface="Arial"/>
                <a:cs typeface="Arial"/>
              </a:defRPr>
            </a:pPr>
            <a:r>
              <a:rPr sz="1500" b="0" i="0">
                <a:solidFill>
                  <a:srgbClr val="DCE8F0"/>
                </a:solidFill>
                <a:latin typeface="Arial"/>
                <a:ea typeface="Arial"/>
                <a:cs typeface="Arial"/>
              </a:rPr>
              <a:t>Updated memory changes what the tester observes and tests next.</a:t>
            </a:r>
          </a:p>
        </p:txBody>
      </p:sp>
      <p:sp>
        <p:nvSpPr>
          <p:cNvPr id="39" name="">
            <a:extLst xmlns:a="http://schemas.openxmlformats.org/drawingml/2006/main">
              <a:ext uri="{FF2B5EF4-FFF2-40B4-BE49-F238E27FC236}">
                <a16:creationId xmlns:a16="http://schemas.microsoft.com/office/drawing/2014/main" id="{221A48A4-7657-4112-819E-DC5424B950F3}"/>
              </a:ext>
            </a:extLst>
          </p:cNvPr>
          <p:cNvSpPr>
            <a:spLocks xmlns:a="http://schemas.openxmlformats.org/drawingml/2006/main" noGrp="1"/>
          </p:cNvSpPr>
          <p:nvPr/>
        </p:nvSpPr>
        <p:spPr>
          <a:xfrm xmlns:a="http://schemas.openxmlformats.org/drawingml/2006/main">
            <a:off x="2533650" y="5353050"/>
            <a:ext cx="323850" cy="609600"/>
          </a:xfrm>
          <a:prstGeom xmlns:a="http://schemas.openxmlformats.org/drawingml/2006/main" prst="upArrow">
            <a:avLst/>
          </a:prstGeom>
          <a:solidFill xmlns:a="http://schemas.openxmlformats.org/drawingml/2006/main">
            <a:srgbClr val="79A9C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F4475CE-ADBC-4FE2-B207-FF7986AD66B1}"/>
              </a:ext>
            </a:extLst>
          </p:cNvPr>
          <p:cNvSpPr>
            <a:spLocks xmlns:a="http://schemas.openxmlformats.org/drawingml/2006/main" noGrp="1"/>
          </p:cNvSpPr>
          <p:nvPr/>
        </p:nvSpPr>
        <p:spPr>
          <a:xfrm xmlns:a="http://schemas.openxmlformats.org/drawingml/2006/main">
            <a:off x="876300" y="8553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The assessment is a continuous evidence loop—not a one-time scanner run.</a:t>
            </a:r>
          </a:p>
        </p:txBody>
      </p:sp>
      <p:sp>
        <p:nvSpPr>
          <p:cNvPr id="41" name="">
            <a:extLst xmlns:a="http://schemas.openxmlformats.org/drawingml/2006/main">
              <a:ext uri="{FF2B5EF4-FFF2-40B4-BE49-F238E27FC236}">
                <a16:creationId xmlns:a16="http://schemas.microsoft.com/office/drawing/2014/main" id="{D75EF971-724C-4FDA-BA9A-568948E7F753}"/>
              </a:ext>
            </a:extLst>
          </p:cNvPr>
          <p:cNvSpPr>
            <a:spLocks xmlns:a="http://schemas.openxmlformats.org/drawingml/2006/main" noGrp="1"/>
          </p:cNvSpPr>
          <p:nvPr/>
        </p:nvSpPr>
        <p:spPr>
          <a:xfrm xmlns:a="http://schemas.openxmlformats.org/drawingml/2006/main">
            <a:off x="14382750" y="84391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hlinkClick xmlns:r="http://schemas.openxmlformats.org/officeDocument/2006/relationships" r:id="R6aebae361b764cb0" action="ppaction://hlinksldjump"/>
              </a:rPr>
              <a:t>← Back to architecture</a:t>
            </a:r>
          </a:p>
        </p:txBody>
      </p:sp>
    </p:spTree>
    <p:extLst>
      <p:ext uri="{BB962C8B-B14F-4D97-AF65-F5344CB8AC3E}">
        <p14:creationId xmlns:p14="http://schemas.microsoft.com/office/powerpoint/2010/main" val="2531707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FD9949A-989F-4DD6-9B04-0F165B154484}"/>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07 / PHASE AGENTS</a:t>
            </a:r>
          </a:p>
        </p:txBody>
      </p:sp>
      <p:sp>
        <p:nvSpPr>
          <p:cNvPr id="2" name="">
            <a:extLst xmlns:a="http://schemas.openxmlformats.org/drawingml/2006/main">
              <a:ext uri="{FF2B5EF4-FFF2-40B4-BE49-F238E27FC236}">
                <a16:creationId xmlns:a16="http://schemas.microsoft.com/office/drawing/2014/main" id="{5AF56B03-D557-4CEF-9DCF-46C581BD3B88}"/>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Specialized agents for each testing phase</a:t>
            </a:r>
          </a:p>
        </p:txBody>
      </p:sp>
      <p:sp>
        <p:nvSpPr>
          <p:cNvPr id="3" name="">
            <a:extLst xmlns:a="http://schemas.openxmlformats.org/drawingml/2006/main">
              <a:ext uri="{FF2B5EF4-FFF2-40B4-BE49-F238E27FC236}">
                <a16:creationId xmlns:a16="http://schemas.microsoft.com/office/drawing/2014/main" id="{39CC70B4-AB83-4EDD-9966-6D500D9E8357}"/>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07A61C9-4FB2-49E9-8672-1D461C15CB8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472F617-0446-4E92-8A9A-E05D8B90C04E}"/>
              </a:ext>
            </a:extLst>
          </p:cNvPr>
          <p:cNvSpPr>
            <a:spLocks xmlns:a="http://schemas.openxmlformats.org/drawingml/2006/main" noGrp="1"/>
          </p:cNvSpPr>
          <p:nvPr/>
        </p:nvSpPr>
        <p:spPr>
          <a:xfrm xmlns:a="http://schemas.openxmlformats.org/drawingml/2006/main">
            <a:off x="876300" y="2114550"/>
            <a:ext cx="1628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0" i="0">
                <a:solidFill>
                  <a:srgbClr val="5F7180"/>
                </a:solidFill>
                <a:latin typeface="Arial"/>
                <a:ea typeface="Arial"/>
                <a:cs typeface="Arial"/>
              </a:defRPr>
            </a:pPr>
            <a:r>
              <a:rPr sz="2100" b="0" i="0">
                <a:solidFill>
                  <a:srgbClr val="5F7180"/>
                </a:solidFill>
                <a:latin typeface="Arial"/>
                <a:ea typeface="Arial"/>
                <a:cs typeface="Arial"/>
              </a:rPr>
              <a:t>Standard pentest methodology is divided among specialized agents.</a:t>
            </a:r>
          </a:p>
        </p:txBody>
      </p:sp>
      <p:sp>
        <p:nvSpPr>
          <p:cNvPr id="6" name="">
            <a:extLst xmlns:a="http://schemas.openxmlformats.org/drawingml/2006/main">
              <a:ext uri="{FF2B5EF4-FFF2-40B4-BE49-F238E27FC236}">
                <a16:creationId xmlns:a16="http://schemas.microsoft.com/office/drawing/2014/main" id="{F1DCF2CE-F3CB-4420-87FE-913216EAB1ED}"/>
              </a:ext>
            </a:extLst>
          </p:cNvPr>
          <p:cNvSpPr>
            <a:spLocks xmlns:a="http://schemas.openxmlformats.org/drawingml/2006/main" noGrp="1"/>
          </p:cNvSpPr>
          <p:nvPr/>
        </p:nvSpPr>
        <p:spPr>
          <a:xfrm xmlns:a="http://schemas.openxmlformats.org/drawingml/2006/main">
            <a:off x="1123950" y="2971800"/>
            <a:ext cx="15278100" cy="2876550"/>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19050">
            <a:solidFill>
              <a:srgbClr val="CAD6DE"/>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561178858d8451b"/>
          <a:stretch xmlns:a="http://schemas.openxmlformats.org/drawingml/2006/main"/>
        </p:blipFill>
        <p:spPr>
          <a:xfrm xmlns:a="http://schemas.openxmlformats.org/drawingml/2006/main">
            <a:off x="1543050" y="3333750"/>
            <a:ext cx="14439900" cy="209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4D6A1FD-90DA-4FE5-A1CF-D0B3C46231FF}"/>
              </a:ext>
            </a:extLst>
          </p:cNvPr>
          <p:cNvSpPr>
            <a:spLocks xmlns:a="http://schemas.openxmlformats.org/drawingml/2006/main" noGrp="1"/>
          </p:cNvSpPr>
          <p:nvPr/>
        </p:nvSpPr>
        <p:spPr>
          <a:xfrm xmlns:a="http://schemas.openxmlformats.org/drawingml/2006/main">
            <a:off x="8763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5F3BBB26-F18B-4CB3-B14F-B75B561B5AB9}"/>
              </a:ext>
            </a:extLst>
          </p:cNvPr>
          <p:cNvSpPr>
            <a:spLocks xmlns:a="http://schemas.openxmlformats.org/drawingml/2006/main" noGrp="1"/>
          </p:cNvSpPr>
          <p:nvPr/>
        </p:nvSpPr>
        <p:spPr>
          <a:xfrm xmlns:a="http://schemas.openxmlformats.org/drawingml/2006/main">
            <a:off x="876300" y="6477000"/>
            <a:ext cx="85725" cy="18478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22F790C-3F34-4C8C-97D5-EE1B7D67158F}"/>
              </a:ext>
            </a:extLst>
          </p:cNvPr>
          <p:cNvSpPr>
            <a:spLocks xmlns:a="http://schemas.openxmlformats.org/drawingml/2006/main" noGrp="1"/>
          </p:cNvSpPr>
          <p:nvPr/>
        </p:nvSpPr>
        <p:spPr>
          <a:xfrm xmlns:a="http://schemas.openxmlformats.org/drawingml/2006/main">
            <a:off x="11430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Reconnaissance</a:t>
            </a:r>
          </a:p>
        </p:txBody>
      </p:sp>
      <p:sp>
        <p:nvSpPr>
          <p:cNvPr id="11" name="">
            <a:extLst xmlns:a="http://schemas.openxmlformats.org/drawingml/2006/main">
              <a:ext uri="{FF2B5EF4-FFF2-40B4-BE49-F238E27FC236}">
                <a16:creationId xmlns:a16="http://schemas.microsoft.com/office/drawing/2014/main" id="{18C852CD-957A-4659-AB58-B804AF995168}"/>
              </a:ext>
            </a:extLst>
          </p:cNvPr>
          <p:cNvSpPr>
            <a:spLocks xmlns:a="http://schemas.openxmlformats.org/drawingml/2006/main" noGrp="1"/>
          </p:cNvSpPr>
          <p:nvPr/>
        </p:nvSpPr>
        <p:spPr>
          <a:xfrm xmlns:a="http://schemas.openxmlformats.org/drawingml/2006/main">
            <a:off x="11430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Maps the attack surface using discovery, DNS, probing and service-enumeration tools.</a:t>
            </a:r>
          </a:p>
        </p:txBody>
      </p:sp>
      <p:sp>
        <p:nvSpPr>
          <p:cNvPr id="12" name="">
            <a:extLst xmlns:a="http://schemas.openxmlformats.org/drawingml/2006/main">
              <a:ext uri="{FF2B5EF4-FFF2-40B4-BE49-F238E27FC236}">
                <a16:creationId xmlns:a16="http://schemas.microsoft.com/office/drawing/2014/main" id="{E9224A1B-78B9-4723-8249-335429D4761B}"/>
              </a:ext>
            </a:extLst>
          </p:cNvPr>
          <p:cNvSpPr>
            <a:spLocks xmlns:a="http://schemas.openxmlformats.org/drawingml/2006/main" noGrp="1"/>
          </p:cNvSpPr>
          <p:nvPr/>
        </p:nvSpPr>
        <p:spPr>
          <a:xfrm xmlns:a="http://schemas.openxmlformats.org/drawingml/2006/main">
            <a:off x="61341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3" name="">
            <a:extLst xmlns:a="http://schemas.openxmlformats.org/drawingml/2006/main">
              <a:ext uri="{FF2B5EF4-FFF2-40B4-BE49-F238E27FC236}">
                <a16:creationId xmlns:a16="http://schemas.microsoft.com/office/drawing/2014/main" id="{C84DC7A6-483D-4C16-A48F-9033E2BDFF14}"/>
              </a:ext>
            </a:extLst>
          </p:cNvPr>
          <p:cNvSpPr>
            <a:spLocks xmlns:a="http://schemas.openxmlformats.org/drawingml/2006/main" noGrp="1"/>
          </p:cNvSpPr>
          <p:nvPr/>
        </p:nvSpPr>
        <p:spPr>
          <a:xfrm xmlns:a="http://schemas.openxmlformats.org/drawingml/2006/main">
            <a:off x="6134100" y="6477000"/>
            <a:ext cx="85725" cy="18478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F5781F7-9560-46B4-8279-D845B29F4375}"/>
              </a:ext>
            </a:extLst>
          </p:cNvPr>
          <p:cNvSpPr>
            <a:spLocks xmlns:a="http://schemas.openxmlformats.org/drawingml/2006/main" noGrp="1"/>
          </p:cNvSpPr>
          <p:nvPr/>
        </p:nvSpPr>
        <p:spPr>
          <a:xfrm xmlns:a="http://schemas.openxmlformats.org/drawingml/2006/main">
            <a:off x="64008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Vulnerability</a:t>
            </a:r>
          </a:p>
        </p:txBody>
      </p:sp>
      <p:sp>
        <p:nvSpPr>
          <p:cNvPr id="15" name="">
            <a:extLst xmlns:a="http://schemas.openxmlformats.org/drawingml/2006/main">
              <a:ext uri="{FF2B5EF4-FFF2-40B4-BE49-F238E27FC236}">
                <a16:creationId xmlns:a16="http://schemas.microsoft.com/office/drawing/2014/main" id="{D467F0E2-0623-43EB-A36D-9A361C03E6AE}"/>
              </a:ext>
            </a:extLst>
          </p:cNvPr>
          <p:cNvSpPr>
            <a:spLocks xmlns:a="http://schemas.openxmlformats.org/drawingml/2006/main" noGrp="1"/>
          </p:cNvSpPr>
          <p:nvPr/>
        </p:nvSpPr>
        <p:spPr>
          <a:xfrm xmlns:a="http://schemas.openxmlformats.org/drawingml/2006/main">
            <a:off x="64008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Tests the mapped surface with network, web and vulnerability-analysis tools.</a:t>
            </a:r>
          </a:p>
        </p:txBody>
      </p:sp>
      <p:sp>
        <p:nvSpPr>
          <p:cNvPr id="16" name="">
            <a:extLst xmlns:a="http://schemas.openxmlformats.org/drawingml/2006/main">
              <a:ext uri="{FF2B5EF4-FFF2-40B4-BE49-F238E27FC236}">
                <a16:creationId xmlns:a16="http://schemas.microsoft.com/office/drawing/2014/main" id="{11BC6808-4A91-4059-8734-A8D04406EBF2}"/>
              </a:ext>
            </a:extLst>
          </p:cNvPr>
          <p:cNvSpPr>
            <a:spLocks xmlns:a="http://schemas.openxmlformats.org/drawingml/2006/main" noGrp="1"/>
          </p:cNvSpPr>
          <p:nvPr/>
        </p:nvSpPr>
        <p:spPr>
          <a:xfrm xmlns:a="http://schemas.openxmlformats.org/drawingml/2006/main">
            <a:off x="113919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01BDE413-BD98-44EF-A027-52CD52FC9CBE}"/>
              </a:ext>
            </a:extLst>
          </p:cNvPr>
          <p:cNvSpPr>
            <a:spLocks xmlns:a="http://schemas.openxmlformats.org/drawingml/2006/main" noGrp="1"/>
          </p:cNvSpPr>
          <p:nvPr/>
        </p:nvSpPr>
        <p:spPr>
          <a:xfrm xmlns:a="http://schemas.openxmlformats.org/drawingml/2006/main">
            <a:off x="11391900" y="6477000"/>
            <a:ext cx="85725" cy="18478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27DB904-EAA2-4921-BF48-6DFB1DC4411E}"/>
              </a:ext>
            </a:extLst>
          </p:cNvPr>
          <p:cNvSpPr>
            <a:spLocks xmlns:a="http://schemas.openxmlformats.org/drawingml/2006/main" noGrp="1"/>
          </p:cNvSpPr>
          <p:nvPr/>
        </p:nvSpPr>
        <p:spPr>
          <a:xfrm xmlns:a="http://schemas.openxmlformats.org/drawingml/2006/main">
            <a:off x="116586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Validation</a:t>
            </a:r>
          </a:p>
        </p:txBody>
      </p:sp>
      <p:sp>
        <p:nvSpPr>
          <p:cNvPr id="19" name="">
            <a:extLst xmlns:a="http://schemas.openxmlformats.org/drawingml/2006/main">
              <a:ext uri="{FF2B5EF4-FFF2-40B4-BE49-F238E27FC236}">
                <a16:creationId xmlns:a16="http://schemas.microsoft.com/office/drawing/2014/main" id="{ADF8D5BA-9439-4FC7-9B4F-74BAE091712F}"/>
              </a:ext>
            </a:extLst>
          </p:cNvPr>
          <p:cNvSpPr>
            <a:spLocks xmlns:a="http://schemas.openxmlformats.org/drawingml/2006/main" noGrp="1"/>
          </p:cNvSpPr>
          <p:nvPr/>
        </p:nvSpPr>
        <p:spPr>
          <a:xfrm xmlns:a="http://schemas.openxmlformats.org/drawingml/2006/main">
            <a:off x="116586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5F7180"/>
                </a:solidFill>
                <a:latin typeface="Arial"/>
                <a:ea typeface="Arial"/>
                <a:cs typeface="Arial"/>
              </a:defRPr>
            </a:pPr>
            <a:r>
              <a:rPr sz="1425" b="0" i="0">
                <a:solidFill>
                  <a:srgbClr val="5F7180"/>
                </a:solidFill>
                <a:latin typeface="Arial"/>
                <a:ea typeface="Arial"/>
                <a:cs typeface="Arial"/>
              </a:rPr>
              <a:t>Confirms evidence and separates reproducible findings from scanner leads.</a:t>
            </a:r>
          </a:p>
        </p:txBody>
      </p:sp>
      <p:sp>
        <p:nvSpPr>
          <p:cNvPr id="20" name="">
            <a:extLst xmlns:a="http://schemas.openxmlformats.org/drawingml/2006/main">
              <a:ext uri="{FF2B5EF4-FFF2-40B4-BE49-F238E27FC236}">
                <a16:creationId xmlns:a16="http://schemas.microsoft.com/office/drawing/2014/main" id="{901E158B-D5EC-45B4-99B3-83A92D82CFC8}"/>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23B63"/>
                </a:solidFill>
                <a:latin typeface="Arial"/>
                <a:ea typeface="Arial"/>
                <a:cs typeface="Arial"/>
              </a:defRPr>
            </a:pPr>
            <a:r>
              <a:rPr sz="1800" b="1" i="0">
                <a:solidFill>
                  <a:srgbClr val="123B63"/>
                </a:solidFill>
                <a:latin typeface="Arial"/>
                <a:ea typeface="Arial"/>
                <a:cs typeface="Arial"/>
              </a:rPr>
              <a:t>Each agent has its own tools and skill files, but all agents operate on the same shared memory.</a:t>
            </a:r>
          </a:p>
        </p:txBody>
      </p:sp>
      <p:sp>
        <p:nvSpPr>
          <p:cNvPr id="21" name="">
            <a:extLst xmlns:a="http://schemas.openxmlformats.org/drawingml/2006/main">
              <a:ext uri="{FF2B5EF4-FFF2-40B4-BE49-F238E27FC236}">
                <a16:creationId xmlns:a16="http://schemas.microsoft.com/office/drawing/2014/main" id="{90A19024-E911-4042-AF65-ED84916F017D}"/>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hlinkClick xmlns:r="http://schemas.openxmlformats.org/officeDocument/2006/relationships" r:id="R9a0a4e545c6648f6" action="ppaction://hlinksldjump"/>
              </a:rPr>
              <a:t>← Back to architecture</a:t>
            </a:r>
          </a:p>
        </p:txBody>
      </p:sp>
    </p:spTree>
    <p:extLst>
      <p:ext uri="{BB962C8B-B14F-4D97-AF65-F5344CB8AC3E}">
        <p14:creationId xmlns:p14="http://schemas.microsoft.com/office/powerpoint/2010/main" val="116345927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EC563F9-5FA3-48B4-9D1B-CCF23B22A65D}"/>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08 / DUAL-MODE EXECUTION</a:t>
            </a:r>
          </a:p>
        </p:txBody>
      </p:sp>
      <p:sp>
        <p:nvSpPr>
          <p:cNvPr id="2" name="">
            <a:extLst xmlns:a="http://schemas.openxmlformats.org/drawingml/2006/main">
              <a:ext uri="{FF2B5EF4-FFF2-40B4-BE49-F238E27FC236}">
                <a16:creationId xmlns:a16="http://schemas.microsoft.com/office/drawing/2014/main" id="{50D5A633-93D9-4552-9FE2-B8E2BAA15D2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will it all work?</a:t>
            </a:r>
          </a:p>
        </p:txBody>
      </p:sp>
      <p:sp>
        <p:nvSpPr>
          <p:cNvPr id="3" name="">
            <a:extLst xmlns:a="http://schemas.openxmlformats.org/drawingml/2006/main">
              <a:ext uri="{FF2B5EF4-FFF2-40B4-BE49-F238E27FC236}">
                <a16:creationId xmlns:a16="http://schemas.microsoft.com/office/drawing/2014/main" id="{8B3D90B4-FE28-48C2-9DB9-06893A5A9FA5}"/>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4156A9B5-00F2-4FB6-A053-95CFD60689F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D7A3ED11-F6D5-4D03-83B8-2072C03D282C}"/>
              </a:ext>
            </a:extLst>
          </p:cNvPr>
          <p:cNvSpPr>
            <a:spLocks xmlns:a="http://schemas.openxmlformats.org/drawingml/2006/main" noGrp="1"/>
          </p:cNvSpPr>
          <p:nvPr/>
        </p:nvSpPr>
        <p:spPr>
          <a:xfrm xmlns:a="http://schemas.openxmlformats.org/drawingml/2006/main">
            <a:off x="1123950" y="2114550"/>
            <a:ext cx="152781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9050">
            <a:solidFill>
              <a:srgbClr val="CAD6DE"/>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b4d82e4f6e0436a"/>
          <a:stretch xmlns:a="http://schemas.openxmlformats.org/drawingml/2006/main"/>
        </p:blipFill>
        <p:spPr>
          <a:xfrm xmlns:a="http://schemas.openxmlformats.org/drawingml/2006/main">
            <a:off x="2763887" y="2419350"/>
            <a:ext cx="11998226" cy="3295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582C0B1-826A-456F-B1A3-B388BC3CD66A}"/>
              </a:ext>
            </a:extLst>
          </p:cNvPr>
          <p:cNvSpPr>
            <a:spLocks xmlns:a="http://schemas.openxmlformats.org/drawingml/2006/main" noGrp="1"/>
          </p:cNvSpPr>
          <p:nvPr/>
        </p:nvSpPr>
        <p:spPr>
          <a:xfrm xmlns:a="http://schemas.openxmlformats.org/drawingml/2006/main">
            <a:off x="876300" y="6477000"/>
            <a:ext cx="76200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C5865F85-D9E9-4887-955E-5E4D02F33142}"/>
              </a:ext>
            </a:extLst>
          </p:cNvPr>
          <p:cNvSpPr>
            <a:spLocks xmlns:a="http://schemas.openxmlformats.org/drawingml/2006/main" noGrp="1"/>
          </p:cNvSpPr>
          <p:nvPr/>
        </p:nvSpPr>
        <p:spPr>
          <a:xfrm xmlns:a="http://schemas.openxmlformats.org/drawingml/2006/main">
            <a:off x="876300" y="6477000"/>
            <a:ext cx="85725" cy="18669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38A1F8-F598-44AC-AFF9-93439F387080}"/>
              </a:ext>
            </a:extLst>
          </p:cNvPr>
          <p:cNvSpPr>
            <a:spLocks xmlns:a="http://schemas.openxmlformats.org/drawingml/2006/main" noGrp="1"/>
          </p:cNvSpPr>
          <p:nvPr/>
        </p:nvSpPr>
        <p:spPr>
          <a:xfrm xmlns:a="http://schemas.openxmlformats.org/drawingml/2006/main">
            <a:off x="1143000" y="6686550"/>
            <a:ext cx="712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Deterministic methodology</a:t>
            </a:r>
          </a:p>
        </p:txBody>
      </p:sp>
      <p:sp>
        <p:nvSpPr>
          <p:cNvPr id="10" name="">
            <a:extLst xmlns:a="http://schemas.openxmlformats.org/drawingml/2006/main">
              <a:ext uri="{FF2B5EF4-FFF2-40B4-BE49-F238E27FC236}">
                <a16:creationId xmlns:a16="http://schemas.microsoft.com/office/drawing/2014/main" id="{74EACC8E-9C39-44E4-A9CA-9F5CCF63CAA5}"/>
              </a:ext>
            </a:extLst>
          </p:cNvPr>
          <p:cNvSpPr>
            <a:spLocks xmlns:a="http://schemas.openxmlformats.org/drawingml/2006/main" noGrp="1"/>
          </p:cNvSpPr>
          <p:nvPr/>
        </p:nvSpPr>
        <p:spPr>
          <a:xfrm xmlns:a="http://schemas.openxmlformats.org/drawingml/2006/main">
            <a:off x="1143000" y="7219950"/>
            <a:ext cx="712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The battle-tested pentesting methodology runs through repeatable rules and tools without requiring an LLM.</a:t>
            </a:r>
          </a:p>
        </p:txBody>
      </p:sp>
      <p:sp>
        <p:nvSpPr>
          <p:cNvPr id="11" name="">
            <a:extLst xmlns:a="http://schemas.openxmlformats.org/drawingml/2006/main">
              <a:ext uri="{FF2B5EF4-FFF2-40B4-BE49-F238E27FC236}">
                <a16:creationId xmlns:a16="http://schemas.microsoft.com/office/drawing/2014/main" id="{8D819C7E-D273-4C80-8657-A3D8FCFCD050}"/>
              </a:ext>
            </a:extLst>
          </p:cNvPr>
          <p:cNvSpPr>
            <a:spLocks xmlns:a="http://schemas.openxmlformats.org/drawingml/2006/main" noGrp="1"/>
          </p:cNvSpPr>
          <p:nvPr/>
        </p:nvSpPr>
        <p:spPr>
          <a:xfrm xmlns:a="http://schemas.openxmlformats.org/drawingml/2006/main">
            <a:off x="8839200" y="6477000"/>
            <a:ext cx="78105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EF8A37FA-ECC0-4814-BF54-590690245865}"/>
              </a:ext>
            </a:extLst>
          </p:cNvPr>
          <p:cNvSpPr>
            <a:spLocks xmlns:a="http://schemas.openxmlformats.org/drawingml/2006/main" noGrp="1"/>
          </p:cNvSpPr>
          <p:nvPr/>
        </p:nvSpPr>
        <p:spPr>
          <a:xfrm xmlns:a="http://schemas.openxmlformats.org/drawingml/2006/main">
            <a:off x="8839200" y="6477000"/>
            <a:ext cx="85725" cy="18669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11CC65-0813-4A23-8C93-6035ACD628D2}"/>
              </a:ext>
            </a:extLst>
          </p:cNvPr>
          <p:cNvSpPr>
            <a:spLocks xmlns:a="http://schemas.openxmlformats.org/drawingml/2006/main" noGrp="1"/>
          </p:cNvSpPr>
          <p:nvPr/>
        </p:nvSpPr>
        <p:spPr>
          <a:xfrm xmlns:a="http://schemas.openxmlformats.org/drawingml/2006/main">
            <a:off x="9105900" y="6686550"/>
            <a:ext cx="731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LLM oversight</a:t>
            </a:r>
          </a:p>
        </p:txBody>
      </p:sp>
      <p:sp>
        <p:nvSpPr>
          <p:cNvPr id="14" name="">
            <a:extLst xmlns:a="http://schemas.openxmlformats.org/drawingml/2006/main">
              <a:ext uri="{FF2B5EF4-FFF2-40B4-BE49-F238E27FC236}">
                <a16:creationId xmlns:a16="http://schemas.microsoft.com/office/drawing/2014/main" id="{4EBC87A9-8C03-4A49-ACFD-FA9070DE8C85}"/>
              </a:ext>
            </a:extLst>
          </p:cNvPr>
          <p:cNvSpPr>
            <a:spLocks xmlns:a="http://schemas.openxmlformats.org/drawingml/2006/main" noGrp="1"/>
          </p:cNvSpPr>
          <p:nvPr/>
        </p:nvSpPr>
        <p:spPr>
          <a:xfrm xmlns:a="http://schemas.openxmlformats.org/drawingml/2006/main">
            <a:off x="9105900" y="7219950"/>
            <a:ext cx="731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The LLM oversees the assessment, performs contextual analysis and decides where deeper reasoning is useful.</a:t>
            </a:r>
          </a:p>
        </p:txBody>
      </p:sp>
      <p:sp>
        <p:nvSpPr>
          <p:cNvPr id="15" name="">
            <a:extLst xmlns:a="http://schemas.openxmlformats.org/drawingml/2006/main">
              <a:ext uri="{FF2B5EF4-FFF2-40B4-BE49-F238E27FC236}">
                <a16:creationId xmlns:a16="http://schemas.microsoft.com/office/drawing/2014/main" id="{F95DACCC-E150-4C02-98A7-DE55F763FCA1}"/>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23B63"/>
                </a:solidFill>
                <a:latin typeface="Arial"/>
                <a:ea typeface="Arial"/>
                <a:cs typeface="Arial"/>
              </a:defRPr>
            </a:pPr>
            <a:r>
              <a:rPr sz="1800" b="1" i="0">
                <a:solidFill>
                  <a:srgbClr val="123B63"/>
                </a:solidFill>
                <a:latin typeface="Arial"/>
                <a:ea typeface="Arial"/>
                <a:cs typeface="Arial"/>
              </a:rPr>
              <a:t>Skill files form the knowledge base for tools, techniques and phase-specific procedures.</a:t>
            </a:r>
          </a:p>
        </p:txBody>
      </p:sp>
      <p:sp>
        <p:nvSpPr>
          <p:cNvPr id="16" name="">
            <a:extLst xmlns:a="http://schemas.openxmlformats.org/drawingml/2006/main">
              <a:ext uri="{FF2B5EF4-FFF2-40B4-BE49-F238E27FC236}">
                <a16:creationId xmlns:a16="http://schemas.microsoft.com/office/drawing/2014/main" id="{4DDE4F7C-3442-4D3E-9431-21480C0286D7}"/>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hlinkClick xmlns:r="http://schemas.openxmlformats.org/officeDocument/2006/relationships" r:id="R8735603cdd28497c" action="ppaction://hlinksldjump"/>
              </a:rPr>
              <a:t>← Back to architecture</a:t>
            </a:r>
          </a:p>
        </p:txBody>
      </p:sp>
    </p:spTree>
    <p:extLst>
      <p:ext uri="{BB962C8B-B14F-4D97-AF65-F5344CB8AC3E}">
        <p14:creationId xmlns:p14="http://schemas.microsoft.com/office/powerpoint/2010/main" val="1912558185"/>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F299AA8B-EDEE-4B55-9C0C-D7F7B64B99EA}"/>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09 / TRUSTWORTHY MEMORY</a:t>
            </a:r>
          </a:p>
        </p:txBody>
      </p:sp>
      <p:sp>
        <p:nvSpPr>
          <p:cNvPr id="2" name="">
            <a:extLst xmlns:a="http://schemas.openxmlformats.org/drawingml/2006/main">
              <a:ext uri="{FF2B5EF4-FFF2-40B4-BE49-F238E27FC236}">
                <a16:creationId xmlns:a16="http://schemas.microsoft.com/office/drawing/2014/main" id="{5E88BC15-FC43-4726-857E-04243D09B6B7}"/>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One evidence model will prevent false positives and lost context</a:t>
            </a:r>
          </a:p>
        </p:txBody>
      </p:sp>
      <p:sp>
        <p:nvSpPr>
          <p:cNvPr id="3" name="">
            <a:extLst xmlns:a="http://schemas.openxmlformats.org/drawingml/2006/main">
              <a:ext uri="{FF2B5EF4-FFF2-40B4-BE49-F238E27FC236}">
                <a16:creationId xmlns:a16="http://schemas.microsoft.com/office/drawing/2014/main" id="{897500FD-0A45-4782-B315-B9F729C16B7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EED8BEF0-BCFF-4409-ACD3-9A84424F294A}"/>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07433B8-5FC6-46A0-9392-8C94FB9EFD5F}"/>
              </a:ext>
            </a:extLst>
          </p:cNvPr>
          <p:cNvSpPr>
            <a:spLocks xmlns:a="http://schemas.openxmlformats.org/drawingml/2006/main" noGrp="1"/>
          </p:cNvSpPr>
          <p:nvPr/>
        </p:nvSpPr>
        <p:spPr>
          <a:xfrm xmlns:a="http://schemas.openxmlformats.org/drawingml/2006/main">
            <a:off x="876300"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436CC5-04E2-477B-9660-5BEA426BEF63}"/>
              </a:ext>
            </a:extLst>
          </p:cNvPr>
          <p:cNvSpPr>
            <a:spLocks xmlns:a="http://schemas.openxmlformats.org/drawingml/2006/main" noGrp="1"/>
          </p:cNvSpPr>
          <p:nvPr/>
        </p:nvSpPr>
        <p:spPr>
          <a:xfrm xmlns:a="http://schemas.openxmlformats.org/drawingml/2006/main">
            <a:off x="10477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Target</a:t>
            </a:r>
          </a:p>
        </p:txBody>
      </p:sp>
      <p:sp>
        <p:nvSpPr>
          <p:cNvPr id="7" name="">
            <a:extLst xmlns:a="http://schemas.openxmlformats.org/drawingml/2006/main">
              <a:ext uri="{FF2B5EF4-FFF2-40B4-BE49-F238E27FC236}">
                <a16:creationId xmlns:a16="http://schemas.microsoft.com/office/drawing/2014/main" id="{A8B2D86A-7598-47C5-826F-DA283DA604FE}"/>
              </a:ext>
            </a:extLst>
          </p:cNvPr>
          <p:cNvSpPr>
            <a:spLocks xmlns:a="http://schemas.openxmlformats.org/drawingml/2006/main" noGrp="1"/>
          </p:cNvSpPr>
          <p:nvPr/>
        </p:nvSpPr>
        <p:spPr>
          <a:xfrm xmlns:a="http://schemas.openxmlformats.org/drawingml/2006/main">
            <a:off x="10477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authorized scope</a:t>
            </a:r>
          </a:p>
        </p:txBody>
      </p:sp>
      <p:sp>
        <p:nvSpPr>
          <p:cNvPr id="8" name="">
            <a:extLst xmlns:a="http://schemas.openxmlformats.org/drawingml/2006/main">
              <a:ext uri="{FF2B5EF4-FFF2-40B4-BE49-F238E27FC236}">
                <a16:creationId xmlns:a16="http://schemas.microsoft.com/office/drawing/2014/main" id="{FA0ED4EF-A7A5-4C4A-9894-9ECD3AE66B04}"/>
              </a:ext>
            </a:extLst>
          </p:cNvPr>
          <p:cNvSpPr>
            <a:spLocks xmlns:a="http://schemas.openxmlformats.org/drawingml/2006/main" noGrp="1"/>
          </p:cNvSpPr>
          <p:nvPr/>
        </p:nvSpPr>
        <p:spPr>
          <a:xfrm xmlns:a="http://schemas.openxmlformats.org/drawingml/2006/main">
            <a:off x="31623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8B89141-14A9-4ABE-A44D-536AEA4104D7}"/>
              </a:ext>
            </a:extLst>
          </p:cNvPr>
          <p:cNvSpPr>
            <a:spLocks xmlns:a="http://schemas.openxmlformats.org/drawingml/2006/main" noGrp="1"/>
          </p:cNvSpPr>
          <p:nvPr/>
        </p:nvSpPr>
        <p:spPr>
          <a:xfrm xmlns:a="http://schemas.openxmlformats.org/drawingml/2006/main">
            <a:off x="3533775" y="2476500"/>
            <a:ext cx="2247900" cy="1428750"/>
          </a:xfrm>
          <a:prstGeom xmlns:a="http://schemas.openxmlformats.org/drawingml/2006/main" prst="roundRect">
            <a:avLst>
              <a:gd name="adj" fmla="val 5333"/>
            </a:avLst>
          </a:prstGeom>
          <a:solidFill xmlns:a="http://schemas.openxmlformats.org/drawingml/2006/main">
            <a:srgbClr val="2C669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0F5695-BB97-4351-A1CA-2D2F44C2425F}"/>
              </a:ext>
            </a:extLst>
          </p:cNvPr>
          <p:cNvSpPr>
            <a:spLocks xmlns:a="http://schemas.openxmlformats.org/drawingml/2006/main" noGrp="1"/>
          </p:cNvSpPr>
          <p:nvPr/>
        </p:nvSpPr>
        <p:spPr>
          <a:xfrm xmlns:a="http://schemas.openxmlformats.org/drawingml/2006/main">
            <a:off x="37052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Asset</a:t>
            </a:r>
          </a:p>
        </p:txBody>
      </p:sp>
      <p:sp>
        <p:nvSpPr>
          <p:cNvPr id="11" name="">
            <a:extLst xmlns:a="http://schemas.openxmlformats.org/drawingml/2006/main">
              <a:ext uri="{FF2B5EF4-FFF2-40B4-BE49-F238E27FC236}">
                <a16:creationId xmlns:a16="http://schemas.microsoft.com/office/drawing/2014/main" id="{F88B4B37-E28A-43C4-91A4-6268F8DD3FED}"/>
              </a:ext>
            </a:extLst>
          </p:cNvPr>
          <p:cNvSpPr>
            <a:spLocks xmlns:a="http://schemas.openxmlformats.org/drawingml/2006/main" noGrp="1"/>
          </p:cNvSpPr>
          <p:nvPr/>
        </p:nvSpPr>
        <p:spPr>
          <a:xfrm xmlns:a="http://schemas.openxmlformats.org/drawingml/2006/main">
            <a:off x="37052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domain · IP · service</a:t>
            </a:r>
          </a:p>
        </p:txBody>
      </p:sp>
      <p:sp>
        <p:nvSpPr>
          <p:cNvPr id="12" name="">
            <a:extLst xmlns:a="http://schemas.openxmlformats.org/drawingml/2006/main">
              <a:ext uri="{FF2B5EF4-FFF2-40B4-BE49-F238E27FC236}">
                <a16:creationId xmlns:a16="http://schemas.microsoft.com/office/drawing/2014/main" id="{39E4638C-BC91-4D47-A7AC-E5DB491AA28B}"/>
              </a:ext>
            </a:extLst>
          </p:cNvPr>
          <p:cNvSpPr>
            <a:spLocks xmlns:a="http://schemas.openxmlformats.org/drawingml/2006/main" noGrp="1"/>
          </p:cNvSpPr>
          <p:nvPr/>
        </p:nvSpPr>
        <p:spPr>
          <a:xfrm xmlns:a="http://schemas.openxmlformats.org/drawingml/2006/main">
            <a:off x="581977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63590DC-072A-4144-A616-FC7DCA957BBC}"/>
              </a:ext>
            </a:extLst>
          </p:cNvPr>
          <p:cNvSpPr>
            <a:spLocks xmlns:a="http://schemas.openxmlformats.org/drawingml/2006/main" noGrp="1"/>
          </p:cNvSpPr>
          <p:nvPr/>
        </p:nvSpPr>
        <p:spPr>
          <a:xfrm xmlns:a="http://schemas.openxmlformats.org/drawingml/2006/main">
            <a:off x="6191250" y="2476500"/>
            <a:ext cx="2247900" cy="1428750"/>
          </a:xfrm>
          <a:prstGeom xmlns:a="http://schemas.openxmlformats.org/drawingml/2006/main" prst="roundRect">
            <a:avLst>
              <a:gd name="adj" fmla="val 5333"/>
            </a:avLst>
          </a:prstGeom>
          <a:solidFill xmlns:a="http://schemas.openxmlformats.org/drawingml/2006/main">
            <a:srgbClr val="2D8B8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7E60E3-C84F-4087-8885-8B539A964E89}"/>
              </a:ext>
            </a:extLst>
          </p:cNvPr>
          <p:cNvSpPr>
            <a:spLocks xmlns:a="http://schemas.openxmlformats.org/drawingml/2006/main" noGrp="1"/>
          </p:cNvSpPr>
          <p:nvPr/>
        </p:nvSpPr>
        <p:spPr>
          <a:xfrm xmlns:a="http://schemas.openxmlformats.org/drawingml/2006/main">
            <a:off x="636270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Observation</a:t>
            </a:r>
          </a:p>
        </p:txBody>
      </p:sp>
      <p:sp>
        <p:nvSpPr>
          <p:cNvPr id="15" name="">
            <a:extLst xmlns:a="http://schemas.openxmlformats.org/drawingml/2006/main">
              <a:ext uri="{FF2B5EF4-FFF2-40B4-BE49-F238E27FC236}">
                <a16:creationId xmlns:a16="http://schemas.microsoft.com/office/drawing/2014/main" id="{09450DE2-72B3-47B8-9AB9-4A4B51595D20}"/>
              </a:ext>
            </a:extLst>
          </p:cNvPr>
          <p:cNvSpPr>
            <a:spLocks xmlns:a="http://schemas.openxmlformats.org/drawingml/2006/main" noGrp="1"/>
          </p:cNvSpPr>
          <p:nvPr/>
        </p:nvSpPr>
        <p:spPr>
          <a:xfrm xmlns:a="http://schemas.openxmlformats.org/drawingml/2006/main">
            <a:off x="636270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recorded tool output</a:t>
            </a:r>
          </a:p>
        </p:txBody>
      </p:sp>
      <p:sp>
        <p:nvSpPr>
          <p:cNvPr id="16" name="">
            <a:extLst xmlns:a="http://schemas.openxmlformats.org/drawingml/2006/main">
              <a:ext uri="{FF2B5EF4-FFF2-40B4-BE49-F238E27FC236}">
                <a16:creationId xmlns:a16="http://schemas.microsoft.com/office/drawing/2014/main" id="{C78A5261-3DAE-4F88-B15A-2A60F2D465AE}"/>
              </a:ext>
            </a:extLst>
          </p:cNvPr>
          <p:cNvSpPr>
            <a:spLocks xmlns:a="http://schemas.openxmlformats.org/drawingml/2006/main" noGrp="1"/>
          </p:cNvSpPr>
          <p:nvPr/>
        </p:nvSpPr>
        <p:spPr>
          <a:xfrm xmlns:a="http://schemas.openxmlformats.org/drawingml/2006/main">
            <a:off x="847725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B4C3201-7E41-41C8-BDB3-F57418F790E7}"/>
              </a:ext>
            </a:extLst>
          </p:cNvPr>
          <p:cNvSpPr>
            <a:spLocks xmlns:a="http://schemas.openxmlformats.org/drawingml/2006/main" noGrp="1"/>
          </p:cNvSpPr>
          <p:nvPr/>
        </p:nvSpPr>
        <p:spPr>
          <a:xfrm xmlns:a="http://schemas.openxmlformats.org/drawingml/2006/main">
            <a:off x="8848725" y="2476500"/>
            <a:ext cx="2247900" cy="1428750"/>
          </a:xfrm>
          <a:prstGeom xmlns:a="http://schemas.openxmlformats.org/drawingml/2006/main" prst="roundRect">
            <a:avLst>
              <a:gd name="adj" fmla="val 5333"/>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C1D864C-DE71-4E62-9948-CB0B908F73EE}"/>
              </a:ext>
            </a:extLst>
          </p:cNvPr>
          <p:cNvSpPr>
            <a:spLocks xmlns:a="http://schemas.openxmlformats.org/drawingml/2006/main" noGrp="1"/>
          </p:cNvSpPr>
          <p:nvPr/>
        </p:nvSpPr>
        <p:spPr>
          <a:xfrm xmlns:a="http://schemas.openxmlformats.org/drawingml/2006/main">
            <a:off x="902017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Candidate</a:t>
            </a:r>
          </a:p>
        </p:txBody>
      </p:sp>
      <p:sp>
        <p:nvSpPr>
          <p:cNvPr id="19" name="">
            <a:extLst xmlns:a="http://schemas.openxmlformats.org/drawingml/2006/main">
              <a:ext uri="{FF2B5EF4-FFF2-40B4-BE49-F238E27FC236}">
                <a16:creationId xmlns:a16="http://schemas.microsoft.com/office/drawing/2014/main" id="{A04C702A-F1A8-4F97-9233-23DAFA09D7D8}"/>
              </a:ext>
            </a:extLst>
          </p:cNvPr>
          <p:cNvSpPr>
            <a:spLocks xmlns:a="http://schemas.openxmlformats.org/drawingml/2006/main" noGrp="1"/>
          </p:cNvSpPr>
          <p:nvPr/>
        </p:nvSpPr>
        <p:spPr>
          <a:xfrm xmlns:a="http://schemas.openxmlformats.org/drawingml/2006/main">
            <a:off x="902017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lead requiring proof</a:t>
            </a:r>
          </a:p>
        </p:txBody>
      </p:sp>
      <p:sp>
        <p:nvSpPr>
          <p:cNvPr id="20" name="">
            <a:extLst xmlns:a="http://schemas.openxmlformats.org/drawingml/2006/main">
              <a:ext uri="{FF2B5EF4-FFF2-40B4-BE49-F238E27FC236}">
                <a16:creationId xmlns:a16="http://schemas.microsoft.com/office/drawing/2014/main" id="{8EB8E2C0-93DD-4201-8AA2-FD978FF12407}"/>
              </a:ext>
            </a:extLst>
          </p:cNvPr>
          <p:cNvSpPr>
            <a:spLocks xmlns:a="http://schemas.openxmlformats.org/drawingml/2006/main" noGrp="1"/>
          </p:cNvSpPr>
          <p:nvPr/>
        </p:nvSpPr>
        <p:spPr>
          <a:xfrm xmlns:a="http://schemas.openxmlformats.org/drawingml/2006/main">
            <a:off x="1113472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DD03248-CB4C-46B5-83AF-ECFB12295F09}"/>
              </a:ext>
            </a:extLst>
          </p:cNvPr>
          <p:cNvSpPr>
            <a:spLocks xmlns:a="http://schemas.openxmlformats.org/drawingml/2006/main" noGrp="1"/>
          </p:cNvSpPr>
          <p:nvPr/>
        </p:nvSpPr>
        <p:spPr>
          <a:xfrm xmlns:a="http://schemas.openxmlformats.org/drawingml/2006/main">
            <a:off x="11506200" y="2476500"/>
            <a:ext cx="2247900" cy="1428750"/>
          </a:xfrm>
          <a:prstGeom xmlns:a="http://schemas.openxmlformats.org/drawingml/2006/main" prst="roundRect">
            <a:avLst>
              <a:gd name="adj" fmla="val 5333"/>
            </a:avLst>
          </a:prstGeom>
          <a:solidFill xmlns:a="http://schemas.openxmlformats.org/drawingml/2006/main">
            <a:srgbClr val="4F8B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4268560-A303-4E26-A03D-4FF86E0C57F1}"/>
              </a:ext>
            </a:extLst>
          </p:cNvPr>
          <p:cNvSpPr>
            <a:spLocks xmlns:a="http://schemas.openxmlformats.org/drawingml/2006/main" noGrp="1"/>
          </p:cNvSpPr>
          <p:nvPr/>
        </p:nvSpPr>
        <p:spPr>
          <a:xfrm xmlns:a="http://schemas.openxmlformats.org/drawingml/2006/main">
            <a:off x="116776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Verified finding</a:t>
            </a:r>
          </a:p>
        </p:txBody>
      </p:sp>
      <p:sp>
        <p:nvSpPr>
          <p:cNvPr id="23" name="">
            <a:extLst xmlns:a="http://schemas.openxmlformats.org/drawingml/2006/main">
              <a:ext uri="{FF2B5EF4-FFF2-40B4-BE49-F238E27FC236}">
                <a16:creationId xmlns:a16="http://schemas.microsoft.com/office/drawing/2014/main" id="{1E337996-7644-4F37-8D80-D466A9F1B9A2}"/>
              </a:ext>
            </a:extLst>
          </p:cNvPr>
          <p:cNvSpPr>
            <a:spLocks xmlns:a="http://schemas.openxmlformats.org/drawingml/2006/main" noGrp="1"/>
          </p:cNvSpPr>
          <p:nvPr/>
        </p:nvSpPr>
        <p:spPr>
          <a:xfrm xmlns:a="http://schemas.openxmlformats.org/drawingml/2006/main">
            <a:off x="116776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claim + cited evidence</a:t>
            </a:r>
          </a:p>
        </p:txBody>
      </p:sp>
      <p:sp>
        <p:nvSpPr>
          <p:cNvPr id="24" name="">
            <a:extLst xmlns:a="http://schemas.openxmlformats.org/drawingml/2006/main">
              <a:ext uri="{FF2B5EF4-FFF2-40B4-BE49-F238E27FC236}">
                <a16:creationId xmlns:a16="http://schemas.microsoft.com/office/drawing/2014/main" id="{08F66FF7-013C-4FBF-9CCB-F7395D9AA690}"/>
              </a:ext>
            </a:extLst>
          </p:cNvPr>
          <p:cNvSpPr>
            <a:spLocks xmlns:a="http://schemas.openxmlformats.org/drawingml/2006/main" noGrp="1"/>
          </p:cNvSpPr>
          <p:nvPr/>
        </p:nvSpPr>
        <p:spPr>
          <a:xfrm xmlns:a="http://schemas.openxmlformats.org/drawingml/2006/main">
            <a:off x="137922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2620C9F-B57C-4F6E-94D6-9A7BB547501F}"/>
              </a:ext>
            </a:extLst>
          </p:cNvPr>
          <p:cNvSpPr>
            <a:spLocks xmlns:a="http://schemas.openxmlformats.org/drawingml/2006/main" noGrp="1"/>
          </p:cNvSpPr>
          <p:nvPr/>
        </p:nvSpPr>
        <p:spPr>
          <a:xfrm xmlns:a="http://schemas.openxmlformats.org/drawingml/2006/main">
            <a:off x="14163675"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8D8E325-D5DA-43D8-B879-6D62B7DD71EB}"/>
              </a:ext>
            </a:extLst>
          </p:cNvPr>
          <p:cNvSpPr>
            <a:spLocks xmlns:a="http://schemas.openxmlformats.org/drawingml/2006/main" noGrp="1"/>
          </p:cNvSpPr>
          <p:nvPr/>
        </p:nvSpPr>
        <p:spPr>
          <a:xfrm xmlns:a="http://schemas.openxmlformats.org/drawingml/2006/main">
            <a:off x="143351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Report</a:t>
            </a:r>
          </a:p>
        </p:txBody>
      </p:sp>
      <p:sp>
        <p:nvSpPr>
          <p:cNvPr id="27" name="">
            <a:extLst xmlns:a="http://schemas.openxmlformats.org/drawingml/2006/main">
              <a:ext uri="{FF2B5EF4-FFF2-40B4-BE49-F238E27FC236}">
                <a16:creationId xmlns:a16="http://schemas.microsoft.com/office/drawing/2014/main" id="{0C2C8549-FBB3-4189-9A60-A4B13FD9FE4D}"/>
              </a:ext>
            </a:extLst>
          </p:cNvPr>
          <p:cNvSpPr>
            <a:spLocks xmlns:a="http://schemas.openxmlformats.org/drawingml/2006/main" noGrp="1"/>
          </p:cNvSpPr>
          <p:nvPr/>
        </p:nvSpPr>
        <p:spPr>
          <a:xfrm xmlns:a="http://schemas.openxmlformats.org/drawingml/2006/main">
            <a:off x="143351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human-reviewable result</a:t>
            </a:r>
          </a:p>
        </p:txBody>
      </p:sp>
      <p:sp>
        <p:nvSpPr>
          <p:cNvPr id="28" name="">
            <a:extLst xmlns:a="http://schemas.openxmlformats.org/drawingml/2006/main">
              <a:ext uri="{FF2B5EF4-FFF2-40B4-BE49-F238E27FC236}">
                <a16:creationId xmlns:a16="http://schemas.microsoft.com/office/drawing/2014/main" id="{53FB6A7E-29E1-4E3D-A474-9E7D6FB1B2BC}"/>
              </a:ext>
            </a:extLst>
          </p:cNvPr>
          <p:cNvSpPr>
            <a:spLocks xmlns:a="http://schemas.openxmlformats.org/drawingml/2006/main" noGrp="1"/>
          </p:cNvSpPr>
          <p:nvPr/>
        </p:nvSpPr>
        <p:spPr>
          <a:xfrm xmlns:a="http://schemas.openxmlformats.org/drawingml/2006/main">
            <a:off x="876300" y="44958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Storage rules</a:t>
            </a:r>
          </a:p>
        </p:txBody>
      </p:sp>
      <p:sp>
        <p:nvSpPr>
          <p:cNvPr id="29" name="">
            <a:extLst xmlns:a="http://schemas.openxmlformats.org/drawingml/2006/main">
              <a:ext uri="{FF2B5EF4-FFF2-40B4-BE49-F238E27FC236}">
                <a16:creationId xmlns:a16="http://schemas.microsoft.com/office/drawing/2014/main" id="{ABAE38D6-E410-4347-8572-9DEF756C1B1F}"/>
              </a:ext>
            </a:extLst>
          </p:cNvPr>
          <p:cNvSpPr>
            <a:spLocks xmlns:a="http://schemas.openxmlformats.org/drawingml/2006/main" noGrp="1"/>
          </p:cNvSpPr>
          <p:nvPr/>
        </p:nvSpPr>
        <p:spPr>
          <a:xfrm xmlns:a="http://schemas.openxmlformats.org/drawingml/2006/main">
            <a:off x="8763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0" name="">
            <a:extLst xmlns:a="http://schemas.openxmlformats.org/drawingml/2006/main">
              <a:ext uri="{FF2B5EF4-FFF2-40B4-BE49-F238E27FC236}">
                <a16:creationId xmlns:a16="http://schemas.microsoft.com/office/drawing/2014/main" id="{879AA52B-9C0D-4566-A9D0-486424A8FC8B}"/>
              </a:ext>
            </a:extLst>
          </p:cNvPr>
          <p:cNvSpPr>
            <a:spLocks xmlns:a="http://schemas.openxmlformats.org/drawingml/2006/main" noGrp="1"/>
          </p:cNvSpPr>
          <p:nvPr/>
        </p:nvSpPr>
        <p:spPr>
          <a:xfrm xmlns:a="http://schemas.openxmlformats.org/drawingml/2006/main">
            <a:off x="876300" y="50482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6AB52D4-196F-4DE9-AE12-599F852D9BBE}"/>
              </a:ext>
            </a:extLst>
          </p:cNvPr>
          <p:cNvSpPr>
            <a:spLocks xmlns:a="http://schemas.openxmlformats.org/drawingml/2006/main" noGrp="1"/>
          </p:cNvSpPr>
          <p:nvPr/>
        </p:nvSpPr>
        <p:spPr>
          <a:xfrm xmlns:a="http://schemas.openxmlformats.org/drawingml/2006/main">
            <a:off x="11430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Raw evidence remains intact</a:t>
            </a:r>
          </a:p>
        </p:txBody>
      </p:sp>
      <p:sp>
        <p:nvSpPr>
          <p:cNvPr id="32" name="">
            <a:extLst xmlns:a="http://schemas.openxmlformats.org/drawingml/2006/main">
              <a:ext uri="{FF2B5EF4-FFF2-40B4-BE49-F238E27FC236}">
                <a16:creationId xmlns:a16="http://schemas.microsoft.com/office/drawing/2014/main" id="{50B8CAF7-5630-4E2C-88FD-719DAEA40CCC}"/>
              </a:ext>
            </a:extLst>
          </p:cNvPr>
          <p:cNvSpPr>
            <a:spLocks xmlns:a="http://schemas.openxmlformats.org/drawingml/2006/main" noGrp="1"/>
          </p:cNvSpPr>
          <p:nvPr/>
        </p:nvSpPr>
        <p:spPr>
          <a:xfrm xmlns:a="http://schemas.openxmlformats.org/drawingml/2006/main">
            <a:off x="11430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Artifacts preserve what the tool actually returned.</a:t>
            </a:r>
          </a:p>
        </p:txBody>
      </p:sp>
      <p:sp>
        <p:nvSpPr>
          <p:cNvPr id="33" name="">
            <a:extLst xmlns:a="http://schemas.openxmlformats.org/drawingml/2006/main">
              <a:ext uri="{FF2B5EF4-FFF2-40B4-BE49-F238E27FC236}">
                <a16:creationId xmlns:a16="http://schemas.microsoft.com/office/drawing/2014/main" id="{881CF79B-938A-4E4E-AD06-830E8B48E818}"/>
              </a:ext>
            </a:extLst>
          </p:cNvPr>
          <p:cNvSpPr>
            <a:spLocks xmlns:a="http://schemas.openxmlformats.org/drawingml/2006/main" noGrp="1"/>
          </p:cNvSpPr>
          <p:nvPr/>
        </p:nvSpPr>
        <p:spPr>
          <a:xfrm xmlns:a="http://schemas.openxmlformats.org/drawingml/2006/main">
            <a:off x="61341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E9B315A5-4509-46BA-8AAB-98CAAA0DB54D}"/>
              </a:ext>
            </a:extLst>
          </p:cNvPr>
          <p:cNvSpPr>
            <a:spLocks xmlns:a="http://schemas.openxmlformats.org/drawingml/2006/main" noGrp="1"/>
          </p:cNvSpPr>
          <p:nvPr/>
        </p:nvSpPr>
        <p:spPr>
          <a:xfrm xmlns:a="http://schemas.openxmlformats.org/drawingml/2006/main">
            <a:off x="6134100" y="50482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2CB2B36-70FC-49C3-8808-BC72FB96CD89}"/>
              </a:ext>
            </a:extLst>
          </p:cNvPr>
          <p:cNvSpPr>
            <a:spLocks xmlns:a="http://schemas.openxmlformats.org/drawingml/2006/main" noGrp="1"/>
          </p:cNvSpPr>
          <p:nvPr/>
        </p:nvSpPr>
        <p:spPr>
          <a:xfrm xmlns:a="http://schemas.openxmlformats.org/drawingml/2006/main">
            <a:off x="64008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Observations are not vulnerabilities</a:t>
            </a:r>
          </a:p>
        </p:txBody>
      </p:sp>
      <p:sp>
        <p:nvSpPr>
          <p:cNvPr id="36" name="">
            <a:extLst xmlns:a="http://schemas.openxmlformats.org/drawingml/2006/main">
              <a:ext uri="{FF2B5EF4-FFF2-40B4-BE49-F238E27FC236}">
                <a16:creationId xmlns:a16="http://schemas.microsoft.com/office/drawing/2014/main" id="{4E586AF8-DDA3-4E22-B8D1-59D87143BC0E}"/>
              </a:ext>
            </a:extLst>
          </p:cNvPr>
          <p:cNvSpPr>
            <a:spLocks xmlns:a="http://schemas.openxmlformats.org/drawingml/2006/main" noGrp="1"/>
          </p:cNvSpPr>
          <p:nvPr/>
        </p:nvSpPr>
        <p:spPr>
          <a:xfrm xmlns:a="http://schemas.openxmlformats.org/drawingml/2006/main">
            <a:off x="64008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 banner, port or scanner title cannot silently become a confirmed finding.</a:t>
            </a:r>
          </a:p>
        </p:txBody>
      </p:sp>
      <p:sp>
        <p:nvSpPr>
          <p:cNvPr id="37" name="">
            <a:extLst xmlns:a="http://schemas.openxmlformats.org/drawingml/2006/main">
              <a:ext uri="{FF2B5EF4-FFF2-40B4-BE49-F238E27FC236}">
                <a16:creationId xmlns:a16="http://schemas.microsoft.com/office/drawing/2014/main" id="{E60FFAE5-620D-4B75-B52A-CF24A9F6F1BA}"/>
              </a:ext>
            </a:extLst>
          </p:cNvPr>
          <p:cNvSpPr>
            <a:spLocks xmlns:a="http://schemas.openxmlformats.org/drawingml/2006/main" noGrp="1"/>
          </p:cNvSpPr>
          <p:nvPr/>
        </p:nvSpPr>
        <p:spPr>
          <a:xfrm xmlns:a="http://schemas.openxmlformats.org/drawingml/2006/main">
            <a:off x="113919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04AFBCE3-0A60-4298-9B56-7F4B7A7813B4}"/>
              </a:ext>
            </a:extLst>
          </p:cNvPr>
          <p:cNvSpPr>
            <a:spLocks xmlns:a="http://schemas.openxmlformats.org/drawingml/2006/main" noGrp="1"/>
          </p:cNvSpPr>
          <p:nvPr/>
        </p:nvSpPr>
        <p:spPr>
          <a:xfrm xmlns:a="http://schemas.openxmlformats.org/drawingml/2006/main">
            <a:off x="11391900" y="50482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4C0E0A2-E185-4C08-B649-8711E7B7227A}"/>
              </a:ext>
            </a:extLst>
          </p:cNvPr>
          <p:cNvSpPr>
            <a:spLocks xmlns:a="http://schemas.openxmlformats.org/drawingml/2006/main" noGrp="1"/>
          </p:cNvSpPr>
          <p:nvPr/>
        </p:nvSpPr>
        <p:spPr>
          <a:xfrm xmlns:a="http://schemas.openxmlformats.org/drawingml/2006/main">
            <a:off x="116586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Hypotheses stay separate</a:t>
            </a:r>
          </a:p>
        </p:txBody>
      </p:sp>
      <p:sp>
        <p:nvSpPr>
          <p:cNvPr id="40" name="">
            <a:extLst xmlns:a="http://schemas.openxmlformats.org/drawingml/2006/main">
              <a:ext uri="{FF2B5EF4-FFF2-40B4-BE49-F238E27FC236}">
                <a16:creationId xmlns:a16="http://schemas.microsoft.com/office/drawing/2014/main" id="{BE724FE5-13B7-4D99-BBB0-524320E9DDD4}"/>
              </a:ext>
            </a:extLst>
          </p:cNvPr>
          <p:cNvSpPr>
            <a:spLocks xmlns:a="http://schemas.openxmlformats.org/drawingml/2006/main" noGrp="1"/>
          </p:cNvSpPr>
          <p:nvPr/>
        </p:nvSpPr>
        <p:spPr>
          <a:xfrm xmlns:a="http://schemas.openxmlformats.org/drawingml/2006/main">
            <a:off x="116586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AI interpretations and candidate leads remain provisional until verified.</a:t>
            </a:r>
          </a:p>
        </p:txBody>
      </p:sp>
      <p:sp>
        <p:nvSpPr>
          <p:cNvPr id="41" name="">
            <a:extLst xmlns:a="http://schemas.openxmlformats.org/drawingml/2006/main">
              <a:ext uri="{FF2B5EF4-FFF2-40B4-BE49-F238E27FC236}">
                <a16:creationId xmlns:a16="http://schemas.microsoft.com/office/drawing/2014/main" id="{41365F93-81D0-406E-A0D3-45C87AAD01BB}"/>
              </a:ext>
            </a:extLst>
          </p:cNvPr>
          <p:cNvSpPr>
            <a:spLocks xmlns:a="http://schemas.openxmlformats.org/drawingml/2006/main" noGrp="1"/>
          </p:cNvSpPr>
          <p:nvPr/>
        </p:nvSpPr>
        <p:spPr>
          <a:xfrm xmlns:a="http://schemas.openxmlformats.org/drawingml/2006/main">
            <a:off x="8763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F5FD006F-4021-4E90-B9E5-57AA3BD0B5D0}"/>
              </a:ext>
            </a:extLst>
          </p:cNvPr>
          <p:cNvSpPr>
            <a:spLocks xmlns:a="http://schemas.openxmlformats.org/drawingml/2006/main" noGrp="1"/>
          </p:cNvSpPr>
          <p:nvPr/>
        </p:nvSpPr>
        <p:spPr>
          <a:xfrm xmlns:a="http://schemas.openxmlformats.org/drawingml/2006/main">
            <a:off x="876300" y="69151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D5087C4-FD97-4C2F-AB0C-98985D9D9F0E}"/>
              </a:ext>
            </a:extLst>
          </p:cNvPr>
          <p:cNvSpPr>
            <a:spLocks xmlns:a="http://schemas.openxmlformats.org/drawingml/2006/main" noGrp="1"/>
          </p:cNvSpPr>
          <p:nvPr/>
        </p:nvSpPr>
        <p:spPr>
          <a:xfrm xmlns:a="http://schemas.openxmlformats.org/drawingml/2006/main">
            <a:off x="11430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Findings cite exact proof</a:t>
            </a:r>
          </a:p>
        </p:txBody>
      </p:sp>
      <p:sp>
        <p:nvSpPr>
          <p:cNvPr id="44" name="">
            <a:extLst xmlns:a="http://schemas.openxmlformats.org/drawingml/2006/main">
              <a:ext uri="{FF2B5EF4-FFF2-40B4-BE49-F238E27FC236}">
                <a16:creationId xmlns:a16="http://schemas.microsoft.com/office/drawing/2014/main" id="{B8E69607-7C4F-4A52-B319-959508FF5AE8}"/>
              </a:ext>
            </a:extLst>
          </p:cNvPr>
          <p:cNvSpPr>
            <a:spLocks xmlns:a="http://schemas.openxmlformats.org/drawingml/2006/main" noGrp="1"/>
          </p:cNvSpPr>
          <p:nvPr/>
        </p:nvSpPr>
        <p:spPr>
          <a:xfrm xmlns:a="http://schemas.openxmlformats.org/drawingml/2006/main">
            <a:off x="11430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Every high-impact claim points back to recorded, reproducible evidence.</a:t>
            </a:r>
          </a:p>
        </p:txBody>
      </p:sp>
      <p:sp>
        <p:nvSpPr>
          <p:cNvPr id="45" name="">
            <a:extLst xmlns:a="http://schemas.openxmlformats.org/drawingml/2006/main">
              <a:ext uri="{FF2B5EF4-FFF2-40B4-BE49-F238E27FC236}">
                <a16:creationId xmlns:a16="http://schemas.microsoft.com/office/drawing/2014/main" id="{0DE07966-7498-4BCA-A39B-04D0BF338546}"/>
              </a:ext>
            </a:extLst>
          </p:cNvPr>
          <p:cNvSpPr>
            <a:spLocks xmlns:a="http://schemas.openxmlformats.org/drawingml/2006/main" noGrp="1"/>
          </p:cNvSpPr>
          <p:nvPr/>
        </p:nvSpPr>
        <p:spPr>
          <a:xfrm xmlns:a="http://schemas.openxmlformats.org/drawingml/2006/main">
            <a:off x="61341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6" name="">
            <a:extLst xmlns:a="http://schemas.openxmlformats.org/drawingml/2006/main">
              <a:ext uri="{FF2B5EF4-FFF2-40B4-BE49-F238E27FC236}">
                <a16:creationId xmlns:a16="http://schemas.microsoft.com/office/drawing/2014/main" id="{A931D4A2-8890-482A-9124-F7E4C257F1BA}"/>
              </a:ext>
            </a:extLst>
          </p:cNvPr>
          <p:cNvSpPr>
            <a:spLocks xmlns:a="http://schemas.openxmlformats.org/drawingml/2006/main" noGrp="1"/>
          </p:cNvSpPr>
          <p:nvPr/>
        </p:nvSpPr>
        <p:spPr>
          <a:xfrm xmlns:a="http://schemas.openxmlformats.org/drawingml/2006/main">
            <a:off x="6134100" y="69151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F10C8E7-3364-4F1E-9BC1-E410B6090744}"/>
              </a:ext>
            </a:extLst>
          </p:cNvPr>
          <p:cNvSpPr>
            <a:spLocks xmlns:a="http://schemas.openxmlformats.org/drawingml/2006/main" noGrp="1"/>
          </p:cNvSpPr>
          <p:nvPr/>
        </p:nvSpPr>
        <p:spPr>
          <a:xfrm xmlns:a="http://schemas.openxmlformats.org/drawingml/2006/main">
            <a:off x="64008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 is not severity</a:t>
            </a:r>
          </a:p>
        </p:txBody>
      </p:sp>
      <p:sp>
        <p:nvSpPr>
          <p:cNvPr id="48" name="">
            <a:extLst xmlns:a="http://schemas.openxmlformats.org/drawingml/2006/main">
              <a:ext uri="{FF2B5EF4-FFF2-40B4-BE49-F238E27FC236}">
                <a16:creationId xmlns:a16="http://schemas.microsoft.com/office/drawing/2014/main" id="{A6BC0785-808D-48DF-A41A-B4D77036F974}"/>
              </a:ext>
            </a:extLst>
          </p:cNvPr>
          <p:cNvSpPr>
            <a:spLocks xmlns:a="http://schemas.openxmlformats.org/drawingml/2006/main" noGrp="1"/>
          </p:cNvSpPr>
          <p:nvPr/>
        </p:nvSpPr>
        <p:spPr>
          <a:xfrm xmlns:a="http://schemas.openxmlformats.org/drawingml/2006/main">
            <a:off x="64008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What has been tested is tracked separately from how dangerous a finding is.</a:t>
            </a:r>
          </a:p>
        </p:txBody>
      </p:sp>
      <p:sp>
        <p:nvSpPr>
          <p:cNvPr id="49" name="">
            <a:extLst xmlns:a="http://schemas.openxmlformats.org/drawingml/2006/main">
              <a:ext uri="{FF2B5EF4-FFF2-40B4-BE49-F238E27FC236}">
                <a16:creationId xmlns:a16="http://schemas.microsoft.com/office/drawing/2014/main" id="{200B8AA4-737E-433A-88FA-7816C86C56A1}"/>
              </a:ext>
            </a:extLst>
          </p:cNvPr>
          <p:cNvSpPr>
            <a:spLocks xmlns:a="http://schemas.openxmlformats.org/drawingml/2006/main" noGrp="1"/>
          </p:cNvSpPr>
          <p:nvPr/>
        </p:nvSpPr>
        <p:spPr>
          <a:xfrm xmlns:a="http://schemas.openxmlformats.org/drawingml/2006/main">
            <a:off x="113919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50" name="">
            <a:extLst xmlns:a="http://schemas.openxmlformats.org/drawingml/2006/main">
              <a:ext uri="{FF2B5EF4-FFF2-40B4-BE49-F238E27FC236}">
                <a16:creationId xmlns:a16="http://schemas.microsoft.com/office/drawing/2014/main" id="{14BFB3FE-1EC7-446B-AB7F-16D9D2F804BF}"/>
              </a:ext>
            </a:extLst>
          </p:cNvPr>
          <p:cNvSpPr>
            <a:spLocks xmlns:a="http://schemas.openxmlformats.org/drawingml/2006/main" noGrp="1"/>
          </p:cNvSpPr>
          <p:nvPr/>
        </p:nvSpPr>
        <p:spPr>
          <a:xfrm xmlns:a="http://schemas.openxmlformats.org/drawingml/2006/main">
            <a:off x="11391900" y="69151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ED58753-1BAD-486D-8796-E86CA080B6DA}"/>
              </a:ext>
            </a:extLst>
          </p:cNvPr>
          <p:cNvSpPr>
            <a:spLocks xmlns:a="http://schemas.openxmlformats.org/drawingml/2006/main" noGrp="1"/>
          </p:cNvSpPr>
          <p:nvPr/>
        </p:nvSpPr>
        <p:spPr>
          <a:xfrm xmlns:a="http://schemas.openxmlformats.org/drawingml/2006/main">
            <a:off x="116586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One shared graph</a:t>
            </a:r>
          </a:p>
        </p:txBody>
      </p:sp>
      <p:sp>
        <p:nvSpPr>
          <p:cNvPr id="52" name="">
            <a:extLst xmlns:a="http://schemas.openxmlformats.org/drawingml/2006/main">
              <a:ext uri="{FF2B5EF4-FFF2-40B4-BE49-F238E27FC236}">
                <a16:creationId xmlns:a16="http://schemas.microsoft.com/office/drawing/2014/main" id="{633ACE1A-0460-49F9-ADE7-52BCC1AB60A8}"/>
              </a:ext>
            </a:extLst>
          </p:cNvPr>
          <p:cNvSpPr>
            <a:spLocks xmlns:a="http://schemas.openxmlformats.org/drawingml/2006/main" noGrp="1"/>
          </p:cNvSpPr>
          <p:nvPr/>
        </p:nvSpPr>
        <p:spPr>
          <a:xfrm xmlns:a="http://schemas.openxmlformats.org/drawingml/2006/main">
            <a:off x="116586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CLI, deterministic engine and AI operate on the same connected state.</a:t>
            </a:r>
          </a:p>
        </p:txBody>
      </p:sp>
    </p:spTree>
    <p:extLst>
      <p:ext uri="{BB962C8B-B14F-4D97-AF65-F5344CB8AC3E}">
        <p14:creationId xmlns:p14="http://schemas.microsoft.com/office/powerpoint/2010/main" val="148027772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243BED1-F67A-4B45-B3CC-77B3C805E129}"/>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10 / DELIVERY PLAN</a:t>
            </a:r>
          </a:p>
        </p:txBody>
      </p:sp>
      <p:sp>
        <p:nvSpPr>
          <p:cNvPr id="2" name="">
            <a:extLst xmlns:a="http://schemas.openxmlformats.org/drawingml/2006/main">
              <a:ext uri="{FF2B5EF4-FFF2-40B4-BE49-F238E27FC236}">
                <a16:creationId xmlns:a16="http://schemas.microsoft.com/office/drawing/2014/main" id="{0F551110-1409-4FA4-8276-CBD159B2725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DA416A1F-A498-47EF-B0F2-5E03E4A5FD0B}"/>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C742DE1-0E6A-4048-948F-E298F93C9F4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B09408A-D3E4-4451-88B5-BB74D1D7AF6A}"/>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5F7180"/>
                </a:solidFill>
                <a:latin typeface="Arial"/>
                <a:ea typeface="Arial"/>
                <a:cs typeface="Arial"/>
              </a:defRPr>
            </a:pPr>
            <a:r>
              <a:rPr sz="2025" b="0" i="0">
                <a:solidFill>
                  <a:srgbClr val="5F7180"/>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CB9FCB04-4D14-4872-83AF-521F0586DEF8}"/>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B2114419-036E-4838-B185-B3AF6396BB66}"/>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DCBAA51A-55A5-4C78-976B-A29C2AD34303}"/>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59D0E17A-4DE5-4983-845E-CAB42DDBDABD}"/>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Planning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9DD7EB8B-1A30-44E2-B803-9B71D9D640C8}"/>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A8EAD09E-0726-485A-8255-C0B6F24ABBE1}"/>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088C6061-DE6E-4D58-98E7-BA6F45EA11D0}"/>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Reconnaissance</a:t>
            </a:r>
          </a:p>
        </p:txBody>
      </p:sp>
      <p:sp>
        <p:nvSpPr>
          <p:cNvPr id="13" name="">
            <a:extLst xmlns:a="http://schemas.openxmlformats.org/drawingml/2006/main">
              <a:ext uri="{FF2B5EF4-FFF2-40B4-BE49-F238E27FC236}">
                <a16:creationId xmlns:a16="http://schemas.microsoft.com/office/drawing/2014/main" id="{8C8C423E-38C5-414F-859E-6B911CDD7CCD}"/>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E4A5694B-B9AE-4615-A54D-4D720B11630D}"/>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B99E99CD-B485-4D70-A663-6D9091034E58}"/>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Network &amp; web</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F993FCC2-D7B7-4879-B937-8478B0B5093E}"/>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8E14C253-B0DF-4ABD-BFF7-D64F827ACBF4}"/>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BC91F00C-AF75-4EF9-A4EB-518757C41E9D}"/>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Integration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254B1A56-2648-4113-A6B3-7DF1F229E4AF}"/>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B588D4C5-4882-453D-89E0-D19D21359CFE}"/>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AF963D3D-5AD9-44E5-B945-C5E18288A7FC}"/>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Business logic</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296D27B5-FF70-4455-A8C1-580C25B8D19B}"/>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62449000-9B30-4980-85D5-DC2784E9C3FD}"/>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3D6DFC81-BDF6-4966-A522-D1F5DD436690}"/>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Dual-mode</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C30C70DC-4E30-4AA6-AA78-2516E6FD99CD}"/>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22D5433B-82EB-48D2-BFDE-A04039A1EF2E}"/>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82307037-1B6E-46D6-A6CF-D9D23FFC77F9}"/>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Testing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76A051F3-235D-4196-A43C-A4A2F6F6775A}"/>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CA02904A-A200-4130-BE37-5C8E9378E112}"/>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024D9EDC-AC76-48AF-AE9E-37FF3BB1F7A9}"/>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Evaluation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7BDA52DC-2604-4271-9881-08C63D04DB08}"/>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2698E20-44CE-4F17-BDCE-D7EF48AB333C}"/>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2E9C5BF4-0230-4FFC-AA1D-C3F974313FB1}"/>
              </a:ext>
            </a:extLst>
          </p:cNvPr>
          <p:cNvSpPr>
            <a:spLocks xmlns:a="http://schemas.openxmlformats.org/drawingml/2006/main" noGrp="1"/>
          </p:cNvSpPr>
          <p:nvPr/>
        </p:nvSpPr>
        <p:spPr>
          <a:xfrm xmlns:a="http://schemas.openxmlformats.org/drawingml/2006/main">
            <a:off x="12192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0E174592-C885-45D5-A5D1-21E9C946CBD0}"/>
              </a:ext>
            </a:extLst>
          </p:cNvPr>
          <p:cNvSpPr>
            <a:spLocks xmlns:a="http://schemas.openxmlformats.org/drawingml/2006/main" noGrp="1"/>
          </p:cNvSpPr>
          <p:nvPr/>
        </p:nvSpPr>
        <p:spPr>
          <a:xfrm xmlns:a="http://schemas.openxmlformats.org/drawingml/2006/main">
            <a:off x="1219200" y="6724650"/>
            <a:ext cx="85725" cy="10668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89C1568-554D-47E3-AB55-1A28D264D48B}"/>
              </a:ext>
            </a:extLst>
          </p:cNvPr>
          <p:cNvSpPr>
            <a:spLocks xmlns:a="http://schemas.openxmlformats.org/drawingml/2006/main" noGrp="1"/>
          </p:cNvSpPr>
          <p:nvPr/>
        </p:nvSpPr>
        <p:spPr>
          <a:xfrm xmlns:a="http://schemas.openxmlformats.org/drawingml/2006/main">
            <a:off x="14859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665206A3-B962-44CF-A18A-F1B7CAF51AF6}"/>
              </a:ext>
            </a:extLst>
          </p:cNvPr>
          <p:cNvSpPr>
            <a:spLocks xmlns:a="http://schemas.openxmlformats.org/drawingml/2006/main" noGrp="1"/>
          </p:cNvSpPr>
          <p:nvPr/>
        </p:nvSpPr>
        <p:spPr>
          <a:xfrm xmlns:a="http://schemas.openxmlformats.org/drawingml/2006/main">
            <a:off x="14859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E2DB4E17-4BF6-4103-BFDD-AAFEC9BF8D07}"/>
              </a:ext>
            </a:extLst>
          </p:cNvPr>
          <p:cNvSpPr>
            <a:spLocks xmlns:a="http://schemas.openxmlformats.org/drawingml/2006/main" noGrp="1"/>
          </p:cNvSpPr>
          <p:nvPr/>
        </p:nvSpPr>
        <p:spPr>
          <a:xfrm xmlns:a="http://schemas.openxmlformats.org/drawingml/2006/main">
            <a:off x="59436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627F89E7-C99D-4DBD-BF67-A34FEA1D03E5}"/>
              </a:ext>
            </a:extLst>
          </p:cNvPr>
          <p:cNvSpPr>
            <a:spLocks xmlns:a="http://schemas.openxmlformats.org/drawingml/2006/main" noGrp="1"/>
          </p:cNvSpPr>
          <p:nvPr/>
        </p:nvSpPr>
        <p:spPr>
          <a:xfrm xmlns:a="http://schemas.openxmlformats.org/drawingml/2006/main">
            <a:off x="5943600" y="6724650"/>
            <a:ext cx="85725" cy="10668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D3E8B92-67B8-442B-B5B6-AB2F64C86D97}"/>
              </a:ext>
            </a:extLst>
          </p:cNvPr>
          <p:cNvSpPr>
            <a:spLocks xmlns:a="http://schemas.openxmlformats.org/drawingml/2006/main" noGrp="1"/>
          </p:cNvSpPr>
          <p:nvPr/>
        </p:nvSpPr>
        <p:spPr>
          <a:xfrm xmlns:a="http://schemas.openxmlformats.org/drawingml/2006/main">
            <a:off x="62103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2D5F074A-0072-46B0-8782-57C9C88CE097}"/>
              </a:ext>
            </a:extLst>
          </p:cNvPr>
          <p:cNvSpPr>
            <a:spLocks xmlns:a="http://schemas.openxmlformats.org/drawingml/2006/main" noGrp="1"/>
          </p:cNvSpPr>
          <p:nvPr/>
        </p:nvSpPr>
        <p:spPr>
          <a:xfrm xmlns:a="http://schemas.openxmlformats.org/drawingml/2006/main">
            <a:off x="62103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B4E4A33A-F323-428B-818F-495A2D9AA78F}"/>
              </a:ext>
            </a:extLst>
          </p:cNvPr>
          <p:cNvSpPr>
            <a:spLocks xmlns:a="http://schemas.openxmlformats.org/drawingml/2006/main" noGrp="1"/>
          </p:cNvSpPr>
          <p:nvPr/>
        </p:nvSpPr>
        <p:spPr>
          <a:xfrm xmlns:a="http://schemas.openxmlformats.org/drawingml/2006/main">
            <a:off x="10668000" y="6724650"/>
            <a:ext cx="5619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082DA0DD-9A2F-422B-A0FF-B6B233D2A803}"/>
              </a:ext>
            </a:extLst>
          </p:cNvPr>
          <p:cNvSpPr>
            <a:spLocks xmlns:a="http://schemas.openxmlformats.org/drawingml/2006/main" noGrp="1"/>
          </p:cNvSpPr>
          <p:nvPr/>
        </p:nvSpPr>
        <p:spPr>
          <a:xfrm xmlns:a="http://schemas.openxmlformats.org/drawingml/2006/main">
            <a:off x="10668000" y="6724650"/>
            <a:ext cx="85725" cy="10668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2C0969B-94F9-4720-B0C1-AFAAC9B48749}"/>
              </a:ext>
            </a:extLst>
          </p:cNvPr>
          <p:cNvSpPr>
            <a:spLocks xmlns:a="http://schemas.openxmlformats.org/drawingml/2006/main" noGrp="1"/>
          </p:cNvSpPr>
          <p:nvPr/>
        </p:nvSpPr>
        <p:spPr>
          <a:xfrm xmlns:a="http://schemas.openxmlformats.org/drawingml/2006/main">
            <a:off x="10934700" y="6934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E373273B-E916-4D3C-842D-7D3F7862034F}"/>
              </a:ext>
            </a:extLst>
          </p:cNvPr>
          <p:cNvSpPr>
            <a:spLocks xmlns:a="http://schemas.openxmlformats.org/drawingml/2006/main" noGrp="1"/>
          </p:cNvSpPr>
          <p:nvPr/>
        </p:nvSpPr>
        <p:spPr>
          <a:xfrm xmlns:a="http://schemas.openxmlformats.org/drawingml/2006/main">
            <a:off x="10934700" y="7467600"/>
            <a:ext cx="5124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29729752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2F6585A-8A67-4525-8F98-6ABADEFD0597}"/>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11 / TEAM</a:t>
            </a:r>
          </a:p>
        </p:txBody>
      </p:sp>
      <p:sp>
        <p:nvSpPr>
          <p:cNvPr id="2" name="">
            <a:extLst xmlns:a="http://schemas.openxmlformats.org/drawingml/2006/main">
              <a:ext uri="{FF2B5EF4-FFF2-40B4-BE49-F238E27FC236}">
                <a16:creationId xmlns:a16="http://schemas.microsoft.com/office/drawing/2014/main" id="{4579C60C-C7FB-4261-B6D3-7A38E681E2E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845E8908-369E-4ED6-B619-9848BEC847D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001CF365-5824-4656-A21C-DFF1946AF61C}"/>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FE59ED8-8D05-4A24-83BB-63A7F7778CEC}"/>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43529FDD-B553-4510-B3C3-F25C969BAF62}"/>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57ECB8-49FB-4401-8AB7-218D18AD6280}"/>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65FDABD9-44DE-42EB-8557-53525CA84621}"/>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System architecture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AI orchestration</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C6DCC8F2-2DA6-4A3E-B85C-4BCFD57C27DA}"/>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3597254D-1F45-458B-8798-E7FC985476AD}"/>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172074-7142-466C-A508-A695011BA0EF}"/>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5EB39636-F585-458C-8E46-C75A81066616}"/>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Reconnaissance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Security assessment</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8D977DCE-1B36-4A88-B6C6-B485C2C1C4E1}"/>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A2E69F67-48D2-49F7-9129-FB49215E7AF3}"/>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2845FC6-996A-4AF5-AAC8-3D284AAA715C}"/>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492B9D77-62BF-4658-8999-10346BA60163}"/>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Platform and interface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Reporting</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A83061CD-2DF5-4E8D-AD33-6807B5ED49ED}"/>
              </a:ext>
            </a:extLst>
          </p:cNvPr>
          <p:cNvSpPr>
            <a:spLocks xmlns:a="http://schemas.openxmlformats.org/drawingml/2006/main" noGrp="1"/>
          </p:cNvSpPr>
          <p:nvPr/>
        </p:nvSpPr>
        <p:spPr>
          <a:xfrm xmlns:a="http://schemas.openxmlformats.org/drawingml/2006/main">
            <a:off x="876300" y="6362700"/>
            <a:ext cx="157734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BF657BD-B91A-4E8E-A2B7-007D467BA8D0}"/>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9A9C8"/>
                </a:solidFill>
                <a:latin typeface="Arial"/>
                <a:ea typeface="Arial"/>
                <a:cs typeface="Arial"/>
              </a:defRPr>
            </a:pPr>
            <a:r>
              <a:rPr sz="1875"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CDD0B526-E361-4934-9003-0DDA5990717D}"/>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1939DD3D-73A8-40EF-BEAE-FC0F23C34373}"/>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0B6C2EC5-D847-4FCF-9FFD-7E19226BECFE}"/>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A34F5E89-0FC1-4DED-9FC6-5B7005BD3454}"/>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A82B6E29-2188-4D64-99EB-EE42BC31C680}"/>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5659BC31-651B-498D-B45A-601DB4ADB082}"/>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Documentation</a:t>
            </a:r>
          </a:p>
        </p:txBody>
      </p:sp>
    </p:spTree>
    <p:extLst>
      <p:ext uri="{BB962C8B-B14F-4D97-AF65-F5344CB8AC3E}">
        <p14:creationId xmlns:p14="http://schemas.microsoft.com/office/powerpoint/2010/main" val="426588577"/>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8428890-92AE-4FB3-88F4-3037BB45496F}"/>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12 / IMPACT</a:t>
            </a:r>
          </a:p>
        </p:txBody>
      </p:sp>
      <p:sp>
        <p:nvSpPr>
          <p:cNvPr id="2" name="">
            <a:extLst xmlns:a="http://schemas.openxmlformats.org/drawingml/2006/main">
              <a:ext uri="{FF2B5EF4-FFF2-40B4-BE49-F238E27FC236}">
                <a16:creationId xmlns:a16="http://schemas.microsoft.com/office/drawing/2014/main" id="{67EDAFE3-A1E5-4310-B019-18518B3BD3D1}"/>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393A2F31-888C-4C56-A497-BB4232F77AB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EA83A27E-F73A-4149-9D5E-6B5D3D19DDD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A8D13B6C-8CD4-4CEC-AA9B-7ADB083B67AF}"/>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DB442FE7-F1F0-4709-AE65-ABAE3A45F53C}"/>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025FED-1C6F-42D6-B91F-9D62E6559162}"/>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7C8A7448-1876-4B95-B00F-1C749BB19B07}"/>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7D88E235-E482-4006-A609-B687E3052C11}"/>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127471A7-A4FE-47E4-AE92-9EE79DE82DBC}"/>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5CC1BB-810C-422A-B680-6AEC6C5A77B4}"/>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96AC0E33-D53B-4EE8-9601-917F8D7E474E}"/>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3D39D19A-EBB3-4416-8E21-C84AAF3CEA08}"/>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08F4DF1B-BD7C-47D2-8D9D-0B0B94CB02D6}"/>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06C47D2-1851-44A4-B663-1BE7803B6CB9}"/>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9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637CAED5-835E-482D-88FF-B8861D06DE56}"/>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27E31900-CD59-4C7A-9E4B-EC7CBC0C09FD}"/>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7A1BFE3F-800D-44C5-A982-145FB5730FF4}"/>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B787DC7-D0D9-43C1-A0CA-4F2DD4CA4208}"/>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E08F75CF-E6AB-43FF-876F-D2033480F165}"/>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CC92FCF4-659D-44A1-BB4C-286A6E16A912}"/>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E6FC28D3-101D-445B-A43B-1C6C7BFA485B}"/>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AA25C61D-7C93-4688-BCCB-6A7FA6245F72}"/>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38C696F-6EA9-4404-9C48-ECC08BF740F3}"/>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BC2D9CE2-0AD8-4A2F-8D64-73CC68BE8DDC}"/>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68DFCFC6-CB8E-4F3C-BA54-227F2362540C}"/>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A5249467-7E91-406A-A1A7-4694D769BEE4}"/>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B2F26D4-B18D-4379-AAAF-181E58D57CDE}"/>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465414DB-CEF4-44C5-B49F-C70C950FAEDA}"/>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E2BFA622-BACD-458A-A853-58BA43ADABF8}"/>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D77AE167-5A99-433B-AE0A-93AED99204C9}"/>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4C97A43-F6A9-48FF-919F-A630A356320C}"/>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DD0873F8-ECD2-4A15-AC84-20C073FB29B6}"/>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19081011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845D4CF-860F-4337-A1B7-BCA2DC5AD61D}"/>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28C284B0-8CAE-4DA8-9C9C-7E329606A472}"/>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484BBC2B-F9DF-4B9D-A4FE-941867C3B28A}"/>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5F7180"/>
                </a:solidFill>
                <a:latin typeface="Arial"/>
                <a:ea typeface="Arial"/>
                <a:cs typeface="Arial"/>
              </a:defRPr>
            </a:pPr>
            <a:r>
              <a:rPr sz="2550" b="0" i="0">
                <a:solidFill>
                  <a:srgbClr val="5F7180"/>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C43DCF58-699F-4917-9088-197E2D593180}"/>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E6B353D3-67BF-4906-889F-40D8FC696A86}"/>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8334B"/>
                </a:solidFill>
                <a:latin typeface="Arial"/>
                <a:ea typeface="Arial"/>
                <a:cs typeface="Arial"/>
              </a:defRPr>
            </a:pPr>
            <a:r>
              <a:rPr sz="1800" b="1" i="0">
                <a:solidFill>
                  <a:srgbClr val="18334B"/>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88A09A50-8DF2-47F8-9D58-86F165A6C161}"/>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8685C58D-7D3F-4012-A242-4BA1D205A79D}"/>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1ED3C4-1780-46B3-9492-44D55AF73850}"/>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79A9C8"/>
                </a:solidFill>
                <a:latin typeface="Arial"/>
                <a:ea typeface="Arial"/>
                <a:cs typeface="Arial"/>
              </a:defRPr>
            </a:pPr>
            <a:r>
              <a:rPr sz="150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6F0CA790-70D5-448B-98C4-DA9153DF7C40}"/>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096987AF-7726-42D4-8890-422C5BBF2B2F}"/>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8504E3EF-08B6-4DEF-998A-1130761B5E39}"/>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1B6AE2F5-92E6-4856-BD6A-C42A999C92B7}"/>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369B7F41-3AFF-4D74-A920-0B88776ED4C4}"/>
              </a:ext>
            </a:extLst>
          </p:cNvPr>
          <p:cNvSpPr>
            <a:spLocks xmlns:a="http://schemas.openxmlformats.org/drawingml/2006/main" noGrp="1"/>
          </p:cNvSpPr>
          <p:nvPr/>
        </p:nvSpPr>
        <p:spPr>
          <a:xfrm xmlns:a="http://schemas.openxmlformats.org/drawingml/2006/main">
            <a:off x="10934700" y="716280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DCE8F0"/>
                </a:solidFill>
                <a:latin typeface="Arial"/>
                <a:ea typeface="Arial"/>
                <a:cs typeface="Arial"/>
              </a:defRPr>
            </a:pPr>
            <a:r>
              <a:rPr sz="1350"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15973541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2026-10-01T15:31:08.1200000Z</dcterms:created>
  <dcterms:modified xsi:type="dcterms:W3CDTF">2026-10-01T15:31:08.1200000Z</dcterms:modified>
</coreProperties>
</file>