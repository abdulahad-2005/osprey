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de34a9d887b453f" /><Relationship Type="http://schemas.openxmlformats.org/officeDocument/2006/relationships/extended-properties" Target="/docProps/app.xml" Id="R92c89bc8b3a14f70" /><Relationship Type="http://schemas.openxmlformats.org/officeDocument/2006/relationships/officeDocument" Target="/ppt/presentation.xml" Id="R1fba3e7e41c54862" /></Relationships>
</file>

<file path=ppt/presentation.xml><?xml version="1.0" encoding="utf-8"?>
<p:presentation xmlns:p="http://schemas.openxmlformats.org/presentationml/2006/main" embedTrueTypeFonts="1" saveSubsetFonts="1">
  <p:sldMasterIdLst>
    <p:sldMasterId xmlns:r="http://schemas.openxmlformats.org/officeDocument/2006/relationships" id="2147483648" r:id="Rf0ca155496fd48f9"/>
  </p:sldMasterIdLst>
  <p:notesMasterIdLst>
    <p:notesMasterId xmlns:r="http://schemas.openxmlformats.org/officeDocument/2006/relationships" r:id="R4a82e3711d7f4b1e"/>
  </p:notesMasterIdLst>
  <p:sldIdLst>
    <p:sldId xmlns:r="http://schemas.openxmlformats.org/officeDocument/2006/relationships" id="256" r:id="R4877d78e3320405d"/>
    <p:sldId xmlns:r="http://schemas.openxmlformats.org/officeDocument/2006/relationships" id="257" r:id="Rb49ad93a409a4453"/>
    <p:sldId xmlns:r="http://schemas.openxmlformats.org/officeDocument/2006/relationships" id="258" r:id="Rd048d524b8df4587"/>
    <p:sldId xmlns:r="http://schemas.openxmlformats.org/officeDocument/2006/relationships" id="259" r:id="Re2572deb23c24e8b"/>
    <p:sldId xmlns:r="http://schemas.openxmlformats.org/officeDocument/2006/relationships" id="260" r:id="R528d1a98b9644b83"/>
    <p:sldId xmlns:r="http://schemas.openxmlformats.org/officeDocument/2006/relationships" id="261" r:id="R18ae6e62f0844264"/>
    <p:sldId xmlns:r="http://schemas.openxmlformats.org/officeDocument/2006/relationships" id="262" r:id="R3d51086a866448a9"/>
    <p:sldId xmlns:r="http://schemas.openxmlformats.org/officeDocument/2006/relationships" id="263" r:id="R14fdda791492463a"/>
    <p:sldId xmlns:r="http://schemas.openxmlformats.org/officeDocument/2006/relationships" id="264" r:id="R51f6aae0203d4959"/>
    <p:sldId xmlns:r="http://schemas.openxmlformats.org/officeDocument/2006/relationships" id="265" r:id="R67d70b414635410d"/>
    <p:sldId xmlns:r="http://schemas.openxmlformats.org/officeDocument/2006/relationships" id="266" r:id="Rd88eff45535749d4"/>
    <p:sldId xmlns:r="http://schemas.openxmlformats.org/officeDocument/2006/relationships" id="267" r:id="Rd737ba371b6c44b9"/>
    <p:sldId xmlns:r="http://schemas.openxmlformats.org/officeDocument/2006/relationships" id="268" r:id="Rf2574c4922824fb1"/>
  </p:sldIdLst>
  <p:sldSz cx="18288000" cy="10287000"/>
  <p:notesSz cx="6858000" cy="9144000"/>
  <p:embeddedFontLst>
    <p:embeddedFont>
      <p:font typeface="Anton"/>
      <p:regular xmlns:r="http://schemas.openxmlformats.org/officeDocument/2006/relationships" r:id="R6c639f10d4a54173"/>
    </p:embeddedFont>
    <p:embeddedFont>
      <p:font typeface="Canva Sans"/>
      <p:regular xmlns:r="http://schemas.openxmlformats.org/officeDocument/2006/relationships" r:id="R37ebf8b4fe5f4950"/>
    </p:embeddedFont>
    <p:embeddedFont>
      <p:font typeface="Canva Sans Bold"/>
      <p:regular xmlns:r="http://schemas.openxmlformats.org/officeDocument/2006/relationships" r:id="Rd8a07078ec9f4d5c"/>
    </p:embeddedFont>
    <p:embeddedFont>
      <p:font typeface="Glacial Indifference"/>
      <p:regular xmlns:r="http://schemas.openxmlformats.org/officeDocument/2006/relationships" r:id="R398eb1e3271a425e"/>
    </p:embeddedFont>
    <p:embeddedFont>
      <p:font typeface="Glacial Indifference Bold"/>
      <p:regular xmlns:r="http://schemas.openxmlformats.org/officeDocument/2006/relationships" r:id="R9385f9e4531e4705"/>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e8d43ab8b1d94131" /><Relationship Type="http://schemas.openxmlformats.org/officeDocument/2006/relationships/slideMaster" Target="/ppt/slideMasters/slideMaster1.xml" Id="Rf0ca155496fd48f9" /><Relationship Type="http://schemas.openxmlformats.org/officeDocument/2006/relationships/notesMaster" Target="/ppt/notesMasters/notesMaster1.xml" Id="R4a82e3711d7f4b1e" /><Relationship Type="http://schemas.openxmlformats.org/officeDocument/2006/relationships/presProps" Target="/ppt/presProps.xml" Id="Rf9020e1e3fda492b" /><Relationship Type="http://schemas.openxmlformats.org/officeDocument/2006/relationships/viewProps" Target="/ppt/viewProps.xml" Id="R3c8d52cab3774599" /><Relationship Type="http://schemas.openxmlformats.org/officeDocument/2006/relationships/tableStyles" Target="/ppt/tableStyles.xml" Id="Rbea49409c1964e39" /><Relationship Type="http://schemas.openxmlformats.org/officeDocument/2006/relationships/font" Target="/ppt/fonts/font.dat" Id="R6c639f10d4a54173" /><Relationship Type="http://schemas.openxmlformats.org/officeDocument/2006/relationships/font" Target="/ppt/fonts/font2.dat" Id="R37ebf8b4fe5f4950" /><Relationship Type="http://schemas.openxmlformats.org/officeDocument/2006/relationships/font" Target="/ppt/fonts/font3.dat" Id="Rd8a07078ec9f4d5c" /><Relationship Type="http://schemas.openxmlformats.org/officeDocument/2006/relationships/font" Target="/ppt/fonts/font4.dat" Id="R398eb1e3271a425e" /><Relationship Type="http://schemas.openxmlformats.org/officeDocument/2006/relationships/font" Target="/ppt/fonts/font5.dat" Id="R9385f9e4531e4705" /><Relationship Type="http://schemas.openxmlformats.org/officeDocument/2006/relationships/slide" Target="/ppt/slides/slide1.xml" Id="R4877d78e3320405d" /><Relationship Type="http://schemas.openxmlformats.org/officeDocument/2006/relationships/slide" Target="/ppt/slides/slide2.xml" Id="Rb49ad93a409a4453" /><Relationship Type="http://schemas.openxmlformats.org/officeDocument/2006/relationships/slide" Target="/ppt/slides/slide3.xml" Id="Rd048d524b8df4587" /><Relationship Type="http://schemas.openxmlformats.org/officeDocument/2006/relationships/slide" Target="/ppt/slides/slide4.xml" Id="Re2572deb23c24e8b" /><Relationship Type="http://schemas.openxmlformats.org/officeDocument/2006/relationships/slide" Target="/ppt/slides/slide5.xml" Id="R528d1a98b9644b83" /><Relationship Type="http://schemas.openxmlformats.org/officeDocument/2006/relationships/slide" Target="/ppt/slides/slide6.xml" Id="R18ae6e62f0844264" /><Relationship Type="http://schemas.openxmlformats.org/officeDocument/2006/relationships/slide" Target="/ppt/slides/slide7.xml" Id="R3d51086a866448a9" /><Relationship Type="http://schemas.openxmlformats.org/officeDocument/2006/relationships/slide" Target="/ppt/slides/slide8.xml" Id="R14fdda791492463a" /><Relationship Type="http://schemas.openxmlformats.org/officeDocument/2006/relationships/slide" Target="/ppt/slides/slide9.xml" Id="R51f6aae0203d4959" /><Relationship Type="http://schemas.openxmlformats.org/officeDocument/2006/relationships/slide" Target="/ppt/slides/slide10.xml" Id="R67d70b414635410d" /><Relationship Type="http://schemas.openxmlformats.org/officeDocument/2006/relationships/slide" Target="/ppt/slides/slide11.xml" Id="Rd88eff45535749d4" /><Relationship Type="http://schemas.openxmlformats.org/officeDocument/2006/relationships/slide" Target="/ppt/slides/slide12.xml" Id="Rd737ba371b6c44b9" /><Relationship Type="http://schemas.openxmlformats.org/officeDocument/2006/relationships/slide" Target="/ppt/slides/slide13.xml" Id="Rf2574c4922824fb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cea54bc79754b1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bc1250699f14428" /><Relationship Type="http://schemas.openxmlformats.org/officeDocument/2006/relationships/notesMaster" Target="/ppt/notesMasters/notesMaster1.xml" Id="R420c584d4155402c" /></Relationships>
</file>

<file path=ppt/notesSlides/_rels/notesSlide2.xml.rels>&#65279;<?xml version="1.0" encoding="utf-8"?><Relationships xmlns="http://schemas.openxmlformats.org/package/2006/relationships"><Relationship Type="http://schemas.openxmlformats.org/officeDocument/2006/relationships/slide" Target="/ppt/slides/slide2.xml" Id="R9f581d5cc8ed4c25" /><Relationship Type="http://schemas.openxmlformats.org/officeDocument/2006/relationships/notesMaster" Target="/ppt/notesMasters/notesMaster1.xml" Id="R1cb395a3f2044fd6" /></Relationships>
</file>

<file path=ppt/notesSlides/_rels/notesSlide3.xml.rels>&#65279;<?xml version="1.0" encoding="utf-8"?><Relationships xmlns="http://schemas.openxmlformats.org/package/2006/relationships"><Relationship Type="http://schemas.openxmlformats.org/officeDocument/2006/relationships/slide" Target="/ppt/slides/slide3.xml" Id="Ree4e1e236c0e4476" /><Relationship Type="http://schemas.openxmlformats.org/officeDocument/2006/relationships/notesMaster" Target="/ppt/notesMasters/notesMaster1.xml" Id="Ra4eb14cf73144746" /></Relationships>
</file>

<file path=ppt/notesSlides/_rels/notesSlide4.xml.rels>&#65279;<?xml version="1.0" encoding="utf-8"?><Relationships xmlns="http://schemas.openxmlformats.org/package/2006/relationships"><Relationship Type="http://schemas.openxmlformats.org/officeDocument/2006/relationships/slide" Target="/ppt/slides/slide4.xml" Id="R2a534618024e48ae" /><Relationship Type="http://schemas.openxmlformats.org/officeDocument/2006/relationships/notesMaster" Target="/ppt/notesMasters/notesMaster1.xml" Id="R85b2fa27daa445f3" /></Relationships>
</file>

<file path=ppt/notesSlides/_rels/notesSlide5.xml.rels>&#65279;<?xml version="1.0" encoding="utf-8"?><Relationships xmlns="http://schemas.openxmlformats.org/package/2006/relationships"><Relationship Type="http://schemas.openxmlformats.org/officeDocument/2006/relationships/slide" Target="/ppt/slides/slide5.xml" Id="Rb371279609644a82" /><Relationship Type="http://schemas.openxmlformats.org/officeDocument/2006/relationships/notesMaster" Target="/ppt/notesMasters/notesMaster1.xml" Id="R5b24f7f275b94a1c" /></Relationships>
</file>

<file path=ppt/notesSlides/_rels/notesSlide6.xml.rels>&#65279;<?xml version="1.0" encoding="utf-8"?><Relationships xmlns="http://schemas.openxmlformats.org/package/2006/relationships"><Relationship Type="http://schemas.openxmlformats.org/officeDocument/2006/relationships/slide" Target="/ppt/slides/slide6.xml" Id="Rf8ebe961f1b64377" /><Relationship Type="http://schemas.openxmlformats.org/officeDocument/2006/relationships/notesMaster" Target="/ppt/notesMasters/notesMaster1.xml" Id="R55e69ec29d054be6" /></Relationships>
</file>

<file path=ppt/notesSlides/_rels/notesSlide7.xml.rels>&#65279;<?xml version="1.0" encoding="utf-8"?><Relationships xmlns="http://schemas.openxmlformats.org/package/2006/relationships"><Relationship Type="http://schemas.openxmlformats.org/officeDocument/2006/relationships/slide" Target="/ppt/slides/slide7.xml" Id="R9d5bc72729454baa" /><Relationship Type="http://schemas.openxmlformats.org/officeDocument/2006/relationships/notesMaster" Target="/ppt/notesMasters/notesMaster1.xml" Id="R45e575a43f284302" /></Relationships>
</file>

<file path=ppt/notesSlides/_rels/notesSlide8.xml.rels>&#65279;<?xml version="1.0" encoding="utf-8"?><Relationships xmlns="http://schemas.openxmlformats.org/package/2006/relationships"><Relationship Type="http://schemas.openxmlformats.org/officeDocument/2006/relationships/slide" Target="/ppt/slides/slide8.xml" Id="R2fd8b4cf9e9448ea" /><Relationship Type="http://schemas.openxmlformats.org/officeDocument/2006/relationships/notesMaster" Target="/ppt/notesMasters/notesMaster1.xml" Id="Ra7a8a16cc01c402c" /></Relationships>
</file>

<file path=ppt/notesSlides/_rels/notesSlide9.xml.rels>&#65279;<?xml version="1.0" encoding="utf-8"?><Relationships xmlns="http://schemas.openxmlformats.org/package/2006/relationships"><Relationship Type="http://schemas.openxmlformats.org/officeDocument/2006/relationships/slide" Target="/ppt/slides/slide9.xml" Id="R32c045f370f24c87" /><Relationship Type="http://schemas.openxmlformats.org/officeDocument/2006/relationships/notesMaster" Target="/ppt/notesMasters/notesMaster1.xml" Id="R1d9d5c0ee1694d2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c8df0fb98224621" /><Relationship Type="http://schemas.openxmlformats.org/officeDocument/2006/relationships/notesMaster" Target="/ppt/notesMasters/notesMaster1.xml" Id="R6cc526bcd6c1413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69a4652479449df" /><Relationship Type="http://schemas.openxmlformats.org/officeDocument/2006/relationships/notesMaster" Target="/ppt/notesMasters/notesMaster1.xml" Id="Rfec52fbcad2a48b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9f5f7d8c8374968" /><Relationship Type="http://schemas.openxmlformats.org/officeDocument/2006/relationships/notesMaster" Target="/ppt/notesMasters/notesMaster1.xml" Id="Rfda80643fbb044a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5f1ee45660843ea" /><Relationship Type="http://schemas.openxmlformats.org/officeDocument/2006/relationships/notesMaster" Target="/ppt/notesMasters/notesMaster1.xml" Id="Rb7b5b55b683e452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by framing this as a proposal. The project name is still under consideration, so the deck uses a descriptive working title rather than treating Osprey as final branding.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the Equifax breach was not caused by a lack of security tools. The organization had a patching process, but a complex legacy environment and failed verification left an internet-facing portal exposed. Official sources: https://oversight.house.gov/report/committee-releases-report-revealing-new-information-on-equifax-data-breach/ and https://www.ftc.gov/news-events/news/press-releases/2019/07/equifax-pay-575-million-part-settlement-ftc-cfpb-states-related-2017-data-breach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workflow at the top shows the steps a tester normally performs. The table compares conventional tools, AI pentesting agents and AI security frameworks. Conventional tools are mature but fragmented. AI systems add reasoning, yet many depend on external models and do not provide broad, continuous reconnaissance or persistent cross-stage correlation.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phrase operational security gap. The central argument is not that the industry lacks scanners; it lacks a dependable harness that can coordinate them over a changing, wide attack surface while keeping evidence and scope intact. Emphasize that LLMs are valuable but should not be mandatory for routine methodology.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State the three formal objectives at a high level. The first objective creates one unified assessment harness. The second keeps the system functional without an external LLM. The third covers scope, evidence and human approval.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proposed architecture. The central idea is a world model: every tool observation updates shared memory, specialized agents act on that state, and both deterministic and reasoning-driven execution use the same tools and evidence. Use the three buttons for optional explanations, then return here.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real pentester continuously observes, stores evidence, forms a hypothesis, tests it, validates the result and updates memory. That updated state changes the next decision. This loop is the world model that connects the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phase agents follow the standard pentesting methodology. Reconnaissance maps the surface, vulnerability assessment tests it, and validation confirms evidence before reporting. Each agent has appropriate tools and skills, while shared memory prevents the phases from becoming disconnected.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execution paths use the same skills and evidence. The deterministic pipeline performs repeatable, battle-tested steps without an LLM. The LLM oversees the wider context and adds judgment where uncertainty or adaptive reasoning matters. Skill files provide the extensible knowledge base.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 this as the planned schedule. The final evaluation will compare coverage, reliability across both modes, safety controls and time efficiency against manual baselines.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Clarify that the primary areas identify ownership, not silos. Integration, testing, validation, debugging, evaluation and documentation remain shared responsibilities.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primary users are professional security teams. The SDG mapping is supportive context: resilient infrastructure, stronger institutions and interoperable partnerships.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Invite questions. If asked whether the system already exists, clarify that this defense presents the proposed architecture and planned implementation; the project name is still a working title.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195112098c34e7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56a3a5f608f4a3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511eeea335c4ab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c2d31df976d4be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5772f6f9fb844c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3283d60cd404f81"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76b3583b77b34ff2"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18db4690216b4899"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8d2c9f800335435b"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13b78f70c04f4601"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87f6048313cc476f"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34C9E71-662C-4E06-830E-6FFD74E12344}"/>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04B2908C-BBF7-4784-8D83-1D748EB66B34}"/>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2052D104-E33F-4F56-97CE-75D078CFB6F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10/1/2026</a:t>
            </a:fld>
            <a:endParaRPr/>
          </a:p>
        </p:txBody>
      </p:sp>
      <p:sp>
        <p:nvSpPr>
          <p:cNvPr id="5" name="Footer Placeholder 4">
            <a:extLst xmlns:a="http://schemas.openxmlformats.org/drawingml/2006/main">
              <a:ext uri="{FF2B5EF4-FFF2-40B4-BE49-F238E27FC236}">
                <a16:creationId xmlns:a16="http://schemas.microsoft.com/office/drawing/2014/main" id="{07CFB704-4EA0-4E1F-81E4-D7583741781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6138F2C7-B645-48D4-B2D6-CD55C118747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10B6657-4763-426A-96B4-51C28CE7641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4A390004-3607-4CAA-92F8-3D6A209F205F}"/>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1E85A13E-C5F6-4693-9E8F-98C192D326D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10/1/2026</a:t>
            </a:fld>
            <a:endParaRPr/>
          </a:p>
        </p:txBody>
      </p:sp>
      <p:sp>
        <p:nvSpPr>
          <p:cNvPr id="5" name="Footer Placeholder 4">
            <a:extLst xmlns:a="http://schemas.openxmlformats.org/drawingml/2006/main">
              <a:ext uri="{FF2B5EF4-FFF2-40B4-BE49-F238E27FC236}">
                <a16:creationId xmlns:a16="http://schemas.microsoft.com/office/drawing/2014/main" id="{21A6C0CF-32D8-4867-99F8-57858737157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81D8C395-89DA-4A0B-9037-356E741F87A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D38CB5E-20C5-4080-B14E-F8DC9B71BBF1}"/>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0345D5F-1655-4C59-B777-06436CA35033}"/>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4C52E771-51A6-449E-B4DC-6B83B1B1E4B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10/1/2026</a:t>
            </a:fld>
            <a:endParaRPr/>
          </a:p>
        </p:txBody>
      </p:sp>
      <p:sp>
        <p:nvSpPr>
          <p:cNvPr id="5" name="Footer Placeholder 4">
            <a:extLst xmlns:a="http://schemas.openxmlformats.org/drawingml/2006/main">
              <a:ext uri="{FF2B5EF4-FFF2-40B4-BE49-F238E27FC236}">
                <a16:creationId xmlns:a16="http://schemas.microsoft.com/office/drawing/2014/main" id="{982CF4DC-288A-4333-B682-80CE3D8A1BF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E82746B5-FD67-4D0A-B4D9-7FF0BC42CDA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06949F4-06F6-46C2-BA56-DE38B0860B9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3C96DB7E-67DB-4E82-8E6C-3F953BADF90A}"/>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4D691071-C989-4C86-AA64-397E7A0856F4}"/>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63E24F25-81A2-4FD4-A1EB-CF2AC500804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10/1/2026</a:t>
            </a:fld>
            <a:endParaRPr/>
          </a:p>
        </p:txBody>
      </p:sp>
      <p:sp>
        <p:nvSpPr>
          <p:cNvPr id="6" name="Footer Placeholder 5">
            <a:extLst xmlns:a="http://schemas.openxmlformats.org/drawingml/2006/main">
              <a:ext uri="{FF2B5EF4-FFF2-40B4-BE49-F238E27FC236}">
                <a16:creationId xmlns:a16="http://schemas.microsoft.com/office/drawing/2014/main" id="{453D3150-7789-4A11-8F45-56D944A14E4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E00AF8F4-DEE8-40CC-A937-D8F85F8043E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8F7305C-1918-41BA-B01D-D13F1E00F78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DDCB18DA-93A4-45AF-A6E2-8A4E3C9B4D14}"/>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7A8BA7CF-4287-4036-A834-9B53D2B52DC0}"/>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C19AAD47-3494-4D56-A3BA-C2061B223BAE}"/>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79DA3AD8-96B3-4FE0-AE2F-C56BADBBF3C2}"/>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6">
            <a:extLst xmlns:a="http://schemas.openxmlformats.org/drawingml/2006/main">
              <a:ext uri="{FF2B5EF4-FFF2-40B4-BE49-F238E27FC236}">
                <a16:creationId xmlns:a16="http://schemas.microsoft.com/office/drawing/2014/main" id="{5D93A9A2-5CFE-4DC9-9735-BFAC1F36322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10/1/2026</a:t>
            </a:fld>
            <a:endParaRPr/>
          </a:p>
        </p:txBody>
      </p:sp>
      <p:sp>
        <p:nvSpPr>
          <p:cNvPr id="8" name="Footer Placeholder 7">
            <a:extLst xmlns:a="http://schemas.openxmlformats.org/drawingml/2006/main">
              <a:ext uri="{FF2B5EF4-FFF2-40B4-BE49-F238E27FC236}">
                <a16:creationId xmlns:a16="http://schemas.microsoft.com/office/drawing/2014/main" id="{452E63CA-83FA-441E-B34F-EC956CB384A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4D65D180-4358-44D9-A7C3-0E586CCE95B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8C4363E-018B-4B41-8AF2-E2D1D06F440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9C4D4047-3572-4226-8F01-565A49152D9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10/1/2026</a:t>
            </a:fld>
            <a:endParaRPr/>
          </a:p>
        </p:txBody>
      </p:sp>
      <p:sp>
        <p:nvSpPr>
          <p:cNvPr id="4" name="Footer Placeholder 3">
            <a:extLst xmlns:a="http://schemas.openxmlformats.org/drawingml/2006/main">
              <a:ext uri="{FF2B5EF4-FFF2-40B4-BE49-F238E27FC236}">
                <a16:creationId xmlns:a16="http://schemas.microsoft.com/office/drawing/2014/main" id="{32803DE1-DB9B-4128-8B79-B521C1639DE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B0B8E7DE-8A6F-421C-8D64-D5C5A64F026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5696FAD9-C7C1-431C-9F52-32AE031AE8F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10/1/2026</a:t>
            </a:fld>
            <a:endParaRPr/>
          </a:p>
        </p:txBody>
      </p:sp>
      <p:sp>
        <p:nvSpPr>
          <p:cNvPr id="3" name="Footer Placeholder 2">
            <a:extLst xmlns:a="http://schemas.openxmlformats.org/drawingml/2006/main">
              <a:ext uri="{FF2B5EF4-FFF2-40B4-BE49-F238E27FC236}">
                <a16:creationId xmlns:a16="http://schemas.microsoft.com/office/drawing/2014/main" id="{C0933DBE-FAAB-4605-9D6A-93C4E8D297B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06F00999-CB32-482E-A3A7-DD0386A3540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34384BC-8592-49EF-BAD7-1ECBE67CD371}"/>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5AD063F5-31AC-4065-B32B-54EE3E5FBB49}"/>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3007B44E-9210-4117-A0E6-38D7A4C091B0}"/>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C0CFBDC8-5837-46AC-BA46-FAF541B39E9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10/1/2026</a:t>
            </a:fld>
            <a:endParaRPr/>
          </a:p>
        </p:txBody>
      </p:sp>
      <p:sp>
        <p:nvSpPr>
          <p:cNvPr id="6" name="Footer Placeholder 5">
            <a:extLst xmlns:a="http://schemas.openxmlformats.org/drawingml/2006/main">
              <a:ext uri="{FF2B5EF4-FFF2-40B4-BE49-F238E27FC236}">
                <a16:creationId xmlns:a16="http://schemas.microsoft.com/office/drawing/2014/main" id="{7A4FE0AD-3E74-407C-9A2D-D6ECF609FF7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0C21AC0D-E221-429F-BF7C-9B3CCB3B26F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26D6D13-1E3F-4D97-868F-081AC2D1C855}"/>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2F56BACA-294D-4B01-95B6-09B7CA93ED0A}"/>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C1E924FF-CDA5-4012-9152-2D514E11D5E4}"/>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08BD4ACF-5446-4279-A837-02ED7FE3A72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10/1/2026</a:t>
            </a:fld>
            <a:endParaRPr/>
          </a:p>
        </p:txBody>
      </p:sp>
      <p:sp>
        <p:nvSpPr>
          <p:cNvPr id="6" name="Footer Placeholder 5">
            <a:extLst xmlns:a="http://schemas.openxmlformats.org/drawingml/2006/main">
              <a:ext uri="{FF2B5EF4-FFF2-40B4-BE49-F238E27FC236}">
                <a16:creationId xmlns:a16="http://schemas.microsoft.com/office/drawing/2014/main" id="{C000CBB1-2D48-486C-92E9-D801CC57590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685572B3-478F-4F11-B1FC-FA267F38C99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143ABCE-43BB-42AD-A99F-E520FB1E702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2BD62052-282A-471F-8B83-5EED6DF43AD2}"/>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47013A6E-C64A-4688-8916-81CA7C97BD1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10/1/2026</a:t>
            </a:fld>
            <a:endParaRPr/>
          </a:p>
        </p:txBody>
      </p:sp>
      <p:sp>
        <p:nvSpPr>
          <p:cNvPr id="5" name="Footer Placeholder 4">
            <a:extLst xmlns:a="http://schemas.openxmlformats.org/drawingml/2006/main">
              <a:ext uri="{FF2B5EF4-FFF2-40B4-BE49-F238E27FC236}">
                <a16:creationId xmlns:a16="http://schemas.microsoft.com/office/drawing/2014/main" id="{43AB5014-A6BA-4ADD-B1E5-BA5E8D96484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6C99F414-A026-4D17-B34A-069F87C188A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18DEA34F-6C58-4B22-9AE7-793225E852C1}"/>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666DB860-E36C-486B-9F45-10427407D6D3}"/>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C68D88CB-4C76-4D59-93A4-FE32E3D7EC6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10/1/2026</a:t>
            </a:fld>
            <a:endParaRPr/>
          </a:p>
        </p:txBody>
      </p:sp>
      <p:sp>
        <p:nvSpPr>
          <p:cNvPr id="5" name="Footer Placeholder 4">
            <a:extLst xmlns:a="http://schemas.openxmlformats.org/drawingml/2006/main">
              <a:ext uri="{FF2B5EF4-FFF2-40B4-BE49-F238E27FC236}">
                <a16:creationId xmlns:a16="http://schemas.microsoft.com/office/drawing/2014/main" id="{731B2ADD-E893-4231-8144-627758338B1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4A6BCB5B-D975-4703-AA51-422E9D08E5C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35327e9441549ac" /><Relationship Type="http://schemas.openxmlformats.org/officeDocument/2006/relationships/slideLayout" Target="/ppt/slideLayouts/slideLayout1.xml" Id="R6c1ca66c82734da3" /><Relationship Type="http://schemas.openxmlformats.org/officeDocument/2006/relationships/slideLayout" Target="/ppt/slideLayouts/slideLayout2.xml" Id="R6c9f6eac37964ee0" /><Relationship Type="http://schemas.openxmlformats.org/officeDocument/2006/relationships/slideLayout" Target="/ppt/slideLayouts/slideLayout3.xml" Id="R5e0712bf3b7c4286" /><Relationship Type="http://schemas.openxmlformats.org/officeDocument/2006/relationships/slideLayout" Target="/ppt/slideLayouts/slideLayout4.xml" Id="Rba690206ed4348da" /><Relationship Type="http://schemas.openxmlformats.org/officeDocument/2006/relationships/slideLayout" Target="/ppt/slideLayouts/slideLayout5.xml" Id="Rc0204626a85c49cd" /><Relationship Type="http://schemas.openxmlformats.org/officeDocument/2006/relationships/slideLayout" Target="/ppt/slideLayouts/slideLayout6.xml" Id="R0becc221a207476b" /><Relationship Type="http://schemas.openxmlformats.org/officeDocument/2006/relationships/slideLayout" Target="/ppt/slideLayouts/slideLayout7.xml" Id="Rcb1a8b5f75a24f0b" /><Relationship Type="http://schemas.openxmlformats.org/officeDocument/2006/relationships/slideLayout" Target="/ppt/slideLayouts/slideLayout8.xml" Id="R7255201018504e74" /><Relationship Type="http://schemas.openxmlformats.org/officeDocument/2006/relationships/slideLayout" Target="/ppt/slideLayouts/slideLayout9.xml" Id="Rca82bb01620b4704" /><Relationship Type="http://schemas.openxmlformats.org/officeDocument/2006/relationships/slideLayout" Target="/ppt/slideLayouts/slideLayout10.xml" Id="Rb3e65dd5f9c64219" /><Relationship Type="http://schemas.openxmlformats.org/officeDocument/2006/relationships/slideLayout" Target="/ppt/slideLayouts/slideLayout11.xml" Id="R7106b117c8834d3a"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A0435905-812F-498D-A357-1D752D771193}"/>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9DC84308-46CD-4448-BD9B-DC373E2835C7}"/>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4E818B1A-93DD-45A9-B0ED-3CAF624D0035}"/>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1D8BD707-D9CF-40AE-B4C6-C98DA3205C09}" type="datetimeFigureOut">
              <a:t>10/1/2026</a:t>
            </a:fld>
            <a:endParaRPr/>
          </a:p>
        </p:txBody>
      </p:sp>
      <p:sp>
        <p:nvSpPr>
          <p:cNvPr id="5" name="Footer Placeholder 4">
            <a:extLst xmlns:a="http://schemas.openxmlformats.org/drawingml/2006/main">
              <a:ext uri="{FF2B5EF4-FFF2-40B4-BE49-F238E27FC236}">
                <a16:creationId xmlns:a16="http://schemas.microsoft.com/office/drawing/2014/main" id="{D84AB61D-72D4-4C28-A00D-DCA1D1E355B5}"/>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6B03A6E9-D38D-4820-A823-A70D840C9D21}"/>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c1ca66c82734da3"/>
    <p:sldLayoutId xmlns:r="http://schemas.openxmlformats.org/officeDocument/2006/relationships" id="2147483650" r:id="R6c9f6eac37964ee0"/>
    <p:sldLayoutId xmlns:r="http://schemas.openxmlformats.org/officeDocument/2006/relationships" id="2147483651" r:id="R5e0712bf3b7c4286"/>
    <p:sldLayoutId xmlns:r="http://schemas.openxmlformats.org/officeDocument/2006/relationships" id="2147483652" r:id="Rba690206ed4348da"/>
    <p:sldLayoutId xmlns:r="http://schemas.openxmlformats.org/officeDocument/2006/relationships" id="2147483653" r:id="Rc0204626a85c49cd"/>
    <p:sldLayoutId xmlns:r="http://schemas.openxmlformats.org/officeDocument/2006/relationships" id="2147483654" r:id="R0becc221a207476b"/>
    <p:sldLayoutId xmlns:r="http://schemas.openxmlformats.org/officeDocument/2006/relationships" id="2147483655" r:id="Rcb1a8b5f75a24f0b"/>
    <p:sldLayoutId xmlns:r="http://schemas.openxmlformats.org/officeDocument/2006/relationships" id="2147483656" r:id="R7255201018504e74"/>
    <p:sldLayoutId xmlns:r="http://schemas.openxmlformats.org/officeDocument/2006/relationships" id="2147483657" r:id="Rca82bb01620b4704"/>
    <p:sldLayoutId xmlns:r="http://schemas.openxmlformats.org/officeDocument/2006/relationships" id="2147483658" r:id="Rb3e65dd5f9c64219"/>
    <p:sldLayoutId xmlns:r="http://schemas.openxmlformats.org/officeDocument/2006/relationships" id="2147483659" r:id="R7106b117c8834d3a"/>
  </p:sldLayoutIdLst>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902fa334c6744969" /><Relationship Type="http://schemas.openxmlformats.org/officeDocument/2006/relationships/notesSlide" Target="/ppt/notesSlides/notesSlide1.xml" Id="R950ec636b4384d2c"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3543ed3818964431" /><Relationship Type="http://schemas.openxmlformats.org/officeDocument/2006/relationships/notesSlide" Target="/ppt/notesSlides/notesSlide2.xml" Id="Ra942fd0ef8914c6e"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6856377705f44ce9" /><Relationship Type="http://schemas.openxmlformats.org/officeDocument/2006/relationships/notesSlide" Target="/ppt/notesSlides/notesSlide3.xml" Id="R7940a8e928574af3"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b6d3ebd6329a405a" /><Relationship Type="http://schemas.openxmlformats.org/officeDocument/2006/relationships/notesSlide" Target="/ppt/notesSlides/notesSlide4.xml" Id="R343f64fbbe5348d3"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8de439e020b04f86" /><Relationship Type="http://schemas.openxmlformats.org/officeDocument/2006/relationships/notesSlide" Target="/ppt/notesSlides/notesSlide5.xml" Id="R28262508a64c4f6c"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207220ccef6545a7" /><Relationship Type="http://schemas.openxmlformats.org/officeDocument/2006/relationships/image" Target="/ppt/media/image.png" Id="R2f266494a0d1420f" /><Relationship Type="http://schemas.openxmlformats.org/officeDocument/2006/relationships/slide" Target="../slides/slide7.xml" Id="Rd982dbac404949d9" /><Relationship Type="http://schemas.openxmlformats.org/officeDocument/2006/relationships/slide" Target="../slides/slide8.xml" Id="R6d4a37be055a40a4" /><Relationship Type="http://schemas.openxmlformats.org/officeDocument/2006/relationships/slide" Target="../slides/slide9.xml" Id="R5f2b1d083bff4884" /><Relationship Type="http://schemas.openxmlformats.org/officeDocument/2006/relationships/notesSlide" Target="/ppt/notesSlides/notesSlide6.xml" Id="R5196ee247c9a4981"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acd53a961e1e4087" /><Relationship Type="http://schemas.openxmlformats.org/officeDocument/2006/relationships/slide" Target="../slides/slide6.xml" Id="R8e66eb2b22ac4dd3" /><Relationship Type="http://schemas.openxmlformats.org/officeDocument/2006/relationships/notesSlide" Target="/ppt/notesSlides/notesSlide7.xml" Id="R36d5c14339a84fdc"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b8d9e5b709254b3a" /><Relationship Type="http://schemas.openxmlformats.org/officeDocument/2006/relationships/image" Target="/ppt/media/image2.png" Id="Rfa1681c5e0d4436e" /><Relationship Type="http://schemas.openxmlformats.org/officeDocument/2006/relationships/slide" Target="../slides/slide6.xml" Id="Rc4f903dbed4f4d6e" /><Relationship Type="http://schemas.openxmlformats.org/officeDocument/2006/relationships/notesSlide" Target="/ppt/notesSlides/notesSlide8.xml" Id="R0e82b353efa94741"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de872eccbfb4476c" /><Relationship Type="http://schemas.openxmlformats.org/officeDocument/2006/relationships/image" Target="/ppt/media/image3.png" Id="Reb806deb62f7420a" /><Relationship Type="http://schemas.openxmlformats.org/officeDocument/2006/relationships/slide" Target="../slides/slide6.xml" Id="Ra35d607b30e14794" /><Relationship Type="http://schemas.openxmlformats.org/officeDocument/2006/relationships/notesSlide" Target="/ppt/notesSlides/notesSlide9.xml" Id="R919f7b14ad8f4ac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66e726b29417476c" /><Relationship Type="http://schemas.openxmlformats.org/officeDocument/2006/relationships/notesSlide" Target="/ppt/notesSlides/notesSlide10.xml" Id="R30dc484f0f81419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2bc36c68df9a458e" /><Relationship Type="http://schemas.openxmlformats.org/officeDocument/2006/relationships/notesSlide" Target="/ppt/notesSlides/notesSlide11.xml" Id="Rf72c1f3b35034d7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c85ef7e789384e1c" /><Relationship Type="http://schemas.openxmlformats.org/officeDocument/2006/relationships/notesSlide" Target="/ppt/notesSlides/notesSlide12.xml" Id="R7948100cca2c471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aa6e94b5c964a46" /><Relationship Type="http://schemas.openxmlformats.org/officeDocument/2006/relationships/notesSlide" Target="/ppt/notesSlides/notesSlide13.xml" Id="R5842477fbeef4d0d" /></Relationships>
</file>

<file path=ppt/slides/slide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AC83F966-F9D0-477D-81EA-205EAAC3C072}"/>
              </a:ext>
            </a:extLst>
          </p:cNvPr>
          <p:cNvSpPr>
            <a:spLocks xmlns:a="http://schemas.openxmlformats.org/drawingml/2006/main" noGrp="1"/>
          </p:cNvSpPr>
          <p:nvPr/>
        </p:nvSpPr>
        <p:spPr>
          <a:xfrm xmlns:a="http://schemas.openxmlformats.org/drawingml/2006/main">
            <a:off x="876300" y="704850"/>
            <a:ext cx="4095750" cy="438150"/>
          </a:xfrm>
          <a:prstGeom xmlns:a="http://schemas.openxmlformats.org/drawingml/2006/main" prst="roundRect">
            <a:avLst>
              <a:gd name="adj" fmla="val 17391"/>
            </a:avLst>
          </a:prstGeom>
          <a:solidFill xmlns:a="http://schemas.openxmlformats.org/drawingml/2006/main">
            <a:srgbClr val="E6EEF3"/>
          </a:solidFill>
          <a:ln xmlns:a="http://schemas.openxmlformats.org/drawingml/2006/main" w="0">
            <a:noFill/>
          </a:ln>
        </p:spPr>
        <p:txBody>
          <a:bodyPr xmlns:a="http://schemas.openxmlformats.org/drawingml/2006/main" lIns="76200" tIns="38100" rIns="76200" bIns="38100" anchor="ctr">
            <a:normAutofit fontScale="94322"/>
          </a:bodyPr>
          <a:lstStyle xmlns:a="http://schemas.openxmlformats.org/drawingml/2006/main"/>
          <a:p xmlns:a="http://schemas.openxmlformats.org/drawingml/2006/main">
            <a:pPr algn="ctr">
              <a:defRPr sz="1500" b="1">
                <a:solidFill>
                  <a:srgbClr val="2D8B84"/>
                </a:solidFill>
                <a:latin typeface="Arial"/>
                <a:ea typeface="Arial"/>
                <a:cs typeface="Arial"/>
              </a:defRPr>
            </a:pPr>
            <a:r>
              <a:rPr sz="1500" b="1">
                <a:solidFill>
                  <a:srgbClr val="2D8B84"/>
                </a:solidFill>
                <a:latin typeface="Arial"/>
                <a:ea typeface="Arial"/>
                <a:cs typeface="Arial"/>
              </a:rPr>
              <a:t>FYP PROPOSAL DEFENSE · WORKING TITLE</a:t>
            </a:r>
          </a:p>
        </p:txBody>
      </p:sp>
      <p:sp>
        <p:nvSpPr>
          <p:cNvPr id="2" name="">
            <a:extLst xmlns:a="http://schemas.openxmlformats.org/drawingml/2006/main">
              <a:ext uri="{FF2B5EF4-FFF2-40B4-BE49-F238E27FC236}">
                <a16:creationId xmlns:a16="http://schemas.microsoft.com/office/drawing/2014/main" id="{333E1CAD-041E-49AD-BECD-585002C6A9DD}"/>
              </a:ext>
            </a:extLst>
          </p:cNvPr>
          <p:cNvSpPr>
            <a:spLocks xmlns:a="http://schemas.openxmlformats.org/drawingml/2006/main" noGrp="1"/>
          </p:cNvSpPr>
          <p:nvPr/>
        </p:nvSpPr>
        <p:spPr>
          <a:xfrm xmlns:a="http://schemas.openxmlformats.org/drawingml/2006/main">
            <a:off x="876300" y="1504950"/>
            <a:ext cx="8763000"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4950" b="1" i="0">
                <a:solidFill>
                  <a:srgbClr val="123B63"/>
                </a:solidFill>
                <a:latin typeface="Arial"/>
                <a:ea typeface="Arial"/>
                <a:cs typeface="Arial"/>
              </a:defRPr>
            </a:pPr>
            <a:r>
              <a:rPr sz="4950" b="1" i="0">
                <a:solidFill>
                  <a:srgbClr val="123B63"/>
                </a:solidFill>
                <a:latin typeface="Arial"/>
                <a:ea typeface="Arial"/>
                <a:cs typeface="Arial"/>
              </a:rPr>
              <a:t>Autonomous Web Security</a:t>
            </a:r>
          </a:p>
          <a:p xmlns:a="http://schemas.openxmlformats.org/drawingml/2006/main">
            <a:pPr algn="l">
              <a:lnSpc>
                <a:spcPct val="94000"/>
              </a:lnSpc>
              <a:buNone/>
              <a:defRPr sz="4950" b="1" i="0">
                <a:solidFill>
                  <a:srgbClr val="123B63"/>
                </a:solidFill>
                <a:latin typeface="Arial"/>
                <a:ea typeface="Arial"/>
                <a:cs typeface="Arial"/>
              </a:defRPr>
            </a:pPr>
            <a:r>
              <a:rPr sz="4950" b="1" i="0">
                <a:solidFill>
                  <a:srgbClr val="123B63"/>
                </a:solidFill>
                <a:latin typeface="Arial"/>
                <a:ea typeface="Arial"/>
                <a:cs typeface="Arial"/>
              </a:rPr>
              <a:t>Assessment Framework</a:t>
            </a:r>
          </a:p>
        </p:txBody>
      </p:sp>
      <p:sp>
        <p:nvSpPr>
          <p:cNvPr id="3" name="">
            <a:extLst xmlns:a="http://schemas.openxmlformats.org/drawingml/2006/main">
              <a:ext uri="{FF2B5EF4-FFF2-40B4-BE49-F238E27FC236}">
                <a16:creationId xmlns:a16="http://schemas.microsoft.com/office/drawing/2014/main" id="{715FD7AA-B5B0-4975-8900-7DB415DC64EB}"/>
              </a:ext>
            </a:extLst>
          </p:cNvPr>
          <p:cNvSpPr>
            <a:spLocks xmlns:a="http://schemas.openxmlformats.org/drawingml/2006/main" noGrp="1"/>
          </p:cNvSpPr>
          <p:nvPr/>
        </p:nvSpPr>
        <p:spPr>
          <a:xfrm xmlns:a="http://schemas.openxmlformats.org/drawingml/2006/main">
            <a:off x="914400" y="3676650"/>
            <a:ext cx="8286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175" b="0" i="0">
                <a:solidFill>
                  <a:srgbClr val="354F63"/>
                </a:solidFill>
                <a:latin typeface="Arial"/>
                <a:ea typeface="Arial"/>
                <a:cs typeface="Arial"/>
              </a:defRPr>
            </a:pPr>
            <a:r>
              <a:rPr sz="2175" b="0" i="0">
                <a:solidFill>
                  <a:srgbClr val="354F63"/>
                </a:solidFill>
                <a:latin typeface="Arial"/>
                <a:ea typeface="Arial"/>
                <a:cs typeface="Arial"/>
              </a:rPr>
              <a:t>A proposed dual-mode pentesting harness for broad, evidence-driven testing</a:t>
            </a:r>
          </a:p>
        </p:txBody>
      </p:sp>
      <p:sp>
        <p:nvSpPr>
          <p:cNvPr id="4" name="">
            <a:extLst xmlns:a="http://schemas.openxmlformats.org/drawingml/2006/main">
              <a:ext uri="{FF2B5EF4-FFF2-40B4-BE49-F238E27FC236}">
                <a16:creationId xmlns:a16="http://schemas.microsoft.com/office/drawing/2014/main" id="{6D7EAD82-15DD-45CB-8DCA-0BA9C8F6C380}"/>
              </a:ext>
            </a:extLst>
          </p:cNvPr>
          <p:cNvSpPr>
            <a:spLocks xmlns:a="http://schemas.openxmlformats.org/drawingml/2006/main" noGrp="1"/>
          </p:cNvSpPr>
          <p:nvPr/>
        </p:nvSpPr>
        <p:spPr>
          <a:xfrm xmlns:a="http://schemas.openxmlformats.org/drawingml/2006/main">
            <a:off x="914400" y="4762500"/>
            <a:ext cx="7810500" cy="0"/>
          </a:xfrm>
          <a:prstGeom xmlns:a="http://schemas.openxmlformats.org/drawingml/2006/main" prst="line">
            <a:avLst/>
          </a:prstGeom>
          <a:noFill xmlns:a="http://schemas.openxmlformats.org/drawingml/2006/main"/>
          <a:ln xmlns:a="http://schemas.openxmlformats.org/drawingml/2006/main" w="19050">
            <a:solidFill>
              <a:srgbClr val="CAD6DE"/>
            </a:solidFill>
          </a:ln>
        </p:spPr>
      </p:sp>
      <p:sp>
        <p:nvSpPr>
          <p:cNvPr id="5" name="">
            <a:extLst xmlns:a="http://schemas.openxmlformats.org/drawingml/2006/main">
              <a:ext uri="{FF2B5EF4-FFF2-40B4-BE49-F238E27FC236}">
                <a16:creationId xmlns:a16="http://schemas.microsoft.com/office/drawing/2014/main" id="{B960A8A2-447B-4BC7-8056-04A5ADD50F8F}"/>
              </a:ext>
            </a:extLst>
          </p:cNvPr>
          <p:cNvSpPr>
            <a:spLocks xmlns:a="http://schemas.openxmlformats.org/drawingml/2006/main" noGrp="1"/>
          </p:cNvSpPr>
          <p:nvPr/>
        </p:nvSpPr>
        <p:spPr>
          <a:xfrm xmlns:a="http://schemas.openxmlformats.org/drawingml/2006/main">
            <a:off x="914400" y="5086350"/>
            <a:ext cx="866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i="0">
                <a:solidFill>
                  <a:srgbClr val="102B44"/>
                </a:solidFill>
                <a:latin typeface="Arial"/>
                <a:ea typeface="Arial"/>
                <a:cs typeface="Arial"/>
              </a:defRPr>
            </a:pPr>
            <a:r>
              <a:rPr sz="1800" b="1" i="0">
                <a:solidFill>
                  <a:srgbClr val="102B44"/>
                </a:solidFill>
                <a:latin typeface="Arial"/>
                <a:ea typeface="Arial"/>
                <a:cs typeface="Arial"/>
              </a:rPr>
              <a:t>Muhammad Usman Hamed  ·  Abdul Ahad  ·  Obaid Ishtiaq Satti</a:t>
            </a:r>
          </a:p>
        </p:txBody>
      </p:sp>
      <p:sp>
        <p:nvSpPr>
          <p:cNvPr id="6" name="">
            <a:extLst xmlns:a="http://schemas.openxmlformats.org/drawingml/2006/main">
              <a:ext uri="{FF2B5EF4-FFF2-40B4-BE49-F238E27FC236}">
                <a16:creationId xmlns:a16="http://schemas.microsoft.com/office/drawing/2014/main" id="{1ECEBDEA-968A-4F6C-9C1B-60E24D42E015}"/>
              </a:ext>
            </a:extLst>
          </p:cNvPr>
          <p:cNvSpPr>
            <a:spLocks xmlns:a="http://schemas.openxmlformats.org/drawingml/2006/main" noGrp="1"/>
          </p:cNvSpPr>
          <p:nvPr/>
        </p:nvSpPr>
        <p:spPr>
          <a:xfrm xmlns:a="http://schemas.openxmlformats.org/drawingml/2006/main">
            <a:off x="914400" y="5638800"/>
            <a:ext cx="866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0" i="0">
                <a:solidFill>
                  <a:srgbClr val="354F63"/>
                </a:solidFill>
                <a:latin typeface="Arial"/>
                <a:ea typeface="Arial"/>
                <a:cs typeface="Arial"/>
              </a:defRPr>
            </a:pPr>
            <a:r>
              <a:rPr sz="1650" b="0" i="0">
                <a:solidFill>
                  <a:srgbClr val="354F63"/>
                </a:solidFill>
                <a:latin typeface="Arial"/>
                <a:ea typeface="Arial"/>
                <a:cs typeface="Arial"/>
              </a:rPr>
              <a:t>Advisor: Dr. Madiha Khalid    Co-Advisor: Dr. Mehdi Hussain</a:t>
            </a:r>
          </a:p>
        </p:txBody>
      </p:sp>
      <p:sp>
        <p:nvSpPr>
          <p:cNvPr id="7" name="">
            <a:extLst xmlns:a="http://schemas.openxmlformats.org/drawingml/2006/main">
              <a:ext uri="{FF2B5EF4-FFF2-40B4-BE49-F238E27FC236}">
                <a16:creationId xmlns:a16="http://schemas.microsoft.com/office/drawing/2014/main" id="{B6E23D84-1C5C-47EB-A7F8-C16ABE8ACBF9}"/>
              </a:ext>
            </a:extLst>
          </p:cNvPr>
          <p:cNvSpPr>
            <a:spLocks xmlns:a="http://schemas.openxmlformats.org/drawingml/2006/main" noGrp="1"/>
          </p:cNvSpPr>
          <p:nvPr/>
        </p:nvSpPr>
        <p:spPr>
          <a:xfrm xmlns:a="http://schemas.openxmlformats.org/drawingml/2006/main">
            <a:off x="914400" y="6172200"/>
            <a:ext cx="866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0" i="0">
                <a:solidFill>
                  <a:srgbClr val="354F63"/>
                </a:solidFill>
                <a:latin typeface="Arial"/>
                <a:ea typeface="Arial"/>
                <a:cs typeface="Arial"/>
              </a:defRPr>
            </a:pPr>
            <a:r>
              <a:rPr sz="1575" b="0" i="0">
                <a:solidFill>
                  <a:srgbClr val="354F63"/>
                </a:solidFill>
                <a:latin typeface="Arial"/>
                <a:ea typeface="Arial"/>
                <a:cs typeface="Arial"/>
              </a:rPr>
              <a:t>School of Electrical Engineering and Computer Science · NUST</a:t>
            </a:r>
          </a:p>
        </p:txBody>
      </p:sp>
      <p:sp>
        <p:nvSpPr>
          <p:cNvPr id="8" name="">
            <a:extLst xmlns:a="http://schemas.openxmlformats.org/drawingml/2006/main">
              <a:ext uri="{FF2B5EF4-FFF2-40B4-BE49-F238E27FC236}">
                <a16:creationId xmlns:a16="http://schemas.microsoft.com/office/drawing/2014/main" id="{9C8BD272-1F0A-4665-B9C9-DD63CDCB7264}"/>
              </a:ext>
            </a:extLst>
          </p:cNvPr>
          <p:cNvSpPr>
            <a:spLocks xmlns:a="http://schemas.openxmlformats.org/drawingml/2006/main" noGrp="1"/>
          </p:cNvSpPr>
          <p:nvPr/>
        </p:nvSpPr>
        <p:spPr>
          <a:xfrm xmlns:a="http://schemas.openxmlformats.org/drawingml/2006/main">
            <a:off x="10287000" y="1143000"/>
            <a:ext cx="7048500" cy="7334250"/>
          </a:xfrm>
          <a:prstGeom xmlns:a="http://schemas.openxmlformats.org/drawingml/2006/main" prst="roundRect">
            <a:avLst>
              <a:gd name="adj" fmla="val 1081"/>
            </a:avLst>
          </a:prstGeom>
          <a:solidFill xmlns:a="http://schemas.openxmlformats.org/drawingml/2006/main">
            <a:srgbClr val="FFFDF9"/>
          </a:solidFill>
          <a:ln xmlns:a="http://schemas.openxmlformats.org/drawingml/2006/main" w="19050">
            <a:solidFill>
              <a:srgbClr val="CAD6DE"/>
            </a:solidFill>
          </a:ln>
        </p:spPr>
      </p:sp>
      <p:sp>
        <p:nvSpPr>
          <p:cNvPr id="9" name="">
            <a:extLst xmlns:a="http://schemas.openxmlformats.org/drawingml/2006/main">
              <a:ext uri="{FF2B5EF4-FFF2-40B4-BE49-F238E27FC236}">
                <a16:creationId xmlns:a16="http://schemas.microsoft.com/office/drawing/2014/main" id="{9560E244-4E15-43C4-9AEC-45E919231F04}"/>
              </a:ext>
            </a:extLst>
          </p:cNvPr>
          <p:cNvSpPr>
            <a:spLocks xmlns:a="http://schemas.openxmlformats.org/drawingml/2006/main" noGrp="1"/>
          </p:cNvSpPr>
          <p:nvPr/>
        </p:nvSpPr>
        <p:spPr>
          <a:xfrm xmlns:a="http://schemas.openxmlformats.org/drawingml/2006/main">
            <a:off x="12287250" y="1562100"/>
            <a:ext cx="304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75" b="1" i="0">
                <a:solidFill>
                  <a:srgbClr val="2D8B84"/>
                </a:solidFill>
                <a:latin typeface="Arial"/>
                <a:ea typeface="Arial"/>
                <a:cs typeface="Arial"/>
              </a:defRPr>
            </a:pPr>
            <a:r>
              <a:rPr sz="1575" b="1" i="0">
                <a:solidFill>
                  <a:srgbClr val="2D8B84"/>
                </a:solidFill>
                <a:latin typeface="Arial"/>
                <a:ea typeface="Arial"/>
                <a:cs typeface="Arial"/>
              </a:rPr>
              <a:t>AUTHORIZED TARGET</a:t>
            </a:r>
          </a:p>
        </p:txBody>
      </p:sp>
      <p:sp>
        <p:nvSpPr>
          <p:cNvPr id="10" name="">
            <a:extLst xmlns:a="http://schemas.openxmlformats.org/drawingml/2006/main">
              <a:ext uri="{FF2B5EF4-FFF2-40B4-BE49-F238E27FC236}">
                <a16:creationId xmlns:a16="http://schemas.microsoft.com/office/drawing/2014/main" id="{AB7132CA-DE1B-4F70-9EEB-8F943813B85B}"/>
              </a:ext>
            </a:extLst>
          </p:cNvPr>
          <p:cNvSpPr>
            <a:spLocks xmlns:a="http://schemas.openxmlformats.org/drawingml/2006/main" noGrp="1"/>
          </p:cNvSpPr>
          <p:nvPr/>
        </p:nvSpPr>
        <p:spPr>
          <a:xfrm xmlns:a="http://schemas.openxmlformats.org/drawingml/2006/main">
            <a:off x="12192000" y="2038350"/>
            <a:ext cx="3238500" cy="514350"/>
          </a:xfrm>
          <a:prstGeom xmlns:a="http://schemas.openxmlformats.org/drawingml/2006/main" prst="roundRect">
            <a:avLst>
              <a:gd name="adj" fmla="val 14815"/>
            </a:avLst>
          </a:prstGeom>
          <a:solidFill xmlns:a="http://schemas.openxmlformats.org/drawingml/2006/main">
            <a:srgbClr val="E6EE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800" b="1">
                <a:solidFill>
                  <a:srgbClr val="123B63"/>
                </a:solidFill>
                <a:latin typeface="Arial"/>
                <a:ea typeface="Arial"/>
                <a:cs typeface="Arial"/>
              </a:defRPr>
            </a:pPr>
            <a:r>
              <a:rPr sz="1800" b="1">
                <a:solidFill>
                  <a:srgbClr val="123B63"/>
                </a:solidFill>
                <a:latin typeface="Arial"/>
                <a:ea typeface="Arial"/>
                <a:cs typeface="Arial"/>
              </a:rPr>
              <a:t>domain / IP / scope</a:t>
            </a:r>
          </a:p>
        </p:txBody>
      </p:sp>
      <p:sp>
        <p:nvSpPr>
          <p:cNvPr id="11" name="">
            <a:extLst xmlns:a="http://schemas.openxmlformats.org/drawingml/2006/main">
              <a:ext uri="{FF2B5EF4-FFF2-40B4-BE49-F238E27FC236}">
                <a16:creationId xmlns:a16="http://schemas.microsoft.com/office/drawing/2014/main" id="{569A1778-30D2-4902-B32A-82C810500B33}"/>
              </a:ext>
            </a:extLst>
          </p:cNvPr>
          <p:cNvSpPr>
            <a:spLocks xmlns:a="http://schemas.openxmlformats.org/drawingml/2006/main" noGrp="1"/>
          </p:cNvSpPr>
          <p:nvPr/>
        </p:nvSpPr>
        <p:spPr>
          <a:xfrm xmlns:a="http://schemas.openxmlformats.org/drawingml/2006/main">
            <a:off x="13620750" y="2800350"/>
            <a:ext cx="419100" cy="400050"/>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153CD8B9-9E3A-4A54-A983-8123A9CF056F}"/>
              </a:ext>
            </a:extLst>
          </p:cNvPr>
          <p:cNvSpPr>
            <a:spLocks xmlns:a="http://schemas.openxmlformats.org/drawingml/2006/main" noGrp="1"/>
          </p:cNvSpPr>
          <p:nvPr/>
        </p:nvSpPr>
        <p:spPr>
          <a:xfrm xmlns:a="http://schemas.openxmlformats.org/drawingml/2006/main">
            <a:off x="11525250" y="3467100"/>
            <a:ext cx="4572000" cy="1809750"/>
          </a:xfrm>
          <a:prstGeom xmlns:a="http://schemas.openxmlformats.org/drawingml/2006/main" prst="roundRect">
            <a:avLst>
              <a:gd name="adj" fmla="val 4211"/>
            </a:avLst>
          </a:prstGeom>
          <a:solidFill xmlns:a="http://schemas.openxmlformats.org/drawingml/2006/main">
            <a:srgbClr val="123B63"/>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248EFA5-ABAE-41B4-9403-D7A92D69DEAC}"/>
              </a:ext>
            </a:extLst>
          </p:cNvPr>
          <p:cNvSpPr>
            <a:spLocks xmlns:a="http://schemas.openxmlformats.org/drawingml/2006/main" noGrp="1"/>
          </p:cNvSpPr>
          <p:nvPr/>
        </p:nvSpPr>
        <p:spPr>
          <a:xfrm xmlns:a="http://schemas.openxmlformats.org/drawingml/2006/main">
            <a:off x="11906250" y="3790950"/>
            <a:ext cx="3810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2400" b="1" i="0">
                <a:solidFill>
                  <a:srgbClr val="FFFFFF"/>
                </a:solidFill>
                <a:latin typeface="Arial"/>
                <a:ea typeface="Arial"/>
                <a:cs typeface="Arial"/>
              </a:defRPr>
            </a:pPr>
            <a:r>
              <a:rPr sz="2400" b="1" i="0">
                <a:solidFill>
                  <a:srgbClr val="FFFFFF"/>
                </a:solidFill>
                <a:latin typeface="Arial"/>
                <a:ea typeface="Arial"/>
                <a:cs typeface="Arial"/>
              </a:rPr>
              <a:t>UNIFIED HARNESS</a:t>
            </a:r>
          </a:p>
        </p:txBody>
      </p:sp>
      <p:sp>
        <p:nvSpPr>
          <p:cNvPr id="14" name="">
            <a:extLst xmlns:a="http://schemas.openxmlformats.org/drawingml/2006/main">
              <a:ext uri="{FF2B5EF4-FFF2-40B4-BE49-F238E27FC236}">
                <a16:creationId xmlns:a16="http://schemas.microsoft.com/office/drawing/2014/main" id="{B70E8D6E-9871-4CC0-BED4-AEE7857185AF}"/>
              </a:ext>
            </a:extLst>
          </p:cNvPr>
          <p:cNvSpPr>
            <a:spLocks xmlns:a="http://schemas.openxmlformats.org/drawingml/2006/main" noGrp="1"/>
          </p:cNvSpPr>
          <p:nvPr/>
        </p:nvSpPr>
        <p:spPr>
          <a:xfrm xmlns:a="http://schemas.openxmlformats.org/drawingml/2006/main">
            <a:off x="12001500" y="4362450"/>
            <a:ext cx="3619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800" b="0" i="0">
                <a:solidFill>
                  <a:srgbClr val="DDEAF2"/>
                </a:solidFill>
                <a:latin typeface="Arial"/>
                <a:ea typeface="Arial"/>
                <a:cs typeface="Arial"/>
              </a:defRPr>
            </a:pPr>
            <a:r>
              <a:rPr sz="1800" b="0" i="0">
                <a:solidFill>
                  <a:srgbClr val="DDEAF2"/>
                </a:solidFill>
                <a:latin typeface="Arial"/>
                <a:ea typeface="Arial"/>
                <a:cs typeface="Arial"/>
              </a:rPr>
              <a:t>Deterministic methodology</a:t>
            </a:r>
          </a:p>
          <a:p xmlns:a="http://schemas.openxmlformats.org/drawingml/2006/main">
            <a:pPr algn="ctr">
              <a:lnSpc>
                <a:spcPct val="100000"/>
              </a:lnSpc>
              <a:buNone/>
              <a:defRPr sz="1800" b="0" i="0">
                <a:solidFill>
                  <a:srgbClr val="DDEAF2"/>
                </a:solidFill>
                <a:latin typeface="Arial"/>
                <a:ea typeface="Arial"/>
                <a:cs typeface="Arial"/>
              </a:defRPr>
            </a:pPr>
            <a:r>
              <a:rPr sz="1800" b="0" i="0">
                <a:solidFill>
                  <a:srgbClr val="DDEAF2"/>
                </a:solidFill>
                <a:latin typeface="Arial"/>
                <a:ea typeface="Arial"/>
                <a:cs typeface="Arial"/>
              </a:rPr>
              <a:t>+ optional AI reasoning</a:t>
            </a:r>
          </a:p>
        </p:txBody>
      </p:sp>
      <p:sp>
        <p:nvSpPr>
          <p:cNvPr id="15" name="">
            <a:extLst xmlns:a="http://schemas.openxmlformats.org/drawingml/2006/main">
              <a:ext uri="{FF2B5EF4-FFF2-40B4-BE49-F238E27FC236}">
                <a16:creationId xmlns:a16="http://schemas.microsoft.com/office/drawing/2014/main" id="{779D7D87-4DA5-4B31-A9B0-EB5A8DFCD5B7}"/>
              </a:ext>
            </a:extLst>
          </p:cNvPr>
          <p:cNvSpPr>
            <a:spLocks xmlns:a="http://schemas.openxmlformats.org/drawingml/2006/main" noGrp="1"/>
          </p:cNvSpPr>
          <p:nvPr/>
        </p:nvSpPr>
        <p:spPr>
          <a:xfrm xmlns:a="http://schemas.openxmlformats.org/drawingml/2006/main">
            <a:off x="13620750" y="5562600"/>
            <a:ext cx="419100" cy="400050"/>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94D0368A-F62B-4BFC-AB76-7AA605F4C4D1}"/>
              </a:ext>
            </a:extLst>
          </p:cNvPr>
          <p:cNvSpPr>
            <a:spLocks xmlns:a="http://schemas.openxmlformats.org/drawingml/2006/main" noGrp="1"/>
          </p:cNvSpPr>
          <p:nvPr/>
        </p:nvSpPr>
        <p:spPr>
          <a:xfrm xmlns:a="http://schemas.openxmlformats.org/drawingml/2006/main">
            <a:off x="10744200" y="6457950"/>
            <a:ext cx="2000250" cy="590550"/>
          </a:xfrm>
          <a:prstGeom xmlns:a="http://schemas.openxmlformats.org/drawingml/2006/main" prst="roundRect">
            <a:avLst>
              <a:gd name="adj" fmla="val 12903"/>
            </a:avLst>
          </a:prstGeom>
          <a:solidFill xmlns:a="http://schemas.openxmlformats.org/drawingml/2006/main">
            <a:srgbClr val="E6EE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00" b="1">
                <a:solidFill>
                  <a:srgbClr val="123B63"/>
                </a:solidFill>
                <a:latin typeface="Arial"/>
                <a:ea typeface="Arial"/>
                <a:cs typeface="Arial"/>
              </a:defRPr>
            </a:pPr>
            <a:r>
              <a:rPr sz="1500" b="1">
                <a:solidFill>
                  <a:srgbClr val="123B63"/>
                </a:solidFill>
                <a:latin typeface="Arial"/>
                <a:ea typeface="Arial"/>
                <a:cs typeface="Arial"/>
              </a:rPr>
              <a:t>Attack-surface map</a:t>
            </a:r>
          </a:p>
        </p:txBody>
      </p:sp>
      <p:sp>
        <p:nvSpPr>
          <p:cNvPr id="17" name="">
            <a:extLst xmlns:a="http://schemas.openxmlformats.org/drawingml/2006/main">
              <a:ext uri="{FF2B5EF4-FFF2-40B4-BE49-F238E27FC236}">
                <a16:creationId xmlns:a16="http://schemas.microsoft.com/office/drawing/2014/main" id="{F3598D6C-5FFD-4054-876E-33C66D9D6E6D}"/>
              </a:ext>
            </a:extLst>
          </p:cNvPr>
          <p:cNvSpPr>
            <a:spLocks xmlns:a="http://schemas.openxmlformats.org/drawingml/2006/main" noGrp="1"/>
          </p:cNvSpPr>
          <p:nvPr/>
        </p:nvSpPr>
        <p:spPr>
          <a:xfrm xmlns:a="http://schemas.openxmlformats.org/drawingml/2006/main">
            <a:off x="12811125" y="6457950"/>
            <a:ext cx="2000250" cy="590550"/>
          </a:xfrm>
          <a:prstGeom xmlns:a="http://schemas.openxmlformats.org/drawingml/2006/main" prst="roundRect">
            <a:avLst>
              <a:gd name="adj" fmla="val 12903"/>
            </a:avLst>
          </a:prstGeom>
          <a:solidFill xmlns:a="http://schemas.openxmlformats.org/drawingml/2006/main">
            <a:srgbClr val="DDEEEB"/>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00" b="1">
                <a:solidFill>
                  <a:srgbClr val="2D8B84"/>
                </a:solidFill>
                <a:latin typeface="Arial"/>
                <a:ea typeface="Arial"/>
                <a:cs typeface="Arial"/>
              </a:defRPr>
            </a:pPr>
            <a:r>
              <a:rPr sz="1500" b="1">
                <a:solidFill>
                  <a:srgbClr val="2D8B84"/>
                </a:solidFill>
                <a:latin typeface="Arial"/>
                <a:ea typeface="Arial"/>
                <a:cs typeface="Arial"/>
              </a:rPr>
              <a:t>Verified evidence</a:t>
            </a:r>
          </a:p>
        </p:txBody>
      </p:sp>
      <p:sp>
        <p:nvSpPr>
          <p:cNvPr id="18" name="">
            <a:extLst xmlns:a="http://schemas.openxmlformats.org/drawingml/2006/main">
              <a:ext uri="{FF2B5EF4-FFF2-40B4-BE49-F238E27FC236}">
                <a16:creationId xmlns:a16="http://schemas.microsoft.com/office/drawing/2014/main" id="{FBC6A71F-C192-4B11-9975-633495517065}"/>
              </a:ext>
            </a:extLst>
          </p:cNvPr>
          <p:cNvSpPr>
            <a:spLocks xmlns:a="http://schemas.openxmlformats.org/drawingml/2006/main" noGrp="1"/>
          </p:cNvSpPr>
          <p:nvPr/>
        </p:nvSpPr>
        <p:spPr>
          <a:xfrm xmlns:a="http://schemas.openxmlformats.org/drawingml/2006/main">
            <a:off x="14878050" y="6457950"/>
            <a:ext cx="2000250" cy="590550"/>
          </a:xfrm>
          <a:prstGeom xmlns:a="http://schemas.openxmlformats.org/drawingml/2006/main" prst="roundRect">
            <a:avLst>
              <a:gd name="adj" fmla="val 12903"/>
            </a:avLst>
          </a:prstGeom>
          <a:solidFill xmlns:a="http://schemas.openxmlformats.org/drawingml/2006/main">
            <a:srgbClr val="F4E8D0"/>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00" b="1">
                <a:solidFill>
                  <a:srgbClr val="D79A32"/>
                </a:solidFill>
                <a:latin typeface="Arial"/>
                <a:ea typeface="Arial"/>
                <a:cs typeface="Arial"/>
              </a:defRPr>
            </a:pPr>
            <a:r>
              <a:rPr sz="1500" b="1">
                <a:solidFill>
                  <a:srgbClr val="D79A32"/>
                </a:solidFill>
                <a:latin typeface="Arial"/>
                <a:ea typeface="Arial"/>
                <a:cs typeface="Arial"/>
              </a:rPr>
              <a:t>Structured report</a:t>
            </a:r>
          </a:p>
        </p:txBody>
      </p:sp>
      <p:sp>
        <p:nvSpPr>
          <p:cNvPr id="19" name="">
            <a:extLst xmlns:a="http://schemas.openxmlformats.org/drawingml/2006/main">
              <a:ext uri="{FF2B5EF4-FFF2-40B4-BE49-F238E27FC236}">
                <a16:creationId xmlns:a16="http://schemas.microsoft.com/office/drawing/2014/main" id="{141DC48A-B6B0-4CC7-81D2-BE7D4A774379}"/>
              </a:ext>
            </a:extLst>
          </p:cNvPr>
          <p:cNvSpPr>
            <a:spLocks xmlns:a="http://schemas.openxmlformats.org/drawingml/2006/main" noGrp="1"/>
          </p:cNvSpPr>
          <p:nvPr/>
        </p:nvSpPr>
        <p:spPr>
          <a:xfrm xmlns:a="http://schemas.openxmlformats.org/drawingml/2006/main">
            <a:off x="11334750" y="7715250"/>
            <a:ext cx="4953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75" b="0" i="1">
                <a:solidFill>
                  <a:srgbClr val="354F63"/>
                </a:solidFill>
                <a:latin typeface="Arial"/>
                <a:ea typeface="Arial"/>
                <a:cs typeface="Arial"/>
              </a:defRPr>
            </a:pPr>
            <a:r>
              <a:rPr sz="1575" b="0" i="1">
                <a:solidFill>
                  <a:srgbClr val="354F63"/>
                </a:solidFill>
                <a:latin typeface="Arial"/>
                <a:ea typeface="Arial"/>
                <a:cs typeface="Arial"/>
              </a:rPr>
              <a:t>Proposed system — not a completed product</a:t>
            </a:r>
          </a:p>
        </p:txBody>
      </p:sp>
    </p:spTree>
    <p:extLst>
      <p:ext uri="{BB962C8B-B14F-4D97-AF65-F5344CB8AC3E}">
        <p14:creationId xmlns:p14="http://schemas.microsoft.com/office/powerpoint/2010/main" val="30160628"/>
      </p:ext>
    </p:extLst>
  </p:cSld>
  <p:transition spd="med" advClick="1">
    <p:fade/>
  </p:transition>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390FB435-59F5-450E-A82F-FA804336BB0C}"/>
              </a:ext>
            </a:extLst>
          </p:cNvPr>
          <p:cNvSpPr>
            <a:spLocks xmlns:a="http://schemas.openxmlformats.org/drawingml/2006/main" noGrp="1"/>
          </p:cNvSpPr>
          <p:nvPr/>
        </p:nvSpPr>
        <p:spPr>
          <a:xfrm xmlns:a="http://schemas.openxmlformats.org/drawingml/2006/main">
            <a:off x="876300" y="4381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1" i="0">
                <a:solidFill>
                  <a:srgbClr val="2D8B84"/>
                </a:solidFill>
                <a:latin typeface="Arial"/>
                <a:ea typeface="Arial"/>
                <a:cs typeface="Arial"/>
              </a:defRPr>
            </a:pPr>
            <a:r>
              <a:rPr sz="1575" b="1" i="0">
                <a:solidFill>
                  <a:srgbClr val="2D8B84"/>
                </a:solidFill>
                <a:latin typeface="Arial"/>
                <a:ea typeface="Arial"/>
                <a:cs typeface="Arial"/>
              </a:rPr>
              <a:t>01 / WHY THIS MATTERS</a:t>
            </a:r>
          </a:p>
        </p:txBody>
      </p:sp>
      <p:sp>
        <p:nvSpPr>
          <p:cNvPr id="2" name="">
            <a:extLst xmlns:a="http://schemas.openxmlformats.org/drawingml/2006/main">
              <a:ext uri="{FF2B5EF4-FFF2-40B4-BE49-F238E27FC236}">
                <a16:creationId xmlns:a16="http://schemas.microsoft.com/office/drawing/2014/main" id="{5078CE48-0A41-43E0-9BCC-00C2D155F4A7}"/>
              </a:ext>
            </a:extLst>
          </p:cNvPr>
          <p:cNvSpPr>
            <a:spLocks xmlns:a="http://schemas.openxmlformats.org/drawingml/2006/main" noGrp="1"/>
          </p:cNvSpPr>
          <p:nvPr/>
        </p:nvSpPr>
        <p:spPr>
          <a:xfrm xmlns:a="http://schemas.openxmlformats.org/drawingml/2006/main">
            <a:off x="876300" y="838200"/>
            <a:ext cx="16287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4050" b="1" i="0">
                <a:solidFill>
                  <a:srgbClr val="123B63"/>
                </a:solidFill>
                <a:latin typeface="Arial"/>
                <a:ea typeface="Arial"/>
                <a:cs typeface="Arial"/>
              </a:defRPr>
            </a:pPr>
            <a:r>
              <a:rPr sz="4050" b="1" i="0">
                <a:solidFill>
                  <a:srgbClr val="123B63"/>
                </a:solidFill>
                <a:latin typeface="Arial"/>
                <a:ea typeface="Arial"/>
                <a:cs typeface="Arial"/>
              </a:rPr>
              <a:t>Web security protects the entire exposed application surface</a:t>
            </a:r>
          </a:p>
        </p:txBody>
      </p:sp>
      <p:sp>
        <p:nvSpPr>
          <p:cNvPr id="3" name="">
            <a:extLst xmlns:a="http://schemas.openxmlformats.org/drawingml/2006/main">
              <a:ext uri="{FF2B5EF4-FFF2-40B4-BE49-F238E27FC236}">
                <a16:creationId xmlns:a16="http://schemas.microsoft.com/office/drawing/2014/main" id="{852DDD0B-9F90-4F8C-96DB-6E01925C6936}"/>
              </a:ext>
            </a:extLst>
          </p:cNvPr>
          <p:cNvSpPr>
            <a:spLocks xmlns:a="http://schemas.openxmlformats.org/drawingml/2006/main" noGrp="1"/>
          </p:cNvSpPr>
          <p:nvPr/>
        </p:nvSpPr>
        <p:spPr>
          <a:xfrm xmlns:a="http://schemas.openxmlformats.org/drawingml/2006/main">
            <a:off x="876300" y="1790700"/>
            <a:ext cx="16535400" cy="0"/>
          </a:xfrm>
          <a:prstGeom xmlns:a="http://schemas.openxmlformats.org/drawingml/2006/main" prst="line">
            <a:avLst/>
          </a:prstGeom>
          <a:noFill xmlns:a="http://schemas.openxmlformats.org/drawingml/2006/main"/>
          <a:ln xmlns:a="http://schemas.openxmlformats.org/drawingml/2006/main" w="19050">
            <a:solidFill>
              <a:srgbClr val="CAD6DE"/>
            </a:solidFill>
          </a:ln>
        </p:spPr>
      </p:sp>
      <p:sp>
        <p:nvSpPr>
          <p:cNvPr id="4" name="">
            <a:extLst xmlns:a="http://schemas.openxmlformats.org/drawingml/2006/main">
              <a:ext uri="{FF2B5EF4-FFF2-40B4-BE49-F238E27FC236}">
                <a16:creationId xmlns:a16="http://schemas.microsoft.com/office/drawing/2014/main" id="{11DECE74-835C-4BE2-A138-1704311F5B8F}"/>
              </a:ext>
            </a:extLst>
          </p:cNvPr>
          <p:cNvSpPr>
            <a:spLocks xmlns:a="http://schemas.openxmlformats.org/drawingml/2006/main" noGrp="1"/>
          </p:cNvSpPr>
          <p:nvPr/>
        </p:nvSpPr>
        <p:spPr>
          <a:xfrm xmlns:a="http://schemas.openxmlformats.org/drawingml/2006/main">
            <a:off x="16764000" y="9525000"/>
            <a:ext cx="647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575" b="1" i="0">
                <a:solidFill>
                  <a:srgbClr val="79A9C8"/>
                </a:solidFill>
                <a:latin typeface="Arial"/>
                <a:ea typeface="Arial"/>
                <a:cs typeface="Arial"/>
              </a:defRPr>
            </a:pPr>
            <a:r>
              <a:rPr sz="1575" b="1" i="0">
                <a:solidFill>
                  <a:srgbClr val="79A9C8"/>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566C1621-A2C7-47BF-AB36-5E8443581BD3}"/>
              </a:ext>
            </a:extLst>
          </p:cNvPr>
          <p:cNvSpPr>
            <a:spLocks xmlns:a="http://schemas.openxmlformats.org/drawingml/2006/main" noGrp="1"/>
          </p:cNvSpPr>
          <p:nvPr/>
        </p:nvSpPr>
        <p:spPr>
          <a:xfrm xmlns:a="http://schemas.openxmlformats.org/drawingml/2006/main">
            <a:off x="876300" y="2190750"/>
            <a:ext cx="6667500" cy="2933700"/>
          </a:xfrm>
          <a:prstGeom xmlns:a="http://schemas.openxmlformats.org/drawingml/2006/main" prst="roundRect">
            <a:avLst>
              <a:gd name="adj" fmla="val 2597"/>
            </a:avLst>
          </a:prstGeom>
          <a:solidFill xmlns:a="http://schemas.openxmlformats.org/drawingml/2006/main">
            <a:srgbClr val="123B6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75E6FF5-2729-484E-B51F-2CBAA001A34D}"/>
              </a:ext>
            </a:extLst>
          </p:cNvPr>
          <p:cNvSpPr>
            <a:spLocks xmlns:a="http://schemas.openxmlformats.org/drawingml/2006/main" noGrp="1"/>
          </p:cNvSpPr>
          <p:nvPr/>
        </p:nvSpPr>
        <p:spPr>
          <a:xfrm xmlns:a="http://schemas.openxmlformats.org/drawingml/2006/main">
            <a:off x="1257300" y="259080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i="0">
                <a:solidFill>
                  <a:srgbClr val="79A9C8"/>
                </a:solidFill>
                <a:latin typeface="Arial"/>
                <a:ea typeface="Arial"/>
                <a:cs typeface="Arial"/>
              </a:defRPr>
            </a:pPr>
            <a:r>
              <a:rPr sz="1800" b="1" i="0">
                <a:solidFill>
                  <a:srgbClr val="79A9C8"/>
                </a:solidFill>
                <a:latin typeface="Arial"/>
                <a:ea typeface="Arial"/>
                <a:cs typeface="Arial"/>
              </a:rPr>
              <a:t>WEB SECURITY</a:t>
            </a:r>
          </a:p>
        </p:txBody>
      </p:sp>
      <p:sp>
        <p:nvSpPr>
          <p:cNvPr id="7" name="">
            <a:extLst xmlns:a="http://schemas.openxmlformats.org/drawingml/2006/main">
              <a:ext uri="{FF2B5EF4-FFF2-40B4-BE49-F238E27FC236}">
                <a16:creationId xmlns:a16="http://schemas.microsoft.com/office/drawing/2014/main" id="{E6AAC051-1E68-4B89-8FB1-157B58C1470A}"/>
              </a:ext>
            </a:extLst>
          </p:cNvPr>
          <p:cNvSpPr>
            <a:spLocks xmlns:a="http://schemas.openxmlformats.org/drawingml/2006/main" noGrp="1"/>
          </p:cNvSpPr>
          <p:nvPr/>
        </p:nvSpPr>
        <p:spPr>
          <a:xfrm xmlns:a="http://schemas.openxmlformats.org/drawingml/2006/main">
            <a:off x="1257300" y="3143250"/>
            <a:ext cx="5810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3612"/>
          </a:bodyPr>
          <a:lstStyle xmlns:a="http://schemas.openxmlformats.org/drawingml/2006/main"/>
          <a:p xmlns:a="http://schemas.openxmlformats.org/drawingml/2006/main">
            <a:pPr algn="l">
              <a:lnSpc>
                <a:spcPct val="100000"/>
              </a:lnSpc>
              <a:buNone/>
              <a:defRPr sz="2700" b="1" i="0">
                <a:solidFill>
                  <a:srgbClr val="FFFFFF"/>
                </a:solidFill>
                <a:latin typeface="Arial"/>
                <a:ea typeface="Arial"/>
                <a:cs typeface="Arial"/>
              </a:defRPr>
            </a:pPr>
            <a:r>
              <a:rPr sz="2700" b="1" i="0">
                <a:solidFill>
                  <a:srgbClr val="FFFFFF"/>
                </a:solidFill>
                <a:latin typeface="Arial"/>
                <a:ea typeface="Arial"/>
                <a:cs typeface="Arial"/>
              </a:rPr>
              <a:t>Find, validate and reduce weaknesses before attackers exploit them.</a:t>
            </a:r>
          </a:p>
        </p:txBody>
      </p:sp>
      <p:sp>
        <p:nvSpPr>
          <p:cNvPr id="8" name="">
            <a:extLst xmlns:a="http://schemas.openxmlformats.org/drawingml/2006/main">
              <a:ext uri="{FF2B5EF4-FFF2-40B4-BE49-F238E27FC236}">
                <a16:creationId xmlns:a16="http://schemas.microsoft.com/office/drawing/2014/main" id="{D233B6C9-E5ED-4C44-827F-065BDCD361DF}"/>
              </a:ext>
            </a:extLst>
          </p:cNvPr>
          <p:cNvSpPr>
            <a:spLocks xmlns:a="http://schemas.openxmlformats.org/drawingml/2006/main" noGrp="1"/>
          </p:cNvSpPr>
          <p:nvPr/>
        </p:nvSpPr>
        <p:spPr>
          <a:xfrm xmlns:a="http://schemas.openxmlformats.org/drawingml/2006/main">
            <a:off x="1257300" y="4362450"/>
            <a:ext cx="581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361"/>
          </a:bodyPr>
          <a:lstStyle xmlns:a="http://schemas.openxmlformats.org/drawingml/2006/main"/>
          <a:p xmlns:a="http://schemas.openxmlformats.org/drawingml/2006/main">
            <a:pPr algn="l">
              <a:lnSpc>
                <a:spcPct val="105000"/>
              </a:lnSpc>
              <a:buNone/>
              <a:defRPr sz="1650" b="0" i="0">
                <a:solidFill>
                  <a:srgbClr val="DCE8F0"/>
                </a:solidFill>
                <a:latin typeface="Arial"/>
                <a:ea typeface="Arial"/>
                <a:cs typeface="Arial"/>
              </a:defRPr>
            </a:pPr>
            <a:r>
              <a:rPr sz="1650" b="0" i="0">
                <a:solidFill>
                  <a:srgbClr val="DCE8F0"/>
                </a:solidFill>
                <a:latin typeface="Arial"/>
                <a:ea typeface="Arial"/>
                <a:cs typeface="Arial"/>
              </a:rPr>
              <a:t>The surface includes domains, services, applications, APIs, identities, third-party components and the data connecting them.</a:t>
            </a:r>
          </a:p>
        </p:txBody>
      </p:sp>
      <p:sp>
        <p:nvSpPr>
          <p:cNvPr id="9" name="">
            <a:extLst xmlns:a="http://schemas.openxmlformats.org/drawingml/2006/main">
              <a:ext uri="{FF2B5EF4-FFF2-40B4-BE49-F238E27FC236}">
                <a16:creationId xmlns:a16="http://schemas.microsoft.com/office/drawing/2014/main" id="{A84891CA-91C1-4904-8C1B-6B3FA0499DC2}"/>
              </a:ext>
            </a:extLst>
          </p:cNvPr>
          <p:cNvSpPr>
            <a:spLocks xmlns:a="http://schemas.openxmlformats.org/drawingml/2006/main" noGrp="1"/>
          </p:cNvSpPr>
          <p:nvPr/>
        </p:nvSpPr>
        <p:spPr>
          <a:xfrm xmlns:a="http://schemas.openxmlformats.org/drawingml/2006/main">
            <a:off x="8191500" y="2286000"/>
            <a:ext cx="723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i="0">
                <a:solidFill>
                  <a:srgbClr val="C55B48"/>
                </a:solidFill>
                <a:latin typeface="Arial"/>
                <a:ea typeface="Arial"/>
                <a:cs typeface="Arial"/>
              </a:defRPr>
            </a:pPr>
            <a:r>
              <a:rPr sz="1800" b="1" i="0">
                <a:solidFill>
                  <a:srgbClr val="C55B48"/>
                </a:solidFill>
                <a:latin typeface="Arial"/>
                <a:ea typeface="Arial"/>
                <a:cs typeface="Arial"/>
              </a:rPr>
              <a:t>CASE STUDY · EQUIFAX, 2017</a:t>
            </a:r>
          </a:p>
        </p:txBody>
      </p:sp>
      <p:sp>
        <p:nvSpPr>
          <p:cNvPr id="10" name="">
            <a:extLst xmlns:a="http://schemas.openxmlformats.org/drawingml/2006/main">
              <a:ext uri="{FF2B5EF4-FFF2-40B4-BE49-F238E27FC236}">
                <a16:creationId xmlns:a16="http://schemas.microsoft.com/office/drawing/2014/main" id="{88BA24F5-731D-4F9C-9F5B-C95EC2308996}"/>
              </a:ext>
            </a:extLst>
          </p:cNvPr>
          <p:cNvSpPr>
            <a:spLocks xmlns:a="http://schemas.openxmlformats.org/drawingml/2006/main" noGrp="1"/>
          </p:cNvSpPr>
          <p:nvPr/>
        </p:nvSpPr>
        <p:spPr>
          <a:xfrm xmlns:a="http://schemas.openxmlformats.org/drawingml/2006/main">
            <a:off x="8191500" y="2781300"/>
            <a:ext cx="8191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654"/>
          </a:bodyPr>
          <a:lstStyle xmlns:a="http://schemas.openxmlformats.org/drawingml/2006/main"/>
          <a:p xmlns:a="http://schemas.openxmlformats.org/drawingml/2006/main">
            <a:pPr algn="l">
              <a:lnSpc>
                <a:spcPct val="100000"/>
              </a:lnSpc>
              <a:buNone/>
              <a:defRPr sz="2550" b="1" i="0">
                <a:solidFill>
                  <a:srgbClr val="123B63"/>
                </a:solidFill>
                <a:latin typeface="Arial"/>
                <a:ea typeface="Arial"/>
                <a:cs typeface="Arial"/>
              </a:defRPr>
            </a:pPr>
            <a:r>
              <a:rPr sz="2550" b="1" i="0">
                <a:solidFill>
                  <a:srgbClr val="123B63"/>
                </a:solidFill>
                <a:latin typeface="Arial"/>
                <a:ea typeface="Arial"/>
                <a:cs typeface="Arial"/>
              </a:rPr>
              <a:t>A known web vulnerability became a large-scale breach</a:t>
            </a:r>
          </a:p>
        </p:txBody>
      </p:sp>
      <p:sp>
        <p:nvSpPr>
          <p:cNvPr id="11" name="">
            <a:extLst xmlns:a="http://schemas.openxmlformats.org/drawingml/2006/main">
              <a:ext uri="{FF2B5EF4-FFF2-40B4-BE49-F238E27FC236}">
                <a16:creationId xmlns:a16="http://schemas.microsoft.com/office/drawing/2014/main" id="{A0A93625-C8A7-428A-994D-479DE118A52D}"/>
              </a:ext>
            </a:extLst>
          </p:cNvPr>
          <p:cNvSpPr>
            <a:spLocks xmlns:a="http://schemas.openxmlformats.org/drawingml/2006/main" noGrp="1"/>
          </p:cNvSpPr>
          <p:nvPr/>
        </p:nvSpPr>
        <p:spPr>
          <a:xfrm xmlns:a="http://schemas.openxmlformats.org/drawingml/2006/main">
            <a:off x="8191500" y="3600450"/>
            <a:ext cx="2667000" cy="2057400"/>
          </a:xfrm>
          <a:prstGeom xmlns:a="http://schemas.openxmlformats.org/drawingml/2006/main" prst="roundRect">
            <a:avLst>
              <a:gd name="adj" fmla="val 3704"/>
            </a:avLst>
          </a:prstGeom>
          <a:solidFill xmlns:a="http://schemas.openxmlformats.org/drawingml/2006/main">
            <a:srgbClr val="FFFDF9"/>
          </a:solidFill>
          <a:ln xmlns:a="http://schemas.openxmlformats.org/drawingml/2006/main" w="19050">
            <a:solidFill>
              <a:srgbClr val="CAD6DE"/>
            </a:solidFill>
          </a:ln>
        </p:spPr>
      </p:sp>
      <p:sp>
        <p:nvSpPr>
          <p:cNvPr id="12" name="">
            <a:extLst xmlns:a="http://schemas.openxmlformats.org/drawingml/2006/main">
              <a:ext uri="{FF2B5EF4-FFF2-40B4-BE49-F238E27FC236}">
                <a16:creationId xmlns:a16="http://schemas.microsoft.com/office/drawing/2014/main" id="{90D4363A-E07E-47F8-AC5B-D87290F3A4FC}"/>
              </a:ext>
            </a:extLst>
          </p:cNvPr>
          <p:cNvSpPr>
            <a:spLocks xmlns:a="http://schemas.openxmlformats.org/drawingml/2006/main" noGrp="1"/>
          </p:cNvSpPr>
          <p:nvPr/>
        </p:nvSpPr>
        <p:spPr>
          <a:xfrm xmlns:a="http://schemas.openxmlformats.org/drawingml/2006/main">
            <a:off x="8191500" y="3600450"/>
            <a:ext cx="85725" cy="2057400"/>
          </a:xfrm>
          <a:prstGeom xmlns:a="http://schemas.openxmlformats.org/drawingml/2006/main" prst="rect">
            <a:avLst/>
          </a:prstGeom>
          <a:solidFill xmlns:a="http://schemas.openxmlformats.org/drawingml/2006/main">
            <a:srgbClr val="C55B4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8D6BDF9-0805-427C-B108-DF05EE77C23A}"/>
              </a:ext>
            </a:extLst>
          </p:cNvPr>
          <p:cNvSpPr>
            <a:spLocks xmlns:a="http://schemas.openxmlformats.org/drawingml/2006/main" noGrp="1"/>
          </p:cNvSpPr>
          <p:nvPr/>
        </p:nvSpPr>
        <p:spPr>
          <a:xfrm xmlns:a="http://schemas.openxmlformats.org/drawingml/2006/main">
            <a:off x="8458200" y="3810000"/>
            <a:ext cx="2171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950" b="1" i="0">
                <a:solidFill>
                  <a:srgbClr val="123B63"/>
                </a:solidFill>
                <a:latin typeface="Arial"/>
                <a:ea typeface="Arial"/>
                <a:cs typeface="Arial"/>
              </a:defRPr>
            </a:pPr>
            <a:r>
              <a:rPr sz="1950" b="1" i="0">
                <a:solidFill>
                  <a:srgbClr val="123B63"/>
                </a:solidFill>
                <a:latin typeface="Arial"/>
                <a:ea typeface="Arial"/>
                <a:cs typeface="Arial"/>
              </a:rPr>
              <a:t>Known flaw</a:t>
            </a:r>
          </a:p>
        </p:txBody>
      </p:sp>
      <p:sp>
        <p:nvSpPr>
          <p:cNvPr id="14" name="">
            <a:extLst xmlns:a="http://schemas.openxmlformats.org/drawingml/2006/main">
              <a:ext uri="{FF2B5EF4-FFF2-40B4-BE49-F238E27FC236}">
                <a16:creationId xmlns:a16="http://schemas.microsoft.com/office/drawing/2014/main" id="{3B999BCE-DB5B-484B-8129-E3624364A586}"/>
              </a:ext>
            </a:extLst>
          </p:cNvPr>
          <p:cNvSpPr>
            <a:spLocks xmlns:a="http://schemas.openxmlformats.org/drawingml/2006/main" noGrp="1"/>
          </p:cNvSpPr>
          <p:nvPr/>
        </p:nvSpPr>
        <p:spPr>
          <a:xfrm xmlns:a="http://schemas.openxmlformats.org/drawingml/2006/main">
            <a:off x="8458200" y="4343400"/>
            <a:ext cx="21717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0" i="0">
                <a:solidFill>
                  <a:srgbClr val="354F63"/>
                </a:solidFill>
                <a:latin typeface="Arial"/>
                <a:ea typeface="Arial"/>
                <a:cs typeface="Arial"/>
              </a:defRPr>
            </a:pPr>
            <a:r>
              <a:rPr sz="1650" b="0" i="0">
                <a:solidFill>
                  <a:srgbClr val="354F63"/>
                </a:solidFill>
                <a:latin typeface="Arial"/>
                <a:ea typeface="Arial"/>
                <a:cs typeface="Arial"/>
              </a:rPr>
              <a:t>A critical Apache Struts vulnerability had a patch available.</a:t>
            </a:r>
          </a:p>
        </p:txBody>
      </p:sp>
      <p:sp>
        <p:nvSpPr>
          <p:cNvPr id="15" name="">
            <a:extLst xmlns:a="http://schemas.openxmlformats.org/drawingml/2006/main">
              <a:ext uri="{FF2B5EF4-FFF2-40B4-BE49-F238E27FC236}">
                <a16:creationId xmlns:a16="http://schemas.microsoft.com/office/drawing/2014/main" id="{B1916CFD-F75B-4CF0-B12F-DE2D04071A26}"/>
              </a:ext>
            </a:extLst>
          </p:cNvPr>
          <p:cNvSpPr>
            <a:spLocks xmlns:a="http://schemas.openxmlformats.org/drawingml/2006/main" noGrp="1"/>
          </p:cNvSpPr>
          <p:nvPr/>
        </p:nvSpPr>
        <p:spPr>
          <a:xfrm xmlns:a="http://schemas.openxmlformats.org/drawingml/2006/main">
            <a:off x="11087100" y="3600450"/>
            <a:ext cx="2667000" cy="2057400"/>
          </a:xfrm>
          <a:prstGeom xmlns:a="http://schemas.openxmlformats.org/drawingml/2006/main" prst="roundRect">
            <a:avLst>
              <a:gd name="adj" fmla="val 3704"/>
            </a:avLst>
          </a:prstGeom>
          <a:solidFill xmlns:a="http://schemas.openxmlformats.org/drawingml/2006/main">
            <a:srgbClr val="FFFDF9"/>
          </a:solidFill>
          <a:ln xmlns:a="http://schemas.openxmlformats.org/drawingml/2006/main" w="19050">
            <a:solidFill>
              <a:srgbClr val="CAD6DE"/>
            </a:solidFill>
          </a:ln>
        </p:spPr>
      </p:sp>
      <p:sp>
        <p:nvSpPr>
          <p:cNvPr id="16" name="">
            <a:extLst xmlns:a="http://schemas.openxmlformats.org/drawingml/2006/main">
              <a:ext uri="{FF2B5EF4-FFF2-40B4-BE49-F238E27FC236}">
                <a16:creationId xmlns:a16="http://schemas.microsoft.com/office/drawing/2014/main" id="{7E2FD9B2-E718-494F-8878-44E04EE0A443}"/>
              </a:ext>
            </a:extLst>
          </p:cNvPr>
          <p:cNvSpPr>
            <a:spLocks xmlns:a="http://schemas.openxmlformats.org/drawingml/2006/main" noGrp="1"/>
          </p:cNvSpPr>
          <p:nvPr/>
        </p:nvSpPr>
        <p:spPr>
          <a:xfrm xmlns:a="http://schemas.openxmlformats.org/drawingml/2006/main">
            <a:off x="11087100" y="3600450"/>
            <a:ext cx="85725" cy="2057400"/>
          </a:xfrm>
          <a:prstGeom xmlns:a="http://schemas.openxmlformats.org/drawingml/2006/main" prst="rect">
            <a:avLst/>
          </a:prstGeom>
          <a:solidFill xmlns:a="http://schemas.openxmlformats.org/drawingml/2006/main">
            <a:srgbClr val="D79A32"/>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C233DDE7-8E71-4640-AE1D-33D041654255}"/>
              </a:ext>
            </a:extLst>
          </p:cNvPr>
          <p:cNvSpPr>
            <a:spLocks xmlns:a="http://schemas.openxmlformats.org/drawingml/2006/main" noGrp="1"/>
          </p:cNvSpPr>
          <p:nvPr/>
        </p:nvSpPr>
        <p:spPr>
          <a:xfrm xmlns:a="http://schemas.openxmlformats.org/drawingml/2006/main">
            <a:off x="11353800" y="3810000"/>
            <a:ext cx="2171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950" b="1" i="0">
                <a:solidFill>
                  <a:srgbClr val="123B63"/>
                </a:solidFill>
                <a:latin typeface="Arial"/>
                <a:ea typeface="Arial"/>
                <a:cs typeface="Arial"/>
              </a:defRPr>
            </a:pPr>
            <a:r>
              <a:rPr sz="1950" b="1" i="0">
                <a:solidFill>
                  <a:srgbClr val="123B63"/>
                </a:solidFill>
                <a:latin typeface="Arial"/>
                <a:ea typeface="Arial"/>
                <a:cs typeface="Arial"/>
              </a:rPr>
              <a:t>Coverage failure</a:t>
            </a:r>
          </a:p>
        </p:txBody>
      </p:sp>
      <p:sp>
        <p:nvSpPr>
          <p:cNvPr id="18" name="">
            <a:extLst xmlns:a="http://schemas.openxmlformats.org/drawingml/2006/main">
              <a:ext uri="{FF2B5EF4-FFF2-40B4-BE49-F238E27FC236}">
                <a16:creationId xmlns:a16="http://schemas.microsoft.com/office/drawing/2014/main" id="{CD3BAF71-F977-46C8-8E7F-B73B011591CF}"/>
              </a:ext>
            </a:extLst>
          </p:cNvPr>
          <p:cNvSpPr>
            <a:spLocks xmlns:a="http://schemas.openxmlformats.org/drawingml/2006/main" noGrp="1"/>
          </p:cNvSpPr>
          <p:nvPr/>
        </p:nvSpPr>
        <p:spPr>
          <a:xfrm xmlns:a="http://schemas.openxmlformats.org/drawingml/2006/main">
            <a:off x="11353800" y="4343400"/>
            <a:ext cx="21717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707"/>
          </a:bodyPr>
          <a:lstStyle xmlns:a="http://schemas.openxmlformats.org/drawingml/2006/main"/>
          <a:p xmlns:a="http://schemas.openxmlformats.org/drawingml/2006/main">
            <a:pPr algn="l">
              <a:lnSpc>
                <a:spcPct val="105000"/>
              </a:lnSpc>
              <a:buNone/>
              <a:defRPr sz="1650" b="0" i="0">
                <a:solidFill>
                  <a:srgbClr val="354F63"/>
                </a:solidFill>
                <a:latin typeface="Arial"/>
                <a:ea typeface="Arial"/>
                <a:cs typeface="Arial"/>
              </a:defRPr>
            </a:pPr>
            <a:r>
              <a:rPr sz="1650" b="0" i="0">
                <a:solidFill>
                  <a:srgbClr val="354F63"/>
                </a:solidFill>
                <a:latin typeface="Arial"/>
                <a:ea typeface="Arial"/>
                <a:cs typeface="Arial"/>
              </a:rPr>
              <a:t>The public dispute portal remained unpatched and verification did not catch it.</a:t>
            </a:r>
          </a:p>
        </p:txBody>
      </p:sp>
      <p:sp>
        <p:nvSpPr>
          <p:cNvPr id="19" name="">
            <a:extLst xmlns:a="http://schemas.openxmlformats.org/drawingml/2006/main">
              <a:ext uri="{FF2B5EF4-FFF2-40B4-BE49-F238E27FC236}">
                <a16:creationId xmlns:a16="http://schemas.microsoft.com/office/drawing/2014/main" id="{4E2BA71E-64F3-411E-8F1F-142A9D3CC963}"/>
              </a:ext>
            </a:extLst>
          </p:cNvPr>
          <p:cNvSpPr>
            <a:spLocks xmlns:a="http://schemas.openxmlformats.org/drawingml/2006/main" noGrp="1"/>
          </p:cNvSpPr>
          <p:nvPr/>
        </p:nvSpPr>
        <p:spPr>
          <a:xfrm xmlns:a="http://schemas.openxmlformats.org/drawingml/2006/main">
            <a:off x="13982700" y="3600450"/>
            <a:ext cx="2667000" cy="2057400"/>
          </a:xfrm>
          <a:prstGeom xmlns:a="http://schemas.openxmlformats.org/drawingml/2006/main" prst="roundRect">
            <a:avLst>
              <a:gd name="adj" fmla="val 3704"/>
            </a:avLst>
          </a:prstGeom>
          <a:solidFill xmlns:a="http://schemas.openxmlformats.org/drawingml/2006/main">
            <a:srgbClr val="FFFDF9"/>
          </a:solidFill>
          <a:ln xmlns:a="http://schemas.openxmlformats.org/drawingml/2006/main" w="19050">
            <a:solidFill>
              <a:srgbClr val="CAD6DE"/>
            </a:solidFill>
          </a:ln>
        </p:spPr>
      </p:sp>
      <p:sp>
        <p:nvSpPr>
          <p:cNvPr id="20" name="">
            <a:extLst xmlns:a="http://schemas.openxmlformats.org/drawingml/2006/main">
              <a:ext uri="{FF2B5EF4-FFF2-40B4-BE49-F238E27FC236}">
                <a16:creationId xmlns:a16="http://schemas.microsoft.com/office/drawing/2014/main" id="{88472D3F-DE43-4263-8665-354391CAE657}"/>
              </a:ext>
            </a:extLst>
          </p:cNvPr>
          <p:cNvSpPr>
            <a:spLocks xmlns:a="http://schemas.openxmlformats.org/drawingml/2006/main" noGrp="1"/>
          </p:cNvSpPr>
          <p:nvPr/>
        </p:nvSpPr>
        <p:spPr>
          <a:xfrm xmlns:a="http://schemas.openxmlformats.org/drawingml/2006/main">
            <a:off x="13982700" y="3600450"/>
            <a:ext cx="85725" cy="2057400"/>
          </a:xfrm>
          <a:prstGeom xmlns:a="http://schemas.openxmlformats.org/drawingml/2006/main" prst="rect">
            <a:avLst/>
          </a:prstGeom>
          <a:solidFill xmlns:a="http://schemas.openxmlformats.org/drawingml/2006/main">
            <a:srgbClr val="C55B4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D9969845-664D-46C0-AFF1-C565FF58FB9F}"/>
              </a:ext>
            </a:extLst>
          </p:cNvPr>
          <p:cNvSpPr>
            <a:spLocks xmlns:a="http://schemas.openxmlformats.org/drawingml/2006/main" noGrp="1"/>
          </p:cNvSpPr>
          <p:nvPr/>
        </p:nvSpPr>
        <p:spPr>
          <a:xfrm xmlns:a="http://schemas.openxmlformats.org/drawingml/2006/main">
            <a:off x="14249400" y="3810000"/>
            <a:ext cx="2171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950" b="1" i="0">
                <a:solidFill>
                  <a:srgbClr val="123B63"/>
                </a:solidFill>
                <a:latin typeface="Arial"/>
                <a:ea typeface="Arial"/>
                <a:cs typeface="Arial"/>
              </a:defRPr>
            </a:pPr>
            <a:r>
              <a:rPr sz="1950" b="1" i="0">
                <a:solidFill>
                  <a:srgbClr val="123B63"/>
                </a:solidFill>
                <a:latin typeface="Arial"/>
                <a:ea typeface="Arial"/>
                <a:cs typeface="Arial"/>
              </a:rPr>
              <a:t>Impact</a:t>
            </a:r>
          </a:p>
        </p:txBody>
      </p:sp>
      <p:sp>
        <p:nvSpPr>
          <p:cNvPr id="22" name="">
            <a:extLst xmlns:a="http://schemas.openxmlformats.org/drawingml/2006/main">
              <a:ext uri="{FF2B5EF4-FFF2-40B4-BE49-F238E27FC236}">
                <a16:creationId xmlns:a16="http://schemas.microsoft.com/office/drawing/2014/main" id="{A47FBD4C-15B3-4D2B-9223-D540E285B53F}"/>
              </a:ext>
            </a:extLst>
          </p:cNvPr>
          <p:cNvSpPr>
            <a:spLocks xmlns:a="http://schemas.openxmlformats.org/drawingml/2006/main" noGrp="1"/>
          </p:cNvSpPr>
          <p:nvPr/>
        </p:nvSpPr>
        <p:spPr>
          <a:xfrm xmlns:a="http://schemas.openxmlformats.org/drawingml/2006/main">
            <a:off x="14249400" y="4343400"/>
            <a:ext cx="21717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0" i="0">
                <a:solidFill>
                  <a:srgbClr val="354F63"/>
                </a:solidFill>
                <a:latin typeface="Arial"/>
                <a:ea typeface="Arial"/>
                <a:cs typeface="Arial"/>
              </a:defRPr>
            </a:pPr>
            <a:r>
              <a:rPr sz="1650" b="0" i="0">
                <a:solidFill>
                  <a:srgbClr val="354F63"/>
                </a:solidFill>
                <a:latin typeface="Arial"/>
                <a:ea typeface="Arial"/>
                <a:cs typeface="Arial"/>
              </a:rPr>
              <a:t>Personal information of about 147 million people was exposed.</a:t>
            </a:r>
          </a:p>
        </p:txBody>
      </p:sp>
      <p:sp>
        <p:nvSpPr>
          <p:cNvPr id="23" name="">
            <a:extLst xmlns:a="http://schemas.openxmlformats.org/drawingml/2006/main">
              <a:ext uri="{FF2B5EF4-FFF2-40B4-BE49-F238E27FC236}">
                <a16:creationId xmlns:a16="http://schemas.microsoft.com/office/drawing/2014/main" id="{7A278153-3B81-4621-A0CC-56357BACDC94}"/>
              </a:ext>
            </a:extLst>
          </p:cNvPr>
          <p:cNvSpPr>
            <a:spLocks xmlns:a="http://schemas.openxmlformats.org/drawingml/2006/main" noGrp="1"/>
          </p:cNvSpPr>
          <p:nvPr/>
        </p:nvSpPr>
        <p:spPr>
          <a:xfrm xmlns:a="http://schemas.openxmlformats.org/drawingml/2006/main">
            <a:off x="876300" y="6229350"/>
            <a:ext cx="15773400" cy="1962150"/>
          </a:xfrm>
          <a:prstGeom xmlns:a="http://schemas.openxmlformats.org/drawingml/2006/main" prst="roundRect">
            <a:avLst>
              <a:gd name="adj" fmla="val 3883"/>
            </a:avLst>
          </a:prstGeom>
          <a:solidFill xmlns:a="http://schemas.openxmlformats.org/drawingml/2006/main">
            <a:srgbClr val="E8EFF3"/>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0BD9A439-FA19-4642-8707-1386A1D6A38B}"/>
              </a:ext>
            </a:extLst>
          </p:cNvPr>
          <p:cNvSpPr>
            <a:spLocks xmlns:a="http://schemas.openxmlformats.org/drawingml/2006/main" noGrp="1"/>
          </p:cNvSpPr>
          <p:nvPr/>
        </p:nvSpPr>
        <p:spPr>
          <a:xfrm xmlns:a="http://schemas.openxmlformats.org/drawingml/2006/main">
            <a:off x="1219200" y="6553200"/>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i="0">
                <a:solidFill>
                  <a:srgbClr val="2D8B84"/>
                </a:solidFill>
                <a:latin typeface="Arial"/>
                <a:ea typeface="Arial"/>
                <a:cs typeface="Arial"/>
              </a:defRPr>
            </a:pPr>
            <a:r>
              <a:rPr sz="1875" b="1" i="0">
                <a:solidFill>
                  <a:srgbClr val="2D8B84"/>
                </a:solidFill>
                <a:latin typeface="Arial"/>
                <a:ea typeface="Arial"/>
                <a:cs typeface="Arial"/>
              </a:rPr>
              <a:t>The lesson</a:t>
            </a:r>
          </a:p>
        </p:txBody>
      </p:sp>
      <p:sp>
        <p:nvSpPr>
          <p:cNvPr id="25" name="">
            <a:extLst xmlns:a="http://schemas.openxmlformats.org/drawingml/2006/main">
              <a:ext uri="{FF2B5EF4-FFF2-40B4-BE49-F238E27FC236}">
                <a16:creationId xmlns:a16="http://schemas.microsoft.com/office/drawing/2014/main" id="{1C12CBCC-F676-4775-BCF7-1C7AA0713D17}"/>
              </a:ext>
            </a:extLst>
          </p:cNvPr>
          <p:cNvSpPr>
            <a:spLocks xmlns:a="http://schemas.openxmlformats.org/drawingml/2006/main" noGrp="1"/>
          </p:cNvSpPr>
          <p:nvPr/>
        </p:nvSpPr>
        <p:spPr>
          <a:xfrm xmlns:a="http://schemas.openxmlformats.org/drawingml/2006/main">
            <a:off x="1219200" y="7067550"/>
            <a:ext cx="1476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250" b="1" i="0">
                <a:solidFill>
                  <a:srgbClr val="102B44"/>
                </a:solidFill>
                <a:latin typeface="Arial"/>
                <a:ea typeface="Arial"/>
                <a:cs typeface="Arial"/>
              </a:defRPr>
            </a:pPr>
            <a:r>
              <a:rPr sz="2250" b="1" i="0">
                <a:solidFill>
                  <a:srgbClr val="102B44"/>
                </a:solidFill>
                <a:latin typeface="Arial"/>
                <a:ea typeface="Arial"/>
                <a:cs typeface="Arial"/>
              </a:rPr>
              <a:t>A single missed internet-facing asset can defeat security across a very large organisation. Effective testing must discover the full surface, verify coverage, and preserve evidence across every step.</a:t>
            </a:r>
          </a:p>
        </p:txBody>
      </p:sp>
      <p:sp>
        <p:nvSpPr>
          <p:cNvPr id="26" name="">
            <a:extLst xmlns:a="http://schemas.openxmlformats.org/drawingml/2006/main">
              <a:ext uri="{FF2B5EF4-FFF2-40B4-BE49-F238E27FC236}">
                <a16:creationId xmlns:a16="http://schemas.microsoft.com/office/drawing/2014/main" id="{0BBA2128-D8D9-4C38-9369-AA93B1BAE135}"/>
              </a:ext>
            </a:extLst>
          </p:cNvPr>
          <p:cNvSpPr>
            <a:spLocks xmlns:a="http://schemas.openxmlformats.org/drawingml/2006/main" noGrp="1"/>
          </p:cNvSpPr>
          <p:nvPr/>
        </p:nvSpPr>
        <p:spPr>
          <a:xfrm xmlns:a="http://schemas.openxmlformats.org/drawingml/2006/main">
            <a:off x="914400" y="8743950"/>
            <a:ext cx="1390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i="0">
                <a:solidFill>
                  <a:srgbClr val="354F63"/>
                </a:solidFill>
                <a:latin typeface="Arial"/>
                <a:ea typeface="Arial"/>
                <a:cs typeface="Arial"/>
              </a:defRPr>
            </a:pPr>
            <a:r>
              <a:rPr sz="1350" b="0" i="0">
                <a:solidFill>
                  <a:srgbClr val="354F63"/>
                </a:solidFill>
                <a:latin typeface="Arial"/>
                <a:ea typeface="Arial"/>
                <a:cs typeface="Arial"/>
              </a:rPr>
              <a:t>Sources: U.S. House Oversight Committee report (2018); U.S. Federal Trade Commission (2019).</a:t>
            </a:r>
          </a:p>
        </p:txBody>
      </p:sp>
    </p:spTree>
    <p:extLst>
      <p:ext uri="{BB962C8B-B14F-4D97-AF65-F5344CB8AC3E}">
        <p14:creationId xmlns:p14="http://schemas.microsoft.com/office/powerpoint/2010/main" val="119673490"/>
      </p:ext>
    </p:extLst>
  </p:cSld>
  <p:transition spd="med" advClick="1">
    <p:fade/>
  </p:transition>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B8A77AB6-CCB7-4D02-BD70-853247FEAF09}"/>
              </a:ext>
            </a:extLst>
          </p:cNvPr>
          <p:cNvSpPr>
            <a:spLocks xmlns:a="http://schemas.openxmlformats.org/drawingml/2006/main" noGrp="1"/>
          </p:cNvSpPr>
          <p:nvPr/>
        </p:nvSpPr>
        <p:spPr>
          <a:xfrm xmlns:a="http://schemas.openxmlformats.org/drawingml/2006/main">
            <a:off x="876300" y="4381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1" i="0">
                <a:solidFill>
                  <a:srgbClr val="2D8B84"/>
                </a:solidFill>
                <a:latin typeface="Arial"/>
                <a:ea typeface="Arial"/>
                <a:cs typeface="Arial"/>
              </a:defRPr>
            </a:pPr>
            <a:r>
              <a:rPr sz="1575" b="1" i="0">
                <a:solidFill>
                  <a:srgbClr val="2D8B84"/>
                </a:solidFill>
                <a:latin typeface="Arial"/>
                <a:ea typeface="Arial"/>
                <a:cs typeface="Arial"/>
              </a:rPr>
              <a:t>02 / CURRENT PRACTICE</a:t>
            </a:r>
          </a:p>
        </p:txBody>
      </p:sp>
      <p:sp>
        <p:nvSpPr>
          <p:cNvPr id="2" name="">
            <a:extLst xmlns:a="http://schemas.openxmlformats.org/drawingml/2006/main">
              <a:ext uri="{FF2B5EF4-FFF2-40B4-BE49-F238E27FC236}">
                <a16:creationId xmlns:a16="http://schemas.microsoft.com/office/drawing/2014/main" id="{DDDEB951-632B-448D-9B06-CA29A720B50F}"/>
              </a:ext>
            </a:extLst>
          </p:cNvPr>
          <p:cNvSpPr>
            <a:spLocks xmlns:a="http://schemas.openxmlformats.org/drawingml/2006/main" noGrp="1"/>
          </p:cNvSpPr>
          <p:nvPr/>
        </p:nvSpPr>
        <p:spPr>
          <a:xfrm xmlns:a="http://schemas.openxmlformats.org/drawingml/2006/main">
            <a:off x="876300" y="838200"/>
            <a:ext cx="16287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4050" b="1" i="0">
                <a:solidFill>
                  <a:srgbClr val="123B63"/>
                </a:solidFill>
                <a:latin typeface="Arial"/>
                <a:ea typeface="Arial"/>
                <a:cs typeface="Arial"/>
              </a:defRPr>
            </a:pPr>
            <a:r>
              <a:rPr sz="4050" b="1" i="0">
                <a:solidFill>
                  <a:srgbClr val="123B63"/>
                </a:solidFill>
                <a:latin typeface="Arial"/>
                <a:ea typeface="Arial"/>
                <a:cs typeface="Arial"/>
              </a:rPr>
              <a:t>Existing tools and technologies</a:t>
            </a:r>
          </a:p>
        </p:txBody>
      </p:sp>
      <p:sp>
        <p:nvSpPr>
          <p:cNvPr id="3" name="">
            <a:extLst xmlns:a="http://schemas.openxmlformats.org/drawingml/2006/main">
              <a:ext uri="{FF2B5EF4-FFF2-40B4-BE49-F238E27FC236}">
                <a16:creationId xmlns:a16="http://schemas.microsoft.com/office/drawing/2014/main" id="{E00CAB06-A04E-4350-AB02-33DD112300DC}"/>
              </a:ext>
            </a:extLst>
          </p:cNvPr>
          <p:cNvSpPr>
            <a:spLocks xmlns:a="http://schemas.openxmlformats.org/drawingml/2006/main" noGrp="1"/>
          </p:cNvSpPr>
          <p:nvPr/>
        </p:nvSpPr>
        <p:spPr>
          <a:xfrm xmlns:a="http://schemas.openxmlformats.org/drawingml/2006/main">
            <a:off x="876300" y="1790700"/>
            <a:ext cx="16535400" cy="0"/>
          </a:xfrm>
          <a:prstGeom xmlns:a="http://schemas.openxmlformats.org/drawingml/2006/main" prst="line">
            <a:avLst/>
          </a:prstGeom>
          <a:noFill xmlns:a="http://schemas.openxmlformats.org/drawingml/2006/main"/>
          <a:ln xmlns:a="http://schemas.openxmlformats.org/drawingml/2006/main" w="19050">
            <a:solidFill>
              <a:srgbClr val="CAD6DE"/>
            </a:solidFill>
          </a:ln>
        </p:spPr>
      </p:sp>
      <p:sp>
        <p:nvSpPr>
          <p:cNvPr id="4" name="">
            <a:extLst xmlns:a="http://schemas.openxmlformats.org/drawingml/2006/main">
              <a:ext uri="{FF2B5EF4-FFF2-40B4-BE49-F238E27FC236}">
                <a16:creationId xmlns:a16="http://schemas.microsoft.com/office/drawing/2014/main" id="{F60C0034-DECF-434D-A6B9-A6C6C46ECA5A}"/>
              </a:ext>
            </a:extLst>
          </p:cNvPr>
          <p:cNvSpPr>
            <a:spLocks xmlns:a="http://schemas.openxmlformats.org/drawingml/2006/main" noGrp="1"/>
          </p:cNvSpPr>
          <p:nvPr/>
        </p:nvSpPr>
        <p:spPr>
          <a:xfrm xmlns:a="http://schemas.openxmlformats.org/drawingml/2006/main">
            <a:off x="16764000" y="9525000"/>
            <a:ext cx="647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575" b="1" i="0">
                <a:solidFill>
                  <a:srgbClr val="79A9C8"/>
                </a:solidFill>
                <a:latin typeface="Arial"/>
                <a:ea typeface="Arial"/>
                <a:cs typeface="Arial"/>
              </a:defRPr>
            </a:pPr>
            <a:r>
              <a:rPr sz="1575" b="1" i="0">
                <a:solidFill>
                  <a:srgbClr val="79A9C8"/>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F4B7F5B9-0E03-40B4-8AE7-89F2E1EFFB16}"/>
              </a:ext>
            </a:extLst>
          </p:cNvPr>
          <p:cNvSpPr>
            <a:spLocks xmlns:a="http://schemas.openxmlformats.org/drawingml/2006/main" noGrp="1"/>
          </p:cNvSpPr>
          <p:nvPr/>
        </p:nvSpPr>
        <p:spPr>
          <a:xfrm xmlns:a="http://schemas.openxmlformats.org/drawingml/2006/main">
            <a:off x="876300" y="20955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i="0">
                <a:solidFill>
                  <a:srgbClr val="2D8B84"/>
                </a:solidFill>
                <a:latin typeface="Arial"/>
                <a:ea typeface="Arial"/>
                <a:cs typeface="Arial"/>
              </a:defRPr>
            </a:pPr>
            <a:r>
              <a:rPr sz="1875" b="1" i="0">
                <a:solidFill>
                  <a:srgbClr val="2D8B84"/>
                </a:solidFill>
                <a:latin typeface="Arial"/>
                <a:ea typeface="Arial"/>
                <a:cs typeface="Arial"/>
              </a:rPr>
              <a:t>Typical pentesting workflow</a:t>
            </a:r>
          </a:p>
        </p:txBody>
      </p:sp>
      <p:sp>
        <p:nvSpPr>
          <p:cNvPr id="6" name="">
            <a:extLst xmlns:a="http://schemas.openxmlformats.org/drawingml/2006/main">
              <a:ext uri="{FF2B5EF4-FFF2-40B4-BE49-F238E27FC236}">
                <a16:creationId xmlns:a16="http://schemas.microsoft.com/office/drawing/2014/main" id="{CA75BECE-9D9D-452A-9FF7-5F815A99ADBE}"/>
              </a:ext>
            </a:extLst>
          </p:cNvPr>
          <p:cNvSpPr>
            <a:spLocks xmlns:a="http://schemas.openxmlformats.org/drawingml/2006/main" noGrp="1"/>
          </p:cNvSpPr>
          <p:nvPr/>
        </p:nvSpPr>
        <p:spPr>
          <a:xfrm xmlns:a="http://schemas.openxmlformats.org/drawingml/2006/main">
            <a:off x="876300" y="2571750"/>
            <a:ext cx="2762250" cy="514350"/>
          </a:xfrm>
          <a:prstGeom xmlns:a="http://schemas.openxmlformats.org/drawingml/2006/main" prst="roundRect">
            <a:avLst>
              <a:gd name="adj" fmla="val 14815"/>
            </a:avLst>
          </a:prstGeom>
          <a:solidFill xmlns:a="http://schemas.openxmlformats.org/drawingml/2006/main">
            <a:srgbClr val="DDEEEB"/>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75" b="1">
                <a:solidFill>
                  <a:srgbClr val="2D8B84"/>
                </a:solidFill>
                <a:latin typeface="Arial"/>
                <a:ea typeface="Arial"/>
                <a:cs typeface="Arial"/>
              </a:defRPr>
            </a:pPr>
            <a:r>
              <a:rPr sz="1575" b="1">
                <a:solidFill>
                  <a:srgbClr val="2D8B84"/>
                </a:solidFill>
                <a:latin typeface="Arial"/>
                <a:ea typeface="Arial"/>
                <a:cs typeface="Arial"/>
              </a:rPr>
              <a:t>Discover</a:t>
            </a:r>
          </a:p>
        </p:txBody>
      </p:sp>
      <p:sp>
        <p:nvSpPr>
          <p:cNvPr id="7" name="">
            <a:extLst xmlns:a="http://schemas.openxmlformats.org/drawingml/2006/main">
              <a:ext uri="{FF2B5EF4-FFF2-40B4-BE49-F238E27FC236}">
                <a16:creationId xmlns:a16="http://schemas.microsoft.com/office/drawing/2014/main" id="{3A2A2097-9E3E-49C0-B65E-1429573ECAF9}"/>
              </a:ext>
            </a:extLst>
          </p:cNvPr>
          <p:cNvSpPr>
            <a:spLocks xmlns:a="http://schemas.openxmlformats.org/drawingml/2006/main" noGrp="1"/>
          </p:cNvSpPr>
          <p:nvPr/>
        </p:nvSpPr>
        <p:spPr>
          <a:xfrm xmlns:a="http://schemas.openxmlformats.org/drawingml/2006/main">
            <a:off x="3733800" y="2724150"/>
            <a:ext cx="323850" cy="209550"/>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66E7B74-4479-4A0A-8FF8-1DEB2AE216B2}"/>
              </a:ext>
            </a:extLst>
          </p:cNvPr>
          <p:cNvSpPr>
            <a:spLocks xmlns:a="http://schemas.openxmlformats.org/drawingml/2006/main" noGrp="1"/>
          </p:cNvSpPr>
          <p:nvPr/>
        </p:nvSpPr>
        <p:spPr>
          <a:xfrm xmlns:a="http://schemas.openxmlformats.org/drawingml/2006/main">
            <a:off x="4057650" y="2571750"/>
            <a:ext cx="2762250" cy="514350"/>
          </a:xfrm>
          <a:prstGeom xmlns:a="http://schemas.openxmlformats.org/drawingml/2006/main" prst="roundRect">
            <a:avLst>
              <a:gd name="adj" fmla="val 14815"/>
            </a:avLst>
          </a:prstGeom>
          <a:solidFill xmlns:a="http://schemas.openxmlformats.org/drawingml/2006/main">
            <a:srgbClr val="DDEEEB"/>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75" b="1">
                <a:solidFill>
                  <a:srgbClr val="2D8B84"/>
                </a:solidFill>
                <a:latin typeface="Arial"/>
                <a:ea typeface="Arial"/>
                <a:cs typeface="Arial"/>
              </a:defRPr>
            </a:pPr>
            <a:r>
              <a:rPr sz="1575" b="1">
                <a:solidFill>
                  <a:srgbClr val="2D8B84"/>
                </a:solidFill>
                <a:latin typeface="Arial"/>
                <a:ea typeface="Arial"/>
                <a:cs typeface="Arial"/>
              </a:rPr>
              <a:t>Resolve and probe</a:t>
            </a:r>
          </a:p>
        </p:txBody>
      </p:sp>
      <p:sp>
        <p:nvSpPr>
          <p:cNvPr id="9" name="">
            <a:extLst xmlns:a="http://schemas.openxmlformats.org/drawingml/2006/main">
              <a:ext uri="{FF2B5EF4-FFF2-40B4-BE49-F238E27FC236}">
                <a16:creationId xmlns:a16="http://schemas.microsoft.com/office/drawing/2014/main" id="{FC2E2B5E-2762-4CE2-AF40-95CE85545E48}"/>
              </a:ext>
            </a:extLst>
          </p:cNvPr>
          <p:cNvSpPr>
            <a:spLocks xmlns:a="http://schemas.openxmlformats.org/drawingml/2006/main" noGrp="1"/>
          </p:cNvSpPr>
          <p:nvPr/>
        </p:nvSpPr>
        <p:spPr>
          <a:xfrm xmlns:a="http://schemas.openxmlformats.org/drawingml/2006/main">
            <a:off x="6915150" y="2724150"/>
            <a:ext cx="323850" cy="209550"/>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E3C6E0B-0F7D-4801-B7E3-442C9E5EB7D7}"/>
              </a:ext>
            </a:extLst>
          </p:cNvPr>
          <p:cNvSpPr>
            <a:spLocks xmlns:a="http://schemas.openxmlformats.org/drawingml/2006/main" noGrp="1"/>
          </p:cNvSpPr>
          <p:nvPr/>
        </p:nvSpPr>
        <p:spPr>
          <a:xfrm xmlns:a="http://schemas.openxmlformats.org/drawingml/2006/main">
            <a:off x="7239000" y="2571750"/>
            <a:ext cx="2762250" cy="514350"/>
          </a:xfrm>
          <a:prstGeom xmlns:a="http://schemas.openxmlformats.org/drawingml/2006/main" prst="roundRect">
            <a:avLst>
              <a:gd name="adj" fmla="val 14815"/>
            </a:avLst>
          </a:prstGeom>
          <a:solidFill xmlns:a="http://schemas.openxmlformats.org/drawingml/2006/main">
            <a:srgbClr val="E6EE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75" b="1">
                <a:solidFill>
                  <a:srgbClr val="123B63"/>
                </a:solidFill>
                <a:latin typeface="Arial"/>
                <a:ea typeface="Arial"/>
                <a:cs typeface="Arial"/>
              </a:defRPr>
            </a:pPr>
            <a:r>
              <a:rPr sz="1575" b="1">
                <a:solidFill>
                  <a:srgbClr val="123B63"/>
                </a:solidFill>
                <a:latin typeface="Arial"/>
                <a:ea typeface="Arial"/>
                <a:cs typeface="Arial"/>
              </a:rPr>
              <a:t>Map services</a:t>
            </a:r>
          </a:p>
        </p:txBody>
      </p:sp>
      <p:sp>
        <p:nvSpPr>
          <p:cNvPr id="11" name="">
            <a:extLst xmlns:a="http://schemas.openxmlformats.org/drawingml/2006/main">
              <a:ext uri="{FF2B5EF4-FFF2-40B4-BE49-F238E27FC236}">
                <a16:creationId xmlns:a16="http://schemas.microsoft.com/office/drawing/2014/main" id="{39743EB6-8488-4471-8A4E-B8D301106080}"/>
              </a:ext>
            </a:extLst>
          </p:cNvPr>
          <p:cNvSpPr>
            <a:spLocks xmlns:a="http://schemas.openxmlformats.org/drawingml/2006/main" noGrp="1"/>
          </p:cNvSpPr>
          <p:nvPr/>
        </p:nvSpPr>
        <p:spPr>
          <a:xfrm xmlns:a="http://schemas.openxmlformats.org/drawingml/2006/main">
            <a:off x="10096500" y="2724150"/>
            <a:ext cx="323850" cy="209550"/>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33B008B-0E54-47CC-B28C-D8DBDBD2689B}"/>
              </a:ext>
            </a:extLst>
          </p:cNvPr>
          <p:cNvSpPr>
            <a:spLocks xmlns:a="http://schemas.openxmlformats.org/drawingml/2006/main" noGrp="1"/>
          </p:cNvSpPr>
          <p:nvPr/>
        </p:nvSpPr>
        <p:spPr>
          <a:xfrm xmlns:a="http://schemas.openxmlformats.org/drawingml/2006/main">
            <a:off x="10420350" y="2571750"/>
            <a:ext cx="2762250" cy="514350"/>
          </a:xfrm>
          <a:prstGeom xmlns:a="http://schemas.openxmlformats.org/drawingml/2006/main" prst="roundRect">
            <a:avLst>
              <a:gd name="adj" fmla="val 14815"/>
            </a:avLst>
          </a:prstGeom>
          <a:solidFill xmlns:a="http://schemas.openxmlformats.org/drawingml/2006/main">
            <a:srgbClr val="E6EE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75" b="1">
                <a:solidFill>
                  <a:srgbClr val="123B63"/>
                </a:solidFill>
                <a:latin typeface="Arial"/>
                <a:ea typeface="Arial"/>
                <a:cs typeface="Arial"/>
              </a:defRPr>
            </a:pPr>
            <a:r>
              <a:rPr sz="1575" b="1">
                <a:solidFill>
                  <a:srgbClr val="123B63"/>
                </a:solidFill>
                <a:latin typeface="Arial"/>
                <a:ea typeface="Arial"/>
                <a:cs typeface="Arial"/>
              </a:rPr>
              <a:t>Test applications</a:t>
            </a:r>
          </a:p>
        </p:txBody>
      </p:sp>
      <p:sp>
        <p:nvSpPr>
          <p:cNvPr id="13" name="">
            <a:extLst xmlns:a="http://schemas.openxmlformats.org/drawingml/2006/main">
              <a:ext uri="{FF2B5EF4-FFF2-40B4-BE49-F238E27FC236}">
                <a16:creationId xmlns:a16="http://schemas.microsoft.com/office/drawing/2014/main" id="{62030839-0482-4C91-B9AC-00102B531914}"/>
              </a:ext>
            </a:extLst>
          </p:cNvPr>
          <p:cNvSpPr>
            <a:spLocks xmlns:a="http://schemas.openxmlformats.org/drawingml/2006/main" noGrp="1"/>
          </p:cNvSpPr>
          <p:nvPr/>
        </p:nvSpPr>
        <p:spPr>
          <a:xfrm xmlns:a="http://schemas.openxmlformats.org/drawingml/2006/main">
            <a:off x="13277850" y="2724150"/>
            <a:ext cx="323850" cy="209550"/>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3C19C36-64E3-459F-8CEA-458668A8BDCB}"/>
              </a:ext>
            </a:extLst>
          </p:cNvPr>
          <p:cNvSpPr>
            <a:spLocks xmlns:a="http://schemas.openxmlformats.org/drawingml/2006/main" noGrp="1"/>
          </p:cNvSpPr>
          <p:nvPr/>
        </p:nvSpPr>
        <p:spPr>
          <a:xfrm xmlns:a="http://schemas.openxmlformats.org/drawingml/2006/main">
            <a:off x="13601700" y="2571750"/>
            <a:ext cx="2762250" cy="514350"/>
          </a:xfrm>
          <a:prstGeom xmlns:a="http://schemas.openxmlformats.org/drawingml/2006/main" prst="roundRect">
            <a:avLst>
              <a:gd name="adj" fmla="val 14815"/>
            </a:avLst>
          </a:prstGeom>
          <a:solidFill xmlns:a="http://schemas.openxmlformats.org/drawingml/2006/main">
            <a:srgbClr val="F4E8D0"/>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75" b="1">
                <a:solidFill>
                  <a:srgbClr val="D79A32"/>
                </a:solidFill>
                <a:latin typeface="Arial"/>
                <a:ea typeface="Arial"/>
                <a:cs typeface="Arial"/>
              </a:defRPr>
            </a:pPr>
            <a:r>
              <a:rPr sz="1575" b="1">
                <a:solidFill>
                  <a:srgbClr val="D79A32"/>
                </a:solidFill>
                <a:latin typeface="Arial"/>
                <a:ea typeface="Arial"/>
                <a:cs typeface="Arial"/>
              </a:rPr>
              <a:t>Validate and report</a:t>
            </a:r>
          </a:p>
        </p:txBody>
      </p:sp>
      <p:graphicFrame>
        <p:nvGraphicFramePr>
          <p:cNvPr id="31" name=""/>
          <p:cNvGraphicFramePr/>
          <p:nvPr/>
        </p:nvGraphicFramePr>
        <p:xfrm>
          <a:off xmlns:a="http://schemas.openxmlformats.org/drawingml/2006/main" x="876300" y="3524250"/>
          <a:ext xmlns:a="http://schemas.openxmlformats.org/drawingml/2006/main" cx="15773400" cy="4495800"/>
        </p:xfrm>
        <a:graphic xmlns:a="http://schemas.openxmlformats.org/drawingml/2006/main">
          <a:graphicData uri="http://schemas.openxmlformats.org/drawingml/2006/table">
            <a:tbl>
              <a:tblPr/>
              <a:tblGrid>
                <a:gridCol w="2857500"/>
                <a:gridCol w="4953000"/>
                <a:gridCol w="3429000"/>
                <a:gridCol w="4533900"/>
              </a:tblGrid>
              <a:tr h="609600">
                <a:tc>
                  <a:txBody>
                    <a:bodyPr lIns="114300" tIns="95250" rIns="114300" bIns="95250">
                      <a:normAutofit/>
                    </a:bodyPr>
                    <a:lstStyle/>
                    <a:p>
                      <a:r>
                        <a:rPr sz="1800" b="1">
                          <a:solidFill>
                            <a:srgbClr val="FFFFFF"/>
                          </a:solidFill>
                          <a:latin typeface="Arial"/>
                          <a:ea typeface="Arial"/>
                          <a:cs typeface="Arial"/>
                        </a:rPr>
                        <a:t>Category</a:t>
                      </a:r>
                    </a:p>
                  </a:txBody>
                  <a:tcPr marL="91440" marR="91440" marT="45720" marB="45720" anchor="ctr">
                    <a:solidFill>
                      <a:srgbClr val="123B63"/>
                    </a:solidFill>
                  </a:tcPr>
                </a:tc>
                <a:tc>
                  <a:txBody>
                    <a:bodyPr lIns="114300" tIns="95250" rIns="114300" bIns="95250">
                      <a:normAutofit/>
                    </a:bodyPr>
                    <a:lstStyle/>
                    <a:p>
                      <a:r>
                        <a:rPr sz="1800" b="1">
                          <a:solidFill>
                            <a:srgbClr val="FFFFFF"/>
                          </a:solidFill>
                          <a:latin typeface="Arial"/>
                          <a:ea typeface="Arial"/>
                          <a:cs typeface="Arial"/>
                        </a:rPr>
                        <a:t>Examples</a:t>
                      </a:r>
                    </a:p>
                  </a:txBody>
                  <a:tcPr marL="91440" marR="91440" marT="45720" marB="45720" anchor="ctr">
                    <a:solidFill>
                      <a:srgbClr val="123B63"/>
                    </a:solidFill>
                  </a:tcPr>
                </a:tc>
                <a:tc>
                  <a:txBody>
                    <a:bodyPr lIns="114300" tIns="95250" rIns="114300" bIns="95250">
                      <a:normAutofit/>
                    </a:bodyPr>
                    <a:lstStyle/>
                    <a:p>
                      <a:r>
                        <a:rPr sz="1800" b="1">
                          <a:solidFill>
                            <a:srgbClr val="FFFFFF"/>
                          </a:solidFill>
                          <a:latin typeface="Arial"/>
                          <a:ea typeface="Arial"/>
                          <a:cs typeface="Arial"/>
                        </a:rPr>
                        <a:t>Strength</a:t>
                      </a:r>
                    </a:p>
                  </a:txBody>
                  <a:tcPr marL="91440" marR="91440" marT="45720" marB="45720" anchor="ctr">
                    <a:solidFill>
                      <a:srgbClr val="123B63"/>
                    </a:solidFill>
                  </a:tcPr>
                </a:tc>
                <a:tc>
                  <a:txBody>
                    <a:bodyPr lIns="114300" tIns="95250" rIns="114300" bIns="95250">
                      <a:normAutofit/>
                    </a:bodyPr>
                    <a:lstStyle/>
                    <a:p>
                      <a:r>
                        <a:rPr sz="1800" b="1">
                          <a:solidFill>
                            <a:srgbClr val="FFFFFF"/>
                          </a:solidFill>
                          <a:latin typeface="Arial"/>
                          <a:ea typeface="Arial"/>
                          <a:cs typeface="Arial"/>
                        </a:rPr>
                        <a:t>Limitation</a:t>
                      </a:r>
                    </a:p>
                  </a:txBody>
                  <a:tcPr marL="91440" marR="91440" marT="45720" marB="45720" anchor="ctr">
                    <a:solidFill>
                      <a:srgbClr val="123B63"/>
                    </a:solidFill>
                  </a:tcPr>
                </a:tc>
              </a:tr>
              <a:tr h="1200150">
                <a:tc>
                  <a:txBody>
                    <a:bodyPr lIns="114300" tIns="95250" rIns="114300" bIns="95250">
                      <a:normAutofit/>
                    </a:bodyPr>
                    <a:lstStyle/>
                    <a:p>
                      <a:r>
                        <a:rPr sz="1650" b="1">
                          <a:solidFill>
                            <a:srgbClr val="102B44"/>
                          </a:solidFill>
                          <a:latin typeface="Arial"/>
                          <a:ea typeface="Arial"/>
                          <a:cs typeface="Arial"/>
                        </a:rPr>
                        <a:t>Conventional security tools</a:t>
                      </a:r>
                    </a:p>
                  </a:txBody>
                  <a:tcPr marL="91440" marR="91440" marT="45720" marB="45720" anchor="ctr">
                    <a:solidFill>
                      <a:srgbClr val="FFFDF9"/>
                    </a:solidFill>
                  </a:tcPr>
                </a:tc>
                <a:tc>
                  <a:txBody>
                    <a:bodyPr lIns="114300" tIns="95250" rIns="114300" bIns="95250">
                      <a:normAutofit/>
                    </a:bodyPr>
                    <a:lstStyle/>
                    <a:p>
                      <a:r>
                        <a:rPr sz="1650" b="0">
                          <a:solidFill>
                            <a:srgbClr val="102B44"/>
                          </a:solidFill>
                          <a:latin typeface="Arial"/>
                          <a:ea typeface="Arial"/>
                          <a:cs typeface="Arial"/>
                        </a:rPr>
                        <a:t>Subfinder, Amass, Nmap, Nuclei, SQLmap, ZAP, Metasploit</a:t>
                      </a:r>
                    </a:p>
                  </a:txBody>
                  <a:tcPr marL="91440" marR="91440" marT="45720" marB="45720" anchor="ctr">
                    <a:solidFill>
                      <a:srgbClr val="FFFDF9"/>
                    </a:solidFill>
                  </a:tcPr>
                </a:tc>
                <a:tc>
                  <a:txBody>
                    <a:bodyPr lIns="114300" tIns="95250" rIns="114300" bIns="95250">
                      <a:normAutofit/>
                    </a:bodyPr>
                    <a:lstStyle/>
                    <a:p>
                      <a:r>
                        <a:rPr sz="1650" b="0">
                          <a:solidFill>
                            <a:srgbClr val="102B44"/>
                          </a:solidFill>
                          <a:latin typeface="Arial"/>
                          <a:ea typeface="Arial"/>
                          <a:cs typeface="Arial"/>
                        </a:rPr>
                        <a:t>Mature, specialized and repeatable</a:t>
                      </a:r>
                    </a:p>
                  </a:txBody>
                  <a:tcPr marL="91440" marR="91440" marT="45720" marB="45720" anchor="ctr">
                    <a:solidFill>
                      <a:srgbClr val="FFFDF9"/>
                    </a:solidFill>
                  </a:tcPr>
                </a:tc>
                <a:tc>
                  <a:txBody>
                    <a:bodyPr lIns="114300" tIns="95250" rIns="114300" bIns="95250">
                      <a:normAutofit/>
                    </a:bodyPr>
                    <a:lstStyle/>
                    <a:p>
                      <a:r>
                        <a:rPr sz="1650" b="0">
                          <a:solidFill>
                            <a:srgbClr val="102B44"/>
                          </a:solidFill>
                          <a:latin typeface="Arial"/>
                          <a:ea typeface="Arial"/>
                          <a:cs typeface="Arial"/>
                        </a:rPr>
                        <a:t>Require manual coordination. Outputs remain disconnected and provide limited contextual reasoning.</a:t>
                      </a:r>
                    </a:p>
                  </a:txBody>
                  <a:tcPr marL="91440" marR="91440" marT="45720" marB="45720" anchor="ctr">
                    <a:solidFill>
                      <a:srgbClr val="FFFDF9"/>
                    </a:solidFill>
                  </a:tcPr>
                </a:tc>
              </a:tr>
              <a:tr h="1485900">
                <a:tc>
                  <a:txBody>
                    <a:bodyPr lIns="114300" tIns="95250" rIns="114300" bIns="95250">
                      <a:normAutofit/>
                    </a:bodyPr>
                    <a:lstStyle/>
                    <a:p>
                      <a:r>
                        <a:rPr sz="1650" b="1">
                          <a:solidFill>
                            <a:srgbClr val="102B44"/>
                          </a:solidFill>
                          <a:latin typeface="Arial"/>
                          <a:ea typeface="Arial"/>
                          <a:cs typeface="Arial"/>
                        </a:rPr>
                        <a:t>AI pentesting agents</a:t>
                      </a:r>
                    </a:p>
                  </a:txBody>
                  <a:tcPr marL="91440" marR="91440" marT="45720" marB="45720" anchor="ctr">
                    <a:solidFill>
                      <a:srgbClr val="EDF3F5"/>
                    </a:solidFill>
                  </a:tcPr>
                </a:tc>
                <a:tc>
                  <a:txBody>
                    <a:bodyPr lIns="114300" tIns="95250" rIns="114300" bIns="95250">
                      <a:normAutofit/>
                    </a:bodyPr>
                    <a:lstStyle/>
                    <a:p>
                      <a:r>
                        <a:rPr sz="1650" b="0">
                          <a:solidFill>
                            <a:srgbClr val="102B44"/>
                          </a:solidFill>
                          <a:latin typeface="Arial"/>
                          <a:ea typeface="Arial"/>
                          <a:cs typeface="Arial"/>
                        </a:rPr>
                        <a:t>PentestGPT, HackSynth, PentestAgent, AutoPentester, AutoAttacker, PentAGI, DarkMoon</a:t>
                      </a:r>
                    </a:p>
                  </a:txBody>
                  <a:tcPr marL="91440" marR="91440" marT="45720" marB="45720" anchor="ctr">
                    <a:solidFill>
                      <a:srgbClr val="EDF3F5"/>
                    </a:solidFill>
                  </a:tcPr>
                </a:tc>
                <a:tc>
                  <a:txBody>
                    <a:bodyPr lIns="114300" tIns="95250" rIns="114300" bIns="95250">
                      <a:normAutofit/>
                    </a:bodyPr>
                    <a:lstStyle/>
                    <a:p>
                      <a:r>
                        <a:rPr sz="1650" b="0">
                          <a:solidFill>
                            <a:srgbClr val="102B44"/>
                          </a:solidFill>
                          <a:latin typeface="Arial"/>
                          <a:ea typeface="Arial"/>
                          <a:cs typeface="Arial"/>
                        </a:rPr>
                        <a:t>Adaptive planning and interpretation</a:t>
                      </a:r>
                    </a:p>
                  </a:txBody>
                  <a:tcPr marL="91440" marR="91440" marT="45720" marB="45720" anchor="ctr">
                    <a:solidFill>
                      <a:srgbClr val="EDF3F5"/>
                    </a:solidFill>
                  </a:tcPr>
                </a:tc>
                <a:tc>
                  <a:txBody>
                    <a:bodyPr lIns="114300" tIns="95250" rIns="114300" bIns="95250">
                      <a:normAutofit/>
                    </a:bodyPr>
                    <a:lstStyle/>
                    <a:p>
                      <a:r>
                        <a:rPr sz="1650" b="0">
                          <a:solidFill>
                            <a:srgbClr val="102B44"/>
                          </a:solidFill>
                          <a:latin typeface="Arial"/>
                          <a:ea typeface="Arial"/>
                          <a:cs typeface="Arial"/>
                        </a:rPr>
                        <a:t>Depend on LLMs. Many evaluations use bounded tasks and provide limited broad reconnaissance coverage.</a:t>
                      </a:r>
                    </a:p>
                  </a:txBody>
                  <a:tcPr marL="91440" marR="91440" marT="45720" marB="45720" anchor="ctr">
                    <a:solidFill>
                      <a:srgbClr val="EDF3F5"/>
                    </a:solidFill>
                  </a:tcPr>
                </a:tc>
              </a:tr>
              <a:tr h="1200150">
                <a:tc>
                  <a:txBody>
                    <a:bodyPr lIns="114300" tIns="95250" rIns="114300" bIns="95250">
                      <a:normAutofit/>
                    </a:bodyPr>
                    <a:lstStyle/>
                    <a:p>
                      <a:r>
                        <a:rPr sz="1650" b="1">
                          <a:solidFill>
                            <a:srgbClr val="102B44"/>
                          </a:solidFill>
                          <a:latin typeface="Arial"/>
                          <a:ea typeface="Arial"/>
                          <a:cs typeface="Arial"/>
                        </a:rPr>
                        <a:t>AI security frameworks</a:t>
                      </a:r>
                    </a:p>
                  </a:txBody>
                  <a:tcPr marL="91440" marR="91440" marT="45720" marB="45720" anchor="ctr">
                    <a:solidFill>
                      <a:srgbClr val="FFFDF9"/>
                    </a:solidFill>
                  </a:tcPr>
                </a:tc>
                <a:tc>
                  <a:txBody>
                    <a:bodyPr lIns="114300" tIns="95250" rIns="114300" bIns="95250">
                      <a:normAutofit/>
                    </a:bodyPr>
                    <a:lstStyle/>
                    <a:p>
                      <a:r>
                        <a:rPr sz="1650" b="0">
                          <a:solidFill>
                            <a:srgbClr val="102B44"/>
                          </a:solidFill>
                          <a:latin typeface="Arial"/>
                          <a:ea typeface="Arial"/>
                          <a:cs typeface="Arial"/>
                        </a:rPr>
                        <a:t>HexStrike AI, pentestMCP, Shannon</a:t>
                      </a:r>
                    </a:p>
                  </a:txBody>
                  <a:tcPr marL="91440" marR="91440" marT="45720" marB="45720" anchor="ctr">
                    <a:solidFill>
                      <a:srgbClr val="FFFDF9"/>
                    </a:solidFill>
                  </a:tcPr>
                </a:tc>
                <a:tc>
                  <a:txBody>
                    <a:bodyPr lIns="114300" tIns="95250" rIns="114300" bIns="95250">
                      <a:normAutofit/>
                    </a:bodyPr>
                    <a:lstStyle/>
                    <a:p>
                      <a:r>
                        <a:rPr sz="1650" b="0">
                          <a:solidFill>
                            <a:srgbClr val="102B44"/>
                          </a:solidFill>
                          <a:latin typeface="Arial"/>
                          <a:ea typeface="Arial"/>
                          <a:cs typeface="Arial"/>
                        </a:rPr>
                        <a:t>Centralized tool access and automation</a:t>
                      </a:r>
                    </a:p>
                  </a:txBody>
                  <a:tcPr marL="91440" marR="91440" marT="45720" marB="45720" anchor="ctr">
                    <a:solidFill>
                      <a:srgbClr val="FFFDF9"/>
                    </a:solidFill>
                  </a:tcPr>
                </a:tc>
                <a:tc>
                  <a:txBody>
                    <a:bodyPr lIns="114300" tIns="95250" rIns="114300" bIns="95250">
                      <a:normAutofit/>
                    </a:bodyPr>
                    <a:lstStyle/>
                    <a:p>
                      <a:r>
                        <a:rPr sz="1650" b="0">
                          <a:solidFill>
                            <a:srgbClr val="102B44"/>
                          </a:solidFill>
                          <a:latin typeface="Arial"/>
                          <a:ea typeface="Arial"/>
                          <a:cs typeface="Arial"/>
                        </a:rPr>
                        <a:t>Tool access alone does not provide a complete workflow or persistent correlation across testing stages.</a:t>
                      </a:r>
                    </a:p>
                  </a:txBody>
                  <a:tcPr marL="91440" marR="91440" marT="45720" marB="45720" anchor="ctr">
                    <a:solidFill>
                      <a:srgbClr val="FFFDF9"/>
                    </a:solidFill>
                  </a:tcPr>
                </a:tc>
              </a:tr>
            </a:tbl>
          </a:graphicData>
        </a:graphic>
      </p:graphicFrame>
      <p:sp>
        <p:nvSpPr>
          <p:cNvPr id="16" name="">
            <a:extLst xmlns:a="http://schemas.openxmlformats.org/drawingml/2006/main">
              <a:ext uri="{FF2B5EF4-FFF2-40B4-BE49-F238E27FC236}">
                <a16:creationId xmlns:a16="http://schemas.microsoft.com/office/drawing/2014/main" id="{69560CEB-D356-4323-B7CC-65FAF033AAED}"/>
              </a:ext>
            </a:extLst>
          </p:cNvPr>
          <p:cNvSpPr>
            <a:spLocks xmlns:a="http://schemas.openxmlformats.org/drawingml/2006/main" noGrp="1"/>
          </p:cNvSpPr>
          <p:nvPr/>
        </p:nvSpPr>
        <p:spPr>
          <a:xfrm xmlns:a="http://schemas.openxmlformats.org/drawingml/2006/main">
            <a:off x="914400" y="8572500"/>
            <a:ext cx="1314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i="0">
                <a:solidFill>
                  <a:srgbClr val="354F63"/>
                </a:solidFill>
                <a:latin typeface="Arial"/>
                <a:ea typeface="Arial"/>
                <a:cs typeface="Arial"/>
              </a:defRPr>
            </a:pPr>
            <a:r>
              <a:rPr sz="1350" b="0" i="0">
                <a:solidFill>
                  <a:srgbClr val="354F63"/>
                </a:solidFill>
                <a:latin typeface="Arial"/>
                <a:ea typeface="Arial"/>
                <a:cs typeface="Arial"/>
              </a:rPr>
              <a:t>Source: FYP defense report, literature review and comparison table, pp. 5–10.</a:t>
            </a:r>
          </a:p>
        </p:txBody>
      </p:sp>
    </p:spTree>
    <p:extLst>
      <p:ext uri="{BB962C8B-B14F-4D97-AF65-F5344CB8AC3E}">
        <p14:creationId xmlns:p14="http://schemas.microsoft.com/office/powerpoint/2010/main" val="1011592308"/>
      </p:ext>
    </p:extLst>
  </p:cSld>
  <p:transition spd="med" advClick="1">
    <p:fade/>
  </p:transition>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C460DA29-C5A5-477D-9866-6467B81A3862}"/>
              </a:ext>
            </a:extLst>
          </p:cNvPr>
          <p:cNvSpPr>
            <a:spLocks xmlns:a="http://schemas.openxmlformats.org/drawingml/2006/main" noGrp="1"/>
          </p:cNvSpPr>
          <p:nvPr/>
        </p:nvSpPr>
        <p:spPr>
          <a:xfrm xmlns:a="http://schemas.openxmlformats.org/drawingml/2006/main">
            <a:off x="876300" y="4381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1" i="0">
                <a:solidFill>
                  <a:srgbClr val="2D8B84"/>
                </a:solidFill>
                <a:latin typeface="Arial"/>
                <a:ea typeface="Arial"/>
                <a:cs typeface="Arial"/>
              </a:defRPr>
            </a:pPr>
            <a:r>
              <a:rPr sz="1575" b="1" i="0">
                <a:solidFill>
                  <a:srgbClr val="2D8B84"/>
                </a:solidFill>
                <a:latin typeface="Arial"/>
                <a:ea typeface="Arial"/>
                <a:cs typeface="Arial"/>
              </a:rPr>
              <a:t>03 / THE GAP</a:t>
            </a:r>
          </a:p>
        </p:txBody>
      </p:sp>
      <p:sp>
        <p:nvSpPr>
          <p:cNvPr id="2" name="">
            <a:extLst xmlns:a="http://schemas.openxmlformats.org/drawingml/2006/main">
              <a:ext uri="{FF2B5EF4-FFF2-40B4-BE49-F238E27FC236}">
                <a16:creationId xmlns:a16="http://schemas.microsoft.com/office/drawing/2014/main" id="{51022221-DFEF-47FE-BD1F-EF5391AF6C94}"/>
              </a:ext>
            </a:extLst>
          </p:cNvPr>
          <p:cNvSpPr>
            <a:spLocks xmlns:a="http://schemas.openxmlformats.org/drawingml/2006/main" noGrp="1"/>
          </p:cNvSpPr>
          <p:nvPr/>
        </p:nvSpPr>
        <p:spPr>
          <a:xfrm xmlns:a="http://schemas.openxmlformats.org/drawingml/2006/main">
            <a:off x="876300" y="838200"/>
            <a:ext cx="16287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4050" b="1" i="0">
                <a:solidFill>
                  <a:srgbClr val="123B63"/>
                </a:solidFill>
                <a:latin typeface="Arial"/>
                <a:ea typeface="Arial"/>
                <a:cs typeface="Arial"/>
              </a:defRPr>
            </a:pPr>
            <a:r>
              <a:rPr sz="4050" b="1" i="0">
                <a:solidFill>
                  <a:srgbClr val="123B63"/>
                </a:solidFill>
                <a:latin typeface="Arial"/>
                <a:ea typeface="Arial"/>
                <a:cs typeface="Arial"/>
              </a:rPr>
              <a:t>The operational security gap is orchestration at scale</a:t>
            </a:r>
          </a:p>
        </p:txBody>
      </p:sp>
      <p:sp>
        <p:nvSpPr>
          <p:cNvPr id="3" name="">
            <a:extLst xmlns:a="http://schemas.openxmlformats.org/drawingml/2006/main">
              <a:ext uri="{FF2B5EF4-FFF2-40B4-BE49-F238E27FC236}">
                <a16:creationId xmlns:a16="http://schemas.microsoft.com/office/drawing/2014/main" id="{94469DBC-DA9D-4D91-B9B2-D5F179A6E24F}"/>
              </a:ext>
            </a:extLst>
          </p:cNvPr>
          <p:cNvSpPr>
            <a:spLocks xmlns:a="http://schemas.openxmlformats.org/drawingml/2006/main" noGrp="1"/>
          </p:cNvSpPr>
          <p:nvPr/>
        </p:nvSpPr>
        <p:spPr>
          <a:xfrm xmlns:a="http://schemas.openxmlformats.org/drawingml/2006/main">
            <a:off x="876300" y="1790700"/>
            <a:ext cx="16535400" cy="0"/>
          </a:xfrm>
          <a:prstGeom xmlns:a="http://schemas.openxmlformats.org/drawingml/2006/main" prst="line">
            <a:avLst/>
          </a:prstGeom>
          <a:noFill xmlns:a="http://schemas.openxmlformats.org/drawingml/2006/main"/>
          <a:ln xmlns:a="http://schemas.openxmlformats.org/drawingml/2006/main" w="19050">
            <a:solidFill>
              <a:srgbClr val="CAD6DE"/>
            </a:solidFill>
          </a:ln>
        </p:spPr>
      </p:sp>
      <p:sp>
        <p:nvSpPr>
          <p:cNvPr id="4" name="">
            <a:extLst xmlns:a="http://schemas.openxmlformats.org/drawingml/2006/main">
              <a:ext uri="{FF2B5EF4-FFF2-40B4-BE49-F238E27FC236}">
                <a16:creationId xmlns:a16="http://schemas.microsoft.com/office/drawing/2014/main" id="{57B649E0-C195-4610-8059-6DD21270C92A}"/>
              </a:ext>
            </a:extLst>
          </p:cNvPr>
          <p:cNvSpPr>
            <a:spLocks xmlns:a="http://schemas.openxmlformats.org/drawingml/2006/main" noGrp="1"/>
          </p:cNvSpPr>
          <p:nvPr/>
        </p:nvSpPr>
        <p:spPr>
          <a:xfrm xmlns:a="http://schemas.openxmlformats.org/drawingml/2006/main">
            <a:off x="16764000" y="9525000"/>
            <a:ext cx="647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575" b="1" i="0">
                <a:solidFill>
                  <a:srgbClr val="79A9C8"/>
                </a:solidFill>
                <a:latin typeface="Arial"/>
                <a:ea typeface="Arial"/>
                <a:cs typeface="Arial"/>
              </a:defRPr>
            </a:pPr>
            <a:r>
              <a:rPr sz="1575" b="1" i="0">
                <a:solidFill>
                  <a:srgbClr val="79A9C8"/>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45215D86-68E3-48E4-889F-1DFA51929D5D}"/>
              </a:ext>
            </a:extLst>
          </p:cNvPr>
          <p:cNvSpPr>
            <a:spLocks xmlns:a="http://schemas.openxmlformats.org/drawingml/2006/main" noGrp="1"/>
          </p:cNvSpPr>
          <p:nvPr/>
        </p:nvSpPr>
        <p:spPr>
          <a:xfrm xmlns:a="http://schemas.openxmlformats.org/drawingml/2006/main">
            <a:off x="876300" y="2057400"/>
            <a:ext cx="15049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00" b="0" i="0">
                <a:solidFill>
                  <a:srgbClr val="354F63"/>
                </a:solidFill>
                <a:latin typeface="Arial"/>
                <a:ea typeface="Arial"/>
                <a:cs typeface="Arial"/>
              </a:defRPr>
            </a:pPr>
            <a:r>
              <a:rPr sz="2100" b="0" i="0">
                <a:solidFill>
                  <a:srgbClr val="354F63"/>
                </a:solidFill>
                <a:latin typeface="Arial"/>
                <a:ea typeface="Arial"/>
                <a:cs typeface="Arial"/>
              </a:rPr>
              <a:t>Practical limitations prevent current tools from covering large infrastructures as one connected assessment.</a:t>
            </a:r>
          </a:p>
        </p:txBody>
      </p:sp>
      <p:sp>
        <p:nvSpPr>
          <p:cNvPr id="6" name="">
            <a:extLst xmlns:a="http://schemas.openxmlformats.org/drawingml/2006/main">
              <a:ext uri="{FF2B5EF4-FFF2-40B4-BE49-F238E27FC236}">
                <a16:creationId xmlns:a16="http://schemas.microsoft.com/office/drawing/2014/main" id="{60BBBEE0-10E3-4439-BD25-B82196BE2AE5}"/>
              </a:ext>
            </a:extLst>
          </p:cNvPr>
          <p:cNvSpPr>
            <a:spLocks xmlns:a="http://schemas.openxmlformats.org/drawingml/2006/main" noGrp="1"/>
          </p:cNvSpPr>
          <p:nvPr/>
        </p:nvSpPr>
        <p:spPr>
          <a:xfrm xmlns:a="http://schemas.openxmlformats.org/drawingml/2006/main">
            <a:off x="876300" y="2781300"/>
            <a:ext cx="4876800" cy="3429000"/>
          </a:xfrm>
          <a:prstGeom xmlns:a="http://schemas.openxmlformats.org/drawingml/2006/main" prst="roundRect">
            <a:avLst>
              <a:gd name="adj" fmla="val 2222"/>
            </a:avLst>
          </a:prstGeom>
          <a:solidFill xmlns:a="http://schemas.openxmlformats.org/drawingml/2006/main">
            <a:srgbClr val="FFFDF9"/>
          </a:solidFill>
          <a:ln xmlns:a="http://schemas.openxmlformats.org/drawingml/2006/main" w="19050">
            <a:solidFill>
              <a:srgbClr val="CAD6DE"/>
            </a:solidFill>
          </a:ln>
        </p:spPr>
      </p:sp>
      <p:sp>
        <p:nvSpPr>
          <p:cNvPr id="7" name="">
            <a:extLst xmlns:a="http://schemas.openxmlformats.org/drawingml/2006/main">
              <a:ext uri="{FF2B5EF4-FFF2-40B4-BE49-F238E27FC236}">
                <a16:creationId xmlns:a16="http://schemas.microsoft.com/office/drawing/2014/main" id="{C34141E0-6E48-48A0-80D6-8C4B91301020}"/>
              </a:ext>
            </a:extLst>
          </p:cNvPr>
          <p:cNvSpPr>
            <a:spLocks xmlns:a="http://schemas.openxmlformats.org/drawingml/2006/main" noGrp="1"/>
          </p:cNvSpPr>
          <p:nvPr/>
        </p:nvSpPr>
        <p:spPr>
          <a:xfrm xmlns:a="http://schemas.openxmlformats.org/drawingml/2006/main">
            <a:off x="876300" y="2781300"/>
            <a:ext cx="85725" cy="3429000"/>
          </a:xfrm>
          <a:prstGeom xmlns:a="http://schemas.openxmlformats.org/drawingml/2006/main" prst="rect">
            <a:avLst/>
          </a:prstGeom>
          <a:solidFill xmlns:a="http://schemas.openxmlformats.org/drawingml/2006/main">
            <a:srgbClr val="2C669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8343628-243E-4119-8E76-CA84F49E901F}"/>
              </a:ext>
            </a:extLst>
          </p:cNvPr>
          <p:cNvSpPr>
            <a:spLocks xmlns:a="http://schemas.openxmlformats.org/drawingml/2006/main" noGrp="1"/>
          </p:cNvSpPr>
          <p:nvPr/>
        </p:nvSpPr>
        <p:spPr>
          <a:xfrm xmlns:a="http://schemas.openxmlformats.org/drawingml/2006/main">
            <a:off x="1143000" y="2990850"/>
            <a:ext cx="438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75" b="1" i="0">
                <a:solidFill>
                  <a:srgbClr val="123B63"/>
                </a:solidFill>
                <a:latin typeface="Arial"/>
                <a:ea typeface="Arial"/>
                <a:cs typeface="Arial"/>
              </a:defRPr>
            </a:pPr>
            <a:r>
              <a:rPr sz="2175" b="1" i="0">
                <a:solidFill>
                  <a:srgbClr val="123B63"/>
                </a:solidFill>
                <a:latin typeface="Arial"/>
                <a:ea typeface="Arial"/>
                <a:cs typeface="Arial"/>
              </a:rPr>
              <a:t>1 · Fragmented workflow</a:t>
            </a:r>
          </a:p>
        </p:txBody>
      </p:sp>
      <p:sp>
        <p:nvSpPr>
          <p:cNvPr id="9" name="">
            <a:extLst xmlns:a="http://schemas.openxmlformats.org/drawingml/2006/main">
              <a:ext uri="{FF2B5EF4-FFF2-40B4-BE49-F238E27FC236}">
                <a16:creationId xmlns:a16="http://schemas.microsoft.com/office/drawing/2014/main" id="{F6469A77-8EBB-40FC-B3D7-6354BC36293B}"/>
              </a:ext>
            </a:extLst>
          </p:cNvPr>
          <p:cNvSpPr>
            <a:spLocks xmlns:a="http://schemas.openxmlformats.org/drawingml/2006/main" noGrp="1"/>
          </p:cNvSpPr>
          <p:nvPr/>
        </p:nvSpPr>
        <p:spPr>
          <a:xfrm xmlns:a="http://schemas.openxmlformats.org/drawingml/2006/main">
            <a:off x="1143000" y="3524250"/>
            <a:ext cx="4381500" cy="2514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0" i="0">
                <a:solidFill>
                  <a:srgbClr val="354F63"/>
                </a:solidFill>
                <a:latin typeface="Arial"/>
                <a:ea typeface="Arial"/>
                <a:cs typeface="Arial"/>
              </a:defRPr>
            </a:pPr>
            <a:r>
              <a:rPr sz="1800" b="0" i="0">
                <a:solidFill>
                  <a:srgbClr val="354F63"/>
                </a:solidFill>
                <a:latin typeface="Arial"/>
                <a:ea typeface="Arial"/>
                <a:cs typeface="Arial"/>
              </a:rPr>
              <a:t>Specialized tools emit isolated outputs.</a:t>
            </a:r>
          </a:p>
          <a:p xmlns:a="http://schemas.openxmlformats.org/drawingml/2006/main">
            <a:r>
              <a:t/>
            </a:r>
          </a:p>
          <a:p xmlns:a="http://schemas.openxmlformats.org/drawingml/2006/main">
            <a:pPr algn="l">
              <a:lnSpc>
                <a:spcPct val="105000"/>
              </a:lnSpc>
              <a:buNone/>
              <a:defRPr sz="1800" b="0" i="0">
                <a:solidFill>
                  <a:srgbClr val="354F63"/>
                </a:solidFill>
                <a:latin typeface="Arial"/>
                <a:ea typeface="Arial"/>
                <a:cs typeface="Arial"/>
              </a:defRPr>
            </a:pPr>
            <a:r>
              <a:rPr sz="1800" b="0" i="0">
                <a:solidFill>
                  <a:srgbClr val="354F63"/>
                </a:solidFill>
                <a:latin typeface="Arial"/>
                <a:ea typeface="Arial"/>
                <a:cs typeface="Arial"/>
              </a:rPr>
              <a:t>Humans repeatedly copy, filter, correlate and decide what to run next.</a:t>
            </a:r>
          </a:p>
          <a:p xmlns:a="http://schemas.openxmlformats.org/drawingml/2006/main">
            <a:r>
              <a:t/>
            </a:r>
          </a:p>
          <a:p xmlns:a="http://schemas.openxmlformats.org/drawingml/2006/main">
            <a:pPr algn="l">
              <a:lnSpc>
                <a:spcPct val="105000"/>
              </a:lnSpc>
              <a:buNone/>
              <a:defRPr sz="1800" b="0" i="0">
                <a:solidFill>
                  <a:srgbClr val="354F63"/>
                </a:solidFill>
                <a:latin typeface="Arial"/>
                <a:ea typeface="Arial"/>
                <a:cs typeface="Arial"/>
              </a:defRPr>
            </a:pPr>
            <a:r>
              <a:rPr sz="1800" b="0" i="0">
                <a:solidFill>
                  <a:srgbClr val="354F63"/>
                </a:solidFill>
                <a:latin typeface="Arial"/>
                <a:ea typeface="Arial"/>
                <a:cs typeface="Arial"/>
              </a:rPr>
              <a:t>Assets, services, endpoints and evidence are easily disconnected.</a:t>
            </a:r>
          </a:p>
        </p:txBody>
      </p:sp>
      <p:sp>
        <p:nvSpPr>
          <p:cNvPr id="10" name="">
            <a:extLst xmlns:a="http://schemas.openxmlformats.org/drawingml/2006/main">
              <a:ext uri="{FF2B5EF4-FFF2-40B4-BE49-F238E27FC236}">
                <a16:creationId xmlns:a16="http://schemas.microsoft.com/office/drawing/2014/main" id="{F616F740-CD26-46B8-A005-CA4A7454F98B}"/>
              </a:ext>
            </a:extLst>
          </p:cNvPr>
          <p:cNvSpPr>
            <a:spLocks xmlns:a="http://schemas.openxmlformats.org/drawingml/2006/main" noGrp="1"/>
          </p:cNvSpPr>
          <p:nvPr/>
        </p:nvSpPr>
        <p:spPr>
          <a:xfrm xmlns:a="http://schemas.openxmlformats.org/drawingml/2006/main">
            <a:off x="6000750" y="2781300"/>
            <a:ext cx="4876800" cy="3429000"/>
          </a:xfrm>
          <a:prstGeom xmlns:a="http://schemas.openxmlformats.org/drawingml/2006/main" prst="roundRect">
            <a:avLst>
              <a:gd name="adj" fmla="val 2222"/>
            </a:avLst>
          </a:prstGeom>
          <a:solidFill xmlns:a="http://schemas.openxmlformats.org/drawingml/2006/main">
            <a:srgbClr val="FFFDF9"/>
          </a:solidFill>
          <a:ln xmlns:a="http://schemas.openxmlformats.org/drawingml/2006/main" w="19050">
            <a:solidFill>
              <a:srgbClr val="CAD6DE"/>
            </a:solidFill>
          </a:ln>
        </p:spPr>
      </p:sp>
      <p:sp>
        <p:nvSpPr>
          <p:cNvPr id="11" name="">
            <a:extLst xmlns:a="http://schemas.openxmlformats.org/drawingml/2006/main">
              <a:ext uri="{FF2B5EF4-FFF2-40B4-BE49-F238E27FC236}">
                <a16:creationId xmlns:a16="http://schemas.microsoft.com/office/drawing/2014/main" id="{9AAC0282-47F8-4ED4-8C73-3CB20DB2D94D}"/>
              </a:ext>
            </a:extLst>
          </p:cNvPr>
          <p:cNvSpPr>
            <a:spLocks xmlns:a="http://schemas.openxmlformats.org/drawingml/2006/main" noGrp="1"/>
          </p:cNvSpPr>
          <p:nvPr/>
        </p:nvSpPr>
        <p:spPr>
          <a:xfrm xmlns:a="http://schemas.openxmlformats.org/drawingml/2006/main">
            <a:off x="6000750" y="2781300"/>
            <a:ext cx="85725" cy="3429000"/>
          </a:xfrm>
          <a:prstGeom xmlns:a="http://schemas.openxmlformats.org/drawingml/2006/main" prst="rect">
            <a:avLst/>
          </a:prstGeom>
          <a:solidFill xmlns:a="http://schemas.openxmlformats.org/drawingml/2006/main">
            <a:srgbClr val="2D8B8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28FB27B-9949-4775-ACA1-AC351BFA3859}"/>
              </a:ext>
            </a:extLst>
          </p:cNvPr>
          <p:cNvSpPr>
            <a:spLocks xmlns:a="http://schemas.openxmlformats.org/drawingml/2006/main" noGrp="1"/>
          </p:cNvSpPr>
          <p:nvPr/>
        </p:nvSpPr>
        <p:spPr>
          <a:xfrm xmlns:a="http://schemas.openxmlformats.org/drawingml/2006/main">
            <a:off x="6267450" y="2990850"/>
            <a:ext cx="438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75" b="1" i="0">
                <a:solidFill>
                  <a:srgbClr val="123B63"/>
                </a:solidFill>
                <a:latin typeface="Arial"/>
                <a:ea typeface="Arial"/>
                <a:cs typeface="Arial"/>
              </a:defRPr>
            </a:pPr>
            <a:r>
              <a:rPr sz="2175" b="1" i="0">
                <a:solidFill>
                  <a:srgbClr val="123B63"/>
                </a:solidFill>
                <a:latin typeface="Arial"/>
                <a:ea typeface="Arial"/>
                <a:cs typeface="Arial"/>
              </a:rPr>
              <a:t>2 · Reconnaissance scale</a:t>
            </a:r>
          </a:p>
        </p:txBody>
      </p:sp>
      <p:sp>
        <p:nvSpPr>
          <p:cNvPr id="13" name="">
            <a:extLst xmlns:a="http://schemas.openxmlformats.org/drawingml/2006/main">
              <a:ext uri="{FF2B5EF4-FFF2-40B4-BE49-F238E27FC236}">
                <a16:creationId xmlns:a16="http://schemas.microsoft.com/office/drawing/2014/main" id="{7D572CD9-B373-4722-9318-C2914BBD80AE}"/>
              </a:ext>
            </a:extLst>
          </p:cNvPr>
          <p:cNvSpPr>
            <a:spLocks xmlns:a="http://schemas.openxmlformats.org/drawingml/2006/main" noGrp="1"/>
          </p:cNvSpPr>
          <p:nvPr/>
        </p:nvSpPr>
        <p:spPr>
          <a:xfrm xmlns:a="http://schemas.openxmlformats.org/drawingml/2006/main">
            <a:off x="6267450" y="3524250"/>
            <a:ext cx="4381500" cy="2514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039"/>
          </a:bodyPr>
          <a:lstStyle xmlns:a="http://schemas.openxmlformats.org/drawingml/2006/main"/>
          <a:p xmlns:a="http://schemas.openxmlformats.org/drawingml/2006/main">
            <a:pPr algn="l">
              <a:lnSpc>
                <a:spcPct val="105000"/>
              </a:lnSpc>
              <a:buNone/>
              <a:defRPr sz="1800" b="0" i="0">
                <a:solidFill>
                  <a:srgbClr val="354F63"/>
                </a:solidFill>
                <a:latin typeface="Arial"/>
                <a:ea typeface="Arial"/>
                <a:cs typeface="Arial"/>
              </a:defRPr>
            </a:pPr>
            <a:r>
              <a:rPr sz="1800" b="0" i="0">
                <a:solidFill>
                  <a:srgbClr val="354F63"/>
                </a:solidFill>
                <a:latin typeface="Arial"/>
                <a:ea typeface="Arial"/>
                <a:cs typeface="Arial"/>
              </a:rPr>
              <a:t>Real infrastructures are wider than bounded CTF tasks.</a:t>
            </a:r>
          </a:p>
          <a:p xmlns:a="http://schemas.openxmlformats.org/drawingml/2006/main">
            <a:r>
              <a:t/>
            </a:r>
          </a:p>
          <a:p xmlns:a="http://schemas.openxmlformats.org/drawingml/2006/main">
            <a:pPr algn="l">
              <a:lnSpc>
                <a:spcPct val="105000"/>
              </a:lnSpc>
              <a:buNone/>
              <a:defRPr sz="1800" b="0" i="0">
                <a:solidFill>
                  <a:srgbClr val="354F63"/>
                </a:solidFill>
                <a:latin typeface="Arial"/>
                <a:ea typeface="Arial"/>
                <a:cs typeface="Arial"/>
              </a:defRPr>
            </a:pPr>
            <a:r>
              <a:rPr sz="1800" b="0" i="0">
                <a:solidFill>
                  <a:srgbClr val="354F63"/>
                </a:solidFill>
                <a:latin typeface="Arial"/>
                <a:ea typeface="Arial"/>
                <a:cs typeface="Arial"/>
              </a:rPr>
              <a:t>Each new domain, host, port or endpoint creates more work.</a:t>
            </a:r>
          </a:p>
          <a:p xmlns:a="http://schemas.openxmlformats.org/drawingml/2006/main">
            <a:r>
              <a:t/>
            </a:r>
          </a:p>
          <a:p xmlns:a="http://schemas.openxmlformats.org/drawingml/2006/main">
            <a:pPr algn="l">
              <a:lnSpc>
                <a:spcPct val="105000"/>
              </a:lnSpc>
              <a:buNone/>
              <a:defRPr sz="1800" b="0" i="0">
                <a:solidFill>
                  <a:srgbClr val="354F63"/>
                </a:solidFill>
                <a:latin typeface="Arial"/>
                <a:ea typeface="Arial"/>
                <a:cs typeface="Arial"/>
              </a:defRPr>
            </a:pPr>
            <a:r>
              <a:rPr sz="1800" b="0" i="0">
                <a:solidFill>
                  <a:srgbClr val="354F63"/>
                </a:solidFill>
                <a:latin typeface="Arial"/>
                <a:ea typeface="Arial"/>
                <a:cs typeface="Arial"/>
              </a:rPr>
              <a:t>Many AI systems are not optimized for continuous, broad reconnaissance coverage.</a:t>
            </a:r>
          </a:p>
        </p:txBody>
      </p:sp>
      <p:sp>
        <p:nvSpPr>
          <p:cNvPr id="14" name="">
            <a:extLst xmlns:a="http://schemas.openxmlformats.org/drawingml/2006/main">
              <a:ext uri="{FF2B5EF4-FFF2-40B4-BE49-F238E27FC236}">
                <a16:creationId xmlns:a16="http://schemas.microsoft.com/office/drawing/2014/main" id="{077149A4-7B32-4024-8900-D1D328338291}"/>
              </a:ext>
            </a:extLst>
          </p:cNvPr>
          <p:cNvSpPr>
            <a:spLocks xmlns:a="http://schemas.openxmlformats.org/drawingml/2006/main" noGrp="1"/>
          </p:cNvSpPr>
          <p:nvPr/>
        </p:nvSpPr>
        <p:spPr>
          <a:xfrm xmlns:a="http://schemas.openxmlformats.org/drawingml/2006/main">
            <a:off x="11125200" y="2781300"/>
            <a:ext cx="5524500" cy="3429000"/>
          </a:xfrm>
          <a:prstGeom xmlns:a="http://schemas.openxmlformats.org/drawingml/2006/main" prst="roundRect">
            <a:avLst>
              <a:gd name="adj" fmla="val 2222"/>
            </a:avLst>
          </a:prstGeom>
          <a:solidFill xmlns:a="http://schemas.openxmlformats.org/drawingml/2006/main">
            <a:srgbClr val="FFFDF9"/>
          </a:solidFill>
          <a:ln xmlns:a="http://schemas.openxmlformats.org/drawingml/2006/main" w="19050">
            <a:solidFill>
              <a:srgbClr val="CAD6DE"/>
            </a:solidFill>
          </a:ln>
        </p:spPr>
      </p:sp>
      <p:sp>
        <p:nvSpPr>
          <p:cNvPr id="15" name="">
            <a:extLst xmlns:a="http://schemas.openxmlformats.org/drawingml/2006/main">
              <a:ext uri="{FF2B5EF4-FFF2-40B4-BE49-F238E27FC236}">
                <a16:creationId xmlns:a16="http://schemas.microsoft.com/office/drawing/2014/main" id="{84B2EFF9-B7A0-4517-B9AE-7608447FAB4B}"/>
              </a:ext>
            </a:extLst>
          </p:cNvPr>
          <p:cNvSpPr>
            <a:spLocks xmlns:a="http://schemas.openxmlformats.org/drawingml/2006/main" noGrp="1"/>
          </p:cNvSpPr>
          <p:nvPr/>
        </p:nvSpPr>
        <p:spPr>
          <a:xfrm xmlns:a="http://schemas.openxmlformats.org/drawingml/2006/main">
            <a:off x="11125200" y="2781300"/>
            <a:ext cx="85725" cy="3429000"/>
          </a:xfrm>
          <a:prstGeom xmlns:a="http://schemas.openxmlformats.org/drawingml/2006/main" prst="rect">
            <a:avLst/>
          </a:prstGeom>
          <a:solidFill xmlns:a="http://schemas.openxmlformats.org/drawingml/2006/main">
            <a:srgbClr val="D79A32"/>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C0A4FA59-9A6D-445B-BCF5-A3BDD22EEACE}"/>
              </a:ext>
            </a:extLst>
          </p:cNvPr>
          <p:cNvSpPr>
            <a:spLocks xmlns:a="http://schemas.openxmlformats.org/drawingml/2006/main" noGrp="1"/>
          </p:cNvSpPr>
          <p:nvPr/>
        </p:nvSpPr>
        <p:spPr>
          <a:xfrm xmlns:a="http://schemas.openxmlformats.org/drawingml/2006/main">
            <a:off x="11391900" y="2990850"/>
            <a:ext cx="5029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75" b="1" i="0">
                <a:solidFill>
                  <a:srgbClr val="123B63"/>
                </a:solidFill>
                <a:latin typeface="Arial"/>
                <a:ea typeface="Arial"/>
                <a:cs typeface="Arial"/>
              </a:defRPr>
            </a:pPr>
            <a:r>
              <a:rPr sz="2175" b="1" i="0">
                <a:solidFill>
                  <a:srgbClr val="123B63"/>
                </a:solidFill>
                <a:latin typeface="Arial"/>
                <a:ea typeface="Arial"/>
                <a:cs typeface="Arial"/>
              </a:rPr>
              <a:t>3 · External LLM dependency</a:t>
            </a:r>
          </a:p>
        </p:txBody>
      </p:sp>
      <p:sp>
        <p:nvSpPr>
          <p:cNvPr id="17" name="">
            <a:extLst xmlns:a="http://schemas.openxmlformats.org/drawingml/2006/main">
              <a:ext uri="{FF2B5EF4-FFF2-40B4-BE49-F238E27FC236}">
                <a16:creationId xmlns:a16="http://schemas.microsoft.com/office/drawing/2014/main" id="{492EE8A8-8BC3-404A-97E9-2C61FD7863B8}"/>
              </a:ext>
            </a:extLst>
          </p:cNvPr>
          <p:cNvSpPr>
            <a:spLocks xmlns:a="http://schemas.openxmlformats.org/drawingml/2006/main" noGrp="1"/>
          </p:cNvSpPr>
          <p:nvPr/>
        </p:nvSpPr>
        <p:spPr>
          <a:xfrm xmlns:a="http://schemas.openxmlformats.org/drawingml/2006/main">
            <a:off x="11391900" y="3524250"/>
            <a:ext cx="5029200" cy="2514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0" i="0">
                <a:solidFill>
                  <a:srgbClr val="354F63"/>
                </a:solidFill>
                <a:latin typeface="Arial"/>
                <a:ea typeface="Arial"/>
                <a:cs typeface="Arial"/>
              </a:defRPr>
            </a:pPr>
            <a:r>
              <a:rPr sz="1800" b="0" i="0">
                <a:solidFill>
                  <a:srgbClr val="354F63"/>
                </a:solidFill>
                <a:latin typeface="Arial"/>
                <a:ea typeface="Arial"/>
                <a:cs typeface="Arial"/>
              </a:rPr>
              <a:t>API cost, rate limits, connectivity and model behavior can interrupt assessments.</a:t>
            </a:r>
          </a:p>
          <a:p xmlns:a="http://schemas.openxmlformats.org/drawingml/2006/main">
            <a:r>
              <a:t/>
            </a:r>
          </a:p>
          <a:p xmlns:a="http://schemas.openxmlformats.org/drawingml/2006/main">
            <a:pPr algn="l">
              <a:lnSpc>
                <a:spcPct val="105000"/>
              </a:lnSpc>
              <a:buNone/>
              <a:defRPr sz="1800" b="0" i="0">
                <a:solidFill>
                  <a:srgbClr val="354F63"/>
                </a:solidFill>
                <a:latin typeface="Arial"/>
                <a:ea typeface="Arial"/>
                <a:cs typeface="Arial"/>
              </a:defRPr>
            </a:pPr>
            <a:r>
              <a:rPr sz="1800" b="0" i="0">
                <a:solidFill>
                  <a:srgbClr val="354F63"/>
                </a:solidFill>
                <a:latin typeface="Arial"/>
                <a:ea typeface="Arial"/>
                <a:cs typeface="Arial"/>
              </a:rPr>
              <a:t>Known pentesting steps do not require expensive reasoning every time.</a:t>
            </a:r>
          </a:p>
          <a:p xmlns:a="http://schemas.openxmlformats.org/drawingml/2006/main">
            <a:r>
              <a:t/>
            </a:r>
          </a:p>
          <a:p xmlns:a="http://schemas.openxmlformats.org/drawingml/2006/main">
            <a:pPr algn="l">
              <a:lnSpc>
                <a:spcPct val="105000"/>
              </a:lnSpc>
              <a:buNone/>
              <a:defRPr sz="1800" b="0" i="0">
                <a:solidFill>
                  <a:srgbClr val="354F63"/>
                </a:solidFill>
                <a:latin typeface="Arial"/>
                <a:ea typeface="Arial"/>
                <a:cs typeface="Arial"/>
              </a:defRPr>
            </a:pPr>
            <a:r>
              <a:rPr sz="1800" b="0" i="0">
                <a:solidFill>
                  <a:srgbClr val="354F63"/>
                </a:solidFill>
                <a:latin typeface="Arial"/>
                <a:ea typeface="Arial"/>
                <a:cs typeface="Arial"/>
              </a:rPr>
              <a:t>When the model stops, the core workflow should not stop.</a:t>
            </a:r>
          </a:p>
        </p:txBody>
      </p:sp>
      <p:sp>
        <p:nvSpPr>
          <p:cNvPr id="18" name="">
            <a:extLst xmlns:a="http://schemas.openxmlformats.org/drawingml/2006/main">
              <a:ext uri="{FF2B5EF4-FFF2-40B4-BE49-F238E27FC236}">
                <a16:creationId xmlns:a16="http://schemas.microsoft.com/office/drawing/2014/main" id="{02AF37F4-4878-46FE-9421-933B1C39EF46}"/>
              </a:ext>
            </a:extLst>
          </p:cNvPr>
          <p:cNvSpPr>
            <a:spLocks xmlns:a="http://schemas.openxmlformats.org/drawingml/2006/main" noGrp="1"/>
          </p:cNvSpPr>
          <p:nvPr/>
        </p:nvSpPr>
        <p:spPr>
          <a:xfrm xmlns:a="http://schemas.openxmlformats.org/drawingml/2006/main">
            <a:off x="876300" y="6667500"/>
            <a:ext cx="15773400" cy="1466850"/>
          </a:xfrm>
          <a:prstGeom xmlns:a="http://schemas.openxmlformats.org/drawingml/2006/main" prst="roundRect">
            <a:avLst>
              <a:gd name="adj" fmla="val 5195"/>
            </a:avLst>
          </a:prstGeom>
          <a:solidFill xmlns:a="http://schemas.openxmlformats.org/drawingml/2006/main">
            <a:srgbClr val="F1E8DC"/>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23311A76-300C-4D4A-B678-96A8B144C40E}"/>
              </a:ext>
            </a:extLst>
          </p:cNvPr>
          <p:cNvSpPr>
            <a:spLocks xmlns:a="http://schemas.openxmlformats.org/drawingml/2006/main" noGrp="1"/>
          </p:cNvSpPr>
          <p:nvPr/>
        </p:nvSpPr>
        <p:spPr>
          <a:xfrm xmlns:a="http://schemas.openxmlformats.org/drawingml/2006/main">
            <a:off x="1200150" y="6953250"/>
            <a:ext cx="666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950" b="1" i="0">
                <a:solidFill>
                  <a:srgbClr val="C55B48"/>
                </a:solidFill>
                <a:latin typeface="Arial"/>
                <a:ea typeface="Arial"/>
                <a:cs typeface="Arial"/>
              </a:defRPr>
            </a:pPr>
            <a:r>
              <a:rPr sz="1950" b="1" i="0">
                <a:solidFill>
                  <a:srgbClr val="C55B48"/>
                </a:solidFill>
                <a:latin typeface="Arial"/>
                <a:ea typeface="Arial"/>
                <a:cs typeface="Arial"/>
              </a:rPr>
              <a:t>Trust and control must span the entire workflow</a:t>
            </a:r>
          </a:p>
        </p:txBody>
      </p:sp>
      <p:sp>
        <p:nvSpPr>
          <p:cNvPr id="20" name="">
            <a:extLst xmlns:a="http://schemas.openxmlformats.org/drawingml/2006/main">
              <a:ext uri="{FF2B5EF4-FFF2-40B4-BE49-F238E27FC236}">
                <a16:creationId xmlns:a16="http://schemas.microsoft.com/office/drawing/2014/main" id="{9E20CAD8-CA7C-4B16-B425-379ACAF7FFE1}"/>
              </a:ext>
            </a:extLst>
          </p:cNvPr>
          <p:cNvSpPr>
            <a:spLocks xmlns:a="http://schemas.openxmlformats.org/drawingml/2006/main" noGrp="1"/>
          </p:cNvSpPr>
          <p:nvPr/>
        </p:nvSpPr>
        <p:spPr>
          <a:xfrm xmlns:a="http://schemas.openxmlformats.org/drawingml/2006/main">
            <a:off x="1257300" y="7543800"/>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i="0">
                <a:solidFill>
                  <a:srgbClr val="102B44"/>
                </a:solidFill>
                <a:latin typeface="Arial"/>
                <a:ea typeface="Arial"/>
                <a:cs typeface="Arial"/>
              </a:defRPr>
            </a:pPr>
            <a:r>
              <a:rPr sz="1800" b="1" i="0">
                <a:solidFill>
                  <a:srgbClr val="102B44"/>
                </a:solidFill>
                <a:latin typeface="Arial"/>
                <a:ea typeface="Arial"/>
                <a:cs typeface="Arial"/>
              </a:rPr>
              <a:t>Scope enforcement</a:t>
            </a:r>
          </a:p>
        </p:txBody>
      </p:sp>
      <p:sp>
        <p:nvSpPr>
          <p:cNvPr id="21" name="">
            <a:extLst xmlns:a="http://schemas.openxmlformats.org/drawingml/2006/main">
              <a:ext uri="{FF2B5EF4-FFF2-40B4-BE49-F238E27FC236}">
                <a16:creationId xmlns:a16="http://schemas.microsoft.com/office/drawing/2014/main" id="{9A586D1C-39B5-4C5F-86C2-2D501BC87012}"/>
              </a:ext>
            </a:extLst>
          </p:cNvPr>
          <p:cNvSpPr>
            <a:spLocks xmlns:a="http://schemas.openxmlformats.org/drawingml/2006/main" noGrp="1"/>
          </p:cNvSpPr>
          <p:nvPr/>
        </p:nvSpPr>
        <p:spPr>
          <a:xfrm xmlns:a="http://schemas.openxmlformats.org/drawingml/2006/main">
            <a:off x="5048250" y="7543800"/>
            <a:ext cx="342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i="0">
                <a:solidFill>
                  <a:srgbClr val="102B44"/>
                </a:solidFill>
                <a:latin typeface="Arial"/>
                <a:ea typeface="Arial"/>
                <a:cs typeface="Arial"/>
              </a:defRPr>
            </a:pPr>
            <a:r>
              <a:rPr sz="1800" b="1" i="0">
                <a:solidFill>
                  <a:srgbClr val="102B44"/>
                </a:solidFill>
                <a:latin typeface="Arial"/>
                <a:ea typeface="Arial"/>
                <a:cs typeface="Arial"/>
              </a:rPr>
              <a:t>Evidence-based findings</a:t>
            </a:r>
          </a:p>
        </p:txBody>
      </p:sp>
      <p:sp>
        <p:nvSpPr>
          <p:cNvPr id="22" name="">
            <a:extLst xmlns:a="http://schemas.openxmlformats.org/drawingml/2006/main">
              <a:ext uri="{FF2B5EF4-FFF2-40B4-BE49-F238E27FC236}">
                <a16:creationId xmlns:a16="http://schemas.microsoft.com/office/drawing/2014/main" id="{81726659-0289-414C-9732-6BD6B63BA3D4}"/>
              </a:ext>
            </a:extLst>
          </p:cNvPr>
          <p:cNvSpPr>
            <a:spLocks xmlns:a="http://schemas.openxmlformats.org/drawingml/2006/main" noGrp="1"/>
          </p:cNvSpPr>
          <p:nvPr/>
        </p:nvSpPr>
        <p:spPr>
          <a:xfrm xmlns:a="http://schemas.openxmlformats.org/drawingml/2006/main">
            <a:off x="9353550" y="7543800"/>
            <a:ext cx="628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i="0">
                <a:solidFill>
                  <a:srgbClr val="102B44"/>
                </a:solidFill>
                <a:latin typeface="Arial"/>
                <a:ea typeface="Arial"/>
                <a:cs typeface="Arial"/>
              </a:defRPr>
            </a:pPr>
            <a:r>
              <a:rPr sz="1800" b="1" i="0">
                <a:solidFill>
                  <a:srgbClr val="102B44"/>
                </a:solidFill>
                <a:latin typeface="Arial"/>
                <a:ea typeface="Arial"/>
                <a:cs typeface="Arial"/>
              </a:rPr>
              <a:t>Human approval before impactful actions</a:t>
            </a:r>
          </a:p>
        </p:txBody>
      </p:sp>
      <p:sp>
        <p:nvSpPr>
          <p:cNvPr id="23" name="">
            <a:extLst xmlns:a="http://schemas.openxmlformats.org/drawingml/2006/main">
              <a:ext uri="{FF2B5EF4-FFF2-40B4-BE49-F238E27FC236}">
                <a16:creationId xmlns:a16="http://schemas.microsoft.com/office/drawing/2014/main" id="{DB395200-20AD-442D-95A3-0BCC38D88142}"/>
              </a:ext>
            </a:extLst>
          </p:cNvPr>
          <p:cNvSpPr>
            <a:spLocks xmlns:a="http://schemas.openxmlformats.org/drawingml/2006/main" noGrp="1"/>
          </p:cNvSpPr>
          <p:nvPr/>
        </p:nvSpPr>
        <p:spPr>
          <a:xfrm xmlns:a="http://schemas.openxmlformats.org/drawingml/2006/main">
            <a:off x="914400" y="87439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i="0">
                <a:solidFill>
                  <a:srgbClr val="354F63"/>
                </a:solidFill>
                <a:latin typeface="Arial"/>
                <a:ea typeface="Arial"/>
                <a:cs typeface="Arial"/>
              </a:defRPr>
            </a:pPr>
            <a:r>
              <a:rPr sz="1350" b="0" i="0">
                <a:solidFill>
                  <a:srgbClr val="354F63"/>
                </a:solidFill>
                <a:latin typeface="Arial"/>
                <a:ea typeface="Arial"/>
                <a:cs typeface="Arial"/>
              </a:rPr>
              <a:t>Source: FYP defense report, pp. 10–12.</a:t>
            </a:r>
          </a:p>
        </p:txBody>
      </p:sp>
    </p:spTree>
    <p:extLst>
      <p:ext uri="{BB962C8B-B14F-4D97-AF65-F5344CB8AC3E}">
        <p14:creationId xmlns:p14="http://schemas.microsoft.com/office/powerpoint/2010/main" val="848365075"/>
      </p:ext>
    </p:extLst>
  </p:cSld>
  <p:transition spd="med" advClick="1">
    <p:fade/>
  </p:transition>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12147FBD-682E-413E-9882-AFEA3D6BD689}"/>
              </a:ext>
            </a:extLst>
          </p:cNvPr>
          <p:cNvSpPr>
            <a:spLocks xmlns:a="http://schemas.openxmlformats.org/drawingml/2006/main" noGrp="1"/>
          </p:cNvSpPr>
          <p:nvPr/>
        </p:nvSpPr>
        <p:spPr>
          <a:xfrm xmlns:a="http://schemas.openxmlformats.org/drawingml/2006/main">
            <a:off x="876300" y="4381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1" i="0">
                <a:solidFill>
                  <a:srgbClr val="2D8B84"/>
                </a:solidFill>
                <a:latin typeface="Arial"/>
                <a:ea typeface="Arial"/>
                <a:cs typeface="Arial"/>
              </a:defRPr>
            </a:pPr>
            <a:r>
              <a:rPr sz="1575" b="1" i="0">
                <a:solidFill>
                  <a:srgbClr val="2D8B84"/>
                </a:solidFill>
                <a:latin typeface="Arial"/>
                <a:ea typeface="Arial"/>
                <a:cs typeface="Arial"/>
              </a:rPr>
              <a:t>04 / PROJECT OBJECTIVES</a:t>
            </a:r>
          </a:p>
        </p:txBody>
      </p:sp>
      <p:sp>
        <p:nvSpPr>
          <p:cNvPr id="2" name="">
            <a:extLst xmlns:a="http://schemas.openxmlformats.org/drawingml/2006/main">
              <a:ext uri="{FF2B5EF4-FFF2-40B4-BE49-F238E27FC236}">
                <a16:creationId xmlns:a16="http://schemas.microsoft.com/office/drawing/2014/main" id="{E1BF0929-A3CA-4E19-96B2-6B743AA4849D}"/>
              </a:ext>
            </a:extLst>
          </p:cNvPr>
          <p:cNvSpPr>
            <a:spLocks xmlns:a="http://schemas.openxmlformats.org/drawingml/2006/main" noGrp="1"/>
          </p:cNvSpPr>
          <p:nvPr/>
        </p:nvSpPr>
        <p:spPr>
          <a:xfrm xmlns:a="http://schemas.openxmlformats.org/drawingml/2006/main">
            <a:off x="876300" y="838200"/>
            <a:ext cx="16287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4050" b="1" i="0">
                <a:solidFill>
                  <a:srgbClr val="123B63"/>
                </a:solidFill>
                <a:latin typeface="Arial"/>
                <a:ea typeface="Arial"/>
                <a:cs typeface="Arial"/>
              </a:defRPr>
            </a:pPr>
            <a:r>
              <a:rPr sz="4050" b="1" i="0">
                <a:solidFill>
                  <a:srgbClr val="123B63"/>
                </a:solidFill>
                <a:latin typeface="Arial"/>
                <a:ea typeface="Arial"/>
                <a:cs typeface="Arial"/>
              </a:rPr>
              <a:t>Objectives</a:t>
            </a:r>
          </a:p>
        </p:txBody>
      </p:sp>
      <p:sp>
        <p:nvSpPr>
          <p:cNvPr id="3" name="">
            <a:extLst xmlns:a="http://schemas.openxmlformats.org/drawingml/2006/main">
              <a:ext uri="{FF2B5EF4-FFF2-40B4-BE49-F238E27FC236}">
                <a16:creationId xmlns:a16="http://schemas.microsoft.com/office/drawing/2014/main" id="{CCE73F83-C5CE-4454-8A3E-A6DA6402D9AB}"/>
              </a:ext>
            </a:extLst>
          </p:cNvPr>
          <p:cNvSpPr>
            <a:spLocks xmlns:a="http://schemas.openxmlformats.org/drawingml/2006/main" noGrp="1"/>
          </p:cNvSpPr>
          <p:nvPr/>
        </p:nvSpPr>
        <p:spPr>
          <a:xfrm xmlns:a="http://schemas.openxmlformats.org/drawingml/2006/main">
            <a:off x="876300" y="1790700"/>
            <a:ext cx="16535400" cy="0"/>
          </a:xfrm>
          <a:prstGeom xmlns:a="http://schemas.openxmlformats.org/drawingml/2006/main" prst="line">
            <a:avLst/>
          </a:prstGeom>
          <a:noFill xmlns:a="http://schemas.openxmlformats.org/drawingml/2006/main"/>
          <a:ln xmlns:a="http://schemas.openxmlformats.org/drawingml/2006/main" w="19050">
            <a:solidFill>
              <a:srgbClr val="CAD6DE"/>
            </a:solidFill>
          </a:ln>
        </p:spPr>
      </p:sp>
      <p:sp>
        <p:nvSpPr>
          <p:cNvPr id="4" name="">
            <a:extLst xmlns:a="http://schemas.openxmlformats.org/drawingml/2006/main">
              <a:ext uri="{FF2B5EF4-FFF2-40B4-BE49-F238E27FC236}">
                <a16:creationId xmlns:a16="http://schemas.microsoft.com/office/drawing/2014/main" id="{754D3302-1C35-45D2-8DC8-60972CACE8D8}"/>
              </a:ext>
            </a:extLst>
          </p:cNvPr>
          <p:cNvSpPr>
            <a:spLocks xmlns:a="http://schemas.openxmlformats.org/drawingml/2006/main" noGrp="1"/>
          </p:cNvSpPr>
          <p:nvPr/>
        </p:nvSpPr>
        <p:spPr>
          <a:xfrm xmlns:a="http://schemas.openxmlformats.org/drawingml/2006/main">
            <a:off x="16764000" y="9525000"/>
            <a:ext cx="647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575" b="1" i="0">
                <a:solidFill>
                  <a:srgbClr val="79A9C8"/>
                </a:solidFill>
                <a:latin typeface="Arial"/>
                <a:ea typeface="Arial"/>
                <a:cs typeface="Arial"/>
              </a:defRPr>
            </a:pPr>
            <a:r>
              <a:rPr sz="1575" b="1" i="0">
                <a:solidFill>
                  <a:srgbClr val="79A9C8"/>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3E992175-B7C1-4A39-9BFE-221C89C5110F}"/>
              </a:ext>
            </a:extLst>
          </p:cNvPr>
          <p:cNvSpPr>
            <a:spLocks xmlns:a="http://schemas.openxmlformats.org/drawingml/2006/main" noGrp="1"/>
          </p:cNvSpPr>
          <p:nvPr/>
        </p:nvSpPr>
        <p:spPr>
          <a:xfrm xmlns:a="http://schemas.openxmlformats.org/drawingml/2006/main">
            <a:off x="876300" y="2533650"/>
            <a:ext cx="4876800" cy="4286250"/>
          </a:xfrm>
          <a:prstGeom xmlns:a="http://schemas.openxmlformats.org/drawingml/2006/main" prst="roundRect">
            <a:avLst>
              <a:gd name="adj" fmla="val 1778"/>
            </a:avLst>
          </a:prstGeom>
          <a:solidFill xmlns:a="http://schemas.openxmlformats.org/drawingml/2006/main">
            <a:srgbClr val="FFFDF9"/>
          </a:solidFill>
          <a:ln xmlns:a="http://schemas.openxmlformats.org/drawingml/2006/main" w="19050">
            <a:solidFill>
              <a:srgbClr val="CAD6DE"/>
            </a:solidFill>
          </a:ln>
        </p:spPr>
      </p:sp>
      <p:sp>
        <p:nvSpPr>
          <p:cNvPr id="6" name="">
            <a:extLst xmlns:a="http://schemas.openxmlformats.org/drawingml/2006/main">
              <a:ext uri="{FF2B5EF4-FFF2-40B4-BE49-F238E27FC236}">
                <a16:creationId xmlns:a16="http://schemas.microsoft.com/office/drawing/2014/main" id="{EE2E22AD-D8EF-4ECA-B3B6-F828B7263973}"/>
              </a:ext>
            </a:extLst>
          </p:cNvPr>
          <p:cNvSpPr>
            <a:spLocks xmlns:a="http://schemas.openxmlformats.org/drawingml/2006/main" noGrp="1"/>
          </p:cNvSpPr>
          <p:nvPr/>
        </p:nvSpPr>
        <p:spPr>
          <a:xfrm xmlns:a="http://schemas.openxmlformats.org/drawingml/2006/main">
            <a:off x="876300" y="2533650"/>
            <a:ext cx="85725" cy="4286250"/>
          </a:xfrm>
          <a:prstGeom xmlns:a="http://schemas.openxmlformats.org/drawingml/2006/main" prst="rect">
            <a:avLst/>
          </a:prstGeom>
          <a:solidFill xmlns:a="http://schemas.openxmlformats.org/drawingml/2006/main">
            <a:srgbClr val="2C6693"/>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15F13D1-C80D-4660-BB5E-A66661FAD26B}"/>
              </a:ext>
            </a:extLst>
          </p:cNvPr>
          <p:cNvSpPr>
            <a:spLocks xmlns:a="http://schemas.openxmlformats.org/drawingml/2006/main" noGrp="1"/>
          </p:cNvSpPr>
          <p:nvPr/>
        </p:nvSpPr>
        <p:spPr>
          <a:xfrm xmlns:a="http://schemas.openxmlformats.org/drawingml/2006/main">
            <a:off x="1143000" y="2743200"/>
            <a:ext cx="438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3422"/>
          </a:bodyPr>
          <a:lstStyle xmlns:a="http://schemas.openxmlformats.org/drawingml/2006/main"/>
          <a:p xmlns:a="http://schemas.openxmlformats.org/drawingml/2006/main">
            <a:pPr algn="l">
              <a:lnSpc>
                <a:spcPct val="100000"/>
              </a:lnSpc>
              <a:buNone/>
              <a:defRPr sz="2250" b="1" i="0">
                <a:solidFill>
                  <a:srgbClr val="123B63"/>
                </a:solidFill>
                <a:latin typeface="Arial"/>
                <a:ea typeface="Arial"/>
                <a:cs typeface="Arial"/>
              </a:defRPr>
            </a:pPr>
            <a:r>
              <a:rPr sz="2250" b="1" i="0">
                <a:solidFill>
                  <a:srgbClr val="123B63"/>
                </a:solidFill>
                <a:latin typeface="Arial"/>
                <a:ea typeface="Arial"/>
                <a:cs typeface="Arial"/>
              </a:rPr>
              <a:t>1 · Integrated security assessment</a:t>
            </a:r>
          </a:p>
        </p:txBody>
      </p:sp>
      <p:sp>
        <p:nvSpPr>
          <p:cNvPr id="8" name="">
            <a:extLst xmlns:a="http://schemas.openxmlformats.org/drawingml/2006/main">
              <a:ext uri="{FF2B5EF4-FFF2-40B4-BE49-F238E27FC236}">
                <a16:creationId xmlns:a16="http://schemas.microsoft.com/office/drawing/2014/main" id="{C58555D0-9289-4F2A-9E2A-8B8CE66E6106}"/>
              </a:ext>
            </a:extLst>
          </p:cNvPr>
          <p:cNvSpPr>
            <a:spLocks xmlns:a="http://schemas.openxmlformats.org/drawingml/2006/main" noGrp="1"/>
          </p:cNvSpPr>
          <p:nvPr/>
        </p:nvSpPr>
        <p:spPr>
          <a:xfrm xmlns:a="http://schemas.openxmlformats.org/drawingml/2006/main">
            <a:off x="1143000" y="3276600"/>
            <a:ext cx="4381500" cy="3371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75" b="0" i="0">
                <a:solidFill>
                  <a:srgbClr val="354F63"/>
                </a:solidFill>
                <a:latin typeface="Arial"/>
                <a:ea typeface="Arial"/>
                <a:cs typeface="Arial"/>
              </a:defRPr>
            </a:pPr>
            <a:r>
              <a:rPr sz="1875" b="0" i="0">
                <a:solidFill>
                  <a:srgbClr val="354F63"/>
                </a:solidFill>
                <a:latin typeface="Arial"/>
                <a:ea typeface="Arial"/>
                <a:cs typeface="Arial"/>
              </a:rPr>
              <a:t>Develop one unified harness covering reconnaissance, progressive attack-surface discovery, scanning, vulnerability identification, business-logic analysis, correlation and reporting.</a:t>
            </a:r>
          </a:p>
        </p:txBody>
      </p:sp>
      <p:sp>
        <p:nvSpPr>
          <p:cNvPr id="9" name="">
            <a:extLst xmlns:a="http://schemas.openxmlformats.org/drawingml/2006/main">
              <a:ext uri="{FF2B5EF4-FFF2-40B4-BE49-F238E27FC236}">
                <a16:creationId xmlns:a16="http://schemas.microsoft.com/office/drawing/2014/main" id="{893C82B8-BAC4-4DBC-BDE5-985302C022CA}"/>
              </a:ext>
            </a:extLst>
          </p:cNvPr>
          <p:cNvSpPr>
            <a:spLocks xmlns:a="http://schemas.openxmlformats.org/drawingml/2006/main" noGrp="1"/>
          </p:cNvSpPr>
          <p:nvPr/>
        </p:nvSpPr>
        <p:spPr>
          <a:xfrm xmlns:a="http://schemas.openxmlformats.org/drawingml/2006/main">
            <a:off x="6000750" y="2533650"/>
            <a:ext cx="4876800" cy="4286250"/>
          </a:xfrm>
          <a:prstGeom xmlns:a="http://schemas.openxmlformats.org/drawingml/2006/main" prst="roundRect">
            <a:avLst>
              <a:gd name="adj" fmla="val 1778"/>
            </a:avLst>
          </a:prstGeom>
          <a:solidFill xmlns:a="http://schemas.openxmlformats.org/drawingml/2006/main">
            <a:srgbClr val="FFFDF9"/>
          </a:solidFill>
          <a:ln xmlns:a="http://schemas.openxmlformats.org/drawingml/2006/main" w="19050">
            <a:solidFill>
              <a:srgbClr val="CAD6DE"/>
            </a:solidFill>
          </a:ln>
        </p:spPr>
      </p:sp>
      <p:sp>
        <p:nvSpPr>
          <p:cNvPr id="10" name="">
            <a:extLst xmlns:a="http://schemas.openxmlformats.org/drawingml/2006/main">
              <a:ext uri="{FF2B5EF4-FFF2-40B4-BE49-F238E27FC236}">
                <a16:creationId xmlns:a16="http://schemas.microsoft.com/office/drawing/2014/main" id="{665188E6-68B7-4C6C-A8DD-980FB6215B14}"/>
              </a:ext>
            </a:extLst>
          </p:cNvPr>
          <p:cNvSpPr>
            <a:spLocks xmlns:a="http://schemas.openxmlformats.org/drawingml/2006/main" noGrp="1"/>
          </p:cNvSpPr>
          <p:nvPr/>
        </p:nvSpPr>
        <p:spPr>
          <a:xfrm xmlns:a="http://schemas.openxmlformats.org/drawingml/2006/main">
            <a:off x="6000750" y="2533650"/>
            <a:ext cx="85725" cy="4286250"/>
          </a:xfrm>
          <a:prstGeom xmlns:a="http://schemas.openxmlformats.org/drawingml/2006/main" prst="rect">
            <a:avLst/>
          </a:prstGeom>
          <a:solidFill xmlns:a="http://schemas.openxmlformats.org/drawingml/2006/main">
            <a:srgbClr val="2D8B8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22B7F5E-53D8-44A5-93C8-789CA930A3D7}"/>
              </a:ext>
            </a:extLst>
          </p:cNvPr>
          <p:cNvSpPr>
            <a:spLocks xmlns:a="http://schemas.openxmlformats.org/drawingml/2006/main" noGrp="1"/>
          </p:cNvSpPr>
          <p:nvPr/>
        </p:nvSpPr>
        <p:spPr>
          <a:xfrm xmlns:a="http://schemas.openxmlformats.org/drawingml/2006/main">
            <a:off x="6267450" y="2743200"/>
            <a:ext cx="438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250" b="1" i="0">
                <a:solidFill>
                  <a:srgbClr val="123B63"/>
                </a:solidFill>
                <a:latin typeface="Arial"/>
                <a:ea typeface="Arial"/>
                <a:cs typeface="Arial"/>
              </a:defRPr>
            </a:pPr>
            <a:r>
              <a:rPr sz="2250" b="1" i="0">
                <a:solidFill>
                  <a:srgbClr val="123B63"/>
                </a:solidFill>
                <a:latin typeface="Arial"/>
                <a:ea typeface="Arial"/>
                <a:cs typeface="Arial"/>
              </a:rPr>
              <a:t>2 · Dual-mode orchestration</a:t>
            </a:r>
          </a:p>
        </p:txBody>
      </p:sp>
      <p:sp>
        <p:nvSpPr>
          <p:cNvPr id="12" name="">
            <a:extLst xmlns:a="http://schemas.openxmlformats.org/drawingml/2006/main">
              <a:ext uri="{FF2B5EF4-FFF2-40B4-BE49-F238E27FC236}">
                <a16:creationId xmlns:a16="http://schemas.microsoft.com/office/drawing/2014/main" id="{50D31221-41F5-4E03-ACEE-7FC9D439CB82}"/>
              </a:ext>
            </a:extLst>
          </p:cNvPr>
          <p:cNvSpPr>
            <a:spLocks xmlns:a="http://schemas.openxmlformats.org/drawingml/2006/main" noGrp="1"/>
          </p:cNvSpPr>
          <p:nvPr/>
        </p:nvSpPr>
        <p:spPr>
          <a:xfrm xmlns:a="http://schemas.openxmlformats.org/drawingml/2006/main">
            <a:off x="6267450" y="3276600"/>
            <a:ext cx="4381500" cy="3371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75" b="0" i="0">
                <a:solidFill>
                  <a:srgbClr val="354F63"/>
                </a:solidFill>
                <a:latin typeface="Arial"/>
                <a:ea typeface="Arial"/>
                <a:cs typeface="Arial"/>
              </a:defRPr>
            </a:pPr>
            <a:r>
              <a:rPr sz="1875" b="0" i="0">
                <a:solidFill>
                  <a:srgbClr val="354F63"/>
                </a:solidFill>
                <a:latin typeface="Arial"/>
                <a:ea typeface="Arial"/>
                <a:cs typeface="Arial"/>
              </a:rPr>
              <a:t>Use LLM reasoning when available while maintaining a deterministic rule-based mode with no mandatory LLM dependency.</a:t>
            </a:r>
          </a:p>
        </p:txBody>
      </p:sp>
      <p:sp>
        <p:nvSpPr>
          <p:cNvPr id="13" name="">
            <a:extLst xmlns:a="http://schemas.openxmlformats.org/drawingml/2006/main">
              <a:ext uri="{FF2B5EF4-FFF2-40B4-BE49-F238E27FC236}">
                <a16:creationId xmlns:a16="http://schemas.microsoft.com/office/drawing/2014/main" id="{73422564-7D2C-4232-B1FE-78EE443C19C1}"/>
              </a:ext>
            </a:extLst>
          </p:cNvPr>
          <p:cNvSpPr>
            <a:spLocks xmlns:a="http://schemas.openxmlformats.org/drawingml/2006/main" noGrp="1"/>
          </p:cNvSpPr>
          <p:nvPr/>
        </p:nvSpPr>
        <p:spPr>
          <a:xfrm xmlns:a="http://schemas.openxmlformats.org/drawingml/2006/main">
            <a:off x="11125200" y="2533650"/>
            <a:ext cx="5524500" cy="4286250"/>
          </a:xfrm>
          <a:prstGeom xmlns:a="http://schemas.openxmlformats.org/drawingml/2006/main" prst="roundRect">
            <a:avLst>
              <a:gd name="adj" fmla="val 1778"/>
            </a:avLst>
          </a:prstGeom>
          <a:solidFill xmlns:a="http://schemas.openxmlformats.org/drawingml/2006/main">
            <a:srgbClr val="FFFDF9"/>
          </a:solidFill>
          <a:ln xmlns:a="http://schemas.openxmlformats.org/drawingml/2006/main" w="19050">
            <a:solidFill>
              <a:srgbClr val="CAD6DE"/>
            </a:solidFill>
          </a:ln>
        </p:spPr>
      </p:sp>
      <p:sp>
        <p:nvSpPr>
          <p:cNvPr id="14" name="">
            <a:extLst xmlns:a="http://schemas.openxmlformats.org/drawingml/2006/main">
              <a:ext uri="{FF2B5EF4-FFF2-40B4-BE49-F238E27FC236}">
                <a16:creationId xmlns:a16="http://schemas.microsoft.com/office/drawing/2014/main" id="{2AB479F1-50A4-426D-85B3-63F818150293}"/>
              </a:ext>
            </a:extLst>
          </p:cNvPr>
          <p:cNvSpPr>
            <a:spLocks xmlns:a="http://schemas.openxmlformats.org/drawingml/2006/main" noGrp="1"/>
          </p:cNvSpPr>
          <p:nvPr/>
        </p:nvSpPr>
        <p:spPr>
          <a:xfrm xmlns:a="http://schemas.openxmlformats.org/drawingml/2006/main">
            <a:off x="11125200" y="2533650"/>
            <a:ext cx="85725" cy="4286250"/>
          </a:xfrm>
          <a:prstGeom xmlns:a="http://schemas.openxmlformats.org/drawingml/2006/main" prst="rect">
            <a:avLst/>
          </a:prstGeom>
          <a:solidFill xmlns:a="http://schemas.openxmlformats.org/drawingml/2006/main">
            <a:srgbClr val="C55B4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354ACF50-CB0C-4043-8A26-F5901FC41351}"/>
              </a:ext>
            </a:extLst>
          </p:cNvPr>
          <p:cNvSpPr>
            <a:spLocks xmlns:a="http://schemas.openxmlformats.org/drawingml/2006/main" noGrp="1"/>
          </p:cNvSpPr>
          <p:nvPr/>
        </p:nvSpPr>
        <p:spPr>
          <a:xfrm xmlns:a="http://schemas.openxmlformats.org/drawingml/2006/main">
            <a:off x="11391900" y="2743200"/>
            <a:ext cx="5029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250" b="1" i="0">
                <a:solidFill>
                  <a:srgbClr val="123B63"/>
                </a:solidFill>
                <a:latin typeface="Arial"/>
                <a:ea typeface="Arial"/>
                <a:cs typeface="Arial"/>
              </a:defRPr>
            </a:pPr>
            <a:r>
              <a:rPr sz="2250" b="1" i="0">
                <a:solidFill>
                  <a:srgbClr val="123B63"/>
                </a:solidFill>
                <a:latin typeface="Arial"/>
                <a:ea typeface="Arial"/>
                <a:cs typeface="Arial"/>
              </a:rPr>
              <a:t>3 · Safe and controlled testing</a:t>
            </a:r>
          </a:p>
        </p:txBody>
      </p:sp>
      <p:sp>
        <p:nvSpPr>
          <p:cNvPr id="16" name="">
            <a:extLst xmlns:a="http://schemas.openxmlformats.org/drawingml/2006/main">
              <a:ext uri="{FF2B5EF4-FFF2-40B4-BE49-F238E27FC236}">
                <a16:creationId xmlns:a16="http://schemas.microsoft.com/office/drawing/2014/main" id="{76FAEAC9-64E9-4FE8-88A3-4723B5E35623}"/>
              </a:ext>
            </a:extLst>
          </p:cNvPr>
          <p:cNvSpPr>
            <a:spLocks xmlns:a="http://schemas.openxmlformats.org/drawingml/2006/main" noGrp="1"/>
          </p:cNvSpPr>
          <p:nvPr/>
        </p:nvSpPr>
        <p:spPr>
          <a:xfrm xmlns:a="http://schemas.openxmlformats.org/drawingml/2006/main">
            <a:off x="11391900" y="3276600"/>
            <a:ext cx="5029200" cy="3371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75" b="0" i="0">
                <a:solidFill>
                  <a:srgbClr val="354F63"/>
                </a:solidFill>
                <a:latin typeface="Arial"/>
                <a:ea typeface="Arial"/>
                <a:cs typeface="Arial"/>
              </a:defRPr>
            </a:pPr>
            <a:r>
              <a:rPr sz="1875" b="0" i="0">
                <a:solidFill>
                  <a:srgbClr val="354F63"/>
                </a:solidFill>
                <a:latin typeface="Arial"/>
                <a:ea typeface="Arial"/>
                <a:cs typeface="Arial"/>
              </a:rPr>
              <a:t>Enforce the authorized scope, validate findings with evidence and require human approval before potentially impactful actions.</a:t>
            </a:r>
          </a:p>
        </p:txBody>
      </p:sp>
      <p:sp>
        <p:nvSpPr>
          <p:cNvPr id="17" name="">
            <a:extLst xmlns:a="http://schemas.openxmlformats.org/drawingml/2006/main">
              <a:ext uri="{FF2B5EF4-FFF2-40B4-BE49-F238E27FC236}">
                <a16:creationId xmlns:a16="http://schemas.microsoft.com/office/drawing/2014/main" id="{F232D0D6-8F5F-490C-A74C-F5AEB34FCAE4}"/>
              </a:ext>
            </a:extLst>
          </p:cNvPr>
          <p:cNvSpPr>
            <a:spLocks xmlns:a="http://schemas.openxmlformats.org/drawingml/2006/main" noGrp="1"/>
          </p:cNvSpPr>
          <p:nvPr/>
        </p:nvSpPr>
        <p:spPr>
          <a:xfrm xmlns:a="http://schemas.openxmlformats.org/drawingml/2006/main">
            <a:off x="876300" y="7334250"/>
            <a:ext cx="15773400" cy="1028700"/>
          </a:xfrm>
          <a:prstGeom xmlns:a="http://schemas.openxmlformats.org/drawingml/2006/main" prst="roundRect">
            <a:avLst>
              <a:gd name="adj" fmla="val 7407"/>
            </a:avLst>
          </a:prstGeom>
          <a:solidFill xmlns:a="http://schemas.openxmlformats.org/drawingml/2006/main">
            <a:srgbClr val="E8EFF3"/>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03074398-456B-4F80-ADB7-3521D1014E0F}"/>
              </a:ext>
            </a:extLst>
          </p:cNvPr>
          <p:cNvSpPr>
            <a:spLocks xmlns:a="http://schemas.openxmlformats.org/drawingml/2006/main" noGrp="1"/>
          </p:cNvSpPr>
          <p:nvPr/>
        </p:nvSpPr>
        <p:spPr>
          <a:xfrm xmlns:a="http://schemas.openxmlformats.org/drawingml/2006/main">
            <a:off x="1257300" y="7620000"/>
            <a:ext cx="15011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2175" b="1" i="0">
                <a:solidFill>
                  <a:srgbClr val="123B63"/>
                </a:solidFill>
                <a:latin typeface="Arial"/>
                <a:ea typeface="Arial"/>
                <a:cs typeface="Arial"/>
              </a:defRPr>
            </a:pPr>
            <a:r>
              <a:rPr sz="2175" b="1" i="0">
                <a:solidFill>
                  <a:srgbClr val="123B63"/>
                </a:solidFill>
                <a:latin typeface="Arial"/>
                <a:ea typeface="Arial"/>
                <a:cs typeface="Arial"/>
              </a:rPr>
              <a:t>The proposed framework combines one unified harness, reliable non-LLM operation and controlled AI assistance.</a:t>
            </a:r>
          </a:p>
        </p:txBody>
      </p:sp>
      <p:sp>
        <p:nvSpPr>
          <p:cNvPr id="19" name="">
            <a:extLst xmlns:a="http://schemas.openxmlformats.org/drawingml/2006/main">
              <a:ext uri="{FF2B5EF4-FFF2-40B4-BE49-F238E27FC236}">
                <a16:creationId xmlns:a16="http://schemas.microsoft.com/office/drawing/2014/main" id="{D9C3A0C8-C2C2-40BC-8583-ECB1E0F1315B}"/>
              </a:ext>
            </a:extLst>
          </p:cNvPr>
          <p:cNvSpPr>
            <a:spLocks xmlns:a="http://schemas.openxmlformats.org/drawingml/2006/main" noGrp="1"/>
          </p:cNvSpPr>
          <p:nvPr/>
        </p:nvSpPr>
        <p:spPr>
          <a:xfrm xmlns:a="http://schemas.openxmlformats.org/drawingml/2006/main">
            <a:off x="914400" y="87439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i="0">
                <a:solidFill>
                  <a:srgbClr val="354F63"/>
                </a:solidFill>
                <a:latin typeface="Arial"/>
                <a:ea typeface="Arial"/>
                <a:cs typeface="Arial"/>
              </a:defRPr>
            </a:pPr>
            <a:r>
              <a:rPr sz="1350" b="0" i="0">
                <a:solidFill>
                  <a:srgbClr val="354F63"/>
                </a:solidFill>
                <a:latin typeface="Arial"/>
                <a:ea typeface="Arial"/>
                <a:cs typeface="Arial"/>
              </a:rPr>
              <a:t>Source: FYP defense report, Objectives, p. 14.</a:t>
            </a:r>
          </a:p>
        </p:txBody>
      </p:sp>
    </p:spTree>
    <p:extLst>
      <p:ext uri="{BB962C8B-B14F-4D97-AF65-F5344CB8AC3E}">
        <p14:creationId xmlns:p14="http://schemas.microsoft.com/office/powerpoint/2010/main" val="276587069"/>
      </p:ext>
    </p:extLst>
  </p:cSld>
  <p:transition spd="med" advClick="1">
    <p:fade/>
  </p:transition>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432DC30-3E50-417C-939B-9C8EFA013E48}"/>
              </a:ext>
            </a:extLst>
          </p:cNvPr>
          <p:cNvSpPr>
            <a:spLocks xmlns:a="http://schemas.openxmlformats.org/drawingml/2006/main" noGrp="1"/>
          </p:cNvSpPr>
          <p:nvPr/>
        </p:nvSpPr>
        <p:spPr>
          <a:xfrm xmlns:a="http://schemas.openxmlformats.org/drawingml/2006/main">
            <a:off x="876300" y="4381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1" i="0">
                <a:solidFill>
                  <a:srgbClr val="2D8B84"/>
                </a:solidFill>
                <a:latin typeface="Arial"/>
                <a:ea typeface="Arial"/>
                <a:cs typeface="Arial"/>
              </a:defRPr>
            </a:pPr>
            <a:r>
              <a:rPr sz="1575" b="1" i="0">
                <a:solidFill>
                  <a:srgbClr val="2D8B84"/>
                </a:solidFill>
                <a:latin typeface="Arial"/>
                <a:ea typeface="Arial"/>
                <a:cs typeface="Arial"/>
              </a:rPr>
              <a:t>05 / PROPOSED ARCHITECTURE</a:t>
            </a:r>
          </a:p>
        </p:txBody>
      </p:sp>
      <p:sp>
        <p:nvSpPr>
          <p:cNvPr id="2" name="">
            <a:extLst xmlns:a="http://schemas.openxmlformats.org/drawingml/2006/main">
              <a:ext uri="{FF2B5EF4-FFF2-40B4-BE49-F238E27FC236}">
                <a16:creationId xmlns:a16="http://schemas.microsoft.com/office/drawing/2014/main" id="{F8337F93-B38F-46A4-AAEA-1E95A1A65185}"/>
              </a:ext>
            </a:extLst>
          </p:cNvPr>
          <p:cNvSpPr>
            <a:spLocks xmlns:a="http://schemas.openxmlformats.org/drawingml/2006/main" noGrp="1"/>
          </p:cNvSpPr>
          <p:nvPr/>
        </p:nvSpPr>
        <p:spPr>
          <a:xfrm xmlns:a="http://schemas.openxmlformats.org/drawingml/2006/main">
            <a:off x="876300" y="838200"/>
            <a:ext cx="16287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4050" b="1" i="0">
                <a:solidFill>
                  <a:srgbClr val="123B63"/>
                </a:solidFill>
                <a:latin typeface="Arial"/>
                <a:ea typeface="Arial"/>
                <a:cs typeface="Arial"/>
              </a:defRPr>
            </a:pPr>
            <a:r>
              <a:rPr sz="4050" b="1" i="0">
                <a:solidFill>
                  <a:srgbClr val="123B63"/>
                </a:solidFill>
                <a:latin typeface="Arial"/>
                <a:ea typeface="Arial"/>
                <a:cs typeface="Arial"/>
              </a:rPr>
              <a:t>THE WORLD MODEL FOR PENTESTING</a:t>
            </a:r>
          </a:p>
        </p:txBody>
      </p:sp>
      <p:sp>
        <p:nvSpPr>
          <p:cNvPr id="3" name="">
            <a:extLst xmlns:a="http://schemas.openxmlformats.org/drawingml/2006/main">
              <a:ext uri="{FF2B5EF4-FFF2-40B4-BE49-F238E27FC236}">
                <a16:creationId xmlns:a16="http://schemas.microsoft.com/office/drawing/2014/main" id="{07DD387D-834B-4AFD-A78E-33E45C278C49}"/>
              </a:ext>
            </a:extLst>
          </p:cNvPr>
          <p:cNvSpPr>
            <a:spLocks xmlns:a="http://schemas.openxmlformats.org/drawingml/2006/main" noGrp="1"/>
          </p:cNvSpPr>
          <p:nvPr/>
        </p:nvSpPr>
        <p:spPr>
          <a:xfrm xmlns:a="http://schemas.openxmlformats.org/drawingml/2006/main">
            <a:off x="876300" y="1790700"/>
            <a:ext cx="16535400" cy="0"/>
          </a:xfrm>
          <a:prstGeom xmlns:a="http://schemas.openxmlformats.org/drawingml/2006/main" prst="line">
            <a:avLst/>
          </a:prstGeom>
          <a:noFill xmlns:a="http://schemas.openxmlformats.org/drawingml/2006/main"/>
          <a:ln xmlns:a="http://schemas.openxmlformats.org/drawingml/2006/main" w="19050">
            <a:solidFill>
              <a:srgbClr val="CAD6DE"/>
            </a:solidFill>
          </a:ln>
        </p:spPr>
      </p:sp>
      <p:sp>
        <p:nvSpPr>
          <p:cNvPr id="4" name="">
            <a:extLst xmlns:a="http://schemas.openxmlformats.org/drawingml/2006/main">
              <a:ext uri="{FF2B5EF4-FFF2-40B4-BE49-F238E27FC236}">
                <a16:creationId xmlns:a16="http://schemas.microsoft.com/office/drawing/2014/main" id="{FCD706B4-5CB4-4411-A5FF-EB753AF5CD04}"/>
              </a:ext>
            </a:extLst>
          </p:cNvPr>
          <p:cNvSpPr>
            <a:spLocks xmlns:a="http://schemas.openxmlformats.org/drawingml/2006/main" noGrp="1"/>
          </p:cNvSpPr>
          <p:nvPr/>
        </p:nvSpPr>
        <p:spPr>
          <a:xfrm xmlns:a="http://schemas.openxmlformats.org/drawingml/2006/main">
            <a:off x="16764000" y="9525000"/>
            <a:ext cx="647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575" b="1" i="0">
                <a:solidFill>
                  <a:srgbClr val="79A9C8"/>
                </a:solidFill>
                <a:latin typeface="Arial"/>
                <a:ea typeface="Arial"/>
                <a:cs typeface="Arial"/>
              </a:defRPr>
            </a:pPr>
            <a:r>
              <a:rPr sz="1575" b="1" i="0">
                <a:solidFill>
                  <a:srgbClr val="79A9C8"/>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4C77CBCE-838E-4940-AE92-D68C1DAA3EAF}"/>
              </a:ext>
            </a:extLst>
          </p:cNvPr>
          <p:cNvSpPr>
            <a:spLocks xmlns:a="http://schemas.openxmlformats.org/drawingml/2006/main" noGrp="1"/>
          </p:cNvSpPr>
          <p:nvPr/>
        </p:nvSpPr>
        <p:spPr>
          <a:xfrm xmlns:a="http://schemas.openxmlformats.org/drawingml/2006/main">
            <a:off x="685800" y="2076450"/>
            <a:ext cx="13049250" cy="7029450"/>
          </a:xfrm>
          <a:prstGeom xmlns:a="http://schemas.openxmlformats.org/drawingml/2006/main" prst="roundRect">
            <a:avLst>
              <a:gd name="adj" fmla="val 1084"/>
            </a:avLst>
          </a:prstGeom>
          <a:solidFill xmlns:a="http://schemas.openxmlformats.org/drawingml/2006/main">
            <a:srgbClr val="FFFFFF"/>
          </a:solidFill>
          <a:ln xmlns:a="http://schemas.openxmlformats.org/drawingml/2006/main" w="19050">
            <a:solidFill>
              <a:srgbClr val="CAD6DE"/>
            </a:solidFill>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2f266494a0d1420f"/>
          <a:stretch xmlns:a="http://schemas.openxmlformats.org/drawingml/2006/main"/>
        </p:blipFill>
        <p:spPr>
          <a:xfrm xmlns:a="http://schemas.openxmlformats.org/drawingml/2006/main">
            <a:off x="1967715" y="2228850"/>
            <a:ext cx="10485421" cy="67246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5B7A2E7E-09BF-47CF-81E8-3C591AAA5AA7}"/>
              </a:ext>
            </a:extLst>
          </p:cNvPr>
          <p:cNvSpPr>
            <a:spLocks xmlns:a="http://schemas.openxmlformats.org/drawingml/2006/main" noGrp="1"/>
          </p:cNvSpPr>
          <p:nvPr/>
        </p:nvSpPr>
        <p:spPr>
          <a:xfrm xmlns:a="http://schemas.openxmlformats.org/drawingml/2006/main">
            <a:off x="14211300" y="2438400"/>
            <a:ext cx="266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75" b="1" i="0">
                <a:solidFill>
                  <a:srgbClr val="2D8B84"/>
                </a:solidFill>
                <a:latin typeface="Arial"/>
                <a:ea typeface="Arial"/>
                <a:cs typeface="Arial"/>
              </a:defRPr>
            </a:pPr>
            <a:r>
              <a:rPr sz="1575" b="1" i="0">
                <a:solidFill>
                  <a:srgbClr val="2D8B84"/>
                </a:solidFill>
                <a:latin typeface="Arial"/>
                <a:ea typeface="Arial"/>
                <a:cs typeface="Arial"/>
              </a:rPr>
              <a:t>EXPLORE THE MODEL</a:t>
            </a:r>
          </a:p>
        </p:txBody>
      </p:sp>
      <p:sp>
        <p:nvSpPr>
          <p:cNvPr id="8" name="">
            <a:hlinkClick xmlns:a="http://schemas.openxmlformats.org/drawingml/2006/main" xmlns:r="http://schemas.openxmlformats.org/officeDocument/2006/relationships" r:id="Rd982dbac404949d9" action="ppaction://hlinksldjump"/>
            <a:extLst xmlns:a="http://schemas.openxmlformats.org/drawingml/2006/main">
              <a:ext uri="{FF2B5EF4-FFF2-40B4-BE49-F238E27FC236}">
                <a16:creationId xmlns:a16="http://schemas.microsoft.com/office/drawing/2014/main" id="{2C09CED5-EEB3-4A85-9A80-5D8A595C18F5}"/>
              </a:ext>
            </a:extLst>
          </p:cNvPr>
          <p:cNvSpPr>
            <a:spLocks xmlns:a="http://schemas.openxmlformats.org/drawingml/2006/main" noGrp="1"/>
          </p:cNvSpPr>
          <p:nvPr/>
        </p:nvSpPr>
        <p:spPr>
          <a:xfrm xmlns:a="http://schemas.openxmlformats.org/drawingml/2006/main">
            <a:off x="14039850" y="3086100"/>
            <a:ext cx="3048000" cy="876300"/>
          </a:xfrm>
          <a:prstGeom xmlns:a="http://schemas.openxmlformats.org/drawingml/2006/main" prst="roundRect">
            <a:avLst>
              <a:gd name="adj" fmla="val 8696"/>
            </a:avLst>
          </a:prstGeom>
          <a:solidFill xmlns:a="http://schemas.openxmlformats.org/drawingml/2006/main">
            <a:srgbClr val="2D8B84"/>
          </a:solidFill>
          <a:ln xmlns:a="http://schemas.openxmlformats.org/drawingml/2006/main" w="0">
            <a:noFill/>
          </a:ln>
        </p:spPr>
        <p:txBody>
          <a:bodyPr xmlns:a="http://schemas.openxmlformats.org/drawingml/2006/main" lIns="152400" tIns="76200" rIns="152400" bIns="76200" anchor="ctr">
            <a:normAutofit fontScale="100000"/>
          </a:bodyPr>
          <a:lstStyle xmlns:a="http://schemas.openxmlformats.org/drawingml/2006/main"/>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World model?</a:t>
            </a:r>
          </a:p>
        </p:txBody>
      </p:sp>
      <p:sp>
        <p:nvSpPr>
          <p:cNvPr id="9" name="">
            <a:hlinkClick xmlns:a="http://schemas.openxmlformats.org/drawingml/2006/main" xmlns:r="http://schemas.openxmlformats.org/officeDocument/2006/relationships" r:id="R6d4a37be055a40a4" action="ppaction://hlinksldjump"/>
            <a:extLst xmlns:a="http://schemas.openxmlformats.org/drawingml/2006/main">
              <a:ext uri="{FF2B5EF4-FFF2-40B4-BE49-F238E27FC236}">
                <a16:creationId xmlns:a16="http://schemas.microsoft.com/office/drawing/2014/main" id="{61B2D324-B090-470D-8079-5CD3F2C8352A}"/>
              </a:ext>
            </a:extLst>
          </p:cNvPr>
          <p:cNvSpPr>
            <a:spLocks xmlns:a="http://schemas.openxmlformats.org/drawingml/2006/main" noGrp="1"/>
          </p:cNvSpPr>
          <p:nvPr/>
        </p:nvSpPr>
        <p:spPr>
          <a:xfrm xmlns:a="http://schemas.openxmlformats.org/drawingml/2006/main">
            <a:off x="14039850" y="4362450"/>
            <a:ext cx="3048000" cy="876300"/>
          </a:xfrm>
          <a:prstGeom xmlns:a="http://schemas.openxmlformats.org/drawingml/2006/main" prst="roundRect">
            <a:avLst>
              <a:gd name="adj" fmla="val 8696"/>
            </a:avLst>
          </a:prstGeom>
          <a:solidFill xmlns:a="http://schemas.openxmlformats.org/drawingml/2006/main">
            <a:srgbClr val="2C6693"/>
          </a:solidFill>
          <a:ln xmlns:a="http://schemas.openxmlformats.org/drawingml/2006/main" w="0">
            <a:noFill/>
          </a:ln>
        </p:spPr>
        <p:txBody>
          <a:bodyPr xmlns:a="http://schemas.openxmlformats.org/drawingml/2006/main" lIns="152400" tIns="76200" rIns="152400" bIns="76200" anchor="ctr">
            <a:normAutofit fontScale="100000"/>
          </a:bodyPr>
          <a:lstStyle xmlns:a="http://schemas.openxmlformats.org/drawingml/2006/main"/>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Phase agents?</a:t>
            </a:r>
          </a:p>
        </p:txBody>
      </p:sp>
      <p:sp>
        <p:nvSpPr>
          <p:cNvPr id="10" name="">
            <a:hlinkClick xmlns:a="http://schemas.openxmlformats.org/drawingml/2006/main" xmlns:r="http://schemas.openxmlformats.org/officeDocument/2006/relationships" r:id="R5f2b1d083bff4884" action="ppaction://hlinksldjump"/>
            <a:extLst xmlns:a="http://schemas.openxmlformats.org/drawingml/2006/main">
              <a:ext uri="{FF2B5EF4-FFF2-40B4-BE49-F238E27FC236}">
                <a16:creationId xmlns:a16="http://schemas.microsoft.com/office/drawing/2014/main" id="{058E0934-FF8F-4D82-A508-6479484B463A}"/>
              </a:ext>
            </a:extLst>
          </p:cNvPr>
          <p:cNvSpPr>
            <a:spLocks xmlns:a="http://schemas.openxmlformats.org/drawingml/2006/main" noGrp="1"/>
          </p:cNvSpPr>
          <p:nvPr/>
        </p:nvSpPr>
        <p:spPr>
          <a:xfrm xmlns:a="http://schemas.openxmlformats.org/drawingml/2006/main">
            <a:off x="14039850" y="5638800"/>
            <a:ext cx="3048000" cy="990600"/>
          </a:xfrm>
          <a:prstGeom xmlns:a="http://schemas.openxmlformats.org/drawingml/2006/main" prst="roundRect">
            <a:avLst>
              <a:gd name="adj" fmla="val 7692"/>
            </a:avLst>
          </a:prstGeom>
          <a:solidFill xmlns:a="http://schemas.openxmlformats.org/drawingml/2006/main">
            <a:srgbClr val="123B63"/>
          </a:solidFill>
          <a:ln xmlns:a="http://schemas.openxmlformats.org/drawingml/2006/main" w="0">
            <a:noFill/>
          </a:ln>
        </p:spPr>
        <p:txBody>
          <a:bodyPr xmlns:a="http://schemas.openxmlformats.org/drawingml/2006/main" lIns="152400" tIns="76200" rIns="152400" bIns="76200" anchor="ctr">
            <a:normAutofit fontScale="100000"/>
          </a:bodyPr>
          <a:lstStyle xmlns:a="http://schemas.openxmlformats.org/drawingml/2006/main"/>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How will it all work?</a:t>
            </a:r>
          </a:p>
        </p:txBody>
      </p:sp>
      <p:sp>
        <p:nvSpPr>
          <p:cNvPr id="11" name="">
            <a:extLst xmlns:a="http://schemas.openxmlformats.org/drawingml/2006/main">
              <a:ext uri="{FF2B5EF4-FFF2-40B4-BE49-F238E27FC236}">
                <a16:creationId xmlns:a16="http://schemas.microsoft.com/office/drawing/2014/main" id="{E8FC8D91-AFA4-43FF-AC20-7F45AFFAA27A}"/>
              </a:ext>
            </a:extLst>
          </p:cNvPr>
          <p:cNvSpPr>
            <a:spLocks xmlns:a="http://schemas.openxmlformats.org/drawingml/2006/main" noGrp="1"/>
          </p:cNvSpPr>
          <p:nvPr/>
        </p:nvSpPr>
        <p:spPr>
          <a:xfrm xmlns:a="http://schemas.openxmlformats.org/drawingml/2006/main">
            <a:off x="14097000" y="7105650"/>
            <a:ext cx="29337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75" b="0" i="0">
                <a:solidFill>
                  <a:srgbClr val="354F63"/>
                </a:solidFill>
                <a:latin typeface="Arial"/>
                <a:ea typeface="Arial"/>
                <a:cs typeface="Arial"/>
              </a:defRPr>
            </a:pPr>
            <a:r>
              <a:rPr sz="1575" b="0" i="0">
                <a:solidFill>
                  <a:srgbClr val="354F63"/>
                </a:solidFill>
                <a:latin typeface="Arial"/>
                <a:ea typeface="Arial"/>
                <a:cs typeface="Arial"/>
              </a:rPr>
              <a:t>Select a question during the presentation to open its explanation.</a:t>
            </a:r>
          </a:p>
        </p:txBody>
      </p:sp>
    </p:spTree>
    <p:extLst>
      <p:ext uri="{BB962C8B-B14F-4D97-AF65-F5344CB8AC3E}">
        <p14:creationId xmlns:p14="http://schemas.microsoft.com/office/powerpoint/2010/main" val="384156775"/>
      </p:ext>
    </p:extLst>
  </p:cSld>
  <p:transition spd="med" advClick="1">
    <p:fade/>
  </p:transition>
</p:sld>
</file>

<file path=ppt/slides/slide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08AFC00A-3256-4F70-9DF9-79771756D787}"/>
              </a:ext>
            </a:extLst>
          </p:cNvPr>
          <p:cNvSpPr>
            <a:spLocks xmlns:a="http://schemas.openxmlformats.org/drawingml/2006/main" noGrp="1"/>
          </p:cNvSpPr>
          <p:nvPr/>
        </p:nvSpPr>
        <p:spPr>
          <a:xfrm xmlns:a="http://schemas.openxmlformats.org/drawingml/2006/main">
            <a:off x="876300" y="4381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1" i="0">
                <a:solidFill>
                  <a:srgbClr val="2D8B84"/>
                </a:solidFill>
                <a:latin typeface="Arial"/>
                <a:ea typeface="Arial"/>
                <a:cs typeface="Arial"/>
              </a:defRPr>
            </a:pPr>
            <a:r>
              <a:rPr sz="1575" b="1" i="0">
                <a:solidFill>
                  <a:srgbClr val="2D8B84"/>
                </a:solidFill>
                <a:latin typeface="Arial"/>
                <a:ea typeface="Arial"/>
                <a:cs typeface="Arial"/>
              </a:rPr>
              <a:t>06 / WORLD MODEL</a:t>
            </a:r>
          </a:p>
        </p:txBody>
      </p:sp>
      <p:sp>
        <p:nvSpPr>
          <p:cNvPr id="2" name="">
            <a:extLst xmlns:a="http://schemas.openxmlformats.org/drawingml/2006/main">
              <a:ext uri="{FF2B5EF4-FFF2-40B4-BE49-F238E27FC236}">
                <a16:creationId xmlns:a16="http://schemas.microsoft.com/office/drawing/2014/main" id="{B9DDD07C-9987-4648-A3F9-A2003D685076}"/>
              </a:ext>
            </a:extLst>
          </p:cNvPr>
          <p:cNvSpPr>
            <a:spLocks xmlns:a="http://schemas.openxmlformats.org/drawingml/2006/main" noGrp="1"/>
          </p:cNvSpPr>
          <p:nvPr/>
        </p:nvSpPr>
        <p:spPr>
          <a:xfrm xmlns:a="http://schemas.openxmlformats.org/drawingml/2006/main">
            <a:off x="876300" y="838200"/>
            <a:ext cx="16287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4050" b="1" i="0">
                <a:solidFill>
                  <a:srgbClr val="123B63"/>
                </a:solidFill>
                <a:latin typeface="Arial"/>
                <a:ea typeface="Arial"/>
                <a:cs typeface="Arial"/>
              </a:defRPr>
            </a:pPr>
            <a:r>
              <a:rPr sz="4050" b="1" i="0">
                <a:solidFill>
                  <a:srgbClr val="123B63"/>
                </a:solidFill>
                <a:latin typeface="Arial"/>
                <a:ea typeface="Arial"/>
                <a:cs typeface="Arial"/>
              </a:rPr>
              <a:t>How a real pentester works</a:t>
            </a:r>
          </a:p>
        </p:txBody>
      </p:sp>
      <p:sp>
        <p:nvSpPr>
          <p:cNvPr id="3" name="">
            <a:extLst xmlns:a="http://schemas.openxmlformats.org/drawingml/2006/main">
              <a:ext uri="{FF2B5EF4-FFF2-40B4-BE49-F238E27FC236}">
                <a16:creationId xmlns:a16="http://schemas.microsoft.com/office/drawing/2014/main" id="{1DE84D67-BA08-47E8-B159-3701374F405E}"/>
              </a:ext>
            </a:extLst>
          </p:cNvPr>
          <p:cNvSpPr>
            <a:spLocks xmlns:a="http://schemas.openxmlformats.org/drawingml/2006/main" noGrp="1"/>
          </p:cNvSpPr>
          <p:nvPr/>
        </p:nvSpPr>
        <p:spPr>
          <a:xfrm xmlns:a="http://schemas.openxmlformats.org/drawingml/2006/main">
            <a:off x="876300" y="1790700"/>
            <a:ext cx="16535400" cy="0"/>
          </a:xfrm>
          <a:prstGeom xmlns:a="http://schemas.openxmlformats.org/drawingml/2006/main" prst="line">
            <a:avLst/>
          </a:prstGeom>
          <a:noFill xmlns:a="http://schemas.openxmlformats.org/drawingml/2006/main"/>
          <a:ln xmlns:a="http://schemas.openxmlformats.org/drawingml/2006/main" w="19050">
            <a:solidFill>
              <a:srgbClr val="CAD6DE"/>
            </a:solidFill>
          </a:ln>
        </p:spPr>
      </p:sp>
      <p:sp>
        <p:nvSpPr>
          <p:cNvPr id="4" name="">
            <a:extLst xmlns:a="http://schemas.openxmlformats.org/drawingml/2006/main">
              <a:ext uri="{FF2B5EF4-FFF2-40B4-BE49-F238E27FC236}">
                <a16:creationId xmlns:a16="http://schemas.microsoft.com/office/drawing/2014/main" id="{B5B25EB2-1D2C-442E-8BB4-DE73E925DC4C}"/>
              </a:ext>
            </a:extLst>
          </p:cNvPr>
          <p:cNvSpPr>
            <a:spLocks xmlns:a="http://schemas.openxmlformats.org/drawingml/2006/main" noGrp="1"/>
          </p:cNvSpPr>
          <p:nvPr/>
        </p:nvSpPr>
        <p:spPr>
          <a:xfrm xmlns:a="http://schemas.openxmlformats.org/drawingml/2006/main">
            <a:off x="16764000" y="9525000"/>
            <a:ext cx="647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575" b="1" i="0">
                <a:solidFill>
                  <a:srgbClr val="79A9C8"/>
                </a:solidFill>
                <a:latin typeface="Arial"/>
                <a:ea typeface="Arial"/>
                <a:cs typeface="Arial"/>
              </a:defRPr>
            </a:pPr>
            <a:r>
              <a:rPr sz="1575" b="1" i="0">
                <a:solidFill>
                  <a:srgbClr val="79A9C8"/>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AD70BFD5-1A4F-4DE1-AD3A-6BDE3B002416}"/>
              </a:ext>
            </a:extLst>
          </p:cNvPr>
          <p:cNvSpPr>
            <a:spLocks xmlns:a="http://schemas.openxmlformats.org/drawingml/2006/main" noGrp="1"/>
          </p:cNvSpPr>
          <p:nvPr/>
        </p:nvSpPr>
        <p:spPr>
          <a:xfrm xmlns:a="http://schemas.openxmlformats.org/drawingml/2006/main">
            <a:off x="876300" y="2076450"/>
            <a:ext cx="1628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950" b="1" i="0">
                <a:solidFill>
                  <a:srgbClr val="2D8B84"/>
                </a:solidFill>
                <a:latin typeface="Arial"/>
                <a:ea typeface="Arial"/>
                <a:cs typeface="Arial"/>
              </a:defRPr>
            </a:pPr>
            <a:r>
              <a:rPr sz="1950" b="1" i="0">
                <a:solidFill>
                  <a:srgbClr val="2D8B84"/>
                </a:solidFill>
                <a:latin typeface="Arial"/>
                <a:ea typeface="Arial"/>
                <a:cs typeface="Arial"/>
              </a:rPr>
              <a:t>THE WORLD MODEL FOR PENTESTING</a:t>
            </a:r>
          </a:p>
        </p:txBody>
      </p:sp>
      <p:sp>
        <p:nvSpPr>
          <p:cNvPr id="6" name="">
            <a:extLst xmlns:a="http://schemas.openxmlformats.org/drawingml/2006/main">
              <a:ext uri="{FF2B5EF4-FFF2-40B4-BE49-F238E27FC236}">
                <a16:creationId xmlns:a16="http://schemas.microsoft.com/office/drawing/2014/main" id="{041DA4C3-76C9-4000-B3AA-1C3AC779B156}"/>
              </a:ext>
            </a:extLst>
          </p:cNvPr>
          <p:cNvSpPr>
            <a:spLocks xmlns:a="http://schemas.openxmlformats.org/drawingml/2006/main" noGrp="1"/>
          </p:cNvSpPr>
          <p:nvPr/>
        </p:nvSpPr>
        <p:spPr>
          <a:xfrm xmlns:a="http://schemas.openxmlformats.org/drawingml/2006/main">
            <a:off x="876300" y="2819400"/>
            <a:ext cx="3562350" cy="2324100"/>
          </a:xfrm>
          <a:prstGeom xmlns:a="http://schemas.openxmlformats.org/drawingml/2006/main" prst="roundRect">
            <a:avLst>
              <a:gd name="adj" fmla="val 3279"/>
            </a:avLst>
          </a:prstGeom>
          <a:solidFill xmlns:a="http://schemas.openxmlformats.org/drawingml/2006/main">
            <a:srgbClr val="FFFDF9"/>
          </a:solidFill>
          <a:ln xmlns:a="http://schemas.openxmlformats.org/drawingml/2006/main" w="19050">
            <a:solidFill>
              <a:srgbClr val="CAD6DE"/>
            </a:solidFill>
          </a:ln>
        </p:spPr>
      </p:sp>
      <p:sp>
        <p:nvSpPr>
          <p:cNvPr id="7" name="">
            <a:extLst xmlns:a="http://schemas.openxmlformats.org/drawingml/2006/main">
              <a:ext uri="{FF2B5EF4-FFF2-40B4-BE49-F238E27FC236}">
                <a16:creationId xmlns:a16="http://schemas.microsoft.com/office/drawing/2014/main" id="{2630572F-EB3C-4577-B659-DB9930216CFF}"/>
              </a:ext>
            </a:extLst>
          </p:cNvPr>
          <p:cNvSpPr>
            <a:spLocks xmlns:a="http://schemas.openxmlformats.org/drawingml/2006/main" noGrp="1"/>
          </p:cNvSpPr>
          <p:nvPr/>
        </p:nvSpPr>
        <p:spPr>
          <a:xfrm xmlns:a="http://schemas.openxmlformats.org/drawingml/2006/main">
            <a:off x="876300" y="2819400"/>
            <a:ext cx="85725" cy="2324100"/>
          </a:xfrm>
          <a:prstGeom xmlns:a="http://schemas.openxmlformats.org/drawingml/2006/main" prst="rect">
            <a:avLst/>
          </a:prstGeom>
          <a:solidFill xmlns:a="http://schemas.openxmlformats.org/drawingml/2006/main">
            <a:srgbClr val="2D8B8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A00CA9F-B0C9-4DA1-8A37-A4804DB2FC20}"/>
              </a:ext>
            </a:extLst>
          </p:cNvPr>
          <p:cNvSpPr>
            <a:spLocks xmlns:a="http://schemas.openxmlformats.org/drawingml/2006/main" noGrp="1"/>
          </p:cNvSpPr>
          <p:nvPr/>
        </p:nvSpPr>
        <p:spPr>
          <a:xfrm xmlns:a="http://schemas.openxmlformats.org/drawingml/2006/main">
            <a:off x="1143000" y="3028950"/>
            <a:ext cx="3067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00" b="1" i="0">
                <a:solidFill>
                  <a:srgbClr val="123B63"/>
                </a:solidFill>
                <a:latin typeface="Arial"/>
                <a:ea typeface="Arial"/>
                <a:cs typeface="Arial"/>
              </a:defRPr>
            </a:pPr>
            <a:r>
              <a:rPr sz="2100" b="1" i="0">
                <a:solidFill>
                  <a:srgbClr val="123B63"/>
                </a:solidFill>
                <a:latin typeface="Arial"/>
                <a:ea typeface="Arial"/>
                <a:cs typeface="Arial"/>
              </a:rPr>
              <a:t>1 · Observe</a:t>
            </a:r>
          </a:p>
        </p:txBody>
      </p:sp>
      <p:sp>
        <p:nvSpPr>
          <p:cNvPr id="9" name="">
            <a:extLst xmlns:a="http://schemas.openxmlformats.org/drawingml/2006/main">
              <a:ext uri="{FF2B5EF4-FFF2-40B4-BE49-F238E27FC236}">
                <a16:creationId xmlns:a16="http://schemas.microsoft.com/office/drawing/2014/main" id="{E0E83961-728E-4906-A03D-077FAC7463F1}"/>
              </a:ext>
            </a:extLst>
          </p:cNvPr>
          <p:cNvSpPr>
            <a:spLocks xmlns:a="http://schemas.openxmlformats.org/drawingml/2006/main" noGrp="1"/>
          </p:cNvSpPr>
          <p:nvPr/>
        </p:nvSpPr>
        <p:spPr>
          <a:xfrm xmlns:a="http://schemas.openxmlformats.org/drawingml/2006/main">
            <a:off x="1143000" y="3562350"/>
            <a:ext cx="30670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0" i="0">
                <a:solidFill>
                  <a:srgbClr val="354F63"/>
                </a:solidFill>
                <a:latin typeface="Arial"/>
                <a:ea typeface="Arial"/>
                <a:cs typeface="Arial"/>
              </a:defRPr>
            </a:pPr>
            <a:r>
              <a:rPr sz="1650" b="0" i="0">
                <a:solidFill>
                  <a:srgbClr val="354F63"/>
                </a:solidFill>
                <a:latin typeface="Arial"/>
                <a:ea typeface="Arial"/>
                <a:cs typeface="Arial"/>
              </a:rPr>
              <a:t>Collect signals from tools, targets and prior evidence.</a:t>
            </a:r>
          </a:p>
        </p:txBody>
      </p:sp>
      <p:sp>
        <p:nvSpPr>
          <p:cNvPr id="10" name="">
            <a:extLst xmlns:a="http://schemas.openxmlformats.org/drawingml/2006/main">
              <a:ext uri="{FF2B5EF4-FFF2-40B4-BE49-F238E27FC236}">
                <a16:creationId xmlns:a16="http://schemas.microsoft.com/office/drawing/2014/main" id="{3B3CCA5E-EA2B-41C1-81BC-284CC5D1F4C1}"/>
              </a:ext>
            </a:extLst>
          </p:cNvPr>
          <p:cNvSpPr>
            <a:spLocks xmlns:a="http://schemas.openxmlformats.org/drawingml/2006/main" noGrp="1"/>
          </p:cNvSpPr>
          <p:nvPr/>
        </p:nvSpPr>
        <p:spPr>
          <a:xfrm xmlns:a="http://schemas.openxmlformats.org/drawingml/2006/main">
            <a:off x="4495800" y="3790950"/>
            <a:ext cx="266700" cy="285750"/>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1EC3809-0429-4779-87BE-3A16015D874E}"/>
              </a:ext>
            </a:extLst>
          </p:cNvPr>
          <p:cNvSpPr>
            <a:spLocks xmlns:a="http://schemas.openxmlformats.org/drawingml/2006/main" noGrp="1"/>
          </p:cNvSpPr>
          <p:nvPr/>
        </p:nvSpPr>
        <p:spPr>
          <a:xfrm xmlns:a="http://schemas.openxmlformats.org/drawingml/2006/main">
            <a:off x="4819650" y="2819400"/>
            <a:ext cx="3562350" cy="2324100"/>
          </a:xfrm>
          <a:prstGeom xmlns:a="http://schemas.openxmlformats.org/drawingml/2006/main" prst="roundRect">
            <a:avLst>
              <a:gd name="adj" fmla="val 3279"/>
            </a:avLst>
          </a:prstGeom>
          <a:solidFill xmlns:a="http://schemas.openxmlformats.org/drawingml/2006/main">
            <a:srgbClr val="FFFDF9"/>
          </a:solidFill>
          <a:ln xmlns:a="http://schemas.openxmlformats.org/drawingml/2006/main" w="19050">
            <a:solidFill>
              <a:srgbClr val="CAD6DE"/>
            </a:solidFill>
          </a:ln>
        </p:spPr>
      </p:sp>
      <p:sp>
        <p:nvSpPr>
          <p:cNvPr id="12" name="">
            <a:extLst xmlns:a="http://schemas.openxmlformats.org/drawingml/2006/main">
              <a:ext uri="{FF2B5EF4-FFF2-40B4-BE49-F238E27FC236}">
                <a16:creationId xmlns:a16="http://schemas.microsoft.com/office/drawing/2014/main" id="{C37121F1-60C7-40F3-B645-F4298AE0443B}"/>
              </a:ext>
            </a:extLst>
          </p:cNvPr>
          <p:cNvSpPr>
            <a:spLocks xmlns:a="http://schemas.openxmlformats.org/drawingml/2006/main" noGrp="1"/>
          </p:cNvSpPr>
          <p:nvPr/>
        </p:nvSpPr>
        <p:spPr>
          <a:xfrm xmlns:a="http://schemas.openxmlformats.org/drawingml/2006/main">
            <a:off x="4819650" y="2819400"/>
            <a:ext cx="85725" cy="2324100"/>
          </a:xfrm>
          <a:prstGeom xmlns:a="http://schemas.openxmlformats.org/drawingml/2006/main" prst="rect">
            <a:avLst/>
          </a:prstGeom>
          <a:solidFill xmlns:a="http://schemas.openxmlformats.org/drawingml/2006/main">
            <a:srgbClr val="2C6693"/>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F2F64C5-0F37-4E51-B800-EEC6F311B4AE}"/>
              </a:ext>
            </a:extLst>
          </p:cNvPr>
          <p:cNvSpPr>
            <a:spLocks xmlns:a="http://schemas.openxmlformats.org/drawingml/2006/main" noGrp="1"/>
          </p:cNvSpPr>
          <p:nvPr/>
        </p:nvSpPr>
        <p:spPr>
          <a:xfrm xmlns:a="http://schemas.openxmlformats.org/drawingml/2006/main">
            <a:off x="5086350" y="3028950"/>
            <a:ext cx="3067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00" b="1" i="0">
                <a:solidFill>
                  <a:srgbClr val="123B63"/>
                </a:solidFill>
                <a:latin typeface="Arial"/>
                <a:ea typeface="Arial"/>
                <a:cs typeface="Arial"/>
              </a:defRPr>
            </a:pPr>
            <a:r>
              <a:rPr sz="2100" b="1" i="0">
                <a:solidFill>
                  <a:srgbClr val="123B63"/>
                </a:solidFill>
                <a:latin typeface="Arial"/>
                <a:ea typeface="Arial"/>
                <a:cs typeface="Arial"/>
              </a:rPr>
              <a:t>2 · Store in memory</a:t>
            </a:r>
          </a:p>
        </p:txBody>
      </p:sp>
      <p:sp>
        <p:nvSpPr>
          <p:cNvPr id="14" name="">
            <a:extLst xmlns:a="http://schemas.openxmlformats.org/drawingml/2006/main">
              <a:ext uri="{FF2B5EF4-FFF2-40B4-BE49-F238E27FC236}">
                <a16:creationId xmlns:a16="http://schemas.microsoft.com/office/drawing/2014/main" id="{9EAD857A-49FA-4890-BD9A-2AD9CAAA9C4A}"/>
              </a:ext>
            </a:extLst>
          </p:cNvPr>
          <p:cNvSpPr>
            <a:spLocks xmlns:a="http://schemas.openxmlformats.org/drawingml/2006/main" noGrp="1"/>
          </p:cNvSpPr>
          <p:nvPr/>
        </p:nvSpPr>
        <p:spPr>
          <a:xfrm xmlns:a="http://schemas.openxmlformats.org/drawingml/2006/main">
            <a:off x="5086350" y="3562350"/>
            <a:ext cx="30670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0" i="0">
                <a:solidFill>
                  <a:srgbClr val="354F63"/>
                </a:solidFill>
                <a:latin typeface="Arial"/>
                <a:ea typeface="Arial"/>
                <a:cs typeface="Arial"/>
              </a:defRPr>
            </a:pPr>
            <a:r>
              <a:rPr sz="1650" b="0" i="0">
                <a:solidFill>
                  <a:srgbClr val="354F63"/>
                </a:solidFill>
                <a:latin typeface="Arial"/>
                <a:ea typeface="Arial"/>
                <a:cs typeface="Arial"/>
              </a:rPr>
              <a:t>Preserve assets, observations, relationships and source evidence.</a:t>
            </a:r>
          </a:p>
        </p:txBody>
      </p:sp>
      <p:sp>
        <p:nvSpPr>
          <p:cNvPr id="15" name="">
            <a:extLst xmlns:a="http://schemas.openxmlformats.org/drawingml/2006/main">
              <a:ext uri="{FF2B5EF4-FFF2-40B4-BE49-F238E27FC236}">
                <a16:creationId xmlns:a16="http://schemas.microsoft.com/office/drawing/2014/main" id="{EE69B9CD-98D7-45F7-BF8A-39B832DE4525}"/>
              </a:ext>
            </a:extLst>
          </p:cNvPr>
          <p:cNvSpPr>
            <a:spLocks xmlns:a="http://schemas.openxmlformats.org/drawingml/2006/main" noGrp="1"/>
          </p:cNvSpPr>
          <p:nvPr/>
        </p:nvSpPr>
        <p:spPr>
          <a:xfrm xmlns:a="http://schemas.openxmlformats.org/drawingml/2006/main">
            <a:off x="8439150" y="3790950"/>
            <a:ext cx="266700" cy="285750"/>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DE072733-9B9E-4F6E-8CD6-79C4BFD7E499}"/>
              </a:ext>
            </a:extLst>
          </p:cNvPr>
          <p:cNvSpPr>
            <a:spLocks xmlns:a="http://schemas.openxmlformats.org/drawingml/2006/main" noGrp="1"/>
          </p:cNvSpPr>
          <p:nvPr/>
        </p:nvSpPr>
        <p:spPr>
          <a:xfrm xmlns:a="http://schemas.openxmlformats.org/drawingml/2006/main">
            <a:off x="8763000" y="2819400"/>
            <a:ext cx="3562350" cy="2324100"/>
          </a:xfrm>
          <a:prstGeom xmlns:a="http://schemas.openxmlformats.org/drawingml/2006/main" prst="roundRect">
            <a:avLst>
              <a:gd name="adj" fmla="val 3279"/>
            </a:avLst>
          </a:prstGeom>
          <a:solidFill xmlns:a="http://schemas.openxmlformats.org/drawingml/2006/main">
            <a:srgbClr val="FFFDF9"/>
          </a:solidFill>
          <a:ln xmlns:a="http://schemas.openxmlformats.org/drawingml/2006/main" w="19050">
            <a:solidFill>
              <a:srgbClr val="CAD6DE"/>
            </a:solidFill>
          </a:ln>
        </p:spPr>
      </p:sp>
      <p:sp>
        <p:nvSpPr>
          <p:cNvPr id="17" name="">
            <a:extLst xmlns:a="http://schemas.openxmlformats.org/drawingml/2006/main">
              <a:ext uri="{FF2B5EF4-FFF2-40B4-BE49-F238E27FC236}">
                <a16:creationId xmlns:a16="http://schemas.microsoft.com/office/drawing/2014/main" id="{E271AE03-3A77-48C6-8132-8D191EE7F6B6}"/>
              </a:ext>
            </a:extLst>
          </p:cNvPr>
          <p:cNvSpPr>
            <a:spLocks xmlns:a="http://schemas.openxmlformats.org/drawingml/2006/main" noGrp="1"/>
          </p:cNvSpPr>
          <p:nvPr/>
        </p:nvSpPr>
        <p:spPr>
          <a:xfrm xmlns:a="http://schemas.openxmlformats.org/drawingml/2006/main">
            <a:off x="8763000" y="2819400"/>
            <a:ext cx="85725" cy="2324100"/>
          </a:xfrm>
          <a:prstGeom xmlns:a="http://schemas.openxmlformats.org/drawingml/2006/main" prst="rect">
            <a:avLst/>
          </a:prstGeom>
          <a:solidFill xmlns:a="http://schemas.openxmlformats.org/drawingml/2006/main">
            <a:srgbClr val="D79A32"/>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C8E48838-5A44-4772-ACE8-7D205D55E05C}"/>
              </a:ext>
            </a:extLst>
          </p:cNvPr>
          <p:cNvSpPr>
            <a:spLocks xmlns:a="http://schemas.openxmlformats.org/drawingml/2006/main" noGrp="1"/>
          </p:cNvSpPr>
          <p:nvPr/>
        </p:nvSpPr>
        <p:spPr>
          <a:xfrm xmlns:a="http://schemas.openxmlformats.org/drawingml/2006/main">
            <a:off x="9029700" y="3028950"/>
            <a:ext cx="3067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00" b="1" i="0">
                <a:solidFill>
                  <a:srgbClr val="123B63"/>
                </a:solidFill>
                <a:latin typeface="Arial"/>
                <a:ea typeface="Arial"/>
                <a:cs typeface="Arial"/>
              </a:defRPr>
            </a:pPr>
            <a:r>
              <a:rPr sz="2100" b="1" i="0">
                <a:solidFill>
                  <a:srgbClr val="123B63"/>
                </a:solidFill>
                <a:latin typeface="Arial"/>
                <a:ea typeface="Arial"/>
                <a:cs typeface="Arial"/>
              </a:rPr>
              <a:t>3 · Form a hypothesis</a:t>
            </a:r>
          </a:p>
        </p:txBody>
      </p:sp>
      <p:sp>
        <p:nvSpPr>
          <p:cNvPr id="19" name="">
            <a:extLst xmlns:a="http://schemas.openxmlformats.org/drawingml/2006/main">
              <a:ext uri="{FF2B5EF4-FFF2-40B4-BE49-F238E27FC236}">
                <a16:creationId xmlns:a16="http://schemas.microsoft.com/office/drawing/2014/main" id="{DC57077B-F865-4985-B2DB-3D53078FC08E}"/>
              </a:ext>
            </a:extLst>
          </p:cNvPr>
          <p:cNvSpPr>
            <a:spLocks xmlns:a="http://schemas.openxmlformats.org/drawingml/2006/main" noGrp="1"/>
          </p:cNvSpPr>
          <p:nvPr/>
        </p:nvSpPr>
        <p:spPr>
          <a:xfrm xmlns:a="http://schemas.openxmlformats.org/drawingml/2006/main">
            <a:off x="9029700" y="3562350"/>
            <a:ext cx="30670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0" i="0">
                <a:solidFill>
                  <a:srgbClr val="354F63"/>
                </a:solidFill>
                <a:latin typeface="Arial"/>
                <a:ea typeface="Arial"/>
                <a:cs typeface="Arial"/>
              </a:defRPr>
            </a:pPr>
            <a:r>
              <a:rPr sz="1650" b="0" i="0">
                <a:solidFill>
                  <a:srgbClr val="354F63"/>
                </a:solidFill>
                <a:latin typeface="Arial"/>
                <a:ea typeface="Arial"/>
                <a:cs typeface="Arial"/>
              </a:rPr>
              <a:t>Explain what the evidence may mean and what could be vulnerable.</a:t>
            </a:r>
          </a:p>
        </p:txBody>
      </p:sp>
      <p:sp>
        <p:nvSpPr>
          <p:cNvPr id="20" name="">
            <a:extLst xmlns:a="http://schemas.openxmlformats.org/drawingml/2006/main">
              <a:ext uri="{FF2B5EF4-FFF2-40B4-BE49-F238E27FC236}">
                <a16:creationId xmlns:a16="http://schemas.microsoft.com/office/drawing/2014/main" id="{0E587E22-8DA8-4ACF-8A51-E8FEC0C0E6AA}"/>
              </a:ext>
            </a:extLst>
          </p:cNvPr>
          <p:cNvSpPr>
            <a:spLocks xmlns:a="http://schemas.openxmlformats.org/drawingml/2006/main" noGrp="1"/>
          </p:cNvSpPr>
          <p:nvPr/>
        </p:nvSpPr>
        <p:spPr>
          <a:xfrm xmlns:a="http://schemas.openxmlformats.org/drawingml/2006/main">
            <a:off x="12382500" y="3790950"/>
            <a:ext cx="266700" cy="285750"/>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C4971C8B-CA50-4E5C-ADC8-C0CF1056B547}"/>
              </a:ext>
            </a:extLst>
          </p:cNvPr>
          <p:cNvSpPr>
            <a:spLocks xmlns:a="http://schemas.openxmlformats.org/drawingml/2006/main" noGrp="1"/>
          </p:cNvSpPr>
          <p:nvPr/>
        </p:nvSpPr>
        <p:spPr>
          <a:xfrm xmlns:a="http://schemas.openxmlformats.org/drawingml/2006/main">
            <a:off x="12706350" y="2819400"/>
            <a:ext cx="3562350" cy="2324100"/>
          </a:xfrm>
          <a:prstGeom xmlns:a="http://schemas.openxmlformats.org/drawingml/2006/main" prst="roundRect">
            <a:avLst>
              <a:gd name="adj" fmla="val 3279"/>
            </a:avLst>
          </a:prstGeom>
          <a:solidFill xmlns:a="http://schemas.openxmlformats.org/drawingml/2006/main">
            <a:srgbClr val="FFFDF9"/>
          </a:solidFill>
          <a:ln xmlns:a="http://schemas.openxmlformats.org/drawingml/2006/main" w="19050">
            <a:solidFill>
              <a:srgbClr val="CAD6DE"/>
            </a:solidFill>
          </a:ln>
        </p:spPr>
      </p:sp>
      <p:sp>
        <p:nvSpPr>
          <p:cNvPr id="22" name="">
            <a:extLst xmlns:a="http://schemas.openxmlformats.org/drawingml/2006/main">
              <a:ext uri="{FF2B5EF4-FFF2-40B4-BE49-F238E27FC236}">
                <a16:creationId xmlns:a16="http://schemas.microsoft.com/office/drawing/2014/main" id="{500201A9-706F-4F3A-A95C-F36F96A90AAD}"/>
              </a:ext>
            </a:extLst>
          </p:cNvPr>
          <p:cNvSpPr>
            <a:spLocks xmlns:a="http://schemas.openxmlformats.org/drawingml/2006/main" noGrp="1"/>
          </p:cNvSpPr>
          <p:nvPr/>
        </p:nvSpPr>
        <p:spPr>
          <a:xfrm xmlns:a="http://schemas.openxmlformats.org/drawingml/2006/main">
            <a:off x="12706350" y="2819400"/>
            <a:ext cx="85725" cy="2324100"/>
          </a:xfrm>
          <a:prstGeom xmlns:a="http://schemas.openxmlformats.org/drawingml/2006/main" prst="rect">
            <a:avLst/>
          </a:prstGeom>
          <a:solidFill xmlns:a="http://schemas.openxmlformats.org/drawingml/2006/main">
            <a:srgbClr val="C55B4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DBA6E0F2-3D5B-4693-9087-34C520DB1582}"/>
              </a:ext>
            </a:extLst>
          </p:cNvPr>
          <p:cNvSpPr>
            <a:spLocks xmlns:a="http://schemas.openxmlformats.org/drawingml/2006/main" noGrp="1"/>
          </p:cNvSpPr>
          <p:nvPr/>
        </p:nvSpPr>
        <p:spPr>
          <a:xfrm xmlns:a="http://schemas.openxmlformats.org/drawingml/2006/main">
            <a:off x="12973050" y="3028950"/>
            <a:ext cx="3067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00" b="1" i="0">
                <a:solidFill>
                  <a:srgbClr val="123B63"/>
                </a:solidFill>
                <a:latin typeface="Arial"/>
                <a:ea typeface="Arial"/>
                <a:cs typeface="Arial"/>
              </a:defRPr>
            </a:pPr>
            <a:r>
              <a:rPr sz="2100" b="1" i="0">
                <a:solidFill>
                  <a:srgbClr val="123B63"/>
                </a:solidFill>
                <a:latin typeface="Arial"/>
                <a:ea typeface="Arial"/>
                <a:cs typeface="Arial"/>
              </a:rPr>
              <a:t>4 · Test</a:t>
            </a:r>
          </a:p>
        </p:txBody>
      </p:sp>
      <p:sp>
        <p:nvSpPr>
          <p:cNvPr id="24" name="">
            <a:extLst xmlns:a="http://schemas.openxmlformats.org/drawingml/2006/main">
              <a:ext uri="{FF2B5EF4-FFF2-40B4-BE49-F238E27FC236}">
                <a16:creationId xmlns:a16="http://schemas.microsoft.com/office/drawing/2014/main" id="{5E683F2D-1926-4DDD-9B75-249E6191DB07}"/>
              </a:ext>
            </a:extLst>
          </p:cNvPr>
          <p:cNvSpPr>
            <a:spLocks xmlns:a="http://schemas.openxmlformats.org/drawingml/2006/main" noGrp="1"/>
          </p:cNvSpPr>
          <p:nvPr/>
        </p:nvSpPr>
        <p:spPr>
          <a:xfrm xmlns:a="http://schemas.openxmlformats.org/drawingml/2006/main">
            <a:off x="12973050" y="3562350"/>
            <a:ext cx="30670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0" i="0">
                <a:solidFill>
                  <a:srgbClr val="354F63"/>
                </a:solidFill>
                <a:latin typeface="Arial"/>
                <a:ea typeface="Arial"/>
                <a:cs typeface="Arial"/>
              </a:defRPr>
            </a:pPr>
            <a:r>
              <a:rPr sz="1650" b="0" i="0">
                <a:solidFill>
                  <a:srgbClr val="354F63"/>
                </a:solidFill>
                <a:latin typeface="Arial"/>
                <a:ea typeface="Arial"/>
                <a:cs typeface="Arial"/>
              </a:rPr>
              <a:t>Choose the next useful probe and run the appropriate security tool.</a:t>
            </a:r>
          </a:p>
        </p:txBody>
      </p:sp>
      <p:sp>
        <p:nvSpPr>
          <p:cNvPr id="25" name="">
            <a:extLst xmlns:a="http://schemas.openxmlformats.org/drawingml/2006/main">
              <a:ext uri="{FF2B5EF4-FFF2-40B4-BE49-F238E27FC236}">
                <a16:creationId xmlns:a16="http://schemas.microsoft.com/office/drawing/2014/main" id="{D2310BD6-477D-4D5B-B0ED-31745D6FCFFF}"/>
              </a:ext>
            </a:extLst>
          </p:cNvPr>
          <p:cNvSpPr>
            <a:spLocks xmlns:a="http://schemas.openxmlformats.org/drawingml/2006/main" noGrp="1"/>
          </p:cNvSpPr>
          <p:nvPr/>
        </p:nvSpPr>
        <p:spPr>
          <a:xfrm xmlns:a="http://schemas.openxmlformats.org/drawingml/2006/main">
            <a:off x="15830550" y="5276850"/>
            <a:ext cx="323850" cy="609600"/>
          </a:xfrm>
          <a:prstGeom xmlns:a="http://schemas.openxmlformats.org/drawingml/2006/main" prst="downArrow">
            <a:avLst/>
          </a:prstGeom>
          <a:solidFill xmlns:a="http://schemas.openxmlformats.org/drawingml/2006/main">
            <a:srgbClr val="79A9C8"/>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DB7158C2-7F90-425D-BA41-9708827A829E}"/>
              </a:ext>
            </a:extLst>
          </p:cNvPr>
          <p:cNvSpPr>
            <a:spLocks xmlns:a="http://schemas.openxmlformats.org/drawingml/2006/main" noGrp="1"/>
          </p:cNvSpPr>
          <p:nvPr/>
        </p:nvSpPr>
        <p:spPr>
          <a:xfrm xmlns:a="http://schemas.openxmlformats.org/drawingml/2006/main">
            <a:off x="12001500" y="6191250"/>
            <a:ext cx="4648200" cy="1771650"/>
          </a:xfrm>
          <a:prstGeom xmlns:a="http://schemas.openxmlformats.org/drawingml/2006/main" prst="roundRect">
            <a:avLst>
              <a:gd name="adj" fmla="val 4301"/>
            </a:avLst>
          </a:prstGeom>
          <a:solidFill xmlns:a="http://schemas.openxmlformats.org/drawingml/2006/main">
            <a:srgbClr val="FFFDF9"/>
          </a:solidFill>
          <a:ln xmlns:a="http://schemas.openxmlformats.org/drawingml/2006/main" w="19050">
            <a:solidFill>
              <a:srgbClr val="CAD6DE"/>
            </a:solidFill>
          </a:ln>
        </p:spPr>
      </p:sp>
      <p:sp>
        <p:nvSpPr>
          <p:cNvPr id="27" name="">
            <a:extLst xmlns:a="http://schemas.openxmlformats.org/drawingml/2006/main">
              <a:ext uri="{FF2B5EF4-FFF2-40B4-BE49-F238E27FC236}">
                <a16:creationId xmlns:a16="http://schemas.microsoft.com/office/drawing/2014/main" id="{76539D05-5869-4ECB-B8F5-881DB1940F86}"/>
              </a:ext>
            </a:extLst>
          </p:cNvPr>
          <p:cNvSpPr>
            <a:spLocks xmlns:a="http://schemas.openxmlformats.org/drawingml/2006/main" noGrp="1"/>
          </p:cNvSpPr>
          <p:nvPr/>
        </p:nvSpPr>
        <p:spPr>
          <a:xfrm xmlns:a="http://schemas.openxmlformats.org/drawingml/2006/main">
            <a:off x="12001500" y="6191250"/>
            <a:ext cx="85725" cy="1771650"/>
          </a:xfrm>
          <a:prstGeom xmlns:a="http://schemas.openxmlformats.org/drawingml/2006/main" prst="rect">
            <a:avLst/>
          </a:prstGeom>
          <a:solidFill xmlns:a="http://schemas.openxmlformats.org/drawingml/2006/main">
            <a:srgbClr val="4F8B64"/>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6965FF52-1253-49D4-B578-64E435BF0974}"/>
              </a:ext>
            </a:extLst>
          </p:cNvPr>
          <p:cNvSpPr>
            <a:spLocks xmlns:a="http://schemas.openxmlformats.org/drawingml/2006/main" noGrp="1"/>
          </p:cNvSpPr>
          <p:nvPr/>
        </p:nvSpPr>
        <p:spPr>
          <a:xfrm xmlns:a="http://schemas.openxmlformats.org/drawingml/2006/main">
            <a:off x="12268200" y="6400800"/>
            <a:ext cx="41529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00" b="1" i="0">
                <a:solidFill>
                  <a:srgbClr val="123B63"/>
                </a:solidFill>
                <a:latin typeface="Arial"/>
                <a:ea typeface="Arial"/>
                <a:cs typeface="Arial"/>
              </a:defRPr>
            </a:pPr>
            <a:r>
              <a:rPr sz="2100" b="1" i="0">
                <a:solidFill>
                  <a:srgbClr val="123B63"/>
                </a:solidFill>
                <a:latin typeface="Arial"/>
                <a:ea typeface="Arial"/>
                <a:cs typeface="Arial"/>
              </a:rPr>
              <a:t>5 · Validate</a:t>
            </a:r>
          </a:p>
        </p:txBody>
      </p:sp>
      <p:sp>
        <p:nvSpPr>
          <p:cNvPr id="29" name="">
            <a:extLst xmlns:a="http://schemas.openxmlformats.org/drawingml/2006/main">
              <a:ext uri="{FF2B5EF4-FFF2-40B4-BE49-F238E27FC236}">
                <a16:creationId xmlns:a16="http://schemas.microsoft.com/office/drawing/2014/main" id="{E1222D76-0AE3-4658-8E70-3C7FA32CEC0B}"/>
              </a:ext>
            </a:extLst>
          </p:cNvPr>
          <p:cNvSpPr>
            <a:spLocks xmlns:a="http://schemas.openxmlformats.org/drawingml/2006/main" noGrp="1"/>
          </p:cNvSpPr>
          <p:nvPr/>
        </p:nvSpPr>
        <p:spPr>
          <a:xfrm xmlns:a="http://schemas.openxmlformats.org/drawingml/2006/main">
            <a:off x="12268200" y="6934200"/>
            <a:ext cx="4152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0" i="0">
                <a:solidFill>
                  <a:srgbClr val="354F63"/>
                </a:solidFill>
                <a:latin typeface="Arial"/>
                <a:ea typeface="Arial"/>
                <a:cs typeface="Arial"/>
              </a:defRPr>
            </a:pPr>
            <a:r>
              <a:rPr sz="1650" b="0" i="0">
                <a:solidFill>
                  <a:srgbClr val="354F63"/>
                </a:solidFill>
                <a:latin typeface="Arial"/>
                <a:ea typeface="Arial"/>
                <a:cs typeface="Arial"/>
              </a:rPr>
              <a:t>Compare outcomes, reproduce the result and separate a lead from verified evidence.</a:t>
            </a:r>
          </a:p>
        </p:txBody>
      </p:sp>
      <p:sp>
        <p:nvSpPr>
          <p:cNvPr id="30" name="">
            <a:extLst xmlns:a="http://schemas.openxmlformats.org/drawingml/2006/main">
              <a:ext uri="{FF2B5EF4-FFF2-40B4-BE49-F238E27FC236}">
                <a16:creationId xmlns:a16="http://schemas.microsoft.com/office/drawing/2014/main" id="{0D59EB09-B323-446E-8F67-37C9581FAB41}"/>
              </a:ext>
            </a:extLst>
          </p:cNvPr>
          <p:cNvSpPr>
            <a:spLocks xmlns:a="http://schemas.openxmlformats.org/drawingml/2006/main" noGrp="1"/>
          </p:cNvSpPr>
          <p:nvPr/>
        </p:nvSpPr>
        <p:spPr>
          <a:xfrm xmlns:a="http://schemas.openxmlformats.org/drawingml/2006/main">
            <a:off x="11087100" y="6819900"/>
            <a:ext cx="723900" cy="342900"/>
          </a:xfrm>
          <a:prstGeom xmlns:a="http://schemas.openxmlformats.org/drawingml/2006/main" prst="leftArrow">
            <a:avLst/>
          </a:prstGeom>
          <a:solidFill xmlns:a="http://schemas.openxmlformats.org/drawingml/2006/main">
            <a:srgbClr val="79A9C8"/>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74F44229-0982-4FFB-BCFE-A81210895CB5}"/>
              </a:ext>
            </a:extLst>
          </p:cNvPr>
          <p:cNvSpPr>
            <a:spLocks xmlns:a="http://schemas.openxmlformats.org/drawingml/2006/main" noGrp="1"/>
          </p:cNvSpPr>
          <p:nvPr/>
        </p:nvSpPr>
        <p:spPr>
          <a:xfrm xmlns:a="http://schemas.openxmlformats.org/drawingml/2006/main">
            <a:off x="6000750" y="6191250"/>
            <a:ext cx="4857750" cy="1771650"/>
          </a:xfrm>
          <a:prstGeom xmlns:a="http://schemas.openxmlformats.org/drawingml/2006/main" prst="roundRect">
            <a:avLst>
              <a:gd name="adj" fmla="val 4301"/>
            </a:avLst>
          </a:prstGeom>
          <a:solidFill xmlns:a="http://schemas.openxmlformats.org/drawingml/2006/main">
            <a:srgbClr val="FFFDF9"/>
          </a:solidFill>
          <a:ln xmlns:a="http://schemas.openxmlformats.org/drawingml/2006/main" w="19050">
            <a:solidFill>
              <a:srgbClr val="CAD6DE"/>
            </a:solidFill>
          </a:ln>
        </p:spPr>
      </p:sp>
      <p:sp>
        <p:nvSpPr>
          <p:cNvPr id="32" name="">
            <a:extLst xmlns:a="http://schemas.openxmlformats.org/drawingml/2006/main">
              <a:ext uri="{FF2B5EF4-FFF2-40B4-BE49-F238E27FC236}">
                <a16:creationId xmlns:a16="http://schemas.microsoft.com/office/drawing/2014/main" id="{34BD2493-AC73-48AF-9CE9-B1057B125023}"/>
              </a:ext>
            </a:extLst>
          </p:cNvPr>
          <p:cNvSpPr>
            <a:spLocks xmlns:a="http://schemas.openxmlformats.org/drawingml/2006/main" noGrp="1"/>
          </p:cNvSpPr>
          <p:nvPr/>
        </p:nvSpPr>
        <p:spPr>
          <a:xfrm xmlns:a="http://schemas.openxmlformats.org/drawingml/2006/main">
            <a:off x="6000750" y="6191250"/>
            <a:ext cx="85725" cy="1771650"/>
          </a:xfrm>
          <a:prstGeom xmlns:a="http://schemas.openxmlformats.org/drawingml/2006/main" prst="rect">
            <a:avLst/>
          </a:prstGeom>
          <a:solidFill xmlns:a="http://schemas.openxmlformats.org/drawingml/2006/main">
            <a:srgbClr val="2D8B84"/>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67EB0F00-2BE7-4C3C-A995-871201FECAC3}"/>
              </a:ext>
            </a:extLst>
          </p:cNvPr>
          <p:cNvSpPr>
            <a:spLocks xmlns:a="http://schemas.openxmlformats.org/drawingml/2006/main" noGrp="1"/>
          </p:cNvSpPr>
          <p:nvPr/>
        </p:nvSpPr>
        <p:spPr>
          <a:xfrm xmlns:a="http://schemas.openxmlformats.org/drawingml/2006/main">
            <a:off x="6267450" y="6400800"/>
            <a:ext cx="4362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00" b="1" i="0">
                <a:solidFill>
                  <a:srgbClr val="123B63"/>
                </a:solidFill>
                <a:latin typeface="Arial"/>
                <a:ea typeface="Arial"/>
                <a:cs typeface="Arial"/>
              </a:defRPr>
            </a:pPr>
            <a:r>
              <a:rPr sz="2100" b="1" i="0">
                <a:solidFill>
                  <a:srgbClr val="123B63"/>
                </a:solidFill>
                <a:latin typeface="Arial"/>
                <a:ea typeface="Arial"/>
                <a:cs typeface="Arial"/>
              </a:rPr>
              <a:t>6 · Update memory</a:t>
            </a:r>
          </a:p>
        </p:txBody>
      </p:sp>
      <p:sp>
        <p:nvSpPr>
          <p:cNvPr id="34" name="">
            <a:extLst xmlns:a="http://schemas.openxmlformats.org/drawingml/2006/main">
              <a:ext uri="{FF2B5EF4-FFF2-40B4-BE49-F238E27FC236}">
                <a16:creationId xmlns:a16="http://schemas.microsoft.com/office/drawing/2014/main" id="{399FAB91-C541-4961-A54C-F550CDA4BE96}"/>
              </a:ext>
            </a:extLst>
          </p:cNvPr>
          <p:cNvSpPr>
            <a:spLocks xmlns:a="http://schemas.openxmlformats.org/drawingml/2006/main" noGrp="1"/>
          </p:cNvSpPr>
          <p:nvPr/>
        </p:nvSpPr>
        <p:spPr>
          <a:xfrm xmlns:a="http://schemas.openxmlformats.org/drawingml/2006/main">
            <a:off x="6267450" y="6934200"/>
            <a:ext cx="43624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0" i="0">
                <a:solidFill>
                  <a:srgbClr val="354F63"/>
                </a:solidFill>
                <a:latin typeface="Arial"/>
                <a:ea typeface="Arial"/>
                <a:cs typeface="Arial"/>
              </a:defRPr>
            </a:pPr>
            <a:r>
              <a:rPr sz="1650" b="0" i="0">
                <a:solidFill>
                  <a:srgbClr val="354F63"/>
                </a:solidFill>
                <a:latin typeface="Arial"/>
                <a:ea typeface="Arial"/>
                <a:cs typeface="Arial"/>
              </a:rPr>
              <a:t>Record what changed, connect the evidence and revise what should be tested next.</a:t>
            </a:r>
          </a:p>
        </p:txBody>
      </p:sp>
      <p:sp>
        <p:nvSpPr>
          <p:cNvPr id="35" name="">
            <a:extLst xmlns:a="http://schemas.openxmlformats.org/drawingml/2006/main">
              <a:ext uri="{FF2B5EF4-FFF2-40B4-BE49-F238E27FC236}">
                <a16:creationId xmlns:a16="http://schemas.microsoft.com/office/drawing/2014/main" id="{1DBFC6C8-C4F3-4F52-B071-25196E9575B7}"/>
              </a:ext>
            </a:extLst>
          </p:cNvPr>
          <p:cNvSpPr>
            <a:spLocks xmlns:a="http://schemas.openxmlformats.org/drawingml/2006/main" noGrp="1"/>
          </p:cNvSpPr>
          <p:nvPr/>
        </p:nvSpPr>
        <p:spPr>
          <a:xfrm xmlns:a="http://schemas.openxmlformats.org/drawingml/2006/main">
            <a:off x="5029200" y="6819900"/>
            <a:ext cx="742950" cy="342900"/>
          </a:xfrm>
          <a:prstGeom xmlns:a="http://schemas.openxmlformats.org/drawingml/2006/main" prst="leftArrow">
            <a:avLst/>
          </a:prstGeom>
          <a:solidFill xmlns:a="http://schemas.openxmlformats.org/drawingml/2006/main">
            <a:srgbClr val="79A9C8"/>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2E82EAE9-6C46-4F7D-9018-7D3D2D1F7C78}"/>
              </a:ext>
            </a:extLst>
          </p:cNvPr>
          <p:cNvSpPr>
            <a:spLocks xmlns:a="http://schemas.openxmlformats.org/drawingml/2006/main" noGrp="1"/>
          </p:cNvSpPr>
          <p:nvPr/>
        </p:nvSpPr>
        <p:spPr>
          <a:xfrm xmlns:a="http://schemas.openxmlformats.org/drawingml/2006/main">
            <a:off x="876300" y="6191250"/>
            <a:ext cx="3943350" cy="1771650"/>
          </a:xfrm>
          <a:prstGeom xmlns:a="http://schemas.openxmlformats.org/drawingml/2006/main" prst="roundRect">
            <a:avLst>
              <a:gd name="adj" fmla="val 4301"/>
            </a:avLst>
          </a:prstGeom>
          <a:solidFill xmlns:a="http://schemas.openxmlformats.org/drawingml/2006/main">
            <a:srgbClr val="123B63"/>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2A3B81B6-4E29-4CC7-BDC4-539FF9FAD7EF}"/>
              </a:ext>
            </a:extLst>
          </p:cNvPr>
          <p:cNvSpPr>
            <a:spLocks xmlns:a="http://schemas.openxmlformats.org/drawingml/2006/main" noGrp="1"/>
          </p:cNvSpPr>
          <p:nvPr/>
        </p:nvSpPr>
        <p:spPr>
          <a:xfrm xmlns:a="http://schemas.openxmlformats.org/drawingml/2006/main">
            <a:off x="1181100" y="651510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2325" b="1" i="0">
                <a:solidFill>
                  <a:srgbClr val="FFFFFF"/>
                </a:solidFill>
                <a:latin typeface="Arial"/>
                <a:ea typeface="Arial"/>
                <a:cs typeface="Arial"/>
              </a:defRPr>
            </a:pPr>
            <a:r>
              <a:rPr sz="2325" b="1" i="0">
                <a:solidFill>
                  <a:srgbClr val="FFFFFF"/>
                </a:solidFill>
                <a:latin typeface="Arial"/>
                <a:ea typeface="Arial"/>
                <a:cs typeface="Arial"/>
              </a:rPr>
              <a:t>Repeat</a:t>
            </a:r>
          </a:p>
        </p:txBody>
      </p:sp>
      <p:sp>
        <p:nvSpPr>
          <p:cNvPr id="38" name="">
            <a:extLst xmlns:a="http://schemas.openxmlformats.org/drawingml/2006/main">
              <a:ext uri="{FF2B5EF4-FFF2-40B4-BE49-F238E27FC236}">
                <a16:creationId xmlns:a16="http://schemas.microsoft.com/office/drawing/2014/main" id="{D979BFAA-7DA2-4402-94B3-8F61C6A66042}"/>
              </a:ext>
            </a:extLst>
          </p:cNvPr>
          <p:cNvSpPr>
            <a:spLocks xmlns:a="http://schemas.openxmlformats.org/drawingml/2006/main" noGrp="1"/>
          </p:cNvSpPr>
          <p:nvPr/>
        </p:nvSpPr>
        <p:spPr>
          <a:xfrm xmlns:a="http://schemas.openxmlformats.org/drawingml/2006/main">
            <a:off x="1181100" y="7067550"/>
            <a:ext cx="333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650" b="0" i="0">
                <a:solidFill>
                  <a:srgbClr val="DCE8F0"/>
                </a:solidFill>
                <a:latin typeface="Arial"/>
                <a:ea typeface="Arial"/>
                <a:cs typeface="Arial"/>
              </a:defRPr>
            </a:pPr>
            <a:r>
              <a:rPr sz="1650" b="0" i="0">
                <a:solidFill>
                  <a:srgbClr val="DCE8F0"/>
                </a:solidFill>
                <a:latin typeface="Arial"/>
                <a:ea typeface="Arial"/>
                <a:cs typeface="Arial"/>
              </a:rPr>
              <a:t>Updated memory changes what the tester observes and tests next.</a:t>
            </a:r>
          </a:p>
        </p:txBody>
      </p:sp>
      <p:sp>
        <p:nvSpPr>
          <p:cNvPr id="39" name="">
            <a:extLst xmlns:a="http://schemas.openxmlformats.org/drawingml/2006/main">
              <a:ext uri="{FF2B5EF4-FFF2-40B4-BE49-F238E27FC236}">
                <a16:creationId xmlns:a16="http://schemas.microsoft.com/office/drawing/2014/main" id="{8ECEC5B0-74E4-4954-9643-630C8D73FBFA}"/>
              </a:ext>
            </a:extLst>
          </p:cNvPr>
          <p:cNvSpPr>
            <a:spLocks xmlns:a="http://schemas.openxmlformats.org/drawingml/2006/main" noGrp="1"/>
          </p:cNvSpPr>
          <p:nvPr/>
        </p:nvSpPr>
        <p:spPr>
          <a:xfrm xmlns:a="http://schemas.openxmlformats.org/drawingml/2006/main">
            <a:off x="2533650" y="5353050"/>
            <a:ext cx="323850" cy="609600"/>
          </a:xfrm>
          <a:prstGeom xmlns:a="http://schemas.openxmlformats.org/drawingml/2006/main" prst="upArrow">
            <a:avLst/>
          </a:prstGeom>
          <a:solidFill xmlns:a="http://schemas.openxmlformats.org/drawingml/2006/main">
            <a:srgbClr val="79A9C8"/>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08FA6DAB-EF80-49E5-8C44-0F739F80BAEA}"/>
              </a:ext>
            </a:extLst>
          </p:cNvPr>
          <p:cNvSpPr>
            <a:spLocks xmlns:a="http://schemas.openxmlformats.org/drawingml/2006/main" noGrp="1"/>
          </p:cNvSpPr>
          <p:nvPr/>
        </p:nvSpPr>
        <p:spPr>
          <a:xfrm xmlns:a="http://schemas.openxmlformats.org/drawingml/2006/main">
            <a:off x="876300" y="8553450"/>
            <a:ext cx="1409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00" b="1" i="0">
                <a:solidFill>
                  <a:srgbClr val="123B63"/>
                </a:solidFill>
                <a:latin typeface="Arial"/>
                <a:ea typeface="Arial"/>
                <a:cs typeface="Arial"/>
              </a:defRPr>
            </a:pPr>
            <a:r>
              <a:rPr sz="2100" b="1" i="0">
                <a:solidFill>
                  <a:srgbClr val="123B63"/>
                </a:solidFill>
                <a:latin typeface="Arial"/>
                <a:ea typeface="Arial"/>
                <a:cs typeface="Arial"/>
              </a:rPr>
              <a:t>The assessment is a continuous evidence loop—not a one-time scanner run.</a:t>
            </a:r>
          </a:p>
        </p:txBody>
      </p:sp>
      <p:sp>
        <p:nvSpPr>
          <p:cNvPr id="41" name="">
            <a:hlinkClick xmlns:a="http://schemas.openxmlformats.org/drawingml/2006/main" xmlns:r="http://schemas.openxmlformats.org/officeDocument/2006/relationships" r:id="R8e66eb2b22ac4dd3" action="ppaction://hlinksldjump"/>
            <a:extLst xmlns:a="http://schemas.openxmlformats.org/drawingml/2006/main">
              <a:ext uri="{FF2B5EF4-FFF2-40B4-BE49-F238E27FC236}">
                <a16:creationId xmlns:a16="http://schemas.microsoft.com/office/drawing/2014/main" id="{B1FAB22E-2FB9-4E66-AE72-5699A1FED02F}"/>
              </a:ext>
            </a:extLst>
          </p:cNvPr>
          <p:cNvSpPr>
            <a:spLocks xmlns:a="http://schemas.openxmlformats.org/drawingml/2006/main" noGrp="1"/>
          </p:cNvSpPr>
          <p:nvPr/>
        </p:nvSpPr>
        <p:spPr>
          <a:xfrm xmlns:a="http://schemas.openxmlformats.org/drawingml/2006/main">
            <a:off x="14382750" y="8439150"/>
            <a:ext cx="2743200" cy="609600"/>
          </a:xfrm>
          <a:prstGeom xmlns:a="http://schemas.openxmlformats.org/drawingml/2006/main" prst="roundRect">
            <a:avLst>
              <a:gd name="adj" fmla="val 12500"/>
            </a:avLst>
          </a:prstGeom>
          <a:solidFill xmlns:a="http://schemas.openxmlformats.org/drawingml/2006/main">
            <a:srgbClr val="123B63"/>
          </a:solidFill>
          <a:ln xmlns:a="http://schemas.openxmlformats.org/drawingml/2006/main" w="0">
            <a:noFill/>
          </a:ln>
        </p:spPr>
        <p:txBody>
          <a:bodyPr xmlns:a="http://schemas.openxmlformats.org/drawingml/2006/main" lIns="152400" tIns="76200" rIns="152400" bIns="76200" anchor="ctr">
            <a:normAutofit fontScale="92302"/>
          </a:bodyPr>
          <a:lstStyle xmlns:a="http://schemas.openxmlformats.org/drawingml/2006/main"/>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 Back to architecture</a:t>
            </a:r>
          </a:p>
        </p:txBody>
      </p:sp>
    </p:spTree>
    <p:extLst>
      <p:ext uri="{BB962C8B-B14F-4D97-AF65-F5344CB8AC3E}">
        <p14:creationId xmlns:p14="http://schemas.microsoft.com/office/powerpoint/2010/main" val="1340458130"/>
      </p:ext>
    </p:extLst>
  </p:cSld>
  <p:transition spd="med" advClick="1">
    <p:fade/>
  </p:transition>
</p:sld>
</file>

<file path=ppt/slides/slide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3DC2604F-67FD-41EA-BA12-221BAD098459}"/>
              </a:ext>
            </a:extLst>
          </p:cNvPr>
          <p:cNvSpPr>
            <a:spLocks xmlns:a="http://schemas.openxmlformats.org/drawingml/2006/main" noGrp="1"/>
          </p:cNvSpPr>
          <p:nvPr/>
        </p:nvSpPr>
        <p:spPr>
          <a:xfrm xmlns:a="http://schemas.openxmlformats.org/drawingml/2006/main">
            <a:off x="876300" y="4381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1" i="0">
                <a:solidFill>
                  <a:srgbClr val="2D8B84"/>
                </a:solidFill>
                <a:latin typeface="Arial"/>
                <a:ea typeface="Arial"/>
                <a:cs typeface="Arial"/>
              </a:defRPr>
            </a:pPr>
            <a:r>
              <a:rPr sz="1575" b="1" i="0">
                <a:solidFill>
                  <a:srgbClr val="2D8B84"/>
                </a:solidFill>
                <a:latin typeface="Arial"/>
                <a:ea typeface="Arial"/>
                <a:cs typeface="Arial"/>
              </a:rPr>
              <a:t>07 / PHASE AGENTS</a:t>
            </a:r>
          </a:p>
        </p:txBody>
      </p:sp>
      <p:sp>
        <p:nvSpPr>
          <p:cNvPr id="2" name="">
            <a:extLst xmlns:a="http://schemas.openxmlformats.org/drawingml/2006/main">
              <a:ext uri="{FF2B5EF4-FFF2-40B4-BE49-F238E27FC236}">
                <a16:creationId xmlns:a16="http://schemas.microsoft.com/office/drawing/2014/main" id="{21C24D92-1FFD-4B59-917D-34C6029CA820}"/>
              </a:ext>
            </a:extLst>
          </p:cNvPr>
          <p:cNvSpPr>
            <a:spLocks xmlns:a="http://schemas.openxmlformats.org/drawingml/2006/main" noGrp="1"/>
          </p:cNvSpPr>
          <p:nvPr/>
        </p:nvSpPr>
        <p:spPr>
          <a:xfrm xmlns:a="http://schemas.openxmlformats.org/drawingml/2006/main">
            <a:off x="876300" y="838200"/>
            <a:ext cx="16287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4050" b="1" i="0">
                <a:solidFill>
                  <a:srgbClr val="123B63"/>
                </a:solidFill>
                <a:latin typeface="Arial"/>
                <a:ea typeface="Arial"/>
                <a:cs typeface="Arial"/>
              </a:defRPr>
            </a:pPr>
            <a:r>
              <a:rPr sz="4050" b="1" i="0">
                <a:solidFill>
                  <a:srgbClr val="123B63"/>
                </a:solidFill>
                <a:latin typeface="Arial"/>
                <a:ea typeface="Arial"/>
                <a:cs typeface="Arial"/>
              </a:rPr>
              <a:t>Specialized agents for each testing phase</a:t>
            </a:r>
          </a:p>
        </p:txBody>
      </p:sp>
      <p:sp>
        <p:nvSpPr>
          <p:cNvPr id="3" name="">
            <a:extLst xmlns:a="http://schemas.openxmlformats.org/drawingml/2006/main">
              <a:ext uri="{FF2B5EF4-FFF2-40B4-BE49-F238E27FC236}">
                <a16:creationId xmlns:a16="http://schemas.microsoft.com/office/drawing/2014/main" id="{F3CEA3F9-D839-4D51-89AD-032A1C6F8D18}"/>
              </a:ext>
            </a:extLst>
          </p:cNvPr>
          <p:cNvSpPr>
            <a:spLocks xmlns:a="http://schemas.openxmlformats.org/drawingml/2006/main" noGrp="1"/>
          </p:cNvSpPr>
          <p:nvPr/>
        </p:nvSpPr>
        <p:spPr>
          <a:xfrm xmlns:a="http://schemas.openxmlformats.org/drawingml/2006/main">
            <a:off x="876300" y="1790700"/>
            <a:ext cx="16535400" cy="0"/>
          </a:xfrm>
          <a:prstGeom xmlns:a="http://schemas.openxmlformats.org/drawingml/2006/main" prst="line">
            <a:avLst/>
          </a:prstGeom>
          <a:noFill xmlns:a="http://schemas.openxmlformats.org/drawingml/2006/main"/>
          <a:ln xmlns:a="http://schemas.openxmlformats.org/drawingml/2006/main" w="19050">
            <a:solidFill>
              <a:srgbClr val="CAD6DE"/>
            </a:solidFill>
          </a:ln>
        </p:spPr>
      </p:sp>
      <p:sp>
        <p:nvSpPr>
          <p:cNvPr id="4" name="">
            <a:extLst xmlns:a="http://schemas.openxmlformats.org/drawingml/2006/main">
              <a:ext uri="{FF2B5EF4-FFF2-40B4-BE49-F238E27FC236}">
                <a16:creationId xmlns:a16="http://schemas.microsoft.com/office/drawing/2014/main" id="{F4142B5D-1DDE-4A4B-89C7-922A4987AFB2}"/>
              </a:ext>
            </a:extLst>
          </p:cNvPr>
          <p:cNvSpPr>
            <a:spLocks xmlns:a="http://schemas.openxmlformats.org/drawingml/2006/main" noGrp="1"/>
          </p:cNvSpPr>
          <p:nvPr/>
        </p:nvSpPr>
        <p:spPr>
          <a:xfrm xmlns:a="http://schemas.openxmlformats.org/drawingml/2006/main">
            <a:off x="16764000" y="9525000"/>
            <a:ext cx="647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575" b="1" i="0">
                <a:solidFill>
                  <a:srgbClr val="79A9C8"/>
                </a:solidFill>
                <a:latin typeface="Arial"/>
                <a:ea typeface="Arial"/>
                <a:cs typeface="Arial"/>
              </a:defRPr>
            </a:pPr>
            <a:r>
              <a:rPr sz="1575" b="1" i="0">
                <a:solidFill>
                  <a:srgbClr val="79A9C8"/>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F768A4DF-9558-458E-997C-E2FC13704A64}"/>
              </a:ext>
            </a:extLst>
          </p:cNvPr>
          <p:cNvSpPr>
            <a:spLocks xmlns:a="http://schemas.openxmlformats.org/drawingml/2006/main" noGrp="1"/>
          </p:cNvSpPr>
          <p:nvPr/>
        </p:nvSpPr>
        <p:spPr>
          <a:xfrm xmlns:a="http://schemas.openxmlformats.org/drawingml/2006/main">
            <a:off x="876300" y="2114550"/>
            <a:ext cx="1628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2175" b="0" i="0">
                <a:solidFill>
                  <a:srgbClr val="354F63"/>
                </a:solidFill>
                <a:latin typeface="Arial"/>
                <a:ea typeface="Arial"/>
                <a:cs typeface="Arial"/>
              </a:defRPr>
            </a:pPr>
            <a:r>
              <a:rPr sz="2175" b="0" i="0">
                <a:solidFill>
                  <a:srgbClr val="354F63"/>
                </a:solidFill>
                <a:latin typeface="Arial"/>
                <a:ea typeface="Arial"/>
                <a:cs typeface="Arial"/>
              </a:rPr>
              <a:t>Standard pentest methodology is divided among specialized agents.</a:t>
            </a:r>
          </a:p>
        </p:txBody>
      </p:sp>
      <p:sp>
        <p:nvSpPr>
          <p:cNvPr id="6" name="">
            <a:extLst xmlns:a="http://schemas.openxmlformats.org/drawingml/2006/main">
              <a:ext uri="{FF2B5EF4-FFF2-40B4-BE49-F238E27FC236}">
                <a16:creationId xmlns:a16="http://schemas.microsoft.com/office/drawing/2014/main" id="{B4B1DE2F-A677-4C03-A49E-65D8D65F6863}"/>
              </a:ext>
            </a:extLst>
          </p:cNvPr>
          <p:cNvSpPr>
            <a:spLocks xmlns:a="http://schemas.openxmlformats.org/drawingml/2006/main" noGrp="1"/>
          </p:cNvSpPr>
          <p:nvPr/>
        </p:nvSpPr>
        <p:spPr>
          <a:xfrm xmlns:a="http://schemas.openxmlformats.org/drawingml/2006/main">
            <a:off x="1123950" y="2971800"/>
            <a:ext cx="15278100" cy="2876550"/>
          </a:xfrm>
          <a:prstGeom xmlns:a="http://schemas.openxmlformats.org/drawingml/2006/main" prst="roundRect">
            <a:avLst>
              <a:gd name="adj" fmla="val 2649"/>
            </a:avLst>
          </a:prstGeom>
          <a:solidFill xmlns:a="http://schemas.openxmlformats.org/drawingml/2006/main">
            <a:srgbClr val="FFFFFF"/>
          </a:solidFill>
          <a:ln xmlns:a="http://schemas.openxmlformats.org/drawingml/2006/main" w="19050">
            <a:solidFill>
              <a:srgbClr val="CAD6DE"/>
            </a:solidFill>
          </a:ln>
        </p:spPr>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fa1681c5e0d4436e"/>
          <a:stretch xmlns:a="http://schemas.openxmlformats.org/drawingml/2006/main"/>
        </p:blipFill>
        <p:spPr>
          <a:xfrm xmlns:a="http://schemas.openxmlformats.org/drawingml/2006/main">
            <a:off x="1543050" y="3333750"/>
            <a:ext cx="14439900" cy="20955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1A2DED60-87BC-4F4E-AF2D-EDB4E38984E6}"/>
              </a:ext>
            </a:extLst>
          </p:cNvPr>
          <p:cNvSpPr>
            <a:spLocks xmlns:a="http://schemas.openxmlformats.org/drawingml/2006/main" noGrp="1"/>
          </p:cNvSpPr>
          <p:nvPr/>
        </p:nvSpPr>
        <p:spPr>
          <a:xfrm xmlns:a="http://schemas.openxmlformats.org/drawingml/2006/main">
            <a:off x="876300" y="6477000"/>
            <a:ext cx="4972050" cy="1847850"/>
          </a:xfrm>
          <a:prstGeom xmlns:a="http://schemas.openxmlformats.org/drawingml/2006/main" prst="roundRect">
            <a:avLst>
              <a:gd name="adj" fmla="val 4124"/>
            </a:avLst>
          </a:prstGeom>
          <a:solidFill xmlns:a="http://schemas.openxmlformats.org/drawingml/2006/main">
            <a:srgbClr val="FFFDF9"/>
          </a:solidFill>
          <a:ln xmlns:a="http://schemas.openxmlformats.org/drawingml/2006/main" w="19050">
            <a:solidFill>
              <a:srgbClr val="CAD6DE"/>
            </a:solidFill>
          </a:ln>
        </p:spPr>
      </p:sp>
      <p:sp>
        <p:nvSpPr>
          <p:cNvPr id="9" name="">
            <a:extLst xmlns:a="http://schemas.openxmlformats.org/drawingml/2006/main">
              <a:ext uri="{FF2B5EF4-FFF2-40B4-BE49-F238E27FC236}">
                <a16:creationId xmlns:a16="http://schemas.microsoft.com/office/drawing/2014/main" id="{FF304BCF-F0A6-4BC9-B426-5C20F1F7E6A4}"/>
              </a:ext>
            </a:extLst>
          </p:cNvPr>
          <p:cNvSpPr>
            <a:spLocks xmlns:a="http://schemas.openxmlformats.org/drawingml/2006/main" noGrp="1"/>
          </p:cNvSpPr>
          <p:nvPr/>
        </p:nvSpPr>
        <p:spPr>
          <a:xfrm xmlns:a="http://schemas.openxmlformats.org/drawingml/2006/main">
            <a:off x="876300" y="6477000"/>
            <a:ext cx="85725" cy="1847850"/>
          </a:xfrm>
          <a:prstGeom xmlns:a="http://schemas.openxmlformats.org/drawingml/2006/main" prst="rect">
            <a:avLst/>
          </a:prstGeom>
          <a:solidFill xmlns:a="http://schemas.openxmlformats.org/drawingml/2006/main">
            <a:srgbClr val="2D8B8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7C07585-A096-434A-A96C-A52ABD6269E2}"/>
              </a:ext>
            </a:extLst>
          </p:cNvPr>
          <p:cNvSpPr>
            <a:spLocks xmlns:a="http://schemas.openxmlformats.org/drawingml/2006/main" noGrp="1"/>
          </p:cNvSpPr>
          <p:nvPr/>
        </p:nvSpPr>
        <p:spPr>
          <a:xfrm xmlns:a="http://schemas.openxmlformats.org/drawingml/2006/main">
            <a:off x="1143000" y="6686550"/>
            <a:ext cx="447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025" b="1" i="0">
                <a:solidFill>
                  <a:srgbClr val="123B63"/>
                </a:solidFill>
                <a:latin typeface="Arial"/>
                <a:ea typeface="Arial"/>
                <a:cs typeface="Arial"/>
              </a:defRPr>
            </a:pPr>
            <a:r>
              <a:rPr sz="2025" b="1" i="0">
                <a:solidFill>
                  <a:srgbClr val="123B63"/>
                </a:solidFill>
                <a:latin typeface="Arial"/>
                <a:ea typeface="Arial"/>
                <a:cs typeface="Arial"/>
              </a:rPr>
              <a:t>Reconnaissance</a:t>
            </a:r>
          </a:p>
        </p:txBody>
      </p:sp>
      <p:sp>
        <p:nvSpPr>
          <p:cNvPr id="11" name="">
            <a:extLst xmlns:a="http://schemas.openxmlformats.org/drawingml/2006/main">
              <a:ext uri="{FF2B5EF4-FFF2-40B4-BE49-F238E27FC236}">
                <a16:creationId xmlns:a16="http://schemas.microsoft.com/office/drawing/2014/main" id="{C22D3C28-8CF8-419F-99A8-D2891FD19B2D}"/>
              </a:ext>
            </a:extLst>
          </p:cNvPr>
          <p:cNvSpPr>
            <a:spLocks xmlns:a="http://schemas.openxmlformats.org/drawingml/2006/main" noGrp="1"/>
          </p:cNvSpPr>
          <p:nvPr/>
        </p:nvSpPr>
        <p:spPr>
          <a:xfrm xmlns:a="http://schemas.openxmlformats.org/drawingml/2006/main">
            <a:off x="1143000" y="7219950"/>
            <a:ext cx="4476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0" i="0">
                <a:solidFill>
                  <a:srgbClr val="354F63"/>
                </a:solidFill>
                <a:latin typeface="Arial"/>
                <a:ea typeface="Arial"/>
                <a:cs typeface="Arial"/>
              </a:defRPr>
            </a:pPr>
            <a:r>
              <a:rPr sz="1575" b="0" i="0">
                <a:solidFill>
                  <a:srgbClr val="354F63"/>
                </a:solidFill>
                <a:latin typeface="Arial"/>
                <a:ea typeface="Arial"/>
                <a:cs typeface="Arial"/>
              </a:rPr>
              <a:t>Maps the attack surface using discovery, DNS, probing and service-enumeration tools.</a:t>
            </a:r>
          </a:p>
        </p:txBody>
      </p:sp>
      <p:sp>
        <p:nvSpPr>
          <p:cNvPr id="12" name="">
            <a:extLst xmlns:a="http://schemas.openxmlformats.org/drawingml/2006/main">
              <a:ext uri="{FF2B5EF4-FFF2-40B4-BE49-F238E27FC236}">
                <a16:creationId xmlns:a16="http://schemas.microsoft.com/office/drawing/2014/main" id="{18EFF43E-D477-4CB9-94D8-6E7FDC74678E}"/>
              </a:ext>
            </a:extLst>
          </p:cNvPr>
          <p:cNvSpPr>
            <a:spLocks xmlns:a="http://schemas.openxmlformats.org/drawingml/2006/main" noGrp="1"/>
          </p:cNvSpPr>
          <p:nvPr/>
        </p:nvSpPr>
        <p:spPr>
          <a:xfrm xmlns:a="http://schemas.openxmlformats.org/drawingml/2006/main">
            <a:off x="6134100" y="6477000"/>
            <a:ext cx="4972050" cy="1847850"/>
          </a:xfrm>
          <a:prstGeom xmlns:a="http://schemas.openxmlformats.org/drawingml/2006/main" prst="roundRect">
            <a:avLst>
              <a:gd name="adj" fmla="val 4124"/>
            </a:avLst>
          </a:prstGeom>
          <a:solidFill xmlns:a="http://schemas.openxmlformats.org/drawingml/2006/main">
            <a:srgbClr val="FFFDF9"/>
          </a:solidFill>
          <a:ln xmlns:a="http://schemas.openxmlformats.org/drawingml/2006/main" w="19050">
            <a:solidFill>
              <a:srgbClr val="CAD6DE"/>
            </a:solidFill>
          </a:ln>
        </p:spPr>
      </p:sp>
      <p:sp>
        <p:nvSpPr>
          <p:cNvPr id="13" name="">
            <a:extLst xmlns:a="http://schemas.openxmlformats.org/drawingml/2006/main">
              <a:ext uri="{FF2B5EF4-FFF2-40B4-BE49-F238E27FC236}">
                <a16:creationId xmlns:a16="http://schemas.microsoft.com/office/drawing/2014/main" id="{64669A9D-88DB-4902-B1BA-D4C70BE96704}"/>
              </a:ext>
            </a:extLst>
          </p:cNvPr>
          <p:cNvSpPr>
            <a:spLocks xmlns:a="http://schemas.openxmlformats.org/drawingml/2006/main" noGrp="1"/>
          </p:cNvSpPr>
          <p:nvPr/>
        </p:nvSpPr>
        <p:spPr>
          <a:xfrm xmlns:a="http://schemas.openxmlformats.org/drawingml/2006/main">
            <a:off x="6134100" y="6477000"/>
            <a:ext cx="85725" cy="1847850"/>
          </a:xfrm>
          <a:prstGeom xmlns:a="http://schemas.openxmlformats.org/drawingml/2006/main" prst="rect">
            <a:avLst/>
          </a:prstGeom>
          <a:solidFill xmlns:a="http://schemas.openxmlformats.org/drawingml/2006/main">
            <a:srgbClr val="2C6693"/>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C1550529-7B86-463C-A884-03727C5BD63E}"/>
              </a:ext>
            </a:extLst>
          </p:cNvPr>
          <p:cNvSpPr>
            <a:spLocks xmlns:a="http://schemas.openxmlformats.org/drawingml/2006/main" noGrp="1"/>
          </p:cNvSpPr>
          <p:nvPr/>
        </p:nvSpPr>
        <p:spPr>
          <a:xfrm xmlns:a="http://schemas.openxmlformats.org/drawingml/2006/main">
            <a:off x="6400800" y="6686550"/>
            <a:ext cx="447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025" b="1" i="0">
                <a:solidFill>
                  <a:srgbClr val="123B63"/>
                </a:solidFill>
                <a:latin typeface="Arial"/>
                <a:ea typeface="Arial"/>
                <a:cs typeface="Arial"/>
              </a:defRPr>
            </a:pPr>
            <a:r>
              <a:rPr sz="2025" b="1" i="0">
                <a:solidFill>
                  <a:srgbClr val="123B63"/>
                </a:solidFill>
                <a:latin typeface="Arial"/>
                <a:ea typeface="Arial"/>
                <a:cs typeface="Arial"/>
              </a:rPr>
              <a:t>Vulnerability</a:t>
            </a:r>
          </a:p>
        </p:txBody>
      </p:sp>
      <p:sp>
        <p:nvSpPr>
          <p:cNvPr id="15" name="">
            <a:extLst xmlns:a="http://schemas.openxmlformats.org/drawingml/2006/main">
              <a:ext uri="{FF2B5EF4-FFF2-40B4-BE49-F238E27FC236}">
                <a16:creationId xmlns:a16="http://schemas.microsoft.com/office/drawing/2014/main" id="{3F3C70CA-6D3A-406A-9A6D-8A2132B76EA3}"/>
              </a:ext>
            </a:extLst>
          </p:cNvPr>
          <p:cNvSpPr>
            <a:spLocks xmlns:a="http://schemas.openxmlformats.org/drawingml/2006/main" noGrp="1"/>
          </p:cNvSpPr>
          <p:nvPr/>
        </p:nvSpPr>
        <p:spPr>
          <a:xfrm xmlns:a="http://schemas.openxmlformats.org/drawingml/2006/main">
            <a:off x="6400800" y="7219950"/>
            <a:ext cx="4476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0" i="0">
                <a:solidFill>
                  <a:srgbClr val="354F63"/>
                </a:solidFill>
                <a:latin typeface="Arial"/>
                <a:ea typeface="Arial"/>
                <a:cs typeface="Arial"/>
              </a:defRPr>
            </a:pPr>
            <a:r>
              <a:rPr sz="1575" b="0" i="0">
                <a:solidFill>
                  <a:srgbClr val="354F63"/>
                </a:solidFill>
                <a:latin typeface="Arial"/>
                <a:ea typeface="Arial"/>
                <a:cs typeface="Arial"/>
              </a:rPr>
              <a:t>Tests the mapped surface with network, web and vulnerability-analysis tools.</a:t>
            </a:r>
          </a:p>
        </p:txBody>
      </p:sp>
      <p:sp>
        <p:nvSpPr>
          <p:cNvPr id="16" name="">
            <a:extLst xmlns:a="http://schemas.openxmlformats.org/drawingml/2006/main">
              <a:ext uri="{FF2B5EF4-FFF2-40B4-BE49-F238E27FC236}">
                <a16:creationId xmlns:a16="http://schemas.microsoft.com/office/drawing/2014/main" id="{DE6393A9-7653-42C4-B97A-21FA4218BD73}"/>
              </a:ext>
            </a:extLst>
          </p:cNvPr>
          <p:cNvSpPr>
            <a:spLocks xmlns:a="http://schemas.openxmlformats.org/drawingml/2006/main" noGrp="1"/>
          </p:cNvSpPr>
          <p:nvPr/>
        </p:nvSpPr>
        <p:spPr>
          <a:xfrm xmlns:a="http://schemas.openxmlformats.org/drawingml/2006/main">
            <a:off x="11391900" y="6477000"/>
            <a:ext cx="4972050" cy="1847850"/>
          </a:xfrm>
          <a:prstGeom xmlns:a="http://schemas.openxmlformats.org/drawingml/2006/main" prst="roundRect">
            <a:avLst>
              <a:gd name="adj" fmla="val 4124"/>
            </a:avLst>
          </a:prstGeom>
          <a:solidFill xmlns:a="http://schemas.openxmlformats.org/drawingml/2006/main">
            <a:srgbClr val="FFFDF9"/>
          </a:solidFill>
          <a:ln xmlns:a="http://schemas.openxmlformats.org/drawingml/2006/main" w="19050">
            <a:solidFill>
              <a:srgbClr val="CAD6DE"/>
            </a:solidFill>
          </a:ln>
        </p:spPr>
      </p:sp>
      <p:sp>
        <p:nvSpPr>
          <p:cNvPr id="17" name="">
            <a:extLst xmlns:a="http://schemas.openxmlformats.org/drawingml/2006/main">
              <a:ext uri="{FF2B5EF4-FFF2-40B4-BE49-F238E27FC236}">
                <a16:creationId xmlns:a16="http://schemas.microsoft.com/office/drawing/2014/main" id="{952636E2-16CA-4A11-BE79-AC695206D77D}"/>
              </a:ext>
            </a:extLst>
          </p:cNvPr>
          <p:cNvSpPr>
            <a:spLocks xmlns:a="http://schemas.openxmlformats.org/drawingml/2006/main" noGrp="1"/>
          </p:cNvSpPr>
          <p:nvPr/>
        </p:nvSpPr>
        <p:spPr>
          <a:xfrm xmlns:a="http://schemas.openxmlformats.org/drawingml/2006/main">
            <a:off x="11391900" y="6477000"/>
            <a:ext cx="85725" cy="1847850"/>
          </a:xfrm>
          <a:prstGeom xmlns:a="http://schemas.openxmlformats.org/drawingml/2006/main" prst="rect">
            <a:avLst/>
          </a:prstGeom>
          <a:solidFill xmlns:a="http://schemas.openxmlformats.org/drawingml/2006/main">
            <a:srgbClr val="4F8B6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DE89E8C6-BD12-4150-9802-68178E54E2B4}"/>
              </a:ext>
            </a:extLst>
          </p:cNvPr>
          <p:cNvSpPr>
            <a:spLocks xmlns:a="http://schemas.openxmlformats.org/drawingml/2006/main" noGrp="1"/>
          </p:cNvSpPr>
          <p:nvPr/>
        </p:nvSpPr>
        <p:spPr>
          <a:xfrm xmlns:a="http://schemas.openxmlformats.org/drawingml/2006/main">
            <a:off x="11658600" y="6686550"/>
            <a:ext cx="447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025" b="1" i="0">
                <a:solidFill>
                  <a:srgbClr val="123B63"/>
                </a:solidFill>
                <a:latin typeface="Arial"/>
                <a:ea typeface="Arial"/>
                <a:cs typeface="Arial"/>
              </a:defRPr>
            </a:pPr>
            <a:r>
              <a:rPr sz="2025" b="1" i="0">
                <a:solidFill>
                  <a:srgbClr val="123B63"/>
                </a:solidFill>
                <a:latin typeface="Arial"/>
                <a:ea typeface="Arial"/>
                <a:cs typeface="Arial"/>
              </a:rPr>
              <a:t>Validation</a:t>
            </a:r>
          </a:p>
        </p:txBody>
      </p:sp>
      <p:sp>
        <p:nvSpPr>
          <p:cNvPr id="19" name="">
            <a:extLst xmlns:a="http://schemas.openxmlformats.org/drawingml/2006/main">
              <a:ext uri="{FF2B5EF4-FFF2-40B4-BE49-F238E27FC236}">
                <a16:creationId xmlns:a16="http://schemas.microsoft.com/office/drawing/2014/main" id="{684F3A3E-F900-4720-9BB0-C4AE067012EC}"/>
              </a:ext>
            </a:extLst>
          </p:cNvPr>
          <p:cNvSpPr>
            <a:spLocks xmlns:a="http://schemas.openxmlformats.org/drawingml/2006/main" noGrp="1"/>
          </p:cNvSpPr>
          <p:nvPr/>
        </p:nvSpPr>
        <p:spPr>
          <a:xfrm xmlns:a="http://schemas.openxmlformats.org/drawingml/2006/main">
            <a:off x="11658600" y="7219950"/>
            <a:ext cx="4476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0" i="0">
                <a:solidFill>
                  <a:srgbClr val="354F63"/>
                </a:solidFill>
                <a:latin typeface="Arial"/>
                <a:ea typeface="Arial"/>
                <a:cs typeface="Arial"/>
              </a:defRPr>
            </a:pPr>
            <a:r>
              <a:rPr sz="1575" b="0" i="0">
                <a:solidFill>
                  <a:srgbClr val="354F63"/>
                </a:solidFill>
                <a:latin typeface="Arial"/>
                <a:ea typeface="Arial"/>
                <a:cs typeface="Arial"/>
              </a:rPr>
              <a:t>Confirms evidence and separates reproducible findings from scanner leads.</a:t>
            </a:r>
          </a:p>
        </p:txBody>
      </p:sp>
      <p:sp>
        <p:nvSpPr>
          <p:cNvPr id="20" name="">
            <a:extLst xmlns:a="http://schemas.openxmlformats.org/drawingml/2006/main">
              <a:ext uri="{FF2B5EF4-FFF2-40B4-BE49-F238E27FC236}">
                <a16:creationId xmlns:a16="http://schemas.microsoft.com/office/drawing/2014/main" id="{957A77A9-D64F-4666-9F52-7ABDE8BE5AA9}"/>
              </a:ext>
            </a:extLst>
          </p:cNvPr>
          <p:cNvSpPr>
            <a:spLocks xmlns:a="http://schemas.openxmlformats.org/drawingml/2006/main" noGrp="1"/>
          </p:cNvSpPr>
          <p:nvPr/>
        </p:nvSpPr>
        <p:spPr>
          <a:xfrm xmlns:a="http://schemas.openxmlformats.org/drawingml/2006/main">
            <a:off x="876300" y="87058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950" b="1" i="0">
                <a:solidFill>
                  <a:srgbClr val="123B63"/>
                </a:solidFill>
                <a:latin typeface="Arial"/>
                <a:ea typeface="Arial"/>
                <a:cs typeface="Arial"/>
              </a:defRPr>
            </a:pPr>
            <a:r>
              <a:rPr sz="1950" b="1" i="0">
                <a:solidFill>
                  <a:srgbClr val="123B63"/>
                </a:solidFill>
                <a:latin typeface="Arial"/>
                <a:ea typeface="Arial"/>
                <a:cs typeface="Arial"/>
              </a:rPr>
              <a:t>Each agent has its own tools and skill files, but all agents operate on the same shared memory.</a:t>
            </a:r>
          </a:p>
        </p:txBody>
      </p:sp>
      <p:sp>
        <p:nvSpPr>
          <p:cNvPr id="21" name="">
            <a:hlinkClick xmlns:a="http://schemas.openxmlformats.org/drawingml/2006/main" xmlns:r="http://schemas.openxmlformats.org/officeDocument/2006/relationships" r:id="Rc4f903dbed4f4d6e" action="ppaction://hlinksldjump"/>
            <a:extLst xmlns:a="http://schemas.openxmlformats.org/drawingml/2006/main">
              <a:ext uri="{FF2B5EF4-FFF2-40B4-BE49-F238E27FC236}">
                <a16:creationId xmlns:a16="http://schemas.microsoft.com/office/drawing/2014/main" id="{7919A571-7815-4B62-836A-537D7E979C00}"/>
              </a:ext>
            </a:extLst>
          </p:cNvPr>
          <p:cNvSpPr>
            <a:spLocks xmlns:a="http://schemas.openxmlformats.org/drawingml/2006/main" noGrp="1"/>
          </p:cNvSpPr>
          <p:nvPr/>
        </p:nvSpPr>
        <p:spPr>
          <a:xfrm xmlns:a="http://schemas.openxmlformats.org/drawingml/2006/main">
            <a:off x="14382750" y="8553450"/>
            <a:ext cx="2743200" cy="609600"/>
          </a:xfrm>
          <a:prstGeom xmlns:a="http://schemas.openxmlformats.org/drawingml/2006/main" prst="roundRect">
            <a:avLst>
              <a:gd name="adj" fmla="val 12500"/>
            </a:avLst>
          </a:prstGeom>
          <a:solidFill xmlns:a="http://schemas.openxmlformats.org/drawingml/2006/main">
            <a:srgbClr val="123B63"/>
          </a:solidFill>
          <a:ln xmlns:a="http://schemas.openxmlformats.org/drawingml/2006/main" w="0">
            <a:noFill/>
          </a:ln>
        </p:spPr>
        <p:txBody>
          <a:bodyPr xmlns:a="http://schemas.openxmlformats.org/drawingml/2006/main" lIns="152400" tIns="76200" rIns="152400" bIns="76200" anchor="ctr">
            <a:normAutofit fontScale="92302"/>
          </a:bodyPr>
          <a:lstStyle xmlns:a="http://schemas.openxmlformats.org/drawingml/2006/main"/>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 Back to architecture</a:t>
            </a:r>
          </a:p>
        </p:txBody>
      </p:sp>
    </p:spTree>
    <p:extLst>
      <p:ext uri="{BB962C8B-B14F-4D97-AF65-F5344CB8AC3E}">
        <p14:creationId xmlns:p14="http://schemas.microsoft.com/office/powerpoint/2010/main" val="1494466047"/>
      </p:ext>
    </p:extLst>
  </p:cSld>
  <p:transition spd="med" advClick="1">
    <p:fade/>
  </p:transition>
</p:sld>
</file>

<file path=ppt/slides/slide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DD83F9C7-6A8D-46E8-80CA-AEFD2E5D07F7}"/>
              </a:ext>
            </a:extLst>
          </p:cNvPr>
          <p:cNvSpPr>
            <a:spLocks xmlns:a="http://schemas.openxmlformats.org/drawingml/2006/main" noGrp="1"/>
          </p:cNvSpPr>
          <p:nvPr/>
        </p:nvSpPr>
        <p:spPr>
          <a:xfrm xmlns:a="http://schemas.openxmlformats.org/drawingml/2006/main">
            <a:off x="876300" y="4381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1" i="0">
                <a:solidFill>
                  <a:srgbClr val="2D8B84"/>
                </a:solidFill>
                <a:latin typeface="Arial"/>
                <a:ea typeface="Arial"/>
                <a:cs typeface="Arial"/>
              </a:defRPr>
            </a:pPr>
            <a:r>
              <a:rPr sz="1575" b="1" i="0">
                <a:solidFill>
                  <a:srgbClr val="2D8B84"/>
                </a:solidFill>
                <a:latin typeface="Arial"/>
                <a:ea typeface="Arial"/>
                <a:cs typeface="Arial"/>
              </a:rPr>
              <a:t>08 / DUAL-MODE EXECUTION</a:t>
            </a:r>
          </a:p>
        </p:txBody>
      </p:sp>
      <p:sp>
        <p:nvSpPr>
          <p:cNvPr id="2" name="">
            <a:extLst xmlns:a="http://schemas.openxmlformats.org/drawingml/2006/main">
              <a:ext uri="{FF2B5EF4-FFF2-40B4-BE49-F238E27FC236}">
                <a16:creationId xmlns:a16="http://schemas.microsoft.com/office/drawing/2014/main" id="{6E9E93D8-6094-46F2-9D1A-70BF2B333F60}"/>
              </a:ext>
            </a:extLst>
          </p:cNvPr>
          <p:cNvSpPr>
            <a:spLocks xmlns:a="http://schemas.openxmlformats.org/drawingml/2006/main" noGrp="1"/>
          </p:cNvSpPr>
          <p:nvPr/>
        </p:nvSpPr>
        <p:spPr>
          <a:xfrm xmlns:a="http://schemas.openxmlformats.org/drawingml/2006/main">
            <a:off x="876300" y="838200"/>
            <a:ext cx="16287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4050" b="1" i="0">
                <a:solidFill>
                  <a:srgbClr val="123B63"/>
                </a:solidFill>
                <a:latin typeface="Arial"/>
                <a:ea typeface="Arial"/>
                <a:cs typeface="Arial"/>
              </a:defRPr>
            </a:pPr>
            <a:r>
              <a:rPr sz="4050" b="1" i="0">
                <a:solidFill>
                  <a:srgbClr val="123B63"/>
                </a:solidFill>
                <a:latin typeface="Arial"/>
                <a:ea typeface="Arial"/>
                <a:cs typeface="Arial"/>
              </a:rPr>
              <a:t>How will it all work?</a:t>
            </a:r>
          </a:p>
        </p:txBody>
      </p:sp>
      <p:sp>
        <p:nvSpPr>
          <p:cNvPr id="3" name="">
            <a:extLst xmlns:a="http://schemas.openxmlformats.org/drawingml/2006/main">
              <a:ext uri="{FF2B5EF4-FFF2-40B4-BE49-F238E27FC236}">
                <a16:creationId xmlns:a16="http://schemas.microsoft.com/office/drawing/2014/main" id="{D0A5ECB6-D82E-443A-9743-CA122A4C09DF}"/>
              </a:ext>
            </a:extLst>
          </p:cNvPr>
          <p:cNvSpPr>
            <a:spLocks xmlns:a="http://schemas.openxmlformats.org/drawingml/2006/main" noGrp="1"/>
          </p:cNvSpPr>
          <p:nvPr/>
        </p:nvSpPr>
        <p:spPr>
          <a:xfrm xmlns:a="http://schemas.openxmlformats.org/drawingml/2006/main">
            <a:off x="876300" y="1790700"/>
            <a:ext cx="16535400" cy="0"/>
          </a:xfrm>
          <a:prstGeom xmlns:a="http://schemas.openxmlformats.org/drawingml/2006/main" prst="line">
            <a:avLst/>
          </a:prstGeom>
          <a:noFill xmlns:a="http://schemas.openxmlformats.org/drawingml/2006/main"/>
          <a:ln xmlns:a="http://schemas.openxmlformats.org/drawingml/2006/main" w="19050">
            <a:solidFill>
              <a:srgbClr val="CAD6DE"/>
            </a:solidFill>
          </a:ln>
        </p:spPr>
      </p:sp>
      <p:sp>
        <p:nvSpPr>
          <p:cNvPr id="4" name="">
            <a:extLst xmlns:a="http://schemas.openxmlformats.org/drawingml/2006/main">
              <a:ext uri="{FF2B5EF4-FFF2-40B4-BE49-F238E27FC236}">
                <a16:creationId xmlns:a16="http://schemas.microsoft.com/office/drawing/2014/main" id="{21F8B0B2-2B0D-4DFE-A6C3-DCD5BCA348A4}"/>
              </a:ext>
            </a:extLst>
          </p:cNvPr>
          <p:cNvSpPr>
            <a:spLocks xmlns:a="http://schemas.openxmlformats.org/drawingml/2006/main" noGrp="1"/>
          </p:cNvSpPr>
          <p:nvPr/>
        </p:nvSpPr>
        <p:spPr>
          <a:xfrm xmlns:a="http://schemas.openxmlformats.org/drawingml/2006/main">
            <a:off x="16764000" y="9525000"/>
            <a:ext cx="647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575" b="1" i="0">
                <a:solidFill>
                  <a:srgbClr val="79A9C8"/>
                </a:solidFill>
                <a:latin typeface="Arial"/>
                <a:ea typeface="Arial"/>
                <a:cs typeface="Arial"/>
              </a:defRPr>
            </a:pPr>
            <a:r>
              <a:rPr sz="1575" b="1" i="0">
                <a:solidFill>
                  <a:srgbClr val="79A9C8"/>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ABD9EF9B-19A2-465A-9FF7-2CA2ABDEF2AC}"/>
              </a:ext>
            </a:extLst>
          </p:cNvPr>
          <p:cNvSpPr>
            <a:spLocks xmlns:a="http://schemas.openxmlformats.org/drawingml/2006/main" noGrp="1"/>
          </p:cNvSpPr>
          <p:nvPr/>
        </p:nvSpPr>
        <p:spPr>
          <a:xfrm xmlns:a="http://schemas.openxmlformats.org/drawingml/2006/main">
            <a:off x="1123950" y="2114550"/>
            <a:ext cx="15278100" cy="3905250"/>
          </a:xfrm>
          <a:prstGeom xmlns:a="http://schemas.openxmlformats.org/drawingml/2006/main" prst="roundRect">
            <a:avLst>
              <a:gd name="adj" fmla="val 1951"/>
            </a:avLst>
          </a:prstGeom>
          <a:solidFill xmlns:a="http://schemas.openxmlformats.org/drawingml/2006/main">
            <a:srgbClr val="FFFFFF"/>
          </a:solidFill>
          <a:ln xmlns:a="http://schemas.openxmlformats.org/drawingml/2006/main" w="19050">
            <a:solidFill>
              <a:srgbClr val="CAD6DE"/>
            </a:solidFill>
          </a:ln>
        </p:spPr>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eb806deb62f7420a"/>
          <a:stretch xmlns:a="http://schemas.openxmlformats.org/drawingml/2006/main"/>
        </p:blipFill>
        <p:spPr>
          <a:xfrm xmlns:a="http://schemas.openxmlformats.org/drawingml/2006/main">
            <a:off x="2763887" y="2419350"/>
            <a:ext cx="11998226" cy="32956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BFBC02B1-D91C-4595-AF72-A0A53BAF3A4B}"/>
              </a:ext>
            </a:extLst>
          </p:cNvPr>
          <p:cNvSpPr>
            <a:spLocks xmlns:a="http://schemas.openxmlformats.org/drawingml/2006/main" noGrp="1"/>
          </p:cNvSpPr>
          <p:nvPr/>
        </p:nvSpPr>
        <p:spPr>
          <a:xfrm xmlns:a="http://schemas.openxmlformats.org/drawingml/2006/main">
            <a:off x="876300" y="6477000"/>
            <a:ext cx="7620000" cy="1866900"/>
          </a:xfrm>
          <a:prstGeom xmlns:a="http://schemas.openxmlformats.org/drawingml/2006/main" prst="roundRect">
            <a:avLst>
              <a:gd name="adj" fmla="val 4082"/>
            </a:avLst>
          </a:prstGeom>
          <a:solidFill xmlns:a="http://schemas.openxmlformats.org/drawingml/2006/main">
            <a:srgbClr val="FFFDF9"/>
          </a:solidFill>
          <a:ln xmlns:a="http://schemas.openxmlformats.org/drawingml/2006/main" w="19050">
            <a:solidFill>
              <a:srgbClr val="CAD6DE"/>
            </a:solidFill>
          </a:ln>
        </p:spPr>
      </p:sp>
      <p:sp>
        <p:nvSpPr>
          <p:cNvPr id="8" name="">
            <a:extLst xmlns:a="http://schemas.openxmlformats.org/drawingml/2006/main">
              <a:ext uri="{FF2B5EF4-FFF2-40B4-BE49-F238E27FC236}">
                <a16:creationId xmlns:a16="http://schemas.microsoft.com/office/drawing/2014/main" id="{B25C6FF7-1C4D-40B3-ACF4-CBCCA54F6469}"/>
              </a:ext>
            </a:extLst>
          </p:cNvPr>
          <p:cNvSpPr>
            <a:spLocks xmlns:a="http://schemas.openxmlformats.org/drawingml/2006/main" noGrp="1"/>
          </p:cNvSpPr>
          <p:nvPr/>
        </p:nvSpPr>
        <p:spPr>
          <a:xfrm xmlns:a="http://schemas.openxmlformats.org/drawingml/2006/main">
            <a:off x="876300" y="6477000"/>
            <a:ext cx="85725" cy="1866900"/>
          </a:xfrm>
          <a:prstGeom xmlns:a="http://schemas.openxmlformats.org/drawingml/2006/main" prst="rect">
            <a:avLst/>
          </a:prstGeom>
          <a:solidFill xmlns:a="http://schemas.openxmlformats.org/drawingml/2006/main">
            <a:srgbClr val="2D8B8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D4A67EC-8CB6-421E-9927-D2F755EFAF9C}"/>
              </a:ext>
            </a:extLst>
          </p:cNvPr>
          <p:cNvSpPr>
            <a:spLocks xmlns:a="http://schemas.openxmlformats.org/drawingml/2006/main" noGrp="1"/>
          </p:cNvSpPr>
          <p:nvPr/>
        </p:nvSpPr>
        <p:spPr>
          <a:xfrm xmlns:a="http://schemas.openxmlformats.org/drawingml/2006/main">
            <a:off x="1143000" y="6686550"/>
            <a:ext cx="7124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75" b="1" i="0">
                <a:solidFill>
                  <a:srgbClr val="123B63"/>
                </a:solidFill>
                <a:latin typeface="Arial"/>
                <a:ea typeface="Arial"/>
                <a:cs typeface="Arial"/>
              </a:defRPr>
            </a:pPr>
            <a:r>
              <a:rPr sz="2175" b="1" i="0">
                <a:solidFill>
                  <a:srgbClr val="123B63"/>
                </a:solidFill>
                <a:latin typeface="Arial"/>
                <a:ea typeface="Arial"/>
                <a:cs typeface="Arial"/>
              </a:rPr>
              <a:t>1 · Deterministic methodology</a:t>
            </a:r>
          </a:p>
        </p:txBody>
      </p:sp>
      <p:sp>
        <p:nvSpPr>
          <p:cNvPr id="10" name="">
            <a:extLst xmlns:a="http://schemas.openxmlformats.org/drawingml/2006/main">
              <a:ext uri="{FF2B5EF4-FFF2-40B4-BE49-F238E27FC236}">
                <a16:creationId xmlns:a16="http://schemas.microsoft.com/office/drawing/2014/main" id="{D69F3483-0C3D-42F9-85D4-3FEFE661954C}"/>
              </a:ext>
            </a:extLst>
          </p:cNvPr>
          <p:cNvSpPr>
            <a:spLocks xmlns:a="http://schemas.openxmlformats.org/drawingml/2006/main" noGrp="1"/>
          </p:cNvSpPr>
          <p:nvPr/>
        </p:nvSpPr>
        <p:spPr>
          <a:xfrm xmlns:a="http://schemas.openxmlformats.org/drawingml/2006/main">
            <a:off x="1143000" y="7219950"/>
            <a:ext cx="7124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354F63"/>
                </a:solidFill>
                <a:latin typeface="Arial"/>
                <a:ea typeface="Arial"/>
                <a:cs typeface="Arial"/>
              </a:defRPr>
            </a:pPr>
            <a:r>
              <a:rPr sz="1725" b="0" i="0">
                <a:solidFill>
                  <a:srgbClr val="354F63"/>
                </a:solidFill>
                <a:latin typeface="Arial"/>
                <a:ea typeface="Arial"/>
                <a:cs typeface="Arial"/>
              </a:rPr>
              <a:t>The battle-tested pentesting methodology runs through repeatable rules and tools without requiring an LLM.</a:t>
            </a:r>
          </a:p>
        </p:txBody>
      </p:sp>
      <p:sp>
        <p:nvSpPr>
          <p:cNvPr id="11" name="">
            <a:extLst xmlns:a="http://schemas.openxmlformats.org/drawingml/2006/main">
              <a:ext uri="{FF2B5EF4-FFF2-40B4-BE49-F238E27FC236}">
                <a16:creationId xmlns:a16="http://schemas.microsoft.com/office/drawing/2014/main" id="{0B406D83-146F-4EFE-BA07-48A3EB73FCB9}"/>
              </a:ext>
            </a:extLst>
          </p:cNvPr>
          <p:cNvSpPr>
            <a:spLocks xmlns:a="http://schemas.openxmlformats.org/drawingml/2006/main" noGrp="1"/>
          </p:cNvSpPr>
          <p:nvPr/>
        </p:nvSpPr>
        <p:spPr>
          <a:xfrm xmlns:a="http://schemas.openxmlformats.org/drawingml/2006/main">
            <a:off x="8839200" y="6477000"/>
            <a:ext cx="7810500" cy="1866900"/>
          </a:xfrm>
          <a:prstGeom xmlns:a="http://schemas.openxmlformats.org/drawingml/2006/main" prst="roundRect">
            <a:avLst>
              <a:gd name="adj" fmla="val 4082"/>
            </a:avLst>
          </a:prstGeom>
          <a:solidFill xmlns:a="http://schemas.openxmlformats.org/drawingml/2006/main">
            <a:srgbClr val="FFFDF9"/>
          </a:solidFill>
          <a:ln xmlns:a="http://schemas.openxmlformats.org/drawingml/2006/main" w="19050">
            <a:solidFill>
              <a:srgbClr val="CAD6DE"/>
            </a:solidFill>
          </a:ln>
        </p:spPr>
      </p:sp>
      <p:sp>
        <p:nvSpPr>
          <p:cNvPr id="12" name="">
            <a:extLst xmlns:a="http://schemas.openxmlformats.org/drawingml/2006/main">
              <a:ext uri="{FF2B5EF4-FFF2-40B4-BE49-F238E27FC236}">
                <a16:creationId xmlns:a16="http://schemas.microsoft.com/office/drawing/2014/main" id="{ABBB727F-9A5B-4380-A56D-95DEFB333CC8}"/>
              </a:ext>
            </a:extLst>
          </p:cNvPr>
          <p:cNvSpPr>
            <a:spLocks xmlns:a="http://schemas.openxmlformats.org/drawingml/2006/main" noGrp="1"/>
          </p:cNvSpPr>
          <p:nvPr/>
        </p:nvSpPr>
        <p:spPr>
          <a:xfrm xmlns:a="http://schemas.openxmlformats.org/drawingml/2006/main">
            <a:off x="8839200" y="6477000"/>
            <a:ext cx="85725" cy="1866900"/>
          </a:xfrm>
          <a:prstGeom xmlns:a="http://schemas.openxmlformats.org/drawingml/2006/main" prst="rect">
            <a:avLst/>
          </a:prstGeom>
          <a:solidFill xmlns:a="http://schemas.openxmlformats.org/drawingml/2006/main">
            <a:srgbClr val="D79A32"/>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93D50F3-CEF8-402D-A3B6-9A414A26C147}"/>
              </a:ext>
            </a:extLst>
          </p:cNvPr>
          <p:cNvSpPr>
            <a:spLocks xmlns:a="http://schemas.openxmlformats.org/drawingml/2006/main" noGrp="1"/>
          </p:cNvSpPr>
          <p:nvPr/>
        </p:nvSpPr>
        <p:spPr>
          <a:xfrm xmlns:a="http://schemas.openxmlformats.org/drawingml/2006/main">
            <a:off x="9105900" y="6686550"/>
            <a:ext cx="7315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75" b="1" i="0">
                <a:solidFill>
                  <a:srgbClr val="123B63"/>
                </a:solidFill>
                <a:latin typeface="Arial"/>
                <a:ea typeface="Arial"/>
                <a:cs typeface="Arial"/>
              </a:defRPr>
            </a:pPr>
            <a:r>
              <a:rPr sz="2175" b="1" i="0">
                <a:solidFill>
                  <a:srgbClr val="123B63"/>
                </a:solidFill>
                <a:latin typeface="Arial"/>
                <a:ea typeface="Arial"/>
                <a:cs typeface="Arial"/>
              </a:rPr>
              <a:t>2 · LLM oversight</a:t>
            </a:r>
          </a:p>
        </p:txBody>
      </p:sp>
      <p:sp>
        <p:nvSpPr>
          <p:cNvPr id="14" name="">
            <a:extLst xmlns:a="http://schemas.openxmlformats.org/drawingml/2006/main">
              <a:ext uri="{FF2B5EF4-FFF2-40B4-BE49-F238E27FC236}">
                <a16:creationId xmlns:a16="http://schemas.microsoft.com/office/drawing/2014/main" id="{AC56F1BB-8A4C-498E-B2B6-869619CDFA87}"/>
              </a:ext>
            </a:extLst>
          </p:cNvPr>
          <p:cNvSpPr>
            <a:spLocks xmlns:a="http://schemas.openxmlformats.org/drawingml/2006/main" noGrp="1"/>
          </p:cNvSpPr>
          <p:nvPr/>
        </p:nvSpPr>
        <p:spPr>
          <a:xfrm xmlns:a="http://schemas.openxmlformats.org/drawingml/2006/main">
            <a:off x="9105900" y="7219950"/>
            <a:ext cx="731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354F63"/>
                </a:solidFill>
                <a:latin typeface="Arial"/>
                <a:ea typeface="Arial"/>
                <a:cs typeface="Arial"/>
              </a:defRPr>
            </a:pPr>
            <a:r>
              <a:rPr sz="1725" b="0" i="0">
                <a:solidFill>
                  <a:srgbClr val="354F63"/>
                </a:solidFill>
                <a:latin typeface="Arial"/>
                <a:ea typeface="Arial"/>
                <a:cs typeface="Arial"/>
              </a:rPr>
              <a:t>The LLM oversees the assessment, performs contextual analysis and decides where deeper reasoning is useful.</a:t>
            </a:r>
          </a:p>
        </p:txBody>
      </p:sp>
      <p:sp>
        <p:nvSpPr>
          <p:cNvPr id="15" name="">
            <a:extLst xmlns:a="http://schemas.openxmlformats.org/drawingml/2006/main">
              <a:ext uri="{FF2B5EF4-FFF2-40B4-BE49-F238E27FC236}">
                <a16:creationId xmlns:a16="http://schemas.microsoft.com/office/drawing/2014/main" id="{FD1D6F2A-F639-470D-A8E9-71D7F94E439C}"/>
              </a:ext>
            </a:extLst>
          </p:cNvPr>
          <p:cNvSpPr>
            <a:spLocks xmlns:a="http://schemas.openxmlformats.org/drawingml/2006/main" noGrp="1"/>
          </p:cNvSpPr>
          <p:nvPr/>
        </p:nvSpPr>
        <p:spPr>
          <a:xfrm xmlns:a="http://schemas.openxmlformats.org/drawingml/2006/main">
            <a:off x="876300" y="87058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950" b="1" i="0">
                <a:solidFill>
                  <a:srgbClr val="123B63"/>
                </a:solidFill>
                <a:latin typeface="Arial"/>
                <a:ea typeface="Arial"/>
                <a:cs typeface="Arial"/>
              </a:defRPr>
            </a:pPr>
            <a:r>
              <a:rPr sz="1950" b="1" i="0">
                <a:solidFill>
                  <a:srgbClr val="123B63"/>
                </a:solidFill>
                <a:latin typeface="Arial"/>
                <a:ea typeface="Arial"/>
                <a:cs typeface="Arial"/>
              </a:rPr>
              <a:t>Skill files form the knowledge base for tools, techniques and phase-specific procedures.</a:t>
            </a:r>
          </a:p>
        </p:txBody>
      </p:sp>
      <p:sp>
        <p:nvSpPr>
          <p:cNvPr id="16" name="">
            <a:hlinkClick xmlns:a="http://schemas.openxmlformats.org/drawingml/2006/main" xmlns:r="http://schemas.openxmlformats.org/officeDocument/2006/relationships" r:id="Ra35d607b30e14794" action="ppaction://hlinksldjump"/>
            <a:extLst xmlns:a="http://schemas.openxmlformats.org/drawingml/2006/main">
              <a:ext uri="{FF2B5EF4-FFF2-40B4-BE49-F238E27FC236}">
                <a16:creationId xmlns:a16="http://schemas.microsoft.com/office/drawing/2014/main" id="{D12EABA0-78AF-447E-A41B-F9A12E4615A4}"/>
              </a:ext>
            </a:extLst>
          </p:cNvPr>
          <p:cNvSpPr>
            <a:spLocks xmlns:a="http://schemas.openxmlformats.org/drawingml/2006/main" noGrp="1"/>
          </p:cNvSpPr>
          <p:nvPr/>
        </p:nvSpPr>
        <p:spPr>
          <a:xfrm xmlns:a="http://schemas.openxmlformats.org/drawingml/2006/main">
            <a:off x="14382750" y="8553450"/>
            <a:ext cx="2743200" cy="609600"/>
          </a:xfrm>
          <a:prstGeom xmlns:a="http://schemas.openxmlformats.org/drawingml/2006/main" prst="roundRect">
            <a:avLst>
              <a:gd name="adj" fmla="val 12500"/>
            </a:avLst>
          </a:prstGeom>
          <a:solidFill xmlns:a="http://schemas.openxmlformats.org/drawingml/2006/main">
            <a:srgbClr val="123B63"/>
          </a:solidFill>
          <a:ln xmlns:a="http://schemas.openxmlformats.org/drawingml/2006/main" w="0">
            <a:noFill/>
          </a:ln>
        </p:spPr>
        <p:txBody>
          <a:bodyPr xmlns:a="http://schemas.openxmlformats.org/drawingml/2006/main" lIns="152400" tIns="76200" rIns="152400" bIns="76200" anchor="ctr">
            <a:normAutofit fontScale="92302"/>
          </a:bodyPr>
          <a:lstStyle xmlns:a="http://schemas.openxmlformats.org/drawingml/2006/main"/>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 Back to architecture</a:t>
            </a:r>
          </a:p>
        </p:txBody>
      </p:sp>
    </p:spTree>
    <p:extLst>
      <p:ext uri="{BB962C8B-B14F-4D97-AF65-F5344CB8AC3E}">
        <p14:creationId xmlns:p14="http://schemas.microsoft.com/office/powerpoint/2010/main" val="246155824"/>
      </p:ext>
    </p:extLst>
  </p:cSld>
  <p:transition spd="med" advClick="1">
    <p:fade/>
  </p:transition>
</p:sld>
</file>

<file path=ppt/slides/slide1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44CEA940-91CF-42FF-966D-171F8DFC0939}"/>
              </a:ext>
            </a:extLst>
          </p:cNvPr>
          <p:cNvSpPr>
            <a:spLocks xmlns:a="http://schemas.openxmlformats.org/drawingml/2006/main" noGrp="1"/>
          </p:cNvSpPr>
          <p:nvPr/>
        </p:nvSpPr>
        <p:spPr>
          <a:xfrm xmlns:a="http://schemas.openxmlformats.org/drawingml/2006/main">
            <a:off x="876300" y="4381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1" i="0">
                <a:solidFill>
                  <a:srgbClr val="2D8B84"/>
                </a:solidFill>
                <a:latin typeface="Arial"/>
                <a:ea typeface="Arial"/>
                <a:cs typeface="Arial"/>
              </a:defRPr>
            </a:pPr>
            <a:r>
              <a:rPr sz="1575" b="1" i="0">
                <a:solidFill>
                  <a:srgbClr val="2D8B84"/>
                </a:solidFill>
                <a:latin typeface="Arial"/>
                <a:ea typeface="Arial"/>
                <a:cs typeface="Arial"/>
              </a:rPr>
              <a:t>09 / DELIVERY PLAN</a:t>
            </a:r>
          </a:p>
        </p:txBody>
      </p:sp>
      <p:sp>
        <p:nvSpPr>
          <p:cNvPr id="2" name="">
            <a:extLst xmlns:a="http://schemas.openxmlformats.org/drawingml/2006/main">
              <a:ext uri="{FF2B5EF4-FFF2-40B4-BE49-F238E27FC236}">
                <a16:creationId xmlns:a16="http://schemas.microsoft.com/office/drawing/2014/main" id="{A55A171C-9EB8-49CB-8788-9C0289071D04}"/>
              </a:ext>
            </a:extLst>
          </p:cNvPr>
          <p:cNvSpPr>
            <a:spLocks xmlns:a="http://schemas.openxmlformats.org/drawingml/2006/main" noGrp="1"/>
          </p:cNvSpPr>
          <p:nvPr/>
        </p:nvSpPr>
        <p:spPr>
          <a:xfrm xmlns:a="http://schemas.openxmlformats.org/drawingml/2006/main">
            <a:off x="876300" y="838200"/>
            <a:ext cx="16287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4050" b="1" i="0">
                <a:solidFill>
                  <a:srgbClr val="123B63"/>
                </a:solidFill>
                <a:latin typeface="Arial"/>
                <a:ea typeface="Arial"/>
                <a:cs typeface="Arial"/>
              </a:defRPr>
            </a:pPr>
            <a:r>
              <a:rPr sz="4050" b="1" i="0">
                <a:solidFill>
                  <a:srgbClr val="123B63"/>
                </a:solidFill>
                <a:latin typeface="Arial"/>
                <a:ea typeface="Arial"/>
                <a:cs typeface="Arial"/>
              </a:rPr>
              <a:t>Planned timeline and milestones</a:t>
            </a:r>
          </a:p>
        </p:txBody>
      </p:sp>
      <p:sp>
        <p:nvSpPr>
          <p:cNvPr id="3" name="">
            <a:extLst xmlns:a="http://schemas.openxmlformats.org/drawingml/2006/main">
              <a:ext uri="{FF2B5EF4-FFF2-40B4-BE49-F238E27FC236}">
                <a16:creationId xmlns:a16="http://schemas.microsoft.com/office/drawing/2014/main" id="{4396955D-D2DB-4BCB-B705-CE841C7770A1}"/>
              </a:ext>
            </a:extLst>
          </p:cNvPr>
          <p:cNvSpPr>
            <a:spLocks xmlns:a="http://schemas.openxmlformats.org/drawingml/2006/main" noGrp="1"/>
          </p:cNvSpPr>
          <p:nvPr/>
        </p:nvSpPr>
        <p:spPr>
          <a:xfrm xmlns:a="http://schemas.openxmlformats.org/drawingml/2006/main">
            <a:off x="876300" y="1790700"/>
            <a:ext cx="16535400" cy="0"/>
          </a:xfrm>
          <a:prstGeom xmlns:a="http://schemas.openxmlformats.org/drawingml/2006/main" prst="line">
            <a:avLst/>
          </a:prstGeom>
          <a:noFill xmlns:a="http://schemas.openxmlformats.org/drawingml/2006/main"/>
          <a:ln xmlns:a="http://schemas.openxmlformats.org/drawingml/2006/main" w="19050">
            <a:solidFill>
              <a:srgbClr val="CAD6DE"/>
            </a:solidFill>
          </a:ln>
        </p:spPr>
      </p:sp>
      <p:sp>
        <p:nvSpPr>
          <p:cNvPr id="4" name="">
            <a:extLst xmlns:a="http://schemas.openxmlformats.org/drawingml/2006/main">
              <a:ext uri="{FF2B5EF4-FFF2-40B4-BE49-F238E27FC236}">
                <a16:creationId xmlns:a16="http://schemas.microsoft.com/office/drawing/2014/main" id="{03F4D37E-8C2D-4BCC-9888-57AF176B356D}"/>
              </a:ext>
            </a:extLst>
          </p:cNvPr>
          <p:cNvSpPr>
            <a:spLocks xmlns:a="http://schemas.openxmlformats.org/drawingml/2006/main" noGrp="1"/>
          </p:cNvSpPr>
          <p:nvPr/>
        </p:nvSpPr>
        <p:spPr>
          <a:xfrm xmlns:a="http://schemas.openxmlformats.org/drawingml/2006/main">
            <a:off x="16764000" y="9525000"/>
            <a:ext cx="647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575" b="1" i="0">
                <a:solidFill>
                  <a:srgbClr val="79A9C8"/>
                </a:solidFill>
                <a:latin typeface="Arial"/>
                <a:ea typeface="Arial"/>
                <a:cs typeface="Arial"/>
              </a:defRPr>
            </a:pPr>
            <a:r>
              <a:rPr sz="1575" b="1" i="0">
                <a:solidFill>
                  <a:srgbClr val="79A9C8"/>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68790BEE-3278-481F-81A4-7C398D6DF8EA}"/>
              </a:ext>
            </a:extLst>
          </p:cNvPr>
          <p:cNvSpPr>
            <a:spLocks xmlns:a="http://schemas.openxmlformats.org/drawingml/2006/main" noGrp="1"/>
          </p:cNvSpPr>
          <p:nvPr/>
        </p:nvSpPr>
        <p:spPr>
          <a:xfrm xmlns:a="http://schemas.openxmlformats.org/drawingml/2006/main">
            <a:off x="876300" y="2057400"/>
            <a:ext cx="685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00" b="0" i="0">
                <a:solidFill>
                  <a:srgbClr val="354F63"/>
                </a:solidFill>
                <a:latin typeface="Arial"/>
                <a:ea typeface="Arial"/>
                <a:cs typeface="Arial"/>
              </a:defRPr>
            </a:pPr>
            <a:r>
              <a:rPr sz="2100" b="0" i="0">
                <a:solidFill>
                  <a:srgbClr val="354F63"/>
                </a:solidFill>
                <a:latin typeface="Arial"/>
                <a:ea typeface="Arial"/>
                <a:cs typeface="Arial"/>
              </a:rPr>
              <a:t>September 2026 → April 2027</a:t>
            </a:r>
          </a:p>
        </p:txBody>
      </p:sp>
      <p:sp>
        <p:nvSpPr>
          <p:cNvPr id="6" name="">
            <a:extLst xmlns:a="http://schemas.openxmlformats.org/drawingml/2006/main">
              <a:ext uri="{FF2B5EF4-FFF2-40B4-BE49-F238E27FC236}">
                <a16:creationId xmlns:a16="http://schemas.microsoft.com/office/drawing/2014/main" id="{F1962114-C405-4112-B4AA-2AAD41AA9088}"/>
              </a:ext>
            </a:extLst>
          </p:cNvPr>
          <p:cNvSpPr>
            <a:spLocks xmlns:a="http://schemas.openxmlformats.org/drawingml/2006/main" noGrp="1"/>
          </p:cNvSpPr>
          <p:nvPr/>
        </p:nvSpPr>
        <p:spPr>
          <a:xfrm xmlns:a="http://schemas.openxmlformats.org/drawingml/2006/main">
            <a:off x="1504950" y="4171950"/>
            <a:ext cx="14382750" cy="0"/>
          </a:xfrm>
          <a:prstGeom xmlns:a="http://schemas.openxmlformats.org/drawingml/2006/main" prst="line">
            <a:avLst/>
          </a:prstGeom>
          <a:noFill xmlns:a="http://schemas.openxmlformats.org/drawingml/2006/main"/>
          <a:ln xmlns:a="http://schemas.openxmlformats.org/drawingml/2006/main" w="57150">
            <a:solidFill>
              <a:srgbClr val="CAD6DE"/>
            </a:solidFill>
          </a:ln>
        </p:spPr>
      </p:sp>
      <p:sp>
        <p:nvSpPr>
          <p:cNvPr id="7" name="">
            <a:extLst xmlns:a="http://schemas.openxmlformats.org/drawingml/2006/main">
              <a:ext uri="{FF2B5EF4-FFF2-40B4-BE49-F238E27FC236}">
                <a16:creationId xmlns:a16="http://schemas.microsoft.com/office/drawing/2014/main" id="{B3FB5845-BA21-4C92-868E-9FA48442FC9E}"/>
              </a:ext>
            </a:extLst>
          </p:cNvPr>
          <p:cNvSpPr>
            <a:spLocks xmlns:a="http://schemas.openxmlformats.org/drawingml/2006/main" noGrp="1"/>
          </p:cNvSpPr>
          <p:nvPr/>
        </p:nvSpPr>
        <p:spPr>
          <a:xfrm xmlns:a="http://schemas.openxmlformats.org/drawingml/2006/main">
            <a:off x="876300" y="3067050"/>
            <a:ext cx="1657350" cy="2095500"/>
          </a:xfrm>
          <a:prstGeom xmlns:a="http://schemas.openxmlformats.org/drawingml/2006/main" prst="roundRect">
            <a:avLst>
              <a:gd name="adj" fmla="val 4598"/>
            </a:avLst>
          </a:prstGeom>
          <a:solidFill xmlns:a="http://schemas.openxmlformats.org/drawingml/2006/main">
            <a:srgbClr val="FFFDF9"/>
          </a:solidFill>
          <a:ln xmlns:a="http://schemas.openxmlformats.org/drawingml/2006/main" w="19050">
            <a:solidFill>
              <a:srgbClr val="CAD6DE"/>
            </a:solidFill>
          </a:ln>
        </p:spPr>
      </p:sp>
      <p:sp>
        <p:nvSpPr>
          <p:cNvPr id="8" name="">
            <a:extLst xmlns:a="http://schemas.openxmlformats.org/drawingml/2006/main">
              <a:ext uri="{FF2B5EF4-FFF2-40B4-BE49-F238E27FC236}">
                <a16:creationId xmlns:a16="http://schemas.microsoft.com/office/drawing/2014/main" id="{665F2EE6-5AC8-4FA2-846B-7BEB33267BF5}"/>
              </a:ext>
            </a:extLst>
          </p:cNvPr>
          <p:cNvSpPr>
            <a:spLocks xmlns:a="http://schemas.openxmlformats.org/drawingml/2006/main" noGrp="1"/>
          </p:cNvSpPr>
          <p:nvPr/>
        </p:nvSpPr>
        <p:spPr>
          <a:xfrm xmlns:a="http://schemas.openxmlformats.org/drawingml/2006/main">
            <a:off x="1162050" y="3295650"/>
            <a:ext cx="1085850" cy="457200"/>
          </a:xfrm>
          <a:prstGeom xmlns:a="http://schemas.openxmlformats.org/drawingml/2006/main" prst="roundRect">
            <a:avLst>
              <a:gd name="adj" fmla="val 16667"/>
            </a:avLst>
          </a:prstGeom>
          <a:solidFill xmlns:a="http://schemas.openxmlformats.org/drawingml/2006/main">
            <a:srgbClr val="123B6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SEP</a:t>
            </a:r>
          </a:p>
        </p:txBody>
      </p:sp>
      <p:sp>
        <p:nvSpPr>
          <p:cNvPr id="9" name="">
            <a:extLst xmlns:a="http://schemas.openxmlformats.org/drawingml/2006/main">
              <a:ext uri="{FF2B5EF4-FFF2-40B4-BE49-F238E27FC236}">
                <a16:creationId xmlns:a16="http://schemas.microsoft.com/office/drawing/2014/main" id="{7055751E-6EAB-4536-94CD-F3BBEBC7F2A3}"/>
              </a:ext>
            </a:extLst>
          </p:cNvPr>
          <p:cNvSpPr>
            <a:spLocks xmlns:a="http://schemas.openxmlformats.org/drawingml/2006/main" noGrp="1"/>
          </p:cNvSpPr>
          <p:nvPr/>
        </p:nvSpPr>
        <p:spPr>
          <a:xfrm xmlns:a="http://schemas.openxmlformats.org/drawingml/2006/main">
            <a:off x="971550" y="4057650"/>
            <a:ext cx="14668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75" b="1" i="0">
                <a:solidFill>
                  <a:srgbClr val="102B44"/>
                </a:solidFill>
                <a:latin typeface="Arial"/>
                <a:ea typeface="Arial"/>
                <a:cs typeface="Arial"/>
              </a:defRPr>
            </a:pPr>
            <a:r>
              <a:rPr sz="1575" b="1" i="0">
                <a:solidFill>
                  <a:srgbClr val="102B44"/>
                </a:solidFill>
                <a:latin typeface="Arial"/>
                <a:ea typeface="Arial"/>
                <a:cs typeface="Arial"/>
              </a:rPr>
              <a:t>Planning &amp;</a:t>
            </a:r>
          </a:p>
          <a:p xmlns:a="http://schemas.openxmlformats.org/drawingml/2006/main">
            <a:pPr algn="ctr">
              <a:lnSpc>
                <a:spcPct val="100000"/>
              </a:lnSpc>
              <a:buNone/>
              <a:defRPr sz="1575" b="1" i="0">
                <a:solidFill>
                  <a:srgbClr val="102B44"/>
                </a:solidFill>
                <a:latin typeface="Arial"/>
                <a:ea typeface="Arial"/>
                <a:cs typeface="Arial"/>
              </a:defRPr>
            </a:pPr>
            <a:r>
              <a:rPr sz="1575" b="1" i="0">
                <a:solidFill>
                  <a:srgbClr val="102B44"/>
                </a:solidFill>
                <a:latin typeface="Arial"/>
                <a:ea typeface="Arial"/>
                <a:cs typeface="Arial"/>
              </a:rPr>
              <a:t>architecture</a:t>
            </a:r>
          </a:p>
        </p:txBody>
      </p:sp>
      <p:sp>
        <p:nvSpPr>
          <p:cNvPr id="10" name="">
            <a:extLst xmlns:a="http://schemas.openxmlformats.org/drawingml/2006/main">
              <a:ext uri="{FF2B5EF4-FFF2-40B4-BE49-F238E27FC236}">
                <a16:creationId xmlns:a16="http://schemas.microsoft.com/office/drawing/2014/main" id="{770584F6-263D-4E2B-A190-DB0B3D224641}"/>
              </a:ext>
            </a:extLst>
          </p:cNvPr>
          <p:cNvSpPr>
            <a:spLocks xmlns:a="http://schemas.openxmlformats.org/drawingml/2006/main" noGrp="1"/>
          </p:cNvSpPr>
          <p:nvPr/>
        </p:nvSpPr>
        <p:spPr>
          <a:xfrm xmlns:a="http://schemas.openxmlformats.org/drawingml/2006/main">
            <a:off x="2847975" y="3067050"/>
            <a:ext cx="1657350" cy="2095500"/>
          </a:xfrm>
          <a:prstGeom xmlns:a="http://schemas.openxmlformats.org/drawingml/2006/main" prst="roundRect">
            <a:avLst>
              <a:gd name="adj" fmla="val 4598"/>
            </a:avLst>
          </a:prstGeom>
          <a:solidFill xmlns:a="http://schemas.openxmlformats.org/drawingml/2006/main">
            <a:srgbClr val="FFFDF9"/>
          </a:solidFill>
          <a:ln xmlns:a="http://schemas.openxmlformats.org/drawingml/2006/main" w="19050">
            <a:solidFill>
              <a:srgbClr val="CAD6DE"/>
            </a:solidFill>
          </a:ln>
        </p:spPr>
      </p:sp>
      <p:sp>
        <p:nvSpPr>
          <p:cNvPr id="11" name="">
            <a:extLst xmlns:a="http://schemas.openxmlformats.org/drawingml/2006/main">
              <a:ext uri="{FF2B5EF4-FFF2-40B4-BE49-F238E27FC236}">
                <a16:creationId xmlns:a16="http://schemas.microsoft.com/office/drawing/2014/main" id="{95C24C89-2478-45A4-8CDC-82A2066E251D}"/>
              </a:ext>
            </a:extLst>
          </p:cNvPr>
          <p:cNvSpPr>
            <a:spLocks xmlns:a="http://schemas.openxmlformats.org/drawingml/2006/main" noGrp="1"/>
          </p:cNvSpPr>
          <p:nvPr/>
        </p:nvSpPr>
        <p:spPr>
          <a:xfrm xmlns:a="http://schemas.openxmlformats.org/drawingml/2006/main">
            <a:off x="3133725" y="3295650"/>
            <a:ext cx="1085850" cy="457200"/>
          </a:xfrm>
          <a:prstGeom xmlns:a="http://schemas.openxmlformats.org/drawingml/2006/main" prst="roundRect">
            <a:avLst>
              <a:gd name="adj" fmla="val 16667"/>
            </a:avLst>
          </a:prstGeom>
          <a:solidFill xmlns:a="http://schemas.openxmlformats.org/drawingml/2006/main">
            <a:srgbClr val="2D8B84"/>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OCT</a:t>
            </a:r>
          </a:p>
        </p:txBody>
      </p:sp>
      <p:sp>
        <p:nvSpPr>
          <p:cNvPr id="12" name="">
            <a:extLst xmlns:a="http://schemas.openxmlformats.org/drawingml/2006/main">
              <a:ext uri="{FF2B5EF4-FFF2-40B4-BE49-F238E27FC236}">
                <a16:creationId xmlns:a16="http://schemas.microsoft.com/office/drawing/2014/main" id="{504BCF4B-03C2-48C6-8AB4-B840786FF873}"/>
              </a:ext>
            </a:extLst>
          </p:cNvPr>
          <p:cNvSpPr>
            <a:spLocks xmlns:a="http://schemas.openxmlformats.org/drawingml/2006/main" noGrp="1"/>
          </p:cNvSpPr>
          <p:nvPr/>
        </p:nvSpPr>
        <p:spPr>
          <a:xfrm xmlns:a="http://schemas.openxmlformats.org/drawingml/2006/main">
            <a:off x="2943225" y="4057650"/>
            <a:ext cx="14668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75" b="1" i="0">
                <a:solidFill>
                  <a:srgbClr val="102B44"/>
                </a:solidFill>
                <a:latin typeface="Arial"/>
                <a:ea typeface="Arial"/>
                <a:cs typeface="Arial"/>
              </a:defRPr>
            </a:pPr>
            <a:r>
              <a:rPr sz="1575" b="1" i="0">
                <a:solidFill>
                  <a:srgbClr val="102B44"/>
                </a:solidFill>
                <a:latin typeface="Arial"/>
                <a:ea typeface="Arial"/>
                <a:cs typeface="Arial"/>
              </a:rPr>
              <a:t>Reconnaissance</a:t>
            </a:r>
          </a:p>
        </p:txBody>
      </p:sp>
      <p:sp>
        <p:nvSpPr>
          <p:cNvPr id="13" name="">
            <a:extLst xmlns:a="http://schemas.openxmlformats.org/drawingml/2006/main">
              <a:ext uri="{FF2B5EF4-FFF2-40B4-BE49-F238E27FC236}">
                <a16:creationId xmlns:a16="http://schemas.microsoft.com/office/drawing/2014/main" id="{C0B7241E-5020-41F9-81CD-4023682B3BE4}"/>
              </a:ext>
            </a:extLst>
          </p:cNvPr>
          <p:cNvSpPr>
            <a:spLocks xmlns:a="http://schemas.openxmlformats.org/drawingml/2006/main" noGrp="1"/>
          </p:cNvSpPr>
          <p:nvPr/>
        </p:nvSpPr>
        <p:spPr>
          <a:xfrm xmlns:a="http://schemas.openxmlformats.org/drawingml/2006/main">
            <a:off x="4819650" y="3067050"/>
            <a:ext cx="1657350" cy="2095500"/>
          </a:xfrm>
          <a:prstGeom xmlns:a="http://schemas.openxmlformats.org/drawingml/2006/main" prst="roundRect">
            <a:avLst>
              <a:gd name="adj" fmla="val 4598"/>
            </a:avLst>
          </a:prstGeom>
          <a:solidFill xmlns:a="http://schemas.openxmlformats.org/drawingml/2006/main">
            <a:srgbClr val="FFFDF9"/>
          </a:solidFill>
          <a:ln xmlns:a="http://schemas.openxmlformats.org/drawingml/2006/main" w="19050">
            <a:solidFill>
              <a:srgbClr val="CAD6DE"/>
            </a:solidFill>
          </a:ln>
        </p:spPr>
      </p:sp>
      <p:sp>
        <p:nvSpPr>
          <p:cNvPr id="14" name="">
            <a:extLst xmlns:a="http://schemas.openxmlformats.org/drawingml/2006/main">
              <a:ext uri="{FF2B5EF4-FFF2-40B4-BE49-F238E27FC236}">
                <a16:creationId xmlns:a16="http://schemas.microsoft.com/office/drawing/2014/main" id="{FE3D5512-192A-49CC-A19F-6973D826FD4D}"/>
              </a:ext>
            </a:extLst>
          </p:cNvPr>
          <p:cNvSpPr>
            <a:spLocks xmlns:a="http://schemas.openxmlformats.org/drawingml/2006/main" noGrp="1"/>
          </p:cNvSpPr>
          <p:nvPr/>
        </p:nvSpPr>
        <p:spPr>
          <a:xfrm xmlns:a="http://schemas.openxmlformats.org/drawingml/2006/main">
            <a:off x="5105400" y="3295650"/>
            <a:ext cx="1085850" cy="457200"/>
          </a:xfrm>
          <a:prstGeom xmlns:a="http://schemas.openxmlformats.org/drawingml/2006/main" prst="roundRect">
            <a:avLst>
              <a:gd name="adj" fmla="val 16667"/>
            </a:avLst>
          </a:prstGeom>
          <a:solidFill xmlns:a="http://schemas.openxmlformats.org/drawingml/2006/main">
            <a:srgbClr val="2C669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NOV</a:t>
            </a:r>
          </a:p>
        </p:txBody>
      </p:sp>
      <p:sp>
        <p:nvSpPr>
          <p:cNvPr id="15" name="">
            <a:extLst xmlns:a="http://schemas.openxmlformats.org/drawingml/2006/main">
              <a:ext uri="{FF2B5EF4-FFF2-40B4-BE49-F238E27FC236}">
                <a16:creationId xmlns:a16="http://schemas.microsoft.com/office/drawing/2014/main" id="{FBADBF4F-5292-4A27-AEAC-85D8E070258B}"/>
              </a:ext>
            </a:extLst>
          </p:cNvPr>
          <p:cNvSpPr>
            <a:spLocks xmlns:a="http://schemas.openxmlformats.org/drawingml/2006/main" noGrp="1"/>
          </p:cNvSpPr>
          <p:nvPr/>
        </p:nvSpPr>
        <p:spPr>
          <a:xfrm xmlns:a="http://schemas.openxmlformats.org/drawingml/2006/main">
            <a:off x="4914900" y="4057650"/>
            <a:ext cx="14668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75" b="1" i="0">
                <a:solidFill>
                  <a:srgbClr val="102B44"/>
                </a:solidFill>
                <a:latin typeface="Arial"/>
                <a:ea typeface="Arial"/>
                <a:cs typeface="Arial"/>
              </a:defRPr>
            </a:pPr>
            <a:r>
              <a:rPr sz="1575" b="1" i="0">
                <a:solidFill>
                  <a:srgbClr val="102B44"/>
                </a:solidFill>
                <a:latin typeface="Arial"/>
                <a:ea typeface="Arial"/>
                <a:cs typeface="Arial"/>
              </a:rPr>
              <a:t>Network &amp; web</a:t>
            </a:r>
          </a:p>
          <a:p xmlns:a="http://schemas.openxmlformats.org/drawingml/2006/main">
            <a:pPr algn="ctr">
              <a:lnSpc>
                <a:spcPct val="100000"/>
              </a:lnSpc>
              <a:buNone/>
              <a:defRPr sz="1575" b="1" i="0">
                <a:solidFill>
                  <a:srgbClr val="102B44"/>
                </a:solidFill>
                <a:latin typeface="Arial"/>
                <a:ea typeface="Arial"/>
                <a:cs typeface="Arial"/>
              </a:defRPr>
            </a:pPr>
            <a:r>
              <a:rPr sz="1575" b="1" i="0">
                <a:solidFill>
                  <a:srgbClr val="102B44"/>
                </a:solidFill>
                <a:latin typeface="Arial"/>
                <a:ea typeface="Arial"/>
                <a:cs typeface="Arial"/>
              </a:rPr>
              <a:t>assessment</a:t>
            </a:r>
          </a:p>
        </p:txBody>
      </p:sp>
      <p:sp>
        <p:nvSpPr>
          <p:cNvPr id="16" name="">
            <a:extLst xmlns:a="http://schemas.openxmlformats.org/drawingml/2006/main">
              <a:ext uri="{FF2B5EF4-FFF2-40B4-BE49-F238E27FC236}">
                <a16:creationId xmlns:a16="http://schemas.microsoft.com/office/drawing/2014/main" id="{DDC432D8-38CB-486A-80B4-5E2918BC7D68}"/>
              </a:ext>
            </a:extLst>
          </p:cNvPr>
          <p:cNvSpPr>
            <a:spLocks xmlns:a="http://schemas.openxmlformats.org/drawingml/2006/main" noGrp="1"/>
          </p:cNvSpPr>
          <p:nvPr/>
        </p:nvSpPr>
        <p:spPr>
          <a:xfrm xmlns:a="http://schemas.openxmlformats.org/drawingml/2006/main">
            <a:off x="6791325" y="3067050"/>
            <a:ext cx="1657350" cy="2095500"/>
          </a:xfrm>
          <a:prstGeom xmlns:a="http://schemas.openxmlformats.org/drawingml/2006/main" prst="roundRect">
            <a:avLst>
              <a:gd name="adj" fmla="val 4598"/>
            </a:avLst>
          </a:prstGeom>
          <a:solidFill xmlns:a="http://schemas.openxmlformats.org/drawingml/2006/main">
            <a:srgbClr val="FFFDF9"/>
          </a:solidFill>
          <a:ln xmlns:a="http://schemas.openxmlformats.org/drawingml/2006/main" w="19050">
            <a:solidFill>
              <a:srgbClr val="CAD6DE"/>
            </a:solidFill>
          </a:ln>
        </p:spPr>
      </p:sp>
      <p:sp>
        <p:nvSpPr>
          <p:cNvPr id="17" name="">
            <a:extLst xmlns:a="http://schemas.openxmlformats.org/drawingml/2006/main">
              <a:ext uri="{FF2B5EF4-FFF2-40B4-BE49-F238E27FC236}">
                <a16:creationId xmlns:a16="http://schemas.microsoft.com/office/drawing/2014/main" id="{3943B584-AFE9-4AC2-8E0D-BBA44B1C566B}"/>
              </a:ext>
            </a:extLst>
          </p:cNvPr>
          <p:cNvSpPr>
            <a:spLocks xmlns:a="http://schemas.openxmlformats.org/drawingml/2006/main" noGrp="1"/>
          </p:cNvSpPr>
          <p:nvPr/>
        </p:nvSpPr>
        <p:spPr>
          <a:xfrm xmlns:a="http://schemas.openxmlformats.org/drawingml/2006/main">
            <a:off x="7077075" y="3295650"/>
            <a:ext cx="1085850" cy="457200"/>
          </a:xfrm>
          <a:prstGeom xmlns:a="http://schemas.openxmlformats.org/drawingml/2006/main" prst="roundRect">
            <a:avLst>
              <a:gd name="adj" fmla="val 16667"/>
            </a:avLst>
          </a:prstGeom>
          <a:solidFill xmlns:a="http://schemas.openxmlformats.org/drawingml/2006/main">
            <a:srgbClr val="4F8B64"/>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DEC</a:t>
            </a:r>
          </a:p>
        </p:txBody>
      </p:sp>
      <p:sp>
        <p:nvSpPr>
          <p:cNvPr id="18" name="">
            <a:extLst xmlns:a="http://schemas.openxmlformats.org/drawingml/2006/main">
              <a:ext uri="{FF2B5EF4-FFF2-40B4-BE49-F238E27FC236}">
                <a16:creationId xmlns:a16="http://schemas.microsoft.com/office/drawing/2014/main" id="{A5CFB740-0FF3-4B61-A960-C064015235CF}"/>
              </a:ext>
            </a:extLst>
          </p:cNvPr>
          <p:cNvSpPr>
            <a:spLocks xmlns:a="http://schemas.openxmlformats.org/drawingml/2006/main" noGrp="1"/>
          </p:cNvSpPr>
          <p:nvPr/>
        </p:nvSpPr>
        <p:spPr>
          <a:xfrm xmlns:a="http://schemas.openxmlformats.org/drawingml/2006/main">
            <a:off x="6886575" y="4057650"/>
            <a:ext cx="14668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75" b="1" i="0">
                <a:solidFill>
                  <a:srgbClr val="102B44"/>
                </a:solidFill>
                <a:latin typeface="Arial"/>
                <a:ea typeface="Arial"/>
                <a:cs typeface="Arial"/>
              </a:defRPr>
            </a:pPr>
            <a:r>
              <a:rPr sz="1575" b="1" i="0">
                <a:solidFill>
                  <a:srgbClr val="102B44"/>
                </a:solidFill>
                <a:latin typeface="Arial"/>
                <a:ea typeface="Arial"/>
                <a:cs typeface="Arial"/>
              </a:rPr>
              <a:t>Integration &amp;</a:t>
            </a:r>
          </a:p>
          <a:p xmlns:a="http://schemas.openxmlformats.org/drawingml/2006/main">
            <a:pPr algn="ctr">
              <a:lnSpc>
                <a:spcPct val="100000"/>
              </a:lnSpc>
              <a:buNone/>
              <a:defRPr sz="1575" b="1" i="0">
                <a:solidFill>
                  <a:srgbClr val="102B44"/>
                </a:solidFill>
                <a:latin typeface="Arial"/>
                <a:ea typeface="Arial"/>
                <a:cs typeface="Arial"/>
              </a:defRPr>
            </a:pPr>
            <a:r>
              <a:rPr sz="1575" b="1" i="0">
                <a:solidFill>
                  <a:srgbClr val="102B44"/>
                </a:solidFill>
                <a:latin typeface="Arial"/>
                <a:ea typeface="Arial"/>
                <a:cs typeface="Arial"/>
              </a:rPr>
              <a:t>correlation</a:t>
            </a:r>
          </a:p>
        </p:txBody>
      </p:sp>
      <p:sp>
        <p:nvSpPr>
          <p:cNvPr id="19" name="">
            <a:extLst xmlns:a="http://schemas.openxmlformats.org/drawingml/2006/main">
              <a:ext uri="{FF2B5EF4-FFF2-40B4-BE49-F238E27FC236}">
                <a16:creationId xmlns:a16="http://schemas.microsoft.com/office/drawing/2014/main" id="{6DCAFC97-B7B2-4678-A585-97CB2ACCF1BB}"/>
              </a:ext>
            </a:extLst>
          </p:cNvPr>
          <p:cNvSpPr>
            <a:spLocks xmlns:a="http://schemas.openxmlformats.org/drawingml/2006/main" noGrp="1"/>
          </p:cNvSpPr>
          <p:nvPr/>
        </p:nvSpPr>
        <p:spPr>
          <a:xfrm xmlns:a="http://schemas.openxmlformats.org/drawingml/2006/main">
            <a:off x="8763000" y="3067050"/>
            <a:ext cx="1657350" cy="2095500"/>
          </a:xfrm>
          <a:prstGeom xmlns:a="http://schemas.openxmlformats.org/drawingml/2006/main" prst="roundRect">
            <a:avLst>
              <a:gd name="adj" fmla="val 4598"/>
            </a:avLst>
          </a:prstGeom>
          <a:solidFill xmlns:a="http://schemas.openxmlformats.org/drawingml/2006/main">
            <a:srgbClr val="FFFDF9"/>
          </a:solidFill>
          <a:ln xmlns:a="http://schemas.openxmlformats.org/drawingml/2006/main" w="19050">
            <a:solidFill>
              <a:srgbClr val="CAD6DE"/>
            </a:solidFill>
          </a:ln>
        </p:spPr>
      </p:sp>
      <p:sp>
        <p:nvSpPr>
          <p:cNvPr id="20" name="">
            <a:extLst xmlns:a="http://schemas.openxmlformats.org/drawingml/2006/main">
              <a:ext uri="{FF2B5EF4-FFF2-40B4-BE49-F238E27FC236}">
                <a16:creationId xmlns:a16="http://schemas.microsoft.com/office/drawing/2014/main" id="{D26701EE-C81D-4E81-A8AD-582A2C4A67E5}"/>
              </a:ext>
            </a:extLst>
          </p:cNvPr>
          <p:cNvSpPr>
            <a:spLocks xmlns:a="http://schemas.openxmlformats.org/drawingml/2006/main" noGrp="1"/>
          </p:cNvSpPr>
          <p:nvPr/>
        </p:nvSpPr>
        <p:spPr>
          <a:xfrm xmlns:a="http://schemas.openxmlformats.org/drawingml/2006/main">
            <a:off x="9048750" y="3295650"/>
            <a:ext cx="1085850" cy="457200"/>
          </a:xfrm>
          <a:prstGeom xmlns:a="http://schemas.openxmlformats.org/drawingml/2006/main" prst="roundRect">
            <a:avLst>
              <a:gd name="adj" fmla="val 16667"/>
            </a:avLst>
          </a:prstGeom>
          <a:solidFill xmlns:a="http://schemas.openxmlformats.org/drawingml/2006/main">
            <a:srgbClr val="C55B48"/>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JAN</a:t>
            </a:r>
          </a:p>
        </p:txBody>
      </p:sp>
      <p:sp>
        <p:nvSpPr>
          <p:cNvPr id="21" name="">
            <a:extLst xmlns:a="http://schemas.openxmlformats.org/drawingml/2006/main">
              <a:ext uri="{FF2B5EF4-FFF2-40B4-BE49-F238E27FC236}">
                <a16:creationId xmlns:a16="http://schemas.microsoft.com/office/drawing/2014/main" id="{E244BCA1-8D61-4EA6-A6AC-4D84BBE710BF}"/>
              </a:ext>
            </a:extLst>
          </p:cNvPr>
          <p:cNvSpPr>
            <a:spLocks xmlns:a="http://schemas.openxmlformats.org/drawingml/2006/main" noGrp="1"/>
          </p:cNvSpPr>
          <p:nvPr/>
        </p:nvSpPr>
        <p:spPr>
          <a:xfrm xmlns:a="http://schemas.openxmlformats.org/drawingml/2006/main">
            <a:off x="8858250" y="4057650"/>
            <a:ext cx="14668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75" b="1" i="0">
                <a:solidFill>
                  <a:srgbClr val="102B44"/>
                </a:solidFill>
                <a:latin typeface="Arial"/>
                <a:ea typeface="Arial"/>
                <a:cs typeface="Arial"/>
              </a:defRPr>
            </a:pPr>
            <a:r>
              <a:rPr sz="1575" b="1" i="0">
                <a:solidFill>
                  <a:srgbClr val="102B44"/>
                </a:solidFill>
                <a:latin typeface="Arial"/>
                <a:ea typeface="Arial"/>
                <a:cs typeface="Arial"/>
              </a:rPr>
              <a:t>Business logic</a:t>
            </a:r>
          </a:p>
          <a:p xmlns:a="http://schemas.openxmlformats.org/drawingml/2006/main">
            <a:pPr algn="ctr">
              <a:lnSpc>
                <a:spcPct val="100000"/>
              </a:lnSpc>
              <a:buNone/>
              <a:defRPr sz="1575" b="1" i="0">
                <a:solidFill>
                  <a:srgbClr val="102B44"/>
                </a:solidFill>
                <a:latin typeface="Arial"/>
                <a:ea typeface="Arial"/>
                <a:cs typeface="Arial"/>
              </a:defRPr>
            </a:pPr>
            <a:r>
              <a:rPr sz="1575" b="1" i="0">
                <a:solidFill>
                  <a:srgbClr val="102B44"/>
                </a:solidFill>
                <a:latin typeface="Arial"/>
                <a:ea typeface="Arial"/>
                <a:cs typeface="Arial"/>
              </a:rPr>
              <a:t>&amp; safety</a:t>
            </a:r>
          </a:p>
        </p:txBody>
      </p:sp>
      <p:sp>
        <p:nvSpPr>
          <p:cNvPr id="22" name="">
            <a:extLst xmlns:a="http://schemas.openxmlformats.org/drawingml/2006/main">
              <a:ext uri="{FF2B5EF4-FFF2-40B4-BE49-F238E27FC236}">
                <a16:creationId xmlns:a16="http://schemas.microsoft.com/office/drawing/2014/main" id="{0D824BBB-5768-4690-B9C2-9767166B08DD}"/>
              </a:ext>
            </a:extLst>
          </p:cNvPr>
          <p:cNvSpPr>
            <a:spLocks xmlns:a="http://schemas.openxmlformats.org/drawingml/2006/main" noGrp="1"/>
          </p:cNvSpPr>
          <p:nvPr/>
        </p:nvSpPr>
        <p:spPr>
          <a:xfrm xmlns:a="http://schemas.openxmlformats.org/drawingml/2006/main">
            <a:off x="10734675" y="3067050"/>
            <a:ext cx="1657350" cy="2095500"/>
          </a:xfrm>
          <a:prstGeom xmlns:a="http://schemas.openxmlformats.org/drawingml/2006/main" prst="roundRect">
            <a:avLst>
              <a:gd name="adj" fmla="val 4598"/>
            </a:avLst>
          </a:prstGeom>
          <a:solidFill xmlns:a="http://schemas.openxmlformats.org/drawingml/2006/main">
            <a:srgbClr val="FFFDF9"/>
          </a:solidFill>
          <a:ln xmlns:a="http://schemas.openxmlformats.org/drawingml/2006/main" w="19050">
            <a:solidFill>
              <a:srgbClr val="CAD6DE"/>
            </a:solidFill>
          </a:ln>
        </p:spPr>
      </p:sp>
      <p:sp>
        <p:nvSpPr>
          <p:cNvPr id="23" name="">
            <a:extLst xmlns:a="http://schemas.openxmlformats.org/drawingml/2006/main">
              <a:ext uri="{FF2B5EF4-FFF2-40B4-BE49-F238E27FC236}">
                <a16:creationId xmlns:a16="http://schemas.microsoft.com/office/drawing/2014/main" id="{E7214F30-9999-4C64-8E9F-013F6EE7760B}"/>
              </a:ext>
            </a:extLst>
          </p:cNvPr>
          <p:cNvSpPr>
            <a:spLocks xmlns:a="http://schemas.openxmlformats.org/drawingml/2006/main" noGrp="1"/>
          </p:cNvSpPr>
          <p:nvPr/>
        </p:nvSpPr>
        <p:spPr>
          <a:xfrm xmlns:a="http://schemas.openxmlformats.org/drawingml/2006/main">
            <a:off x="11020425" y="3295650"/>
            <a:ext cx="1085850" cy="457200"/>
          </a:xfrm>
          <a:prstGeom xmlns:a="http://schemas.openxmlformats.org/drawingml/2006/main" prst="roundRect">
            <a:avLst>
              <a:gd name="adj" fmla="val 16667"/>
            </a:avLst>
          </a:prstGeom>
          <a:solidFill xmlns:a="http://schemas.openxmlformats.org/drawingml/2006/main">
            <a:srgbClr val="D79A32"/>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FEB</a:t>
            </a:r>
          </a:p>
        </p:txBody>
      </p:sp>
      <p:sp>
        <p:nvSpPr>
          <p:cNvPr id="24" name="">
            <a:extLst xmlns:a="http://schemas.openxmlformats.org/drawingml/2006/main">
              <a:ext uri="{FF2B5EF4-FFF2-40B4-BE49-F238E27FC236}">
                <a16:creationId xmlns:a16="http://schemas.microsoft.com/office/drawing/2014/main" id="{94B2FA0F-C317-48CF-BC75-ED91B3E0F68C}"/>
              </a:ext>
            </a:extLst>
          </p:cNvPr>
          <p:cNvSpPr>
            <a:spLocks xmlns:a="http://schemas.openxmlformats.org/drawingml/2006/main" noGrp="1"/>
          </p:cNvSpPr>
          <p:nvPr/>
        </p:nvSpPr>
        <p:spPr>
          <a:xfrm xmlns:a="http://schemas.openxmlformats.org/drawingml/2006/main">
            <a:off x="10829925" y="4057650"/>
            <a:ext cx="14668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75" b="1" i="0">
                <a:solidFill>
                  <a:srgbClr val="102B44"/>
                </a:solidFill>
                <a:latin typeface="Arial"/>
                <a:ea typeface="Arial"/>
                <a:cs typeface="Arial"/>
              </a:defRPr>
            </a:pPr>
            <a:r>
              <a:rPr sz="1575" b="1" i="0">
                <a:solidFill>
                  <a:srgbClr val="102B44"/>
                </a:solidFill>
                <a:latin typeface="Arial"/>
                <a:ea typeface="Arial"/>
                <a:cs typeface="Arial"/>
              </a:rPr>
              <a:t>Dual-mode</a:t>
            </a:r>
          </a:p>
          <a:p xmlns:a="http://schemas.openxmlformats.org/drawingml/2006/main">
            <a:pPr algn="ctr">
              <a:lnSpc>
                <a:spcPct val="100000"/>
              </a:lnSpc>
              <a:buNone/>
              <a:defRPr sz="1575" b="1" i="0">
                <a:solidFill>
                  <a:srgbClr val="102B44"/>
                </a:solidFill>
                <a:latin typeface="Arial"/>
                <a:ea typeface="Arial"/>
                <a:cs typeface="Arial"/>
              </a:defRPr>
            </a:pPr>
            <a:r>
              <a:rPr sz="1575" b="1" i="0">
                <a:solidFill>
                  <a:srgbClr val="102B44"/>
                </a:solidFill>
                <a:latin typeface="Arial"/>
                <a:ea typeface="Arial"/>
                <a:cs typeface="Arial"/>
              </a:rPr>
              <a:t>orchestration</a:t>
            </a:r>
          </a:p>
        </p:txBody>
      </p:sp>
      <p:sp>
        <p:nvSpPr>
          <p:cNvPr id="25" name="">
            <a:extLst xmlns:a="http://schemas.openxmlformats.org/drawingml/2006/main">
              <a:ext uri="{FF2B5EF4-FFF2-40B4-BE49-F238E27FC236}">
                <a16:creationId xmlns:a16="http://schemas.microsoft.com/office/drawing/2014/main" id="{5B97A97A-BC9F-45B1-A4E9-751A9E4EA78D}"/>
              </a:ext>
            </a:extLst>
          </p:cNvPr>
          <p:cNvSpPr>
            <a:spLocks xmlns:a="http://schemas.openxmlformats.org/drawingml/2006/main" noGrp="1"/>
          </p:cNvSpPr>
          <p:nvPr/>
        </p:nvSpPr>
        <p:spPr>
          <a:xfrm xmlns:a="http://schemas.openxmlformats.org/drawingml/2006/main">
            <a:off x="12706350" y="3067050"/>
            <a:ext cx="1657350" cy="2095500"/>
          </a:xfrm>
          <a:prstGeom xmlns:a="http://schemas.openxmlformats.org/drawingml/2006/main" prst="roundRect">
            <a:avLst>
              <a:gd name="adj" fmla="val 4598"/>
            </a:avLst>
          </a:prstGeom>
          <a:solidFill xmlns:a="http://schemas.openxmlformats.org/drawingml/2006/main">
            <a:srgbClr val="FFFDF9"/>
          </a:solidFill>
          <a:ln xmlns:a="http://schemas.openxmlformats.org/drawingml/2006/main" w="19050">
            <a:solidFill>
              <a:srgbClr val="CAD6DE"/>
            </a:solidFill>
          </a:ln>
        </p:spPr>
      </p:sp>
      <p:sp>
        <p:nvSpPr>
          <p:cNvPr id="26" name="">
            <a:extLst xmlns:a="http://schemas.openxmlformats.org/drawingml/2006/main">
              <a:ext uri="{FF2B5EF4-FFF2-40B4-BE49-F238E27FC236}">
                <a16:creationId xmlns:a16="http://schemas.microsoft.com/office/drawing/2014/main" id="{601B7A6D-D003-4791-A9DE-7216393F6E97}"/>
              </a:ext>
            </a:extLst>
          </p:cNvPr>
          <p:cNvSpPr>
            <a:spLocks xmlns:a="http://schemas.openxmlformats.org/drawingml/2006/main" noGrp="1"/>
          </p:cNvSpPr>
          <p:nvPr/>
        </p:nvSpPr>
        <p:spPr>
          <a:xfrm xmlns:a="http://schemas.openxmlformats.org/drawingml/2006/main">
            <a:off x="12992100" y="3295650"/>
            <a:ext cx="1085850" cy="457200"/>
          </a:xfrm>
          <a:prstGeom xmlns:a="http://schemas.openxmlformats.org/drawingml/2006/main" prst="roundRect">
            <a:avLst>
              <a:gd name="adj" fmla="val 16667"/>
            </a:avLst>
          </a:prstGeom>
          <a:solidFill xmlns:a="http://schemas.openxmlformats.org/drawingml/2006/main">
            <a:srgbClr val="2C669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MAR</a:t>
            </a:r>
          </a:p>
        </p:txBody>
      </p:sp>
      <p:sp>
        <p:nvSpPr>
          <p:cNvPr id="27" name="">
            <a:extLst xmlns:a="http://schemas.openxmlformats.org/drawingml/2006/main">
              <a:ext uri="{FF2B5EF4-FFF2-40B4-BE49-F238E27FC236}">
                <a16:creationId xmlns:a16="http://schemas.microsoft.com/office/drawing/2014/main" id="{4152DAE6-14D6-4C04-9545-5BFC16413ADB}"/>
              </a:ext>
            </a:extLst>
          </p:cNvPr>
          <p:cNvSpPr>
            <a:spLocks xmlns:a="http://schemas.openxmlformats.org/drawingml/2006/main" noGrp="1"/>
          </p:cNvSpPr>
          <p:nvPr/>
        </p:nvSpPr>
        <p:spPr>
          <a:xfrm xmlns:a="http://schemas.openxmlformats.org/drawingml/2006/main">
            <a:off x="12801600" y="4057650"/>
            <a:ext cx="14668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75" b="1" i="0">
                <a:solidFill>
                  <a:srgbClr val="102B44"/>
                </a:solidFill>
                <a:latin typeface="Arial"/>
                <a:ea typeface="Arial"/>
                <a:cs typeface="Arial"/>
              </a:defRPr>
            </a:pPr>
            <a:r>
              <a:rPr sz="1575" b="1" i="0">
                <a:solidFill>
                  <a:srgbClr val="102B44"/>
                </a:solidFill>
                <a:latin typeface="Arial"/>
                <a:ea typeface="Arial"/>
                <a:cs typeface="Arial"/>
              </a:rPr>
              <a:t>Testing &amp;</a:t>
            </a:r>
          </a:p>
          <a:p xmlns:a="http://schemas.openxmlformats.org/drawingml/2006/main">
            <a:pPr algn="ctr">
              <a:lnSpc>
                <a:spcPct val="100000"/>
              </a:lnSpc>
              <a:buNone/>
              <a:defRPr sz="1575" b="1" i="0">
                <a:solidFill>
                  <a:srgbClr val="102B44"/>
                </a:solidFill>
                <a:latin typeface="Arial"/>
                <a:ea typeface="Arial"/>
                <a:cs typeface="Arial"/>
              </a:defRPr>
            </a:pPr>
            <a:r>
              <a:rPr sz="1575" b="1" i="0">
                <a:solidFill>
                  <a:srgbClr val="102B44"/>
                </a:solidFill>
                <a:latin typeface="Arial"/>
                <a:ea typeface="Arial"/>
                <a:cs typeface="Arial"/>
              </a:rPr>
              <a:t>refinement</a:t>
            </a:r>
          </a:p>
        </p:txBody>
      </p:sp>
      <p:sp>
        <p:nvSpPr>
          <p:cNvPr id="28" name="">
            <a:extLst xmlns:a="http://schemas.openxmlformats.org/drawingml/2006/main">
              <a:ext uri="{FF2B5EF4-FFF2-40B4-BE49-F238E27FC236}">
                <a16:creationId xmlns:a16="http://schemas.microsoft.com/office/drawing/2014/main" id="{C0E22361-D115-401D-9469-994E1870F275}"/>
              </a:ext>
            </a:extLst>
          </p:cNvPr>
          <p:cNvSpPr>
            <a:spLocks xmlns:a="http://schemas.openxmlformats.org/drawingml/2006/main" noGrp="1"/>
          </p:cNvSpPr>
          <p:nvPr/>
        </p:nvSpPr>
        <p:spPr>
          <a:xfrm xmlns:a="http://schemas.openxmlformats.org/drawingml/2006/main">
            <a:off x="14678025" y="3067050"/>
            <a:ext cx="1657350" cy="2095500"/>
          </a:xfrm>
          <a:prstGeom xmlns:a="http://schemas.openxmlformats.org/drawingml/2006/main" prst="roundRect">
            <a:avLst>
              <a:gd name="adj" fmla="val 4598"/>
            </a:avLst>
          </a:prstGeom>
          <a:solidFill xmlns:a="http://schemas.openxmlformats.org/drawingml/2006/main">
            <a:srgbClr val="FFFDF9"/>
          </a:solidFill>
          <a:ln xmlns:a="http://schemas.openxmlformats.org/drawingml/2006/main" w="19050">
            <a:solidFill>
              <a:srgbClr val="CAD6DE"/>
            </a:solidFill>
          </a:ln>
        </p:spPr>
      </p:sp>
      <p:sp>
        <p:nvSpPr>
          <p:cNvPr id="29" name="">
            <a:extLst xmlns:a="http://schemas.openxmlformats.org/drawingml/2006/main">
              <a:ext uri="{FF2B5EF4-FFF2-40B4-BE49-F238E27FC236}">
                <a16:creationId xmlns:a16="http://schemas.microsoft.com/office/drawing/2014/main" id="{35A55537-F717-4D18-9101-E62988EEC47F}"/>
              </a:ext>
            </a:extLst>
          </p:cNvPr>
          <p:cNvSpPr>
            <a:spLocks xmlns:a="http://schemas.openxmlformats.org/drawingml/2006/main" noGrp="1"/>
          </p:cNvSpPr>
          <p:nvPr/>
        </p:nvSpPr>
        <p:spPr>
          <a:xfrm xmlns:a="http://schemas.openxmlformats.org/drawingml/2006/main">
            <a:off x="14963775" y="3295650"/>
            <a:ext cx="1085850" cy="457200"/>
          </a:xfrm>
          <a:prstGeom xmlns:a="http://schemas.openxmlformats.org/drawingml/2006/main" prst="roundRect">
            <a:avLst>
              <a:gd name="adj" fmla="val 16667"/>
            </a:avLst>
          </a:prstGeom>
          <a:solidFill xmlns:a="http://schemas.openxmlformats.org/drawingml/2006/main">
            <a:srgbClr val="123B6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APR</a:t>
            </a:r>
          </a:p>
        </p:txBody>
      </p:sp>
      <p:sp>
        <p:nvSpPr>
          <p:cNvPr id="30" name="">
            <a:extLst xmlns:a="http://schemas.openxmlformats.org/drawingml/2006/main">
              <a:ext uri="{FF2B5EF4-FFF2-40B4-BE49-F238E27FC236}">
                <a16:creationId xmlns:a16="http://schemas.microsoft.com/office/drawing/2014/main" id="{F17BF75D-5574-4932-909C-F1944FB50B74}"/>
              </a:ext>
            </a:extLst>
          </p:cNvPr>
          <p:cNvSpPr>
            <a:spLocks xmlns:a="http://schemas.openxmlformats.org/drawingml/2006/main" noGrp="1"/>
          </p:cNvSpPr>
          <p:nvPr/>
        </p:nvSpPr>
        <p:spPr>
          <a:xfrm xmlns:a="http://schemas.openxmlformats.org/drawingml/2006/main">
            <a:off x="14773275" y="4057650"/>
            <a:ext cx="14668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75" b="1" i="0">
                <a:solidFill>
                  <a:srgbClr val="102B44"/>
                </a:solidFill>
                <a:latin typeface="Arial"/>
                <a:ea typeface="Arial"/>
                <a:cs typeface="Arial"/>
              </a:defRPr>
            </a:pPr>
            <a:r>
              <a:rPr sz="1575" b="1" i="0">
                <a:solidFill>
                  <a:srgbClr val="102B44"/>
                </a:solidFill>
                <a:latin typeface="Arial"/>
                <a:ea typeface="Arial"/>
                <a:cs typeface="Arial"/>
              </a:rPr>
              <a:t>Evaluation &amp;</a:t>
            </a:r>
          </a:p>
          <a:p xmlns:a="http://schemas.openxmlformats.org/drawingml/2006/main">
            <a:pPr algn="ctr">
              <a:lnSpc>
                <a:spcPct val="100000"/>
              </a:lnSpc>
              <a:buNone/>
              <a:defRPr sz="1575" b="1" i="0">
                <a:solidFill>
                  <a:srgbClr val="102B44"/>
                </a:solidFill>
                <a:latin typeface="Arial"/>
                <a:ea typeface="Arial"/>
                <a:cs typeface="Arial"/>
              </a:defRPr>
            </a:pPr>
            <a:r>
              <a:rPr sz="1575" b="1" i="0">
                <a:solidFill>
                  <a:srgbClr val="102B44"/>
                </a:solidFill>
                <a:latin typeface="Arial"/>
                <a:ea typeface="Arial"/>
                <a:cs typeface="Arial"/>
              </a:rPr>
              <a:t>defense</a:t>
            </a:r>
          </a:p>
        </p:txBody>
      </p:sp>
      <p:sp>
        <p:nvSpPr>
          <p:cNvPr id="31" name="">
            <a:extLst xmlns:a="http://schemas.openxmlformats.org/drawingml/2006/main">
              <a:ext uri="{FF2B5EF4-FFF2-40B4-BE49-F238E27FC236}">
                <a16:creationId xmlns:a16="http://schemas.microsoft.com/office/drawing/2014/main" id="{27B61FFD-F923-4ED6-8AB1-8D548CC2D8AC}"/>
              </a:ext>
            </a:extLst>
          </p:cNvPr>
          <p:cNvSpPr>
            <a:spLocks xmlns:a="http://schemas.openxmlformats.org/drawingml/2006/main" noGrp="1"/>
          </p:cNvSpPr>
          <p:nvPr/>
        </p:nvSpPr>
        <p:spPr>
          <a:xfrm xmlns:a="http://schemas.openxmlformats.org/drawingml/2006/main">
            <a:off x="876300" y="5867400"/>
            <a:ext cx="15773400" cy="2247900"/>
          </a:xfrm>
          <a:prstGeom xmlns:a="http://schemas.openxmlformats.org/drawingml/2006/main" prst="roundRect">
            <a:avLst>
              <a:gd name="adj" fmla="val 3390"/>
            </a:avLst>
          </a:prstGeom>
          <a:solidFill xmlns:a="http://schemas.openxmlformats.org/drawingml/2006/main">
            <a:srgbClr val="E8EFF3"/>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7F77F5CD-E76C-46D8-B6D4-7F5871FEBE68}"/>
              </a:ext>
            </a:extLst>
          </p:cNvPr>
          <p:cNvSpPr>
            <a:spLocks xmlns:a="http://schemas.openxmlformats.org/drawingml/2006/main" noGrp="1"/>
          </p:cNvSpPr>
          <p:nvPr/>
        </p:nvSpPr>
        <p:spPr>
          <a:xfrm xmlns:a="http://schemas.openxmlformats.org/drawingml/2006/main">
            <a:off x="1219200" y="61912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950" b="1" i="0">
                <a:solidFill>
                  <a:srgbClr val="2D8B84"/>
                </a:solidFill>
                <a:latin typeface="Arial"/>
                <a:ea typeface="Arial"/>
                <a:cs typeface="Arial"/>
              </a:defRPr>
            </a:pPr>
            <a:r>
              <a:rPr sz="1950" b="1" i="0">
                <a:solidFill>
                  <a:srgbClr val="2D8B84"/>
                </a:solidFill>
                <a:latin typeface="Arial"/>
                <a:ea typeface="Arial"/>
                <a:cs typeface="Arial"/>
              </a:rPr>
              <a:t>Evaluation focus</a:t>
            </a:r>
          </a:p>
        </p:txBody>
      </p:sp>
      <p:sp>
        <p:nvSpPr>
          <p:cNvPr id="33" name="">
            <a:extLst xmlns:a="http://schemas.openxmlformats.org/drawingml/2006/main">
              <a:ext uri="{FF2B5EF4-FFF2-40B4-BE49-F238E27FC236}">
                <a16:creationId xmlns:a16="http://schemas.microsoft.com/office/drawing/2014/main" id="{99C1D447-06C4-4FEA-9F3E-59F3A55D230F}"/>
              </a:ext>
            </a:extLst>
          </p:cNvPr>
          <p:cNvSpPr>
            <a:spLocks xmlns:a="http://schemas.openxmlformats.org/drawingml/2006/main" noGrp="1"/>
          </p:cNvSpPr>
          <p:nvPr/>
        </p:nvSpPr>
        <p:spPr>
          <a:xfrm xmlns:a="http://schemas.openxmlformats.org/drawingml/2006/main">
            <a:off x="1219200" y="6724650"/>
            <a:ext cx="4476750" cy="1066800"/>
          </a:xfrm>
          <a:prstGeom xmlns:a="http://schemas.openxmlformats.org/drawingml/2006/main" prst="roundRect">
            <a:avLst>
              <a:gd name="adj" fmla="val 7143"/>
            </a:avLst>
          </a:prstGeom>
          <a:solidFill xmlns:a="http://schemas.openxmlformats.org/drawingml/2006/main">
            <a:srgbClr val="FFFDF9"/>
          </a:solidFill>
          <a:ln xmlns:a="http://schemas.openxmlformats.org/drawingml/2006/main" w="19050">
            <a:solidFill>
              <a:srgbClr val="CAD6DE"/>
            </a:solidFill>
          </a:ln>
        </p:spPr>
      </p:sp>
      <p:sp>
        <p:nvSpPr>
          <p:cNvPr id="34" name="">
            <a:extLst xmlns:a="http://schemas.openxmlformats.org/drawingml/2006/main">
              <a:ext uri="{FF2B5EF4-FFF2-40B4-BE49-F238E27FC236}">
                <a16:creationId xmlns:a16="http://schemas.microsoft.com/office/drawing/2014/main" id="{851043FE-E6AE-4A58-A9F1-655BC4711FD1}"/>
              </a:ext>
            </a:extLst>
          </p:cNvPr>
          <p:cNvSpPr>
            <a:spLocks xmlns:a="http://schemas.openxmlformats.org/drawingml/2006/main" noGrp="1"/>
          </p:cNvSpPr>
          <p:nvPr/>
        </p:nvSpPr>
        <p:spPr>
          <a:xfrm xmlns:a="http://schemas.openxmlformats.org/drawingml/2006/main">
            <a:off x="1219200" y="6724650"/>
            <a:ext cx="85725" cy="1066800"/>
          </a:xfrm>
          <a:prstGeom xmlns:a="http://schemas.openxmlformats.org/drawingml/2006/main" prst="rect">
            <a:avLst/>
          </a:prstGeom>
          <a:solidFill xmlns:a="http://schemas.openxmlformats.org/drawingml/2006/main">
            <a:srgbClr val="2D8B84"/>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099B03AB-615E-4A8E-B7A3-F1B5CFC435BD}"/>
              </a:ext>
            </a:extLst>
          </p:cNvPr>
          <p:cNvSpPr>
            <a:spLocks xmlns:a="http://schemas.openxmlformats.org/drawingml/2006/main" noGrp="1"/>
          </p:cNvSpPr>
          <p:nvPr/>
        </p:nvSpPr>
        <p:spPr>
          <a:xfrm xmlns:a="http://schemas.openxmlformats.org/drawingml/2006/main">
            <a:off x="1485900" y="6934200"/>
            <a:ext cx="3981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i="0">
                <a:solidFill>
                  <a:srgbClr val="123B63"/>
                </a:solidFill>
                <a:latin typeface="Arial"/>
                <a:ea typeface="Arial"/>
                <a:cs typeface="Arial"/>
              </a:defRPr>
            </a:pPr>
            <a:r>
              <a:rPr sz="1725" b="1" i="0">
                <a:solidFill>
                  <a:srgbClr val="123B63"/>
                </a:solidFill>
                <a:latin typeface="Arial"/>
                <a:ea typeface="Arial"/>
                <a:cs typeface="Arial"/>
              </a:rPr>
              <a:t>Coverage</a:t>
            </a:r>
          </a:p>
        </p:txBody>
      </p:sp>
      <p:sp>
        <p:nvSpPr>
          <p:cNvPr id="36" name="">
            <a:extLst xmlns:a="http://schemas.openxmlformats.org/drawingml/2006/main">
              <a:ext uri="{FF2B5EF4-FFF2-40B4-BE49-F238E27FC236}">
                <a16:creationId xmlns:a16="http://schemas.microsoft.com/office/drawing/2014/main" id="{FA001A35-742B-403B-A0C4-4B2426DDF184}"/>
              </a:ext>
            </a:extLst>
          </p:cNvPr>
          <p:cNvSpPr>
            <a:spLocks xmlns:a="http://schemas.openxmlformats.org/drawingml/2006/main" noGrp="1"/>
          </p:cNvSpPr>
          <p:nvPr/>
        </p:nvSpPr>
        <p:spPr>
          <a:xfrm xmlns:a="http://schemas.openxmlformats.org/drawingml/2006/main">
            <a:off x="1485900" y="7467600"/>
            <a:ext cx="39814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63492"/>
          </a:bodyPr>
          <a:lstStyle xmlns:a="http://schemas.openxmlformats.org/drawingml/2006/main"/>
          <a:p xmlns:a="http://schemas.openxmlformats.org/drawingml/2006/main">
            <a:pPr algn="l">
              <a:lnSpc>
                <a:spcPct val="105000"/>
              </a:lnSpc>
              <a:buNone/>
              <a:defRPr sz="1500" b="0" i="0">
                <a:solidFill>
                  <a:srgbClr val="354F63"/>
                </a:solidFill>
                <a:latin typeface="Arial"/>
                <a:ea typeface="Arial"/>
                <a:cs typeface="Arial"/>
              </a:defRPr>
            </a:pPr>
            <a:r>
              <a:rPr sz="1500" b="0" i="0">
                <a:solidFill>
                  <a:srgbClr val="354F63"/>
                </a:solidFill>
                <a:latin typeface="Arial"/>
                <a:ea typeface="Arial"/>
                <a:cs typeface="Arial"/>
              </a:rPr>
              <a:t>Attack-surface discovery and vulnerability coverage.</a:t>
            </a:r>
          </a:p>
        </p:txBody>
      </p:sp>
      <p:sp>
        <p:nvSpPr>
          <p:cNvPr id="37" name="">
            <a:extLst xmlns:a="http://schemas.openxmlformats.org/drawingml/2006/main">
              <a:ext uri="{FF2B5EF4-FFF2-40B4-BE49-F238E27FC236}">
                <a16:creationId xmlns:a16="http://schemas.microsoft.com/office/drawing/2014/main" id="{A4D363C7-E346-4DE5-9B90-2EC18D73117A}"/>
              </a:ext>
            </a:extLst>
          </p:cNvPr>
          <p:cNvSpPr>
            <a:spLocks xmlns:a="http://schemas.openxmlformats.org/drawingml/2006/main" noGrp="1"/>
          </p:cNvSpPr>
          <p:nvPr/>
        </p:nvSpPr>
        <p:spPr>
          <a:xfrm xmlns:a="http://schemas.openxmlformats.org/drawingml/2006/main">
            <a:off x="5943600" y="6724650"/>
            <a:ext cx="4476750" cy="1066800"/>
          </a:xfrm>
          <a:prstGeom xmlns:a="http://schemas.openxmlformats.org/drawingml/2006/main" prst="roundRect">
            <a:avLst>
              <a:gd name="adj" fmla="val 7143"/>
            </a:avLst>
          </a:prstGeom>
          <a:solidFill xmlns:a="http://schemas.openxmlformats.org/drawingml/2006/main">
            <a:srgbClr val="FFFDF9"/>
          </a:solidFill>
          <a:ln xmlns:a="http://schemas.openxmlformats.org/drawingml/2006/main" w="19050">
            <a:solidFill>
              <a:srgbClr val="CAD6DE"/>
            </a:solidFill>
          </a:ln>
        </p:spPr>
      </p:sp>
      <p:sp>
        <p:nvSpPr>
          <p:cNvPr id="38" name="">
            <a:extLst xmlns:a="http://schemas.openxmlformats.org/drawingml/2006/main">
              <a:ext uri="{FF2B5EF4-FFF2-40B4-BE49-F238E27FC236}">
                <a16:creationId xmlns:a16="http://schemas.microsoft.com/office/drawing/2014/main" id="{B2CB923A-92E7-4C3C-AEF7-A2CAFFB02503}"/>
              </a:ext>
            </a:extLst>
          </p:cNvPr>
          <p:cNvSpPr>
            <a:spLocks xmlns:a="http://schemas.openxmlformats.org/drawingml/2006/main" noGrp="1"/>
          </p:cNvSpPr>
          <p:nvPr/>
        </p:nvSpPr>
        <p:spPr>
          <a:xfrm xmlns:a="http://schemas.openxmlformats.org/drawingml/2006/main">
            <a:off x="5943600" y="6724650"/>
            <a:ext cx="85725" cy="1066800"/>
          </a:xfrm>
          <a:prstGeom xmlns:a="http://schemas.openxmlformats.org/drawingml/2006/main" prst="rect">
            <a:avLst/>
          </a:prstGeom>
          <a:solidFill xmlns:a="http://schemas.openxmlformats.org/drawingml/2006/main">
            <a:srgbClr val="2C6693"/>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3775C913-CC7B-44C0-B3CD-8C3DCCF24667}"/>
              </a:ext>
            </a:extLst>
          </p:cNvPr>
          <p:cNvSpPr>
            <a:spLocks xmlns:a="http://schemas.openxmlformats.org/drawingml/2006/main" noGrp="1"/>
          </p:cNvSpPr>
          <p:nvPr/>
        </p:nvSpPr>
        <p:spPr>
          <a:xfrm xmlns:a="http://schemas.openxmlformats.org/drawingml/2006/main">
            <a:off x="6210300" y="6934200"/>
            <a:ext cx="3981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i="0">
                <a:solidFill>
                  <a:srgbClr val="123B63"/>
                </a:solidFill>
                <a:latin typeface="Arial"/>
                <a:ea typeface="Arial"/>
                <a:cs typeface="Arial"/>
              </a:defRPr>
            </a:pPr>
            <a:r>
              <a:rPr sz="1725" b="1" i="0">
                <a:solidFill>
                  <a:srgbClr val="123B63"/>
                </a:solidFill>
                <a:latin typeface="Arial"/>
                <a:ea typeface="Arial"/>
                <a:cs typeface="Arial"/>
              </a:rPr>
              <a:t>Reliability</a:t>
            </a:r>
          </a:p>
        </p:txBody>
      </p:sp>
      <p:sp>
        <p:nvSpPr>
          <p:cNvPr id="40" name="">
            <a:extLst xmlns:a="http://schemas.openxmlformats.org/drawingml/2006/main">
              <a:ext uri="{FF2B5EF4-FFF2-40B4-BE49-F238E27FC236}">
                <a16:creationId xmlns:a16="http://schemas.microsoft.com/office/drawing/2014/main" id="{62B8BC3A-82B4-43EA-9836-FE7E453BF816}"/>
              </a:ext>
            </a:extLst>
          </p:cNvPr>
          <p:cNvSpPr>
            <a:spLocks xmlns:a="http://schemas.openxmlformats.org/drawingml/2006/main" noGrp="1"/>
          </p:cNvSpPr>
          <p:nvPr/>
        </p:nvSpPr>
        <p:spPr>
          <a:xfrm xmlns:a="http://schemas.openxmlformats.org/drawingml/2006/main">
            <a:off x="6210300" y="7467600"/>
            <a:ext cx="39814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63492"/>
          </a:bodyPr>
          <a:lstStyle xmlns:a="http://schemas.openxmlformats.org/drawingml/2006/main"/>
          <a:p xmlns:a="http://schemas.openxmlformats.org/drawingml/2006/main">
            <a:pPr algn="l">
              <a:lnSpc>
                <a:spcPct val="105000"/>
              </a:lnSpc>
              <a:buNone/>
              <a:defRPr sz="1500" b="0" i="0">
                <a:solidFill>
                  <a:srgbClr val="354F63"/>
                </a:solidFill>
                <a:latin typeface="Arial"/>
                <a:ea typeface="Arial"/>
                <a:cs typeface="Arial"/>
              </a:defRPr>
            </a:pPr>
            <a:r>
              <a:rPr sz="1500" b="0" i="0">
                <a:solidFill>
                  <a:srgbClr val="354F63"/>
                </a:solidFill>
                <a:latin typeface="Arial"/>
                <a:ea typeface="Arial"/>
                <a:cs typeface="Arial"/>
              </a:rPr>
              <a:t>Comparable operation with and without an LLM.</a:t>
            </a:r>
          </a:p>
        </p:txBody>
      </p:sp>
      <p:sp>
        <p:nvSpPr>
          <p:cNvPr id="41" name="">
            <a:extLst xmlns:a="http://schemas.openxmlformats.org/drawingml/2006/main">
              <a:ext uri="{FF2B5EF4-FFF2-40B4-BE49-F238E27FC236}">
                <a16:creationId xmlns:a16="http://schemas.microsoft.com/office/drawing/2014/main" id="{2A2C9CBB-65CA-4FDE-B8D9-AABF3A0BFE93}"/>
              </a:ext>
            </a:extLst>
          </p:cNvPr>
          <p:cNvSpPr>
            <a:spLocks xmlns:a="http://schemas.openxmlformats.org/drawingml/2006/main" noGrp="1"/>
          </p:cNvSpPr>
          <p:nvPr/>
        </p:nvSpPr>
        <p:spPr>
          <a:xfrm xmlns:a="http://schemas.openxmlformats.org/drawingml/2006/main">
            <a:off x="10668000" y="6724650"/>
            <a:ext cx="5619750" cy="1066800"/>
          </a:xfrm>
          <a:prstGeom xmlns:a="http://schemas.openxmlformats.org/drawingml/2006/main" prst="roundRect">
            <a:avLst>
              <a:gd name="adj" fmla="val 7143"/>
            </a:avLst>
          </a:prstGeom>
          <a:solidFill xmlns:a="http://schemas.openxmlformats.org/drawingml/2006/main">
            <a:srgbClr val="FFFDF9"/>
          </a:solidFill>
          <a:ln xmlns:a="http://schemas.openxmlformats.org/drawingml/2006/main" w="19050">
            <a:solidFill>
              <a:srgbClr val="CAD6DE"/>
            </a:solidFill>
          </a:ln>
        </p:spPr>
      </p:sp>
      <p:sp>
        <p:nvSpPr>
          <p:cNvPr id="42" name="">
            <a:extLst xmlns:a="http://schemas.openxmlformats.org/drawingml/2006/main">
              <a:ext uri="{FF2B5EF4-FFF2-40B4-BE49-F238E27FC236}">
                <a16:creationId xmlns:a16="http://schemas.microsoft.com/office/drawing/2014/main" id="{D8782132-0D15-4B8B-8FF1-902D687496AA}"/>
              </a:ext>
            </a:extLst>
          </p:cNvPr>
          <p:cNvSpPr>
            <a:spLocks xmlns:a="http://schemas.openxmlformats.org/drawingml/2006/main" noGrp="1"/>
          </p:cNvSpPr>
          <p:nvPr/>
        </p:nvSpPr>
        <p:spPr>
          <a:xfrm xmlns:a="http://schemas.openxmlformats.org/drawingml/2006/main">
            <a:off x="10668000" y="6724650"/>
            <a:ext cx="85725" cy="1066800"/>
          </a:xfrm>
          <a:prstGeom xmlns:a="http://schemas.openxmlformats.org/drawingml/2006/main" prst="rect">
            <a:avLst/>
          </a:prstGeom>
          <a:solidFill xmlns:a="http://schemas.openxmlformats.org/drawingml/2006/main">
            <a:srgbClr val="D79A32"/>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7534A884-51D0-4EB1-84AE-74AA951DC077}"/>
              </a:ext>
            </a:extLst>
          </p:cNvPr>
          <p:cNvSpPr>
            <a:spLocks xmlns:a="http://schemas.openxmlformats.org/drawingml/2006/main" noGrp="1"/>
          </p:cNvSpPr>
          <p:nvPr/>
        </p:nvSpPr>
        <p:spPr>
          <a:xfrm xmlns:a="http://schemas.openxmlformats.org/drawingml/2006/main">
            <a:off x="10934700" y="6934200"/>
            <a:ext cx="5124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i="0">
                <a:solidFill>
                  <a:srgbClr val="123B63"/>
                </a:solidFill>
                <a:latin typeface="Arial"/>
                <a:ea typeface="Arial"/>
                <a:cs typeface="Arial"/>
              </a:defRPr>
            </a:pPr>
            <a:r>
              <a:rPr sz="1725" b="1" i="0">
                <a:solidFill>
                  <a:srgbClr val="123B63"/>
                </a:solidFill>
                <a:latin typeface="Arial"/>
                <a:ea typeface="Arial"/>
                <a:cs typeface="Arial"/>
              </a:rPr>
              <a:t>Safety and efficiency</a:t>
            </a:r>
          </a:p>
        </p:txBody>
      </p:sp>
      <p:sp>
        <p:nvSpPr>
          <p:cNvPr id="44" name="">
            <a:extLst xmlns:a="http://schemas.openxmlformats.org/drawingml/2006/main">
              <a:ext uri="{FF2B5EF4-FFF2-40B4-BE49-F238E27FC236}">
                <a16:creationId xmlns:a16="http://schemas.microsoft.com/office/drawing/2014/main" id="{81A8847C-E6C1-4BA2-8232-C8B3421D294A}"/>
              </a:ext>
            </a:extLst>
          </p:cNvPr>
          <p:cNvSpPr>
            <a:spLocks xmlns:a="http://schemas.openxmlformats.org/drawingml/2006/main" noGrp="1"/>
          </p:cNvSpPr>
          <p:nvPr/>
        </p:nvSpPr>
        <p:spPr>
          <a:xfrm xmlns:a="http://schemas.openxmlformats.org/drawingml/2006/main">
            <a:off x="10934700" y="7467600"/>
            <a:ext cx="51244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63492"/>
          </a:bodyPr>
          <a:lstStyle xmlns:a="http://schemas.openxmlformats.org/drawingml/2006/main"/>
          <a:p xmlns:a="http://schemas.openxmlformats.org/drawingml/2006/main">
            <a:pPr algn="l">
              <a:lnSpc>
                <a:spcPct val="105000"/>
              </a:lnSpc>
              <a:buNone/>
              <a:defRPr sz="1500" b="0" i="0">
                <a:solidFill>
                  <a:srgbClr val="354F63"/>
                </a:solidFill>
                <a:latin typeface="Arial"/>
                <a:ea typeface="Arial"/>
                <a:cs typeface="Arial"/>
              </a:defRPr>
            </a:pPr>
            <a:r>
              <a:rPr sz="1500" b="0" i="0">
                <a:solidFill>
                  <a:srgbClr val="354F63"/>
                </a:solidFill>
                <a:latin typeface="Arial"/>
                <a:ea typeface="Arial"/>
                <a:cs typeface="Arial"/>
              </a:rPr>
              <a:t>Zero scope violations and measurable time improvement.</a:t>
            </a:r>
          </a:p>
        </p:txBody>
      </p:sp>
    </p:spTree>
    <p:extLst>
      <p:ext uri="{BB962C8B-B14F-4D97-AF65-F5344CB8AC3E}">
        <p14:creationId xmlns:p14="http://schemas.microsoft.com/office/powerpoint/2010/main" val="1733910604"/>
      </p:ext>
    </p:extLst>
  </p:cSld>
  <p:transition spd="med" advClick="1">
    <p:fade/>
  </p:transition>
</p:sld>
</file>

<file path=ppt/slides/slide1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05D2A2C7-660F-44FB-85EB-74450C4CAE82}"/>
              </a:ext>
            </a:extLst>
          </p:cNvPr>
          <p:cNvSpPr>
            <a:spLocks xmlns:a="http://schemas.openxmlformats.org/drawingml/2006/main" noGrp="1"/>
          </p:cNvSpPr>
          <p:nvPr/>
        </p:nvSpPr>
        <p:spPr>
          <a:xfrm xmlns:a="http://schemas.openxmlformats.org/drawingml/2006/main">
            <a:off x="876300" y="4381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1" i="0">
                <a:solidFill>
                  <a:srgbClr val="2D8B84"/>
                </a:solidFill>
                <a:latin typeface="Arial"/>
                <a:ea typeface="Arial"/>
                <a:cs typeface="Arial"/>
              </a:defRPr>
            </a:pPr>
            <a:r>
              <a:rPr sz="1575" b="1" i="0">
                <a:solidFill>
                  <a:srgbClr val="2D8B84"/>
                </a:solidFill>
                <a:latin typeface="Arial"/>
                <a:ea typeface="Arial"/>
                <a:cs typeface="Arial"/>
              </a:rPr>
              <a:t>10 / TEAM</a:t>
            </a:r>
          </a:p>
        </p:txBody>
      </p:sp>
      <p:sp>
        <p:nvSpPr>
          <p:cNvPr id="2" name="">
            <a:extLst xmlns:a="http://schemas.openxmlformats.org/drawingml/2006/main">
              <a:ext uri="{FF2B5EF4-FFF2-40B4-BE49-F238E27FC236}">
                <a16:creationId xmlns:a16="http://schemas.microsoft.com/office/drawing/2014/main" id="{1ADD0F43-8701-429F-96CB-A3BCB6D3AB02}"/>
              </a:ext>
            </a:extLst>
          </p:cNvPr>
          <p:cNvSpPr>
            <a:spLocks xmlns:a="http://schemas.openxmlformats.org/drawingml/2006/main" noGrp="1"/>
          </p:cNvSpPr>
          <p:nvPr/>
        </p:nvSpPr>
        <p:spPr>
          <a:xfrm xmlns:a="http://schemas.openxmlformats.org/drawingml/2006/main">
            <a:off x="876300" y="838200"/>
            <a:ext cx="16287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4050" b="1" i="0">
                <a:solidFill>
                  <a:srgbClr val="123B63"/>
                </a:solidFill>
                <a:latin typeface="Arial"/>
                <a:ea typeface="Arial"/>
                <a:cs typeface="Arial"/>
              </a:defRPr>
            </a:pPr>
            <a:r>
              <a:rPr sz="4050" b="1" i="0">
                <a:solidFill>
                  <a:srgbClr val="123B63"/>
                </a:solidFill>
                <a:latin typeface="Arial"/>
                <a:ea typeface="Arial"/>
                <a:cs typeface="Arial"/>
              </a:rPr>
              <a:t>Team responsibilities and shared ownership</a:t>
            </a:r>
          </a:p>
        </p:txBody>
      </p:sp>
      <p:sp>
        <p:nvSpPr>
          <p:cNvPr id="3" name="">
            <a:extLst xmlns:a="http://schemas.openxmlformats.org/drawingml/2006/main">
              <a:ext uri="{FF2B5EF4-FFF2-40B4-BE49-F238E27FC236}">
                <a16:creationId xmlns:a16="http://schemas.microsoft.com/office/drawing/2014/main" id="{29CEEB8D-6D16-4789-83FC-AE326DA13639}"/>
              </a:ext>
            </a:extLst>
          </p:cNvPr>
          <p:cNvSpPr>
            <a:spLocks xmlns:a="http://schemas.openxmlformats.org/drawingml/2006/main" noGrp="1"/>
          </p:cNvSpPr>
          <p:nvPr/>
        </p:nvSpPr>
        <p:spPr>
          <a:xfrm xmlns:a="http://schemas.openxmlformats.org/drawingml/2006/main">
            <a:off x="876300" y="1790700"/>
            <a:ext cx="16535400" cy="0"/>
          </a:xfrm>
          <a:prstGeom xmlns:a="http://schemas.openxmlformats.org/drawingml/2006/main" prst="line">
            <a:avLst/>
          </a:prstGeom>
          <a:noFill xmlns:a="http://schemas.openxmlformats.org/drawingml/2006/main"/>
          <a:ln xmlns:a="http://schemas.openxmlformats.org/drawingml/2006/main" w="19050">
            <a:solidFill>
              <a:srgbClr val="CAD6DE"/>
            </a:solidFill>
          </a:ln>
        </p:spPr>
      </p:sp>
      <p:sp>
        <p:nvSpPr>
          <p:cNvPr id="4" name="">
            <a:extLst xmlns:a="http://schemas.openxmlformats.org/drawingml/2006/main">
              <a:ext uri="{FF2B5EF4-FFF2-40B4-BE49-F238E27FC236}">
                <a16:creationId xmlns:a16="http://schemas.microsoft.com/office/drawing/2014/main" id="{82D44ACF-173E-4A40-A289-7BE61B7762FB}"/>
              </a:ext>
            </a:extLst>
          </p:cNvPr>
          <p:cNvSpPr>
            <a:spLocks xmlns:a="http://schemas.openxmlformats.org/drawingml/2006/main" noGrp="1"/>
          </p:cNvSpPr>
          <p:nvPr/>
        </p:nvSpPr>
        <p:spPr>
          <a:xfrm xmlns:a="http://schemas.openxmlformats.org/drawingml/2006/main">
            <a:off x="16764000" y="9525000"/>
            <a:ext cx="647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575" b="1" i="0">
                <a:solidFill>
                  <a:srgbClr val="79A9C8"/>
                </a:solidFill>
                <a:latin typeface="Arial"/>
                <a:ea typeface="Arial"/>
                <a:cs typeface="Arial"/>
              </a:defRPr>
            </a:pPr>
            <a:r>
              <a:rPr sz="1575" b="1" i="0">
                <a:solidFill>
                  <a:srgbClr val="79A9C8"/>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19A99F9C-7D4B-4AED-95F9-EEE16762D071}"/>
              </a:ext>
            </a:extLst>
          </p:cNvPr>
          <p:cNvSpPr>
            <a:spLocks xmlns:a="http://schemas.openxmlformats.org/drawingml/2006/main" noGrp="1"/>
          </p:cNvSpPr>
          <p:nvPr/>
        </p:nvSpPr>
        <p:spPr>
          <a:xfrm xmlns:a="http://schemas.openxmlformats.org/drawingml/2006/main">
            <a:off x="876300" y="2533650"/>
            <a:ext cx="4876800" cy="3314700"/>
          </a:xfrm>
          <a:prstGeom xmlns:a="http://schemas.openxmlformats.org/drawingml/2006/main" prst="roundRect">
            <a:avLst>
              <a:gd name="adj" fmla="val 2299"/>
            </a:avLst>
          </a:prstGeom>
          <a:solidFill xmlns:a="http://schemas.openxmlformats.org/drawingml/2006/main">
            <a:srgbClr val="FFFDF9"/>
          </a:solidFill>
          <a:ln xmlns:a="http://schemas.openxmlformats.org/drawingml/2006/main" w="19050">
            <a:solidFill>
              <a:srgbClr val="CAD6DE"/>
            </a:solidFill>
          </a:ln>
        </p:spPr>
      </p:sp>
      <p:sp>
        <p:nvSpPr>
          <p:cNvPr id="6" name="">
            <a:extLst xmlns:a="http://schemas.openxmlformats.org/drawingml/2006/main">
              <a:ext uri="{FF2B5EF4-FFF2-40B4-BE49-F238E27FC236}">
                <a16:creationId xmlns:a16="http://schemas.microsoft.com/office/drawing/2014/main" id="{B7E1B1A0-8228-4806-9980-28BB87ABB66E}"/>
              </a:ext>
            </a:extLst>
          </p:cNvPr>
          <p:cNvSpPr>
            <a:spLocks xmlns:a="http://schemas.openxmlformats.org/drawingml/2006/main" noGrp="1"/>
          </p:cNvSpPr>
          <p:nvPr/>
        </p:nvSpPr>
        <p:spPr>
          <a:xfrm xmlns:a="http://schemas.openxmlformats.org/drawingml/2006/main">
            <a:off x="876300" y="2533650"/>
            <a:ext cx="85725" cy="3314700"/>
          </a:xfrm>
          <a:prstGeom xmlns:a="http://schemas.openxmlformats.org/drawingml/2006/main" prst="rect">
            <a:avLst/>
          </a:prstGeom>
          <a:solidFill xmlns:a="http://schemas.openxmlformats.org/drawingml/2006/main">
            <a:srgbClr val="2D8B8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CCD78D5-5590-4E22-9824-86DCACDC55A5}"/>
              </a:ext>
            </a:extLst>
          </p:cNvPr>
          <p:cNvSpPr>
            <a:spLocks xmlns:a="http://schemas.openxmlformats.org/drawingml/2006/main" noGrp="1"/>
          </p:cNvSpPr>
          <p:nvPr/>
        </p:nvSpPr>
        <p:spPr>
          <a:xfrm xmlns:a="http://schemas.openxmlformats.org/drawingml/2006/main">
            <a:off x="1143000" y="2743200"/>
            <a:ext cx="438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325" b="1" i="0">
                <a:solidFill>
                  <a:srgbClr val="123B63"/>
                </a:solidFill>
                <a:latin typeface="Arial"/>
                <a:ea typeface="Arial"/>
                <a:cs typeface="Arial"/>
              </a:defRPr>
            </a:pPr>
            <a:r>
              <a:rPr sz="2325" b="1" i="0">
                <a:solidFill>
                  <a:srgbClr val="123B63"/>
                </a:solidFill>
                <a:latin typeface="Arial"/>
                <a:ea typeface="Arial"/>
                <a:cs typeface="Arial"/>
              </a:rPr>
              <a:t>Abdul Ahad</a:t>
            </a:r>
          </a:p>
        </p:txBody>
      </p:sp>
      <p:sp>
        <p:nvSpPr>
          <p:cNvPr id="8" name="">
            <a:extLst xmlns:a="http://schemas.openxmlformats.org/drawingml/2006/main">
              <a:ext uri="{FF2B5EF4-FFF2-40B4-BE49-F238E27FC236}">
                <a16:creationId xmlns:a16="http://schemas.microsoft.com/office/drawing/2014/main" id="{744C5ECF-E417-4727-9E55-160455C26A44}"/>
              </a:ext>
            </a:extLst>
          </p:cNvPr>
          <p:cNvSpPr>
            <a:spLocks xmlns:a="http://schemas.openxmlformats.org/drawingml/2006/main" noGrp="1"/>
          </p:cNvSpPr>
          <p:nvPr/>
        </p:nvSpPr>
        <p:spPr>
          <a:xfrm xmlns:a="http://schemas.openxmlformats.org/drawingml/2006/main">
            <a:off x="1143000" y="3276600"/>
            <a:ext cx="4381500" cy="2400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75" b="0" i="0">
                <a:solidFill>
                  <a:srgbClr val="354F63"/>
                </a:solidFill>
                <a:latin typeface="Arial"/>
                <a:ea typeface="Arial"/>
                <a:cs typeface="Arial"/>
              </a:defRPr>
            </a:pPr>
            <a:r>
              <a:rPr sz="1875" b="0" i="0">
                <a:solidFill>
                  <a:srgbClr val="354F63"/>
                </a:solidFill>
                <a:latin typeface="Arial"/>
                <a:ea typeface="Arial"/>
                <a:cs typeface="Arial"/>
              </a:rPr>
              <a:t>Primary responsibility</a:t>
            </a:r>
          </a:p>
          <a:p xmlns:a="http://schemas.openxmlformats.org/drawingml/2006/main">
            <a:r>
              <a:t/>
            </a:r>
          </a:p>
          <a:p xmlns:a="http://schemas.openxmlformats.org/drawingml/2006/main">
            <a:pPr algn="l">
              <a:lnSpc>
                <a:spcPct val="105000"/>
              </a:lnSpc>
              <a:buNone/>
              <a:defRPr sz="1875" b="0" i="0">
                <a:solidFill>
                  <a:srgbClr val="354F63"/>
                </a:solidFill>
                <a:latin typeface="Arial"/>
                <a:ea typeface="Arial"/>
                <a:cs typeface="Arial"/>
              </a:defRPr>
            </a:pPr>
            <a:r>
              <a:rPr sz="1875" b="0" i="0">
                <a:solidFill>
                  <a:srgbClr val="354F63"/>
                </a:solidFill>
                <a:latin typeface="Arial"/>
                <a:ea typeface="Arial"/>
                <a:cs typeface="Arial"/>
              </a:rPr>
              <a:t>System architecture</a:t>
            </a:r>
          </a:p>
          <a:p xmlns:a="http://schemas.openxmlformats.org/drawingml/2006/main">
            <a:pPr algn="l">
              <a:lnSpc>
                <a:spcPct val="105000"/>
              </a:lnSpc>
              <a:buNone/>
              <a:defRPr sz="1875" b="0" i="0">
                <a:solidFill>
                  <a:srgbClr val="354F63"/>
                </a:solidFill>
                <a:latin typeface="Arial"/>
                <a:ea typeface="Arial"/>
                <a:cs typeface="Arial"/>
              </a:defRPr>
            </a:pPr>
            <a:r>
              <a:rPr sz="1875" b="0" i="0">
                <a:solidFill>
                  <a:srgbClr val="354F63"/>
                </a:solidFill>
                <a:latin typeface="Arial"/>
                <a:ea typeface="Arial"/>
                <a:cs typeface="Arial"/>
              </a:rPr>
              <a:t>AI orchestration</a:t>
            </a:r>
          </a:p>
          <a:p xmlns:a="http://schemas.openxmlformats.org/drawingml/2006/main">
            <a:pPr algn="l">
              <a:lnSpc>
                <a:spcPct val="105000"/>
              </a:lnSpc>
              <a:buNone/>
              <a:defRPr sz="1875" b="0" i="0">
                <a:solidFill>
                  <a:srgbClr val="354F63"/>
                </a:solidFill>
                <a:latin typeface="Arial"/>
                <a:ea typeface="Arial"/>
                <a:cs typeface="Arial"/>
              </a:defRPr>
            </a:pPr>
            <a:r>
              <a:rPr sz="1875" b="0" i="0">
                <a:solidFill>
                  <a:srgbClr val="354F63"/>
                </a:solidFill>
                <a:latin typeface="Arial"/>
                <a:ea typeface="Arial"/>
                <a:cs typeface="Arial"/>
              </a:rPr>
              <a:t>Methodology integration</a:t>
            </a:r>
          </a:p>
        </p:txBody>
      </p:sp>
      <p:sp>
        <p:nvSpPr>
          <p:cNvPr id="9" name="">
            <a:extLst xmlns:a="http://schemas.openxmlformats.org/drawingml/2006/main">
              <a:ext uri="{FF2B5EF4-FFF2-40B4-BE49-F238E27FC236}">
                <a16:creationId xmlns:a16="http://schemas.microsoft.com/office/drawing/2014/main" id="{B2319D48-6FA9-491C-82E1-6537D0BB71FD}"/>
              </a:ext>
            </a:extLst>
          </p:cNvPr>
          <p:cNvSpPr>
            <a:spLocks xmlns:a="http://schemas.openxmlformats.org/drawingml/2006/main" noGrp="1"/>
          </p:cNvSpPr>
          <p:nvPr/>
        </p:nvSpPr>
        <p:spPr>
          <a:xfrm xmlns:a="http://schemas.openxmlformats.org/drawingml/2006/main">
            <a:off x="6000750" y="2533650"/>
            <a:ext cx="4876800" cy="3314700"/>
          </a:xfrm>
          <a:prstGeom xmlns:a="http://schemas.openxmlformats.org/drawingml/2006/main" prst="roundRect">
            <a:avLst>
              <a:gd name="adj" fmla="val 2299"/>
            </a:avLst>
          </a:prstGeom>
          <a:solidFill xmlns:a="http://schemas.openxmlformats.org/drawingml/2006/main">
            <a:srgbClr val="FFFDF9"/>
          </a:solidFill>
          <a:ln xmlns:a="http://schemas.openxmlformats.org/drawingml/2006/main" w="19050">
            <a:solidFill>
              <a:srgbClr val="CAD6DE"/>
            </a:solidFill>
          </a:ln>
        </p:spPr>
      </p:sp>
      <p:sp>
        <p:nvSpPr>
          <p:cNvPr id="10" name="">
            <a:extLst xmlns:a="http://schemas.openxmlformats.org/drawingml/2006/main">
              <a:ext uri="{FF2B5EF4-FFF2-40B4-BE49-F238E27FC236}">
                <a16:creationId xmlns:a16="http://schemas.microsoft.com/office/drawing/2014/main" id="{1929AA94-F29D-45DE-A5EB-92AF983928C8}"/>
              </a:ext>
            </a:extLst>
          </p:cNvPr>
          <p:cNvSpPr>
            <a:spLocks xmlns:a="http://schemas.openxmlformats.org/drawingml/2006/main" noGrp="1"/>
          </p:cNvSpPr>
          <p:nvPr/>
        </p:nvSpPr>
        <p:spPr>
          <a:xfrm xmlns:a="http://schemas.openxmlformats.org/drawingml/2006/main">
            <a:off x="6000750" y="2533650"/>
            <a:ext cx="85725" cy="3314700"/>
          </a:xfrm>
          <a:prstGeom xmlns:a="http://schemas.openxmlformats.org/drawingml/2006/main" prst="rect">
            <a:avLst/>
          </a:prstGeom>
          <a:solidFill xmlns:a="http://schemas.openxmlformats.org/drawingml/2006/main">
            <a:srgbClr val="2C669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7679C08-BF7F-468C-847E-D74C5EC76045}"/>
              </a:ext>
            </a:extLst>
          </p:cNvPr>
          <p:cNvSpPr>
            <a:spLocks xmlns:a="http://schemas.openxmlformats.org/drawingml/2006/main" noGrp="1"/>
          </p:cNvSpPr>
          <p:nvPr/>
        </p:nvSpPr>
        <p:spPr>
          <a:xfrm xmlns:a="http://schemas.openxmlformats.org/drawingml/2006/main">
            <a:off x="6267450" y="2743200"/>
            <a:ext cx="438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250" b="1" i="0">
                <a:solidFill>
                  <a:srgbClr val="123B63"/>
                </a:solidFill>
                <a:latin typeface="Arial"/>
                <a:ea typeface="Arial"/>
                <a:cs typeface="Arial"/>
              </a:defRPr>
            </a:pPr>
            <a:r>
              <a:rPr sz="2250" b="1" i="0">
                <a:solidFill>
                  <a:srgbClr val="123B63"/>
                </a:solidFill>
                <a:latin typeface="Arial"/>
                <a:ea typeface="Arial"/>
                <a:cs typeface="Arial"/>
              </a:rPr>
              <a:t>Muhammad Usman Hamed</a:t>
            </a:r>
          </a:p>
        </p:txBody>
      </p:sp>
      <p:sp>
        <p:nvSpPr>
          <p:cNvPr id="12" name="">
            <a:extLst xmlns:a="http://schemas.openxmlformats.org/drawingml/2006/main">
              <a:ext uri="{FF2B5EF4-FFF2-40B4-BE49-F238E27FC236}">
                <a16:creationId xmlns:a16="http://schemas.microsoft.com/office/drawing/2014/main" id="{BA9D8C96-C7A9-47A8-BD06-3A3A73961C29}"/>
              </a:ext>
            </a:extLst>
          </p:cNvPr>
          <p:cNvSpPr>
            <a:spLocks xmlns:a="http://schemas.openxmlformats.org/drawingml/2006/main" noGrp="1"/>
          </p:cNvSpPr>
          <p:nvPr/>
        </p:nvSpPr>
        <p:spPr>
          <a:xfrm xmlns:a="http://schemas.openxmlformats.org/drawingml/2006/main">
            <a:off x="6267450" y="3276600"/>
            <a:ext cx="4381500" cy="2400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75" b="0" i="0">
                <a:solidFill>
                  <a:srgbClr val="354F63"/>
                </a:solidFill>
                <a:latin typeface="Arial"/>
                <a:ea typeface="Arial"/>
                <a:cs typeface="Arial"/>
              </a:defRPr>
            </a:pPr>
            <a:r>
              <a:rPr sz="1875" b="0" i="0">
                <a:solidFill>
                  <a:srgbClr val="354F63"/>
                </a:solidFill>
                <a:latin typeface="Arial"/>
                <a:ea typeface="Arial"/>
                <a:cs typeface="Arial"/>
              </a:rPr>
              <a:t>Primary responsibility</a:t>
            </a:r>
          </a:p>
          <a:p xmlns:a="http://schemas.openxmlformats.org/drawingml/2006/main">
            <a:r>
              <a:t/>
            </a:r>
          </a:p>
          <a:p xmlns:a="http://schemas.openxmlformats.org/drawingml/2006/main">
            <a:pPr algn="l">
              <a:lnSpc>
                <a:spcPct val="105000"/>
              </a:lnSpc>
              <a:buNone/>
              <a:defRPr sz="1875" b="0" i="0">
                <a:solidFill>
                  <a:srgbClr val="354F63"/>
                </a:solidFill>
                <a:latin typeface="Arial"/>
                <a:ea typeface="Arial"/>
                <a:cs typeface="Arial"/>
              </a:defRPr>
            </a:pPr>
            <a:r>
              <a:rPr sz="1875" b="0" i="0">
                <a:solidFill>
                  <a:srgbClr val="354F63"/>
                </a:solidFill>
                <a:latin typeface="Arial"/>
                <a:ea typeface="Arial"/>
                <a:cs typeface="Arial"/>
              </a:rPr>
              <a:t>Reconnaissance</a:t>
            </a:r>
          </a:p>
          <a:p xmlns:a="http://schemas.openxmlformats.org/drawingml/2006/main">
            <a:pPr algn="l">
              <a:lnSpc>
                <a:spcPct val="105000"/>
              </a:lnSpc>
              <a:buNone/>
              <a:defRPr sz="1875" b="0" i="0">
                <a:solidFill>
                  <a:srgbClr val="354F63"/>
                </a:solidFill>
                <a:latin typeface="Arial"/>
                <a:ea typeface="Arial"/>
                <a:cs typeface="Arial"/>
              </a:defRPr>
            </a:pPr>
            <a:r>
              <a:rPr sz="1875" b="0" i="0">
                <a:solidFill>
                  <a:srgbClr val="354F63"/>
                </a:solidFill>
                <a:latin typeface="Arial"/>
                <a:ea typeface="Arial"/>
                <a:cs typeface="Arial"/>
              </a:rPr>
              <a:t>Security assessment</a:t>
            </a:r>
          </a:p>
          <a:p xmlns:a="http://schemas.openxmlformats.org/drawingml/2006/main">
            <a:pPr algn="l">
              <a:lnSpc>
                <a:spcPct val="105000"/>
              </a:lnSpc>
              <a:buNone/>
              <a:defRPr sz="1875" b="0" i="0">
                <a:solidFill>
                  <a:srgbClr val="354F63"/>
                </a:solidFill>
                <a:latin typeface="Arial"/>
                <a:ea typeface="Arial"/>
                <a:cs typeface="Arial"/>
              </a:defRPr>
            </a:pPr>
            <a:r>
              <a:rPr sz="1875" b="0" i="0">
                <a:solidFill>
                  <a:srgbClr val="354F63"/>
                </a:solidFill>
                <a:latin typeface="Arial"/>
                <a:ea typeface="Arial"/>
                <a:cs typeface="Arial"/>
              </a:rPr>
              <a:t>Tool evaluation</a:t>
            </a:r>
          </a:p>
        </p:txBody>
      </p:sp>
      <p:sp>
        <p:nvSpPr>
          <p:cNvPr id="13" name="">
            <a:extLst xmlns:a="http://schemas.openxmlformats.org/drawingml/2006/main">
              <a:ext uri="{FF2B5EF4-FFF2-40B4-BE49-F238E27FC236}">
                <a16:creationId xmlns:a16="http://schemas.microsoft.com/office/drawing/2014/main" id="{15E5DEC1-C22E-490D-8770-B854B07B4326}"/>
              </a:ext>
            </a:extLst>
          </p:cNvPr>
          <p:cNvSpPr>
            <a:spLocks xmlns:a="http://schemas.openxmlformats.org/drawingml/2006/main" noGrp="1"/>
          </p:cNvSpPr>
          <p:nvPr/>
        </p:nvSpPr>
        <p:spPr>
          <a:xfrm xmlns:a="http://schemas.openxmlformats.org/drawingml/2006/main">
            <a:off x="11125200" y="2533650"/>
            <a:ext cx="5524500" cy="3314700"/>
          </a:xfrm>
          <a:prstGeom xmlns:a="http://schemas.openxmlformats.org/drawingml/2006/main" prst="roundRect">
            <a:avLst>
              <a:gd name="adj" fmla="val 2299"/>
            </a:avLst>
          </a:prstGeom>
          <a:solidFill xmlns:a="http://schemas.openxmlformats.org/drawingml/2006/main">
            <a:srgbClr val="FFFDF9"/>
          </a:solidFill>
          <a:ln xmlns:a="http://schemas.openxmlformats.org/drawingml/2006/main" w="19050">
            <a:solidFill>
              <a:srgbClr val="CAD6DE"/>
            </a:solidFill>
          </a:ln>
        </p:spPr>
      </p:sp>
      <p:sp>
        <p:nvSpPr>
          <p:cNvPr id="14" name="">
            <a:extLst xmlns:a="http://schemas.openxmlformats.org/drawingml/2006/main">
              <a:ext uri="{FF2B5EF4-FFF2-40B4-BE49-F238E27FC236}">
                <a16:creationId xmlns:a16="http://schemas.microsoft.com/office/drawing/2014/main" id="{B4290DBD-C531-4E85-ABB9-14AC051D53EB}"/>
              </a:ext>
            </a:extLst>
          </p:cNvPr>
          <p:cNvSpPr>
            <a:spLocks xmlns:a="http://schemas.openxmlformats.org/drawingml/2006/main" noGrp="1"/>
          </p:cNvSpPr>
          <p:nvPr/>
        </p:nvSpPr>
        <p:spPr>
          <a:xfrm xmlns:a="http://schemas.openxmlformats.org/drawingml/2006/main">
            <a:off x="11125200" y="2533650"/>
            <a:ext cx="85725" cy="3314700"/>
          </a:xfrm>
          <a:prstGeom xmlns:a="http://schemas.openxmlformats.org/drawingml/2006/main" prst="rect">
            <a:avLst/>
          </a:prstGeom>
          <a:solidFill xmlns:a="http://schemas.openxmlformats.org/drawingml/2006/main">
            <a:srgbClr val="D79A32"/>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48CF8618-32B1-4B06-8011-95B52A695BCE}"/>
              </a:ext>
            </a:extLst>
          </p:cNvPr>
          <p:cNvSpPr>
            <a:spLocks xmlns:a="http://schemas.openxmlformats.org/drawingml/2006/main" noGrp="1"/>
          </p:cNvSpPr>
          <p:nvPr/>
        </p:nvSpPr>
        <p:spPr>
          <a:xfrm xmlns:a="http://schemas.openxmlformats.org/drawingml/2006/main">
            <a:off x="11391900" y="2743200"/>
            <a:ext cx="5029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325" b="1" i="0">
                <a:solidFill>
                  <a:srgbClr val="123B63"/>
                </a:solidFill>
                <a:latin typeface="Arial"/>
                <a:ea typeface="Arial"/>
                <a:cs typeface="Arial"/>
              </a:defRPr>
            </a:pPr>
            <a:r>
              <a:rPr sz="2325" b="1" i="0">
                <a:solidFill>
                  <a:srgbClr val="123B63"/>
                </a:solidFill>
                <a:latin typeface="Arial"/>
                <a:ea typeface="Arial"/>
                <a:cs typeface="Arial"/>
              </a:rPr>
              <a:t>Obaid Ishtiaq Satti</a:t>
            </a:r>
          </a:p>
        </p:txBody>
      </p:sp>
      <p:sp>
        <p:nvSpPr>
          <p:cNvPr id="16" name="">
            <a:extLst xmlns:a="http://schemas.openxmlformats.org/drawingml/2006/main">
              <a:ext uri="{FF2B5EF4-FFF2-40B4-BE49-F238E27FC236}">
                <a16:creationId xmlns:a16="http://schemas.microsoft.com/office/drawing/2014/main" id="{A23E1838-3867-4D50-92BD-A94EC9E2D64C}"/>
              </a:ext>
            </a:extLst>
          </p:cNvPr>
          <p:cNvSpPr>
            <a:spLocks xmlns:a="http://schemas.openxmlformats.org/drawingml/2006/main" noGrp="1"/>
          </p:cNvSpPr>
          <p:nvPr/>
        </p:nvSpPr>
        <p:spPr>
          <a:xfrm xmlns:a="http://schemas.openxmlformats.org/drawingml/2006/main">
            <a:off x="11391900" y="3276600"/>
            <a:ext cx="5029200" cy="2400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75" b="0" i="0">
                <a:solidFill>
                  <a:srgbClr val="354F63"/>
                </a:solidFill>
                <a:latin typeface="Arial"/>
                <a:ea typeface="Arial"/>
                <a:cs typeface="Arial"/>
              </a:defRPr>
            </a:pPr>
            <a:r>
              <a:rPr sz="1875" b="0" i="0">
                <a:solidFill>
                  <a:srgbClr val="354F63"/>
                </a:solidFill>
                <a:latin typeface="Arial"/>
                <a:ea typeface="Arial"/>
                <a:cs typeface="Arial"/>
              </a:rPr>
              <a:t>Primary responsibility</a:t>
            </a:r>
          </a:p>
          <a:p xmlns:a="http://schemas.openxmlformats.org/drawingml/2006/main">
            <a:r>
              <a:t/>
            </a:r>
          </a:p>
          <a:p xmlns:a="http://schemas.openxmlformats.org/drawingml/2006/main">
            <a:pPr algn="l">
              <a:lnSpc>
                <a:spcPct val="105000"/>
              </a:lnSpc>
              <a:buNone/>
              <a:defRPr sz="1875" b="0" i="0">
                <a:solidFill>
                  <a:srgbClr val="354F63"/>
                </a:solidFill>
                <a:latin typeface="Arial"/>
                <a:ea typeface="Arial"/>
                <a:cs typeface="Arial"/>
              </a:defRPr>
            </a:pPr>
            <a:r>
              <a:rPr sz="1875" b="0" i="0">
                <a:solidFill>
                  <a:srgbClr val="354F63"/>
                </a:solidFill>
                <a:latin typeface="Arial"/>
                <a:ea typeface="Arial"/>
                <a:cs typeface="Arial"/>
              </a:rPr>
              <a:t>Platform and interface</a:t>
            </a:r>
          </a:p>
          <a:p xmlns:a="http://schemas.openxmlformats.org/drawingml/2006/main">
            <a:pPr algn="l">
              <a:lnSpc>
                <a:spcPct val="105000"/>
              </a:lnSpc>
              <a:buNone/>
              <a:defRPr sz="1875" b="0" i="0">
                <a:solidFill>
                  <a:srgbClr val="354F63"/>
                </a:solidFill>
                <a:latin typeface="Arial"/>
                <a:ea typeface="Arial"/>
                <a:cs typeface="Arial"/>
              </a:defRPr>
            </a:pPr>
            <a:r>
              <a:rPr sz="1875" b="0" i="0">
                <a:solidFill>
                  <a:srgbClr val="354F63"/>
                </a:solidFill>
                <a:latin typeface="Arial"/>
                <a:ea typeface="Arial"/>
                <a:cs typeface="Arial"/>
              </a:rPr>
              <a:t>Reporting</a:t>
            </a:r>
          </a:p>
          <a:p xmlns:a="http://schemas.openxmlformats.org/drawingml/2006/main">
            <a:pPr algn="l">
              <a:lnSpc>
                <a:spcPct val="105000"/>
              </a:lnSpc>
              <a:buNone/>
              <a:defRPr sz="1875" b="0" i="0">
                <a:solidFill>
                  <a:srgbClr val="354F63"/>
                </a:solidFill>
                <a:latin typeface="Arial"/>
                <a:ea typeface="Arial"/>
                <a:cs typeface="Arial"/>
              </a:defRPr>
            </a:pPr>
            <a:r>
              <a:rPr sz="1875" b="0" i="0">
                <a:solidFill>
                  <a:srgbClr val="354F63"/>
                </a:solidFill>
                <a:latin typeface="Arial"/>
                <a:ea typeface="Arial"/>
                <a:cs typeface="Arial"/>
              </a:rPr>
              <a:t>Deployment support</a:t>
            </a:r>
          </a:p>
        </p:txBody>
      </p:sp>
      <p:sp>
        <p:nvSpPr>
          <p:cNvPr id="17" name="">
            <a:extLst xmlns:a="http://schemas.openxmlformats.org/drawingml/2006/main">
              <a:ext uri="{FF2B5EF4-FFF2-40B4-BE49-F238E27FC236}">
                <a16:creationId xmlns:a16="http://schemas.microsoft.com/office/drawing/2014/main" id="{DC22AA12-C3E8-4A1C-A0AA-F89BCCF11AC5}"/>
              </a:ext>
            </a:extLst>
          </p:cNvPr>
          <p:cNvSpPr>
            <a:spLocks xmlns:a="http://schemas.openxmlformats.org/drawingml/2006/main" noGrp="1"/>
          </p:cNvSpPr>
          <p:nvPr/>
        </p:nvSpPr>
        <p:spPr>
          <a:xfrm xmlns:a="http://schemas.openxmlformats.org/drawingml/2006/main">
            <a:off x="876300" y="6362700"/>
            <a:ext cx="15773400" cy="1809750"/>
          </a:xfrm>
          <a:prstGeom xmlns:a="http://schemas.openxmlformats.org/drawingml/2006/main" prst="roundRect">
            <a:avLst>
              <a:gd name="adj" fmla="val 4211"/>
            </a:avLst>
          </a:prstGeom>
          <a:solidFill xmlns:a="http://schemas.openxmlformats.org/drawingml/2006/main">
            <a:srgbClr val="123B63"/>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6340F8E2-B3D1-4609-B97F-74151DC09F43}"/>
              </a:ext>
            </a:extLst>
          </p:cNvPr>
          <p:cNvSpPr>
            <a:spLocks xmlns:a="http://schemas.openxmlformats.org/drawingml/2006/main" noGrp="1"/>
          </p:cNvSpPr>
          <p:nvPr/>
        </p:nvSpPr>
        <p:spPr>
          <a:xfrm xmlns:a="http://schemas.openxmlformats.org/drawingml/2006/main">
            <a:off x="1219200" y="6705600"/>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950" b="1" i="0">
                <a:solidFill>
                  <a:srgbClr val="79A9C8"/>
                </a:solidFill>
                <a:latin typeface="Arial"/>
                <a:ea typeface="Arial"/>
                <a:cs typeface="Arial"/>
              </a:defRPr>
            </a:pPr>
            <a:r>
              <a:rPr sz="1950" b="1" i="0">
                <a:solidFill>
                  <a:srgbClr val="79A9C8"/>
                </a:solidFill>
                <a:latin typeface="Arial"/>
                <a:ea typeface="Arial"/>
                <a:cs typeface="Arial"/>
              </a:rPr>
              <a:t>Shared across the team</a:t>
            </a:r>
          </a:p>
        </p:txBody>
      </p:sp>
      <p:sp>
        <p:nvSpPr>
          <p:cNvPr id="19" name="">
            <a:extLst xmlns:a="http://schemas.openxmlformats.org/drawingml/2006/main">
              <a:ext uri="{FF2B5EF4-FFF2-40B4-BE49-F238E27FC236}">
                <a16:creationId xmlns:a16="http://schemas.microsoft.com/office/drawing/2014/main" id="{3928EC99-DB39-4CD9-83D1-2923088A842F}"/>
              </a:ext>
            </a:extLst>
          </p:cNvPr>
          <p:cNvSpPr>
            <a:spLocks xmlns:a="http://schemas.openxmlformats.org/drawingml/2006/main" noGrp="1"/>
          </p:cNvSpPr>
          <p:nvPr/>
        </p:nvSpPr>
        <p:spPr>
          <a:xfrm xmlns:a="http://schemas.openxmlformats.org/drawingml/2006/main">
            <a:off x="1219200" y="7334250"/>
            <a:ext cx="4191000" cy="419100"/>
          </a:xfrm>
          <a:prstGeom xmlns:a="http://schemas.openxmlformats.org/drawingml/2006/main" prst="roundRect">
            <a:avLst>
              <a:gd name="adj" fmla="val 18182"/>
            </a:avLst>
          </a:prstGeom>
          <a:solidFill xmlns:a="http://schemas.openxmlformats.org/drawingml/2006/main">
            <a:srgbClr val="E8EF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75" b="1">
                <a:solidFill>
                  <a:srgbClr val="123B63"/>
                </a:solidFill>
                <a:latin typeface="Arial"/>
                <a:ea typeface="Arial"/>
                <a:cs typeface="Arial"/>
              </a:defRPr>
            </a:pPr>
            <a:r>
              <a:rPr sz="1575" b="1">
                <a:solidFill>
                  <a:srgbClr val="123B63"/>
                </a:solidFill>
                <a:latin typeface="Arial"/>
                <a:ea typeface="Arial"/>
                <a:cs typeface="Arial"/>
              </a:rPr>
              <a:t>Integration</a:t>
            </a:r>
          </a:p>
        </p:txBody>
      </p:sp>
      <p:sp>
        <p:nvSpPr>
          <p:cNvPr id="20" name="">
            <a:extLst xmlns:a="http://schemas.openxmlformats.org/drawingml/2006/main">
              <a:ext uri="{FF2B5EF4-FFF2-40B4-BE49-F238E27FC236}">
                <a16:creationId xmlns:a16="http://schemas.microsoft.com/office/drawing/2014/main" id="{2BAF4063-32F6-47A3-972A-20D1AB36647F}"/>
              </a:ext>
            </a:extLst>
          </p:cNvPr>
          <p:cNvSpPr>
            <a:spLocks xmlns:a="http://schemas.openxmlformats.org/drawingml/2006/main" noGrp="1"/>
          </p:cNvSpPr>
          <p:nvPr/>
        </p:nvSpPr>
        <p:spPr>
          <a:xfrm xmlns:a="http://schemas.openxmlformats.org/drawingml/2006/main">
            <a:off x="5981700" y="7334250"/>
            <a:ext cx="4191000" cy="419100"/>
          </a:xfrm>
          <a:prstGeom xmlns:a="http://schemas.openxmlformats.org/drawingml/2006/main" prst="roundRect">
            <a:avLst>
              <a:gd name="adj" fmla="val 18182"/>
            </a:avLst>
          </a:prstGeom>
          <a:solidFill xmlns:a="http://schemas.openxmlformats.org/drawingml/2006/main">
            <a:srgbClr val="E8EF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75" b="1">
                <a:solidFill>
                  <a:srgbClr val="123B63"/>
                </a:solidFill>
                <a:latin typeface="Arial"/>
                <a:ea typeface="Arial"/>
                <a:cs typeface="Arial"/>
              </a:defRPr>
            </a:pPr>
            <a:r>
              <a:rPr sz="1575" b="1">
                <a:solidFill>
                  <a:srgbClr val="123B63"/>
                </a:solidFill>
                <a:latin typeface="Arial"/>
                <a:ea typeface="Arial"/>
                <a:cs typeface="Arial"/>
              </a:rPr>
              <a:t>Testing</a:t>
            </a:r>
          </a:p>
        </p:txBody>
      </p:sp>
      <p:sp>
        <p:nvSpPr>
          <p:cNvPr id="21" name="">
            <a:extLst xmlns:a="http://schemas.openxmlformats.org/drawingml/2006/main">
              <a:ext uri="{FF2B5EF4-FFF2-40B4-BE49-F238E27FC236}">
                <a16:creationId xmlns:a16="http://schemas.microsoft.com/office/drawing/2014/main" id="{A8C18488-AB7C-4EAC-ABDC-12C7CDF936A5}"/>
              </a:ext>
            </a:extLst>
          </p:cNvPr>
          <p:cNvSpPr>
            <a:spLocks xmlns:a="http://schemas.openxmlformats.org/drawingml/2006/main" noGrp="1"/>
          </p:cNvSpPr>
          <p:nvPr/>
        </p:nvSpPr>
        <p:spPr>
          <a:xfrm xmlns:a="http://schemas.openxmlformats.org/drawingml/2006/main">
            <a:off x="10744200" y="7334250"/>
            <a:ext cx="4191000" cy="419100"/>
          </a:xfrm>
          <a:prstGeom xmlns:a="http://schemas.openxmlformats.org/drawingml/2006/main" prst="roundRect">
            <a:avLst>
              <a:gd name="adj" fmla="val 18182"/>
            </a:avLst>
          </a:prstGeom>
          <a:solidFill xmlns:a="http://schemas.openxmlformats.org/drawingml/2006/main">
            <a:srgbClr val="E8EF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75" b="1">
                <a:solidFill>
                  <a:srgbClr val="123B63"/>
                </a:solidFill>
                <a:latin typeface="Arial"/>
                <a:ea typeface="Arial"/>
                <a:cs typeface="Arial"/>
              </a:defRPr>
            </a:pPr>
            <a:r>
              <a:rPr sz="1575" b="1">
                <a:solidFill>
                  <a:srgbClr val="123B63"/>
                </a:solidFill>
                <a:latin typeface="Arial"/>
                <a:ea typeface="Arial"/>
                <a:cs typeface="Arial"/>
              </a:rPr>
              <a:t>Validation</a:t>
            </a:r>
          </a:p>
        </p:txBody>
      </p:sp>
      <p:sp>
        <p:nvSpPr>
          <p:cNvPr id="22" name="">
            <a:extLst xmlns:a="http://schemas.openxmlformats.org/drawingml/2006/main">
              <a:ext uri="{FF2B5EF4-FFF2-40B4-BE49-F238E27FC236}">
                <a16:creationId xmlns:a16="http://schemas.microsoft.com/office/drawing/2014/main" id="{7D2BDF2B-3DC4-445B-B263-5A0D12257C5D}"/>
              </a:ext>
            </a:extLst>
          </p:cNvPr>
          <p:cNvSpPr>
            <a:spLocks xmlns:a="http://schemas.openxmlformats.org/drawingml/2006/main" noGrp="1"/>
          </p:cNvSpPr>
          <p:nvPr/>
        </p:nvSpPr>
        <p:spPr>
          <a:xfrm xmlns:a="http://schemas.openxmlformats.org/drawingml/2006/main">
            <a:off x="1219200" y="7905750"/>
            <a:ext cx="4191000" cy="419100"/>
          </a:xfrm>
          <a:prstGeom xmlns:a="http://schemas.openxmlformats.org/drawingml/2006/main" prst="roundRect">
            <a:avLst>
              <a:gd name="adj" fmla="val 18182"/>
            </a:avLst>
          </a:prstGeom>
          <a:solidFill xmlns:a="http://schemas.openxmlformats.org/drawingml/2006/main">
            <a:srgbClr val="E8EF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75" b="1">
                <a:solidFill>
                  <a:srgbClr val="123B63"/>
                </a:solidFill>
                <a:latin typeface="Arial"/>
                <a:ea typeface="Arial"/>
                <a:cs typeface="Arial"/>
              </a:defRPr>
            </a:pPr>
            <a:r>
              <a:rPr sz="1575" b="1">
                <a:solidFill>
                  <a:srgbClr val="123B63"/>
                </a:solidFill>
                <a:latin typeface="Arial"/>
                <a:ea typeface="Arial"/>
                <a:cs typeface="Arial"/>
              </a:rPr>
              <a:t>Debugging</a:t>
            </a:r>
          </a:p>
        </p:txBody>
      </p:sp>
      <p:sp>
        <p:nvSpPr>
          <p:cNvPr id="23" name="">
            <a:extLst xmlns:a="http://schemas.openxmlformats.org/drawingml/2006/main">
              <a:ext uri="{FF2B5EF4-FFF2-40B4-BE49-F238E27FC236}">
                <a16:creationId xmlns:a16="http://schemas.microsoft.com/office/drawing/2014/main" id="{D6B7F4F0-9E85-4165-85ED-F74E5C9C1E2A}"/>
              </a:ext>
            </a:extLst>
          </p:cNvPr>
          <p:cNvSpPr>
            <a:spLocks xmlns:a="http://schemas.openxmlformats.org/drawingml/2006/main" noGrp="1"/>
          </p:cNvSpPr>
          <p:nvPr/>
        </p:nvSpPr>
        <p:spPr>
          <a:xfrm xmlns:a="http://schemas.openxmlformats.org/drawingml/2006/main">
            <a:off x="5981700" y="7905750"/>
            <a:ext cx="4191000" cy="419100"/>
          </a:xfrm>
          <a:prstGeom xmlns:a="http://schemas.openxmlformats.org/drawingml/2006/main" prst="roundRect">
            <a:avLst>
              <a:gd name="adj" fmla="val 18182"/>
            </a:avLst>
          </a:prstGeom>
          <a:solidFill xmlns:a="http://schemas.openxmlformats.org/drawingml/2006/main">
            <a:srgbClr val="E8EF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75" b="1">
                <a:solidFill>
                  <a:srgbClr val="123B63"/>
                </a:solidFill>
                <a:latin typeface="Arial"/>
                <a:ea typeface="Arial"/>
                <a:cs typeface="Arial"/>
              </a:defRPr>
            </a:pPr>
            <a:r>
              <a:rPr sz="1575" b="1">
                <a:solidFill>
                  <a:srgbClr val="123B63"/>
                </a:solidFill>
                <a:latin typeface="Arial"/>
                <a:ea typeface="Arial"/>
                <a:cs typeface="Arial"/>
              </a:rPr>
              <a:t>Performance evaluation</a:t>
            </a:r>
          </a:p>
        </p:txBody>
      </p:sp>
      <p:sp>
        <p:nvSpPr>
          <p:cNvPr id="24" name="">
            <a:extLst xmlns:a="http://schemas.openxmlformats.org/drawingml/2006/main">
              <a:ext uri="{FF2B5EF4-FFF2-40B4-BE49-F238E27FC236}">
                <a16:creationId xmlns:a16="http://schemas.microsoft.com/office/drawing/2014/main" id="{51ED3E95-8C25-4BF5-857B-874BB87EA081}"/>
              </a:ext>
            </a:extLst>
          </p:cNvPr>
          <p:cNvSpPr>
            <a:spLocks xmlns:a="http://schemas.openxmlformats.org/drawingml/2006/main" noGrp="1"/>
          </p:cNvSpPr>
          <p:nvPr/>
        </p:nvSpPr>
        <p:spPr>
          <a:xfrm xmlns:a="http://schemas.openxmlformats.org/drawingml/2006/main">
            <a:off x="10744200" y="7905750"/>
            <a:ext cx="4191000" cy="419100"/>
          </a:xfrm>
          <a:prstGeom xmlns:a="http://schemas.openxmlformats.org/drawingml/2006/main" prst="roundRect">
            <a:avLst>
              <a:gd name="adj" fmla="val 18182"/>
            </a:avLst>
          </a:prstGeom>
          <a:solidFill xmlns:a="http://schemas.openxmlformats.org/drawingml/2006/main">
            <a:srgbClr val="E8EF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75" b="1">
                <a:solidFill>
                  <a:srgbClr val="123B63"/>
                </a:solidFill>
                <a:latin typeface="Arial"/>
                <a:ea typeface="Arial"/>
                <a:cs typeface="Arial"/>
              </a:defRPr>
            </a:pPr>
            <a:r>
              <a:rPr sz="1575" b="1">
                <a:solidFill>
                  <a:srgbClr val="123B63"/>
                </a:solidFill>
                <a:latin typeface="Arial"/>
                <a:ea typeface="Arial"/>
                <a:cs typeface="Arial"/>
              </a:rPr>
              <a:t>Documentation</a:t>
            </a:r>
          </a:p>
        </p:txBody>
      </p:sp>
    </p:spTree>
    <p:extLst>
      <p:ext uri="{BB962C8B-B14F-4D97-AF65-F5344CB8AC3E}">
        <p14:creationId xmlns:p14="http://schemas.microsoft.com/office/powerpoint/2010/main" val="297694579"/>
      </p:ext>
    </p:extLst>
  </p:cSld>
  <p:transition spd="med" advClick="1">
    <p:fade/>
  </p:transition>
</p:sld>
</file>

<file path=ppt/slides/slide1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6006F53E-3A00-4395-B10D-5F8F1BE277EA}"/>
              </a:ext>
            </a:extLst>
          </p:cNvPr>
          <p:cNvSpPr>
            <a:spLocks xmlns:a="http://schemas.openxmlformats.org/drawingml/2006/main" noGrp="1"/>
          </p:cNvSpPr>
          <p:nvPr/>
        </p:nvSpPr>
        <p:spPr>
          <a:xfrm xmlns:a="http://schemas.openxmlformats.org/drawingml/2006/main">
            <a:off x="876300" y="4381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1" i="0">
                <a:solidFill>
                  <a:srgbClr val="2D8B84"/>
                </a:solidFill>
                <a:latin typeface="Arial"/>
                <a:ea typeface="Arial"/>
                <a:cs typeface="Arial"/>
              </a:defRPr>
            </a:pPr>
            <a:r>
              <a:rPr sz="1575" b="1" i="0">
                <a:solidFill>
                  <a:srgbClr val="2D8B84"/>
                </a:solidFill>
                <a:latin typeface="Arial"/>
                <a:ea typeface="Arial"/>
                <a:cs typeface="Arial"/>
              </a:rPr>
              <a:t>11 / IMPACT</a:t>
            </a:r>
          </a:p>
        </p:txBody>
      </p:sp>
      <p:sp>
        <p:nvSpPr>
          <p:cNvPr id="2" name="">
            <a:extLst xmlns:a="http://schemas.openxmlformats.org/drawingml/2006/main">
              <a:ext uri="{FF2B5EF4-FFF2-40B4-BE49-F238E27FC236}">
                <a16:creationId xmlns:a16="http://schemas.microsoft.com/office/drawing/2014/main" id="{A6A769B1-48AC-4536-BDB7-6CE9B9DD679C}"/>
              </a:ext>
            </a:extLst>
          </p:cNvPr>
          <p:cNvSpPr>
            <a:spLocks xmlns:a="http://schemas.openxmlformats.org/drawingml/2006/main" noGrp="1"/>
          </p:cNvSpPr>
          <p:nvPr/>
        </p:nvSpPr>
        <p:spPr>
          <a:xfrm xmlns:a="http://schemas.openxmlformats.org/drawingml/2006/main">
            <a:off x="876300" y="838200"/>
            <a:ext cx="16287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4050" b="1" i="0">
                <a:solidFill>
                  <a:srgbClr val="123B63"/>
                </a:solidFill>
                <a:latin typeface="Arial"/>
                <a:ea typeface="Arial"/>
                <a:cs typeface="Arial"/>
              </a:defRPr>
            </a:pPr>
            <a:r>
              <a:rPr sz="4050" b="1" i="0">
                <a:solidFill>
                  <a:srgbClr val="123B63"/>
                </a:solidFill>
                <a:latin typeface="Arial"/>
                <a:ea typeface="Arial"/>
                <a:cs typeface="Arial"/>
              </a:rPr>
              <a:t>Who will use the proposed system?</a:t>
            </a:r>
          </a:p>
        </p:txBody>
      </p:sp>
      <p:sp>
        <p:nvSpPr>
          <p:cNvPr id="3" name="">
            <a:extLst xmlns:a="http://schemas.openxmlformats.org/drawingml/2006/main">
              <a:ext uri="{FF2B5EF4-FFF2-40B4-BE49-F238E27FC236}">
                <a16:creationId xmlns:a16="http://schemas.microsoft.com/office/drawing/2014/main" id="{637BF620-C6E6-4D20-805E-DBCB556DB999}"/>
              </a:ext>
            </a:extLst>
          </p:cNvPr>
          <p:cNvSpPr>
            <a:spLocks xmlns:a="http://schemas.openxmlformats.org/drawingml/2006/main" noGrp="1"/>
          </p:cNvSpPr>
          <p:nvPr/>
        </p:nvSpPr>
        <p:spPr>
          <a:xfrm xmlns:a="http://schemas.openxmlformats.org/drawingml/2006/main">
            <a:off x="876300" y="1790700"/>
            <a:ext cx="16535400" cy="0"/>
          </a:xfrm>
          <a:prstGeom xmlns:a="http://schemas.openxmlformats.org/drawingml/2006/main" prst="line">
            <a:avLst/>
          </a:prstGeom>
          <a:noFill xmlns:a="http://schemas.openxmlformats.org/drawingml/2006/main"/>
          <a:ln xmlns:a="http://schemas.openxmlformats.org/drawingml/2006/main" w="19050">
            <a:solidFill>
              <a:srgbClr val="CAD6DE"/>
            </a:solidFill>
          </a:ln>
        </p:spPr>
      </p:sp>
      <p:sp>
        <p:nvSpPr>
          <p:cNvPr id="4" name="">
            <a:extLst xmlns:a="http://schemas.openxmlformats.org/drawingml/2006/main">
              <a:ext uri="{FF2B5EF4-FFF2-40B4-BE49-F238E27FC236}">
                <a16:creationId xmlns:a16="http://schemas.microsoft.com/office/drawing/2014/main" id="{74C89F18-4D1F-464E-8631-D9635BD0A6F6}"/>
              </a:ext>
            </a:extLst>
          </p:cNvPr>
          <p:cNvSpPr>
            <a:spLocks xmlns:a="http://schemas.openxmlformats.org/drawingml/2006/main" noGrp="1"/>
          </p:cNvSpPr>
          <p:nvPr/>
        </p:nvSpPr>
        <p:spPr>
          <a:xfrm xmlns:a="http://schemas.openxmlformats.org/drawingml/2006/main">
            <a:off x="16764000" y="9525000"/>
            <a:ext cx="647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575" b="1" i="0">
                <a:solidFill>
                  <a:srgbClr val="79A9C8"/>
                </a:solidFill>
                <a:latin typeface="Arial"/>
                <a:ea typeface="Arial"/>
                <a:cs typeface="Arial"/>
              </a:defRPr>
            </a:pPr>
            <a:r>
              <a:rPr sz="1575" b="1" i="0">
                <a:solidFill>
                  <a:srgbClr val="79A9C8"/>
                </a:solidFill>
                <a:latin typeface="Arial"/>
                <a:ea typeface="Arial"/>
                <a:cs typeface="Arial"/>
              </a:rPr>
              <a:t>12</a:t>
            </a:r>
          </a:p>
        </p:txBody>
      </p:sp>
      <p:sp>
        <p:nvSpPr>
          <p:cNvPr id="5" name="">
            <a:extLst xmlns:a="http://schemas.openxmlformats.org/drawingml/2006/main">
              <a:ext uri="{FF2B5EF4-FFF2-40B4-BE49-F238E27FC236}">
                <a16:creationId xmlns:a16="http://schemas.microsoft.com/office/drawing/2014/main" id="{00F4EF6B-528A-40CC-9DAB-6379A5517E77}"/>
              </a:ext>
            </a:extLst>
          </p:cNvPr>
          <p:cNvSpPr>
            <a:spLocks xmlns:a="http://schemas.openxmlformats.org/drawingml/2006/main" noGrp="1"/>
          </p:cNvSpPr>
          <p:nvPr/>
        </p:nvSpPr>
        <p:spPr>
          <a:xfrm xmlns:a="http://schemas.openxmlformats.org/drawingml/2006/main">
            <a:off x="876300" y="2476500"/>
            <a:ext cx="3695700" cy="2724150"/>
          </a:xfrm>
          <a:prstGeom xmlns:a="http://schemas.openxmlformats.org/drawingml/2006/main" prst="roundRect">
            <a:avLst>
              <a:gd name="adj" fmla="val 2797"/>
            </a:avLst>
          </a:prstGeom>
          <a:solidFill xmlns:a="http://schemas.openxmlformats.org/drawingml/2006/main">
            <a:srgbClr val="FFFDF9"/>
          </a:solidFill>
          <a:ln xmlns:a="http://schemas.openxmlformats.org/drawingml/2006/main" w="19050">
            <a:solidFill>
              <a:srgbClr val="CAD6DE"/>
            </a:solidFill>
          </a:ln>
        </p:spPr>
      </p:sp>
      <p:sp>
        <p:nvSpPr>
          <p:cNvPr id="6" name="">
            <a:extLst xmlns:a="http://schemas.openxmlformats.org/drawingml/2006/main">
              <a:ext uri="{FF2B5EF4-FFF2-40B4-BE49-F238E27FC236}">
                <a16:creationId xmlns:a16="http://schemas.microsoft.com/office/drawing/2014/main" id="{9DB22EA9-F8EB-4413-89C4-5A9CEA606428}"/>
              </a:ext>
            </a:extLst>
          </p:cNvPr>
          <p:cNvSpPr>
            <a:spLocks xmlns:a="http://schemas.openxmlformats.org/drawingml/2006/main" noGrp="1"/>
          </p:cNvSpPr>
          <p:nvPr/>
        </p:nvSpPr>
        <p:spPr>
          <a:xfrm xmlns:a="http://schemas.openxmlformats.org/drawingml/2006/main">
            <a:off x="876300" y="2476500"/>
            <a:ext cx="85725" cy="2724150"/>
          </a:xfrm>
          <a:prstGeom xmlns:a="http://schemas.openxmlformats.org/drawingml/2006/main" prst="rect">
            <a:avLst/>
          </a:prstGeom>
          <a:solidFill xmlns:a="http://schemas.openxmlformats.org/drawingml/2006/main">
            <a:srgbClr val="2C6693"/>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4774515-6AE4-48ED-807A-18B6CEAC8A77}"/>
              </a:ext>
            </a:extLst>
          </p:cNvPr>
          <p:cNvSpPr>
            <a:spLocks xmlns:a="http://schemas.openxmlformats.org/drawingml/2006/main" noGrp="1"/>
          </p:cNvSpPr>
          <p:nvPr/>
        </p:nvSpPr>
        <p:spPr>
          <a:xfrm xmlns:a="http://schemas.openxmlformats.org/drawingml/2006/main">
            <a:off x="1143000" y="26860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025" b="1" i="0">
                <a:solidFill>
                  <a:srgbClr val="123B63"/>
                </a:solidFill>
                <a:latin typeface="Arial"/>
                <a:ea typeface="Arial"/>
                <a:cs typeface="Arial"/>
              </a:defRPr>
            </a:pPr>
            <a:r>
              <a:rPr sz="2025" b="1" i="0">
                <a:solidFill>
                  <a:srgbClr val="123B63"/>
                </a:solidFill>
                <a:latin typeface="Arial"/>
                <a:ea typeface="Arial"/>
                <a:cs typeface="Arial"/>
              </a:rPr>
              <a:t>Penetration testing firms</a:t>
            </a:r>
          </a:p>
        </p:txBody>
      </p:sp>
      <p:sp>
        <p:nvSpPr>
          <p:cNvPr id="8" name="">
            <a:extLst xmlns:a="http://schemas.openxmlformats.org/drawingml/2006/main">
              <a:ext uri="{FF2B5EF4-FFF2-40B4-BE49-F238E27FC236}">
                <a16:creationId xmlns:a16="http://schemas.microsoft.com/office/drawing/2014/main" id="{A1A86F00-9B32-4E04-8950-0D0EA6B31020}"/>
              </a:ext>
            </a:extLst>
          </p:cNvPr>
          <p:cNvSpPr>
            <a:spLocks xmlns:a="http://schemas.openxmlformats.org/drawingml/2006/main" noGrp="1"/>
          </p:cNvSpPr>
          <p:nvPr/>
        </p:nvSpPr>
        <p:spPr>
          <a:xfrm xmlns:a="http://schemas.openxmlformats.org/drawingml/2006/main">
            <a:off x="1143000" y="3219450"/>
            <a:ext cx="32004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354F63"/>
                </a:solidFill>
                <a:latin typeface="Arial"/>
                <a:ea typeface="Arial"/>
                <a:cs typeface="Arial"/>
              </a:defRPr>
            </a:pPr>
            <a:r>
              <a:rPr sz="1725" b="0" i="0">
                <a:solidFill>
                  <a:srgbClr val="354F63"/>
                </a:solidFill>
                <a:latin typeface="Arial"/>
                <a:ea typeface="Arial"/>
                <a:cs typeface="Arial"/>
              </a:rPr>
              <a:t>Repeatable external assessments across wide client surfaces.</a:t>
            </a:r>
          </a:p>
        </p:txBody>
      </p:sp>
      <p:sp>
        <p:nvSpPr>
          <p:cNvPr id="9" name="">
            <a:extLst xmlns:a="http://schemas.openxmlformats.org/drawingml/2006/main">
              <a:ext uri="{FF2B5EF4-FFF2-40B4-BE49-F238E27FC236}">
                <a16:creationId xmlns:a16="http://schemas.microsoft.com/office/drawing/2014/main" id="{17F86C39-C598-462A-BEAE-7D7665D0B3BF}"/>
              </a:ext>
            </a:extLst>
          </p:cNvPr>
          <p:cNvSpPr>
            <a:spLocks xmlns:a="http://schemas.openxmlformats.org/drawingml/2006/main" noGrp="1"/>
          </p:cNvSpPr>
          <p:nvPr/>
        </p:nvSpPr>
        <p:spPr>
          <a:xfrm xmlns:a="http://schemas.openxmlformats.org/drawingml/2006/main">
            <a:off x="4819650" y="2476500"/>
            <a:ext cx="3695700" cy="2724150"/>
          </a:xfrm>
          <a:prstGeom xmlns:a="http://schemas.openxmlformats.org/drawingml/2006/main" prst="roundRect">
            <a:avLst>
              <a:gd name="adj" fmla="val 2797"/>
            </a:avLst>
          </a:prstGeom>
          <a:solidFill xmlns:a="http://schemas.openxmlformats.org/drawingml/2006/main">
            <a:srgbClr val="FFFDF9"/>
          </a:solidFill>
          <a:ln xmlns:a="http://schemas.openxmlformats.org/drawingml/2006/main" w="19050">
            <a:solidFill>
              <a:srgbClr val="CAD6DE"/>
            </a:solidFill>
          </a:ln>
        </p:spPr>
      </p:sp>
      <p:sp>
        <p:nvSpPr>
          <p:cNvPr id="10" name="">
            <a:extLst xmlns:a="http://schemas.openxmlformats.org/drawingml/2006/main">
              <a:ext uri="{FF2B5EF4-FFF2-40B4-BE49-F238E27FC236}">
                <a16:creationId xmlns:a16="http://schemas.microsoft.com/office/drawing/2014/main" id="{9B17F63D-D05F-4489-AF77-00BE32B618D9}"/>
              </a:ext>
            </a:extLst>
          </p:cNvPr>
          <p:cNvSpPr>
            <a:spLocks xmlns:a="http://schemas.openxmlformats.org/drawingml/2006/main" noGrp="1"/>
          </p:cNvSpPr>
          <p:nvPr/>
        </p:nvSpPr>
        <p:spPr>
          <a:xfrm xmlns:a="http://schemas.openxmlformats.org/drawingml/2006/main">
            <a:off x="4819650" y="2476500"/>
            <a:ext cx="85725" cy="2724150"/>
          </a:xfrm>
          <a:prstGeom xmlns:a="http://schemas.openxmlformats.org/drawingml/2006/main" prst="rect">
            <a:avLst/>
          </a:prstGeom>
          <a:solidFill xmlns:a="http://schemas.openxmlformats.org/drawingml/2006/main">
            <a:srgbClr val="2D8B8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9A377E3-8CB3-4CF7-ACD0-0C28298F880E}"/>
              </a:ext>
            </a:extLst>
          </p:cNvPr>
          <p:cNvSpPr>
            <a:spLocks xmlns:a="http://schemas.openxmlformats.org/drawingml/2006/main" noGrp="1"/>
          </p:cNvSpPr>
          <p:nvPr/>
        </p:nvSpPr>
        <p:spPr>
          <a:xfrm xmlns:a="http://schemas.openxmlformats.org/drawingml/2006/main">
            <a:off x="5086350" y="26860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025" b="1" i="0">
                <a:solidFill>
                  <a:srgbClr val="123B63"/>
                </a:solidFill>
                <a:latin typeface="Arial"/>
                <a:ea typeface="Arial"/>
                <a:cs typeface="Arial"/>
              </a:defRPr>
            </a:pPr>
            <a:r>
              <a:rPr sz="2025" b="1" i="0">
                <a:solidFill>
                  <a:srgbClr val="123B63"/>
                </a:solidFill>
                <a:latin typeface="Arial"/>
                <a:ea typeface="Arial"/>
                <a:cs typeface="Arial"/>
              </a:rPr>
              <a:t>Internal security teams</a:t>
            </a:r>
          </a:p>
        </p:txBody>
      </p:sp>
      <p:sp>
        <p:nvSpPr>
          <p:cNvPr id="12" name="">
            <a:extLst xmlns:a="http://schemas.openxmlformats.org/drawingml/2006/main">
              <a:ext uri="{FF2B5EF4-FFF2-40B4-BE49-F238E27FC236}">
                <a16:creationId xmlns:a16="http://schemas.microsoft.com/office/drawing/2014/main" id="{C39A6AB6-3DDB-40C3-AEA8-9C9AD245850D}"/>
              </a:ext>
            </a:extLst>
          </p:cNvPr>
          <p:cNvSpPr>
            <a:spLocks xmlns:a="http://schemas.openxmlformats.org/drawingml/2006/main" noGrp="1"/>
          </p:cNvSpPr>
          <p:nvPr/>
        </p:nvSpPr>
        <p:spPr>
          <a:xfrm xmlns:a="http://schemas.openxmlformats.org/drawingml/2006/main">
            <a:off x="5086350" y="3219450"/>
            <a:ext cx="32004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354F63"/>
                </a:solidFill>
                <a:latin typeface="Arial"/>
                <a:ea typeface="Arial"/>
                <a:cs typeface="Arial"/>
              </a:defRPr>
            </a:pPr>
            <a:r>
              <a:rPr sz="1725" b="0" i="0">
                <a:solidFill>
                  <a:srgbClr val="354F63"/>
                </a:solidFill>
                <a:latin typeface="Arial"/>
                <a:ea typeface="Arial"/>
                <a:cs typeface="Arial"/>
              </a:rPr>
              <a:t>Continuous visibility and evidence across changing infrastructure.</a:t>
            </a:r>
          </a:p>
        </p:txBody>
      </p:sp>
      <p:sp>
        <p:nvSpPr>
          <p:cNvPr id="13" name="">
            <a:extLst xmlns:a="http://schemas.openxmlformats.org/drawingml/2006/main">
              <a:ext uri="{FF2B5EF4-FFF2-40B4-BE49-F238E27FC236}">
                <a16:creationId xmlns:a16="http://schemas.microsoft.com/office/drawing/2014/main" id="{0D18E30E-F6E1-43FE-96C8-E132FFEDB191}"/>
              </a:ext>
            </a:extLst>
          </p:cNvPr>
          <p:cNvSpPr>
            <a:spLocks xmlns:a="http://schemas.openxmlformats.org/drawingml/2006/main" noGrp="1"/>
          </p:cNvSpPr>
          <p:nvPr/>
        </p:nvSpPr>
        <p:spPr>
          <a:xfrm xmlns:a="http://schemas.openxmlformats.org/drawingml/2006/main">
            <a:off x="8763000" y="2476500"/>
            <a:ext cx="3695700" cy="2724150"/>
          </a:xfrm>
          <a:prstGeom xmlns:a="http://schemas.openxmlformats.org/drawingml/2006/main" prst="roundRect">
            <a:avLst>
              <a:gd name="adj" fmla="val 2797"/>
            </a:avLst>
          </a:prstGeom>
          <a:solidFill xmlns:a="http://schemas.openxmlformats.org/drawingml/2006/main">
            <a:srgbClr val="FFFDF9"/>
          </a:solidFill>
          <a:ln xmlns:a="http://schemas.openxmlformats.org/drawingml/2006/main" w="19050">
            <a:solidFill>
              <a:srgbClr val="CAD6DE"/>
            </a:solidFill>
          </a:ln>
        </p:spPr>
      </p:sp>
      <p:sp>
        <p:nvSpPr>
          <p:cNvPr id="14" name="">
            <a:extLst xmlns:a="http://schemas.openxmlformats.org/drawingml/2006/main">
              <a:ext uri="{FF2B5EF4-FFF2-40B4-BE49-F238E27FC236}">
                <a16:creationId xmlns:a16="http://schemas.microsoft.com/office/drawing/2014/main" id="{8C814442-BF2D-41C2-87EB-B99B8221F0DF}"/>
              </a:ext>
            </a:extLst>
          </p:cNvPr>
          <p:cNvSpPr>
            <a:spLocks xmlns:a="http://schemas.openxmlformats.org/drawingml/2006/main" noGrp="1"/>
          </p:cNvSpPr>
          <p:nvPr/>
        </p:nvSpPr>
        <p:spPr>
          <a:xfrm xmlns:a="http://schemas.openxmlformats.org/drawingml/2006/main">
            <a:off x="8763000" y="2476500"/>
            <a:ext cx="85725" cy="2724150"/>
          </a:xfrm>
          <a:prstGeom xmlns:a="http://schemas.openxmlformats.org/drawingml/2006/main" prst="rect">
            <a:avLst/>
          </a:prstGeom>
          <a:solidFill xmlns:a="http://schemas.openxmlformats.org/drawingml/2006/main">
            <a:srgbClr val="D79A32"/>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3A63BBAD-B7E8-4E9E-98DB-95FF12F0E6EA}"/>
              </a:ext>
            </a:extLst>
          </p:cNvPr>
          <p:cNvSpPr>
            <a:spLocks xmlns:a="http://schemas.openxmlformats.org/drawingml/2006/main" noGrp="1"/>
          </p:cNvSpPr>
          <p:nvPr/>
        </p:nvSpPr>
        <p:spPr>
          <a:xfrm xmlns:a="http://schemas.openxmlformats.org/drawingml/2006/main">
            <a:off x="9029700" y="26860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3802"/>
          </a:bodyPr>
          <a:lstStyle xmlns:a="http://schemas.openxmlformats.org/drawingml/2006/main"/>
          <a:p xmlns:a="http://schemas.openxmlformats.org/drawingml/2006/main">
            <a:pPr algn="l">
              <a:lnSpc>
                <a:spcPct val="100000"/>
              </a:lnSpc>
              <a:buNone/>
              <a:defRPr sz="2025" b="1" i="0">
                <a:solidFill>
                  <a:srgbClr val="123B63"/>
                </a:solidFill>
                <a:latin typeface="Arial"/>
                <a:ea typeface="Arial"/>
                <a:cs typeface="Arial"/>
              </a:defRPr>
            </a:pPr>
            <a:r>
              <a:rPr sz="2025" b="1" i="0">
                <a:solidFill>
                  <a:srgbClr val="123B63"/>
                </a:solidFill>
                <a:latin typeface="Arial"/>
                <a:ea typeface="Arial"/>
                <a:cs typeface="Arial"/>
              </a:rPr>
              <a:t>Managed security providers</a:t>
            </a:r>
          </a:p>
        </p:txBody>
      </p:sp>
      <p:sp>
        <p:nvSpPr>
          <p:cNvPr id="16" name="">
            <a:extLst xmlns:a="http://schemas.openxmlformats.org/drawingml/2006/main">
              <a:ext uri="{FF2B5EF4-FFF2-40B4-BE49-F238E27FC236}">
                <a16:creationId xmlns:a16="http://schemas.microsoft.com/office/drawing/2014/main" id="{BFC964BF-EEC0-45BF-9CAA-3E278FC1CB19}"/>
              </a:ext>
            </a:extLst>
          </p:cNvPr>
          <p:cNvSpPr>
            <a:spLocks xmlns:a="http://schemas.openxmlformats.org/drawingml/2006/main" noGrp="1"/>
          </p:cNvSpPr>
          <p:nvPr/>
        </p:nvSpPr>
        <p:spPr>
          <a:xfrm xmlns:a="http://schemas.openxmlformats.org/drawingml/2006/main">
            <a:off x="9029700" y="3219450"/>
            <a:ext cx="32004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354F63"/>
                </a:solidFill>
                <a:latin typeface="Arial"/>
                <a:ea typeface="Arial"/>
                <a:cs typeface="Arial"/>
              </a:defRPr>
            </a:pPr>
            <a:r>
              <a:rPr sz="1725" b="0" i="0">
                <a:solidFill>
                  <a:srgbClr val="354F63"/>
                </a:solidFill>
                <a:latin typeface="Arial"/>
                <a:ea typeface="Arial"/>
                <a:cs typeface="Arial"/>
              </a:rPr>
              <a:t>Standardized multi-engagement execution and reporting.</a:t>
            </a:r>
          </a:p>
        </p:txBody>
      </p:sp>
      <p:sp>
        <p:nvSpPr>
          <p:cNvPr id="17" name="">
            <a:extLst xmlns:a="http://schemas.openxmlformats.org/drawingml/2006/main">
              <a:ext uri="{FF2B5EF4-FFF2-40B4-BE49-F238E27FC236}">
                <a16:creationId xmlns:a16="http://schemas.microsoft.com/office/drawing/2014/main" id="{26387EC9-BF42-4119-81C0-2DB0B07C0D80}"/>
              </a:ext>
            </a:extLst>
          </p:cNvPr>
          <p:cNvSpPr>
            <a:spLocks xmlns:a="http://schemas.openxmlformats.org/drawingml/2006/main" noGrp="1"/>
          </p:cNvSpPr>
          <p:nvPr/>
        </p:nvSpPr>
        <p:spPr>
          <a:xfrm xmlns:a="http://schemas.openxmlformats.org/drawingml/2006/main">
            <a:off x="12706350" y="2476500"/>
            <a:ext cx="3695700" cy="2724150"/>
          </a:xfrm>
          <a:prstGeom xmlns:a="http://schemas.openxmlformats.org/drawingml/2006/main" prst="roundRect">
            <a:avLst>
              <a:gd name="adj" fmla="val 2797"/>
            </a:avLst>
          </a:prstGeom>
          <a:solidFill xmlns:a="http://schemas.openxmlformats.org/drawingml/2006/main">
            <a:srgbClr val="FFFDF9"/>
          </a:solidFill>
          <a:ln xmlns:a="http://schemas.openxmlformats.org/drawingml/2006/main" w="19050">
            <a:solidFill>
              <a:srgbClr val="CAD6DE"/>
            </a:solidFill>
          </a:ln>
        </p:spPr>
      </p:sp>
      <p:sp>
        <p:nvSpPr>
          <p:cNvPr id="18" name="">
            <a:extLst xmlns:a="http://schemas.openxmlformats.org/drawingml/2006/main">
              <a:ext uri="{FF2B5EF4-FFF2-40B4-BE49-F238E27FC236}">
                <a16:creationId xmlns:a16="http://schemas.microsoft.com/office/drawing/2014/main" id="{4BBBE0AF-F9AF-4F54-AD8E-CD59973BDE7B}"/>
              </a:ext>
            </a:extLst>
          </p:cNvPr>
          <p:cNvSpPr>
            <a:spLocks xmlns:a="http://schemas.openxmlformats.org/drawingml/2006/main" noGrp="1"/>
          </p:cNvSpPr>
          <p:nvPr/>
        </p:nvSpPr>
        <p:spPr>
          <a:xfrm xmlns:a="http://schemas.openxmlformats.org/drawingml/2006/main">
            <a:off x="12706350" y="2476500"/>
            <a:ext cx="85725" cy="2724150"/>
          </a:xfrm>
          <a:prstGeom xmlns:a="http://schemas.openxmlformats.org/drawingml/2006/main" prst="rect">
            <a:avLst/>
          </a:prstGeom>
          <a:solidFill xmlns:a="http://schemas.openxmlformats.org/drawingml/2006/main">
            <a:srgbClr val="4F8B64"/>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3295B020-05B2-4CDE-A5AB-410F4FD34CBC}"/>
              </a:ext>
            </a:extLst>
          </p:cNvPr>
          <p:cNvSpPr>
            <a:spLocks xmlns:a="http://schemas.openxmlformats.org/drawingml/2006/main" noGrp="1"/>
          </p:cNvSpPr>
          <p:nvPr/>
        </p:nvSpPr>
        <p:spPr>
          <a:xfrm xmlns:a="http://schemas.openxmlformats.org/drawingml/2006/main">
            <a:off x="12973050" y="26860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025" b="1" i="0">
                <a:solidFill>
                  <a:srgbClr val="123B63"/>
                </a:solidFill>
                <a:latin typeface="Arial"/>
                <a:ea typeface="Arial"/>
                <a:cs typeface="Arial"/>
              </a:defRPr>
            </a:pPr>
            <a:r>
              <a:rPr sz="2025" b="1" i="0">
                <a:solidFill>
                  <a:srgbClr val="123B63"/>
                </a:solidFill>
                <a:latin typeface="Arial"/>
                <a:ea typeface="Arial"/>
                <a:cs typeface="Arial"/>
              </a:rPr>
              <a:t>DevSecOps teams</a:t>
            </a:r>
          </a:p>
        </p:txBody>
      </p:sp>
      <p:sp>
        <p:nvSpPr>
          <p:cNvPr id="20" name="">
            <a:extLst xmlns:a="http://schemas.openxmlformats.org/drawingml/2006/main">
              <a:ext uri="{FF2B5EF4-FFF2-40B4-BE49-F238E27FC236}">
                <a16:creationId xmlns:a16="http://schemas.microsoft.com/office/drawing/2014/main" id="{7EEE3E5A-9325-4EDB-BD10-05CD5E9F9A3F}"/>
              </a:ext>
            </a:extLst>
          </p:cNvPr>
          <p:cNvSpPr>
            <a:spLocks xmlns:a="http://schemas.openxmlformats.org/drawingml/2006/main" noGrp="1"/>
          </p:cNvSpPr>
          <p:nvPr/>
        </p:nvSpPr>
        <p:spPr>
          <a:xfrm xmlns:a="http://schemas.openxmlformats.org/drawingml/2006/main">
            <a:off x="12973050" y="3219450"/>
            <a:ext cx="32004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354F63"/>
                </a:solidFill>
                <a:latin typeface="Arial"/>
                <a:ea typeface="Arial"/>
                <a:cs typeface="Arial"/>
              </a:defRPr>
            </a:pPr>
            <a:r>
              <a:rPr sz="1725" b="0" i="0">
                <a:solidFill>
                  <a:srgbClr val="354F63"/>
                </a:solidFill>
                <a:latin typeface="Arial"/>
                <a:ea typeface="Arial"/>
                <a:cs typeface="Arial"/>
              </a:rPr>
              <a:t>Security assessment integrated into engineering workflows.</a:t>
            </a:r>
          </a:p>
        </p:txBody>
      </p:sp>
      <p:sp>
        <p:nvSpPr>
          <p:cNvPr id="21" name="">
            <a:extLst xmlns:a="http://schemas.openxmlformats.org/drawingml/2006/main">
              <a:ext uri="{FF2B5EF4-FFF2-40B4-BE49-F238E27FC236}">
                <a16:creationId xmlns:a16="http://schemas.microsoft.com/office/drawing/2014/main" id="{1220460B-1192-4B91-A0F7-79687003ED0C}"/>
              </a:ext>
            </a:extLst>
          </p:cNvPr>
          <p:cNvSpPr>
            <a:spLocks xmlns:a="http://schemas.openxmlformats.org/drawingml/2006/main" noGrp="1"/>
          </p:cNvSpPr>
          <p:nvPr/>
        </p:nvSpPr>
        <p:spPr>
          <a:xfrm xmlns:a="http://schemas.openxmlformats.org/drawingml/2006/main">
            <a:off x="876300" y="5848350"/>
            <a:ext cx="857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950" b="1" i="0">
                <a:solidFill>
                  <a:srgbClr val="2D8B84"/>
                </a:solidFill>
                <a:latin typeface="Arial"/>
                <a:ea typeface="Arial"/>
                <a:cs typeface="Arial"/>
              </a:defRPr>
            </a:pPr>
            <a:r>
              <a:rPr sz="1950" b="1" i="0">
                <a:solidFill>
                  <a:srgbClr val="2D8B84"/>
                </a:solidFill>
                <a:latin typeface="Arial"/>
                <a:ea typeface="Arial"/>
                <a:cs typeface="Arial"/>
              </a:rPr>
              <a:t>UN Sustainable Development Goal alignment</a:t>
            </a:r>
          </a:p>
        </p:txBody>
      </p:sp>
      <p:sp>
        <p:nvSpPr>
          <p:cNvPr id="22" name="">
            <a:extLst xmlns:a="http://schemas.openxmlformats.org/drawingml/2006/main">
              <a:ext uri="{FF2B5EF4-FFF2-40B4-BE49-F238E27FC236}">
                <a16:creationId xmlns:a16="http://schemas.microsoft.com/office/drawing/2014/main" id="{A34A5A5D-9BAF-4A66-B430-0812FC7AACA1}"/>
              </a:ext>
            </a:extLst>
          </p:cNvPr>
          <p:cNvSpPr>
            <a:spLocks xmlns:a="http://schemas.openxmlformats.org/drawingml/2006/main" noGrp="1"/>
          </p:cNvSpPr>
          <p:nvPr/>
        </p:nvSpPr>
        <p:spPr>
          <a:xfrm xmlns:a="http://schemas.openxmlformats.org/drawingml/2006/main">
            <a:off x="876300" y="6496050"/>
            <a:ext cx="4876800" cy="1695450"/>
          </a:xfrm>
          <a:prstGeom xmlns:a="http://schemas.openxmlformats.org/drawingml/2006/main" prst="roundRect">
            <a:avLst>
              <a:gd name="adj" fmla="val 4494"/>
            </a:avLst>
          </a:prstGeom>
          <a:solidFill xmlns:a="http://schemas.openxmlformats.org/drawingml/2006/main">
            <a:srgbClr val="FFFDF9"/>
          </a:solidFill>
          <a:ln xmlns:a="http://schemas.openxmlformats.org/drawingml/2006/main" w="19050">
            <a:solidFill>
              <a:srgbClr val="CAD6DE"/>
            </a:solidFill>
          </a:ln>
        </p:spPr>
      </p:sp>
      <p:sp>
        <p:nvSpPr>
          <p:cNvPr id="23" name="">
            <a:extLst xmlns:a="http://schemas.openxmlformats.org/drawingml/2006/main">
              <a:ext uri="{FF2B5EF4-FFF2-40B4-BE49-F238E27FC236}">
                <a16:creationId xmlns:a16="http://schemas.microsoft.com/office/drawing/2014/main" id="{05AAF2E0-BA4D-4E35-A6AF-F022E4614A87}"/>
              </a:ext>
            </a:extLst>
          </p:cNvPr>
          <p:cNvSpPr>
            <a:spLocks xmlns:a="http://schemas.openxmlformats.org/drawingml/2006/main" noGrp="1"/>
          </p:cNvSpPr>
          <p:nvPr/>
        </p:nvSpPr>
        <p:spPr>
          <a:xfrm xmlns:a="http://schemas.openxmlformats.org/drawingml/2006/main">
            <a:off x="876300" y="6496050"/>
            <a:ext cx="85725" cy="1695450"/>
          </a:xfrm>
          <a:prstGeom xmlns:a="http://schemas.openxmlformats.org/drawingml/2006/main" prst="rect">
            <a:avLst/>
          </a:prstGeom>
          <a:solidFill xmlns:a="http://schemas.openxmlformats.org/drawingml/2006/main">
            <a:srgbClr val="2C6693"/>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308C879E-0E46-417F-9AFC-ED89F61CE145}"/>
              </a:ext>
            </a:extLst>
          </p:cNvPr>
          <p:cNvSpPr>
            <a:spLocks xmlns:a="http://schemas.openxmlformats.org/drawingml/2006/main" noGrp="1"/>
          </p:cNvSpPr>
          <p:nvPr/>
        </p:nvSpPr>
        <p:spPr>
          <a:xfrm xmlns:a="http://schemas.openxmlformats.org/drawingml/2006/main">
            <a:off x="1143000" y="6705600"/>
            <a:ext cx="438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75" b="1" i="0">
                <a:solidFill>
                  <a:srgbClr val="123B63"/>
                </a:solidFill>
                <a:latin typeface="Arial"/>
                <a:ea typeface="Arial"/>
                <a:cs typeface="Arial"/>
              </a:defRPr>
            </a:pPr>
            <a:r>
              <a:rPr sz="2175" b="1" i="0">
                <a:solidFill>
                  <a:srgbClr val="123B63"/>
                </a:solidFill>
                <a:latin typeface="Arial"/>
                <a:ea typeface="Arial"/>
                <a:cs typeface="Arial"/>
              </a:rPr>
              <a:t>SDG 9</a:t>
            </a:r>
          </a:p>
        </p:txBody>
      </p:sp>
      <p:sp>
        <p:nvSpPr>
          <p:cNvPr id="25" name="">
            <a:extLst xmlns:a="http://schemas.openxmlformats.org/drawingml/2006/main">
              <a:ext uri="{FF2B5EF4-FFF2-40B4-BE49-F238E27FC236}">
                <a16:creationId xmlns:a16="http://schemas.microsoft.com/office/drawing/2014/main" id="{F0DB0AED-E6F2-4D2C-846E-6259D6751281}"/>
              </a:ext>
            </a:extLst>
          </p:cNvPr>
          <p:cNvSpPr>
            <a:spLocks xmlns:a="http://schemas.openxmlformats.org/drawingml/2006/main" noGrp="1"/>
          </p:cNvSpPr>
          <p:nvPr/>
        </p:nvSpPr>
        <p:spPr>
          <a:xfrm xmlns:a="http://schemas.openxmlformats.org/drawingml/2006/main">
            <a:off x="1143000" y="7239000"/>
            <a:ext cx="4381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354F63"/>
                </a:solidFill>
                <a:latin typeface="Arial"/>
                <a:ea typeface="Arial"/>
                <a:cs typeface="Arial"/>
              </a:defRPr>
            </a:pPr>
            <a:r>
              <a:rPr sz="1725" b="0" i="0">
                <a:solidFill>
                  <a:srgbClr val="354F63"/>
                </a:solidFill>
                <a:latin typeface="Arial"/>
                <a:ea typeface="Arial"/>
                <a:cs typeface="Arial"/>
              </a:rPr>
              <a:t>Industry, innovation and resilient infrastructure.</a:t>
            </a:r>
          </a:p>
        </p:txBody>
      </p:sp>
      <p:sp>
        <p:nvSpPr>
          <p:cNvPr id="26" name="">
            <a:extLst xmlns:a="http://schemas.openxmlformats.org/drawingml/2006/main">
              <a:ext uri="{FF2B5EF4-FFF2-40B4-BE49-F238E27FC236}">
                <a16:creationId xmlns:a16="http://schemas.microsoft.com/office/drawing/2014/main" id="{A41BFA91-AE4F-47FA-BEED-C12309F818C8}"/>
              </a:ext>
            </a:extLst>
          </p:cNvPr>
          <p:cNvSpPr>
            <a:spLocks xmlns:a="http://schemas.openxmlformats.org/drawingml/2006/main" noGrp="1"/>
          </p:cNvSpPr>
          <p:nvPr/>
        </p:nvSpPr>
        <p:spPr>
          <a:xfrm xmlns:a="http://schemas.openxmlformats.org/drawingml/2006/main">
            <a:off x="6000750" y="6496050"/>
            <a:ext cx="4876800" cy="1695450"/>
          </a:xfrm>
          <a:prstGeom xmlns:a="http://schemas.openxmlformats.org/drawingml/2006/main" prst="roundRect">
            <a:avLst>
              <a:gd name="adj" fmla="val 4494"/>
            </a:avLst>
          </a:prstGeom>
          <a:solidFill xmlns:a="http://schemas.openxmlformats.org/drawingml/2006/main">
            <a:srgbClr val="FFFDF9"/>
          </a:solidFill>
          <a:ln xmlns:a="http://schemas.openxmlformats.org/drawingml/2006/main" w="19050">
            <a:solidFill>
              <a:srgbClr val="CAD6DE"/>
            </a:solidFill>
          </a:ln>
        </p:spPr>
      </p:sp>
      <p:sp>
        <p:nvSpPr>
          <p:cNvPr id="27" name="">
            <a:extLst xmlns:a="http://schemas.openxmlformats.org/drawingml/2006/main">
              <a:ext uri="{FF2B5EF4-FFF2-40B4-BE49-F238E27FC236}">
                <a16:creationId xmlns:a16="http://schemas.microsoft.com/office/drawing/2014/main" id="{A180C4E8-944B-44ED-A1A8-85A6CA0781F8}"/>
              </a:ext>
            </a:extLst>
          </p:cNvPr>
          <p:cNvSpPr>
            <a:spLocks xmlns:a="http://schemas.openxmlformats.org/drawingml/2006/main" noGrp="1"/>
          </p:cNvSpPr>
          <p:nvPr/>
        </p:nvSpPr>
        <p:spPr>
          <a:xfrm xmlns:a="http://schemas.openxmlformats.org/drawingml/2006/main">
            <a:off x="6000750" y="6496050"/>
            <a:ext cx="85725" cy="1695450"/>
          </a:xfrm>
          <a:prstGeom xmlns:a="http://schemas.openxmlformats.org/drawingml/2006/main" prst="rect">
            <a:avLst/>
          </a:prstGeom>
          <a:solidFill xmlns:a="http://schemas.openxmlformats.org/drawingml/2006/main">
            <a:srgbClr val="2D8B84"/>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65C9FC36-6437-443E-90DA-09293F54C387}"/>
              </a:ext>
            </a:extLst>
          </p:cNvPr>
          <p:cNvSpPr>
            <a:spLocks xmlns:a="http://schemas.openxmlformats.org/drawingml/2006/main" noGrp="1"/>
          </p:cNvSpPr>
          <p:nvPr/>
        </p:nvSpPr>
        <p:spPr>
          <a:xfrm xmlns:a="http://schemas.openxmlformats.org/drawingml/2006/main">
            <a:off x="6267450" y="6705600"/>
            <a:ext cx="438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75" b="1" i="0">
                <a:solidFill>
                  <a:srgbClr val="123B63"/>
                </a:solidFill>
                <a:latin typeface="Arial"/>
                <a:ea typeface="Arial"/>
                <a:cs typeface="Arial"/>
              </a:defRPr>
            </a:pPr>
            <a:r>
              <a:rPr sz="2175" b="1" i="0">
                <a:solidFill>
                  <a:srgbClr val="123B63"/>
                </a:solidFill>
                <a:latin typeface="Arial"/>
                <a:ea typeface="Arial"/>
                <a:cs typeface="Arial"/>
              </a:rPr>
              <a:t>SDG 16</a:t>
            </a:r>
          </a:p>
        </p:txBody>
      </p:sp>
      <p:sp>
        <p:nvSpPr>
          <p:cNvPr id="29" name="">
            <a:extLst xmlns:a="http://schemas.openxmlformats.org/drawingml/2006/main">
              <a:ext uri="{FF2B5EF4-FFF2-40B4-BE49-F238E27FC236}">
                <a16:creationId xmlns:a16="http://schemas.microsoft.com/office/drawing/2014/main" id="{5C2649BE-233F-4D9A-A1A9-5251C5F78DF3}"/>
              </a:ext>
            </a:extLst>
          </p:cNvPr>
          <p:cNvSpPr>
            <a:spLocks xmlns:a="http://schemas.openxmlformats.org/drawingml/2006/main" noGrp="1"/>
          </p:cNvSpPr>
          <p:nvPr/>
        </p:nvSpPr>
        <p:spPr>
          <a:xfrm xmlns:a="http://schemas.openxmlformats.org/drawingml/2006/main">
            <a:off x="6267450" y="7239000"/>
            <a:ext cx="4381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354F63"/>
                </a:solidFill>
                <a:latin typeface="Arial"/>
                <a:ea typeface="Arial"/>
                <a:cs typeface="Arial"/>
              </a:defRPr>
            </a:pPr>
            <a:r>
              <a:rPr sz="1725" b="0" i="0">
                <a:solidFill>
                  <a:srgbClr val="354F63"/>
                </a:solidFill>
                <a:latin typeface="Arial"/>
                <a:ea typeface="Arial"/>
                <a:cs typeface="Arial"/>
              </a:rPr>
              <a:t>Stronger institutions through improved cyber resilience.</a:t>
            </a:r>
          </a:p>
        </p:txBody>
      </p:sp>
      <p:sp>
        <p:nvSpPr>
          <p:cNvPr id="30" name="">
            <a:extLst xmlns:a="http://schemas.openxmlformats.org/drawingml/2006/main">
              <a:ext uri="{FF2B5EF4-FFF2-40B4-BE49-F238E27FC236}">
                <a16:creationId xmlns:a16="http://schemas.microsoft.com/office/drawing/2014/main" id="{7914A84A-3548-41EB-82AA-C4D928C3E1C9}"/>
              </a:ext>
            </a:extLst>
          </p:cNvPr>
          <p:cNvSpPr>
            <a:spLocks xmlns:a="http://schemas.openxmlformats.org/drawingml/2006/main" noGrp="1"/>
          </p:cNvSpPr>
          <p:nvPr/>
        </p:nvSpPr>
        <p:spPr>
          <a:xfrm xmlns:a="http://schemas.openxmlformats.org/drawingml/2006/main">
            <a:off x="11125200" y="6496050"/>
            <a:ext cx="5524500" cy="1695450"/>
          </a:xfrm>
          <a:prstGeom xmlns:a="http://schemas.openxmlformats.org/drawingml/2006/main" prst="roundRect">
            <a:avLst>
              <a:gd name="adj" fmla="val 4494"/>
            </a:avLst>
          </a:prstGeom>
          <a:solidFill xmlns:a="http://schemas.openxmlformats.org/drawingml/2006/main">
            <a:srgbClr val="FFFDF9"/>
          </a:solidFill>
          <a:ln xmlns:a="http://schemas.openxmlformats.org/drawingml/2006/main" w="19050">
            <a:solidFill>
              <a:srgbClr val="CAD6DE"/>
            </a:solidFill>
          </a:ln>
        </p:spPr>
      </p:sp>
      <p:sp>
        <p:nvSpPr>
          <p:cNvPr id="31" name="">
            <a:extLst xmlns:a="http://schemas.openxmlformats.org/drawingml/2006/main">
              <a:ext uri="{FF2B5EF4-FFF2-40B4-BE49-F238E27FC236}">
                <a16:creationId xmlns:a16="http://schemas.microsoft.com/office/drawing/2014/main" id="{C61C7931-28DD-45E9-894C-9749C4966D88}"/>
              </a:ext>
            </a:extLst>
          </p:cNvPr>
          <p:cNvSpPr>
            <a:spLocks xmlns:a="http://schemas.openxmlformats.org/drawingml/2006/main" noGrp="1"/>
          </p:cNvSpPr>
          <p:nvPr/>
        </p:nvSpPr>
        <p:spPr>
          <a:xfrm xmlns:a="http://schemas.openxmlformats.org/drawingml/2006/main">
            <a:off x="11125200" y="6496050"/>
            <a:ext cx="85725" cy="1695450"/>
          </a:xfrm>
          <a:prstGeom xmlns:a="http://schemas.openxmlformats.org/drawingml/2006/main" prst="rect">
            <a:avLst/>
          </a:prstGeom>
          <a:solidFill xmlns:a="http://schemas.openxmlformats.org/drawingml/2006/main">
            <a:srgbClr val="D79A32"/>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BA07406F-1974-4131-9AC6-159E41AEA150}"/>
              </a:ext>
            </a:extLst>
          </p:cNvPr>
          <p:cNvSpPr>
            <a:spLocks xmlns:a="http://schemas.openxmlformats.org/drawingml/2006/main" noGrp="1"/>
          </p:cNvSpPr>
          <p:nvPr/>
        </p:nvSpPr>
        <p:spPr>
          <a:xfrm xmlns:a="http://schemas.openxmlformats.org/drawingml/2006/main">
            <a:off x="11391900" y="6705600"/>
            <a:ext cx="5029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75" b="1" i="0">
                <a:solidFill>
                  <a:srgbClr val="123B63"/>
                </a:solidFill>
                <a:latin typeface="Arial"/>
                <a:ea typeface="Arial"/>
                <a:cs typeface="Arial"/>
              </a:defRPr>
            </a:pPr>
            <a:r>
              <a:rPr sz="2175" b="1" i="0">
                <a:solidFill>
                  <a:srgbClr val="123B63"/>
                </a:solidFill>
                <a:latin typeface="Arial"/>
                <a:ea typeface="Arial"/>
                <a:cs typeface="Arial"/>
              </a:rPr>
              <a:t>SDG 17</a:t>
            </a:r>
          </a:p>
        </p:txBody>
      </p:sp>
      <p:sp>
        <p:nvSpPr>
          <p:cNvPr id="33" name="">
            <a:extLst xmlns:a="http://schemas.openxmlformats.org/drawingml/2006/main">
              <a:ext uri="{FF2B5EF4-FFF2-40B4-BE49-F238E27FC236}">
                <a16:creationId xmlns:a16="http://schemas.microsoft.com/office/drawing/2014/main" id="{505CF3D9-0E00-41AB-9B63-0932D443A577}"/>
              </a:ext>
            </a:extLst>
          </p:cNvPr>
          <p:cNvSpPr>
            <a:spLocks xmlns:a="http://schemas.openxmlformats.org/drawingml/2006/main" noGrp="1"/>
          </p:cNvSpPr>
          <p:nvPr/>
        </p:nvSpPr>
        <p:spPr>
          <a:xfrm xmlns:a="http://schemas.openxmlformats.org/drawingml/2006/main">
            <a:off x="11391900" y="7239000"/>
            <a:ext cx="5029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354F63"/>
                </a:solidFill>
                <a:latin typeface="Arial"/>
                <a:ea typeface="Arial"/>
                <a:cs typeface="Arial"/>
              </a:defRPr>
            </a:pPr>
            <a:r>
              <a:rPr sz="1725" b="0" i="0">
                <a:solidFill>
                  <a:srgbClr val="354F63"/>
                </a:solidFill>
                <a:latin typeface="Arial"/>
                <a:ea typeface="Arial"/>
                <a:cs typeface="Arial"/>
              </a:rPr>
              <a:t>Partnerships through interoperable, open security tooling.</a:t>
            </a:r>
          </a:p>
        </p:txBody>
      </p:sp>
    </p:spTree>
    <p:extLst>
      <p:ext uri="{BB962C8B-B14F-4D97-AF65-F5344CB8AC3E}">
        <p14:creationId xmlns:p14="http://schemas.microsoft.com/office/powerpoint/2010/main" val="1734424866"/>
      </p:ext>
    </p:extLst>
  </p:cSld>
  <p:transition spd="med" advClick="1">
    <p:fade/>
  </p:transition>
</p:sld>
</file>

<file path=ppt/slides/slide1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670C351D-3CD7-4FB5-9447-21B3B48828E0}"/>
              </a:ext>
            </a:extLst>
          </p:cNvPr>
          <p:cNvSpPr>
            <a:spLocks xmlns:a="http://schemas.openxmlformats.org/drawingml/2006/main" noGrp="1"/>
          </p:cNvSpPr>
          <p:nvPr/>
        </p:nvSpPr>
        <p:spPr>
          <a:xfrm xmlns:a="http://schemas.openxmlformats.org/drawingml/2006/main">
            <a:off x="876300" y="723900"/>
            <a:ext cx="2724150" cy="438150"/>
          </a:xfrm>
          <a:prstGeom xmlns:a="http://schemas.openxmlformats.org/drawingml/2006/main" prst="roundRect">
            <a:avLst>
              <a:gd name="adj" fmla="val 17391"/>
            </a:avLst>
          </a:prstGeom>
          <a:solidFill xmlns:a="http://schemas.openxmlformats.org/drawingml/2006/main">
            <a:srgbClr val="E6EE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00" b="1">
                <a:solidFill>
                  <a:srgbClr val="2D8B84"/>
                </a:solidFill>
                <a:latin typeface="Arial"/>
                <a:ea typeface="Arial"/>
                <a:cs typeface="Arial"/>
              </a:defRPr>
            </a:pPr>
            <a:r>
              <a:rPr sz="1500" b="1">
                <a:solidFill>
                  <a:srgbClr val="2D8B84"/>
                </a:solidFill>
                <a:latin typeface="Arial"/>
                <a:ea typeface="Arial"/>
                <a:cs typeface="Arial"/>
              </a:rPr>
              <a:t>FYP PROPOSAL DEFENSE</a:t>
            </a:r>
          </a:p>
        </p:txBody>
      </p:sp>
      <p:sp>
        <p:nvSpPr>
          <p:cNvPr id="2" name="">
            <a:extLst xmlns:a="http://schemas.openxmlformats.org/drawingml/2006/main">
              <a:ext uri="{FF2B5EF4-FFF2-40B4-BE49-F238E27FC236}">
                <a16:creationId xmlns:a16="http://schemas.microsoft.com/office/drawing/2014/main" id="{7E94E032-B540-498F-AC2C-A6112B04E055}"/>
              </a:ext>
            </a:extLst>
          </p:cNvPr>
          <p:cNvSpPr>
            <a:spLocks xmlns:a="http://schemas.openxmlformats.org/drawingml/2006/main" noGrp="1"/>
          </p:cNvSpPr>
          <p:nvPr/>
        </p:nvSpPr>
        <p:spPr>
          <a:xfrm xmlns:a="http://schemas.openxmlformats.org/drawingml/2006/main">
            <a:off x="876300" y="1790700"/>
            <a:ext cx="8572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5850" b="1" i="0">
                <a:solidFill>
                  <a:srgbClr val="123B63"/>
                </a:solidFill>
                <a:latin typeface="Arial"/>
                <a:ea typeface="Arial"/>
                <a:cs typeface="Arial"/>
              </a:defRPr>
            </a:pPr>
            <a:r>
              <a:rPr sz="5850" b="1" i="0">
                <a:solidFill>
                  <a:srgbClr val="123B63"/>
                </a:solidFill>
                <a:latin typeface="Arial"/>
                <a:ea typeface="Arial"/>
                <a:cs typeface="Arial"/>
              </a:rPr>
              <a:t>Thank you</a:t>
            </a:r>
          </a:p>
        </p:txBody>
      </p:sp>
      <p:sp>
        <p:nvSpPr>
          <p:cNvPr id="3" name="">
            <a:extLst xmlns:a="http://schemas.openxmlformats.org/drawingml/2006/main">
              <a:ext uri="{FF2B5EF4-FFF2-40B4-BE49-F238E27FC236}">
                <a16:creationId xmlns:a16="http://schemas.microsoft.com/office/drawing/2014/main" id="{36A82FD5-9992-4D4D-8121-20B2C1DBE062}"/>
              </a:ext>
            </a:extLst>
          </p:cNvPr>
          <p:cNvSpPr>
            <a:spLocks xmlns:a="http://schemas.openxmlformats.org/drawingml/2006/main" noGrp="1"/>
          </p:cNvSpPr>
          <p:nvPr/>
        </p:nvSpPr>
        <p:spPr>
          <a:xfrm xmlns:a="http://schemas.openxmlformats.org/drawingml/2006/main">
            <a:off x="914400" y="3124200"/>
            <a:ext cx="8572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550" b="0" i="0">
                <a:solidFill>
                  <a:srgbClr val="354F63"/>
                </a:solidFill>
                <a:latin typeface="Arial"/>
                <a:ea typeface="Arial"/>
                <a:cs typeface="Arial"/>
              </a:defRPr>
            </a:pPr>
            <a:r>
              <a:rPr sz="2550" b="0" i="0">
                <a:solidFill>
                  <a:srgbClr val="354F63"/>
                </a:solidFill>
                <a:latin typeface="Arial"/>
                <a:ea typeface="Arial"/>
                <a:cs typeface="Arial"/>
              </a:rPr>
              <a:t>Questions and discussion</a:t>
            </a:r>
          </a:p>
        </p:txBody>
      </p:sp>
      <p:sp>
        <p:nvSpPr>
          <p:cNvPr id="4" name="">
            <a:extLst xmlns:a="http://schemas.openxmlformats.org/drawingml/2006/main">
              <a:ext uri="{FF2B5EF4-FFF2-40B4-BE49-F238E27FC236}">
                <a16:creationId xmlns:a16="http://schemas.microsoft.com/office/drawing/2014/main" id="{B549C7CB-7D1E-437C-A19D-50D82C124515}"/>
              </a:ext>
            </a:extLst>
          </p:cNvPr>
          <p:cNvSpPr>
            <a:spLocks xmlns:a="http://schemas.openxmlformats.org/drawingml/2006/main" noGrp="1"/>
          </p:cNvSpPr>
          <p:nvPr/>
        </p:nvSpPr>
        <p:spPr>
          <a:xfrm xmlns:a="http://schemas.openxmlformats.org/drawingml/2006/main">
            <a:off x="914400" y="3962400"/>
            <a:ext cx="7810500" cy="0"/>
          </a:xfrm>
          <a:prstGeom xmlns:a="http://schemas.openxmlformats.org/drawingml/2006/main" prst="line">
            <a:avLst/>
          </a:prstGeom>
          <a:noFill xmlns:a="http://schemas.openxmlformats.org/drawingml/2006/main"/>
          <a:ln xmlns:a="http://schemas.openxmlformats.org/drawingml/2006/main" w="19050">
            <a:solidFill>
              <a:srgbClr val="CAD6DE"/>
            </a:solidFill>
          </a:ln>
        </p:spPr>
      </p:sp>
      <p:sp>
        <p:nvSpPr>
          <p:cNvPr id="5" name="">
            <a:extLst xmlns:a="http://schemas.openxmlformats.org/drawingml/2006/main">
              <a:ext uri="{FF2B5EF4-FFF2-40B4-BE49-F238E27FC236}">
                <a16:creationId xmlns:a16="http://schemas.microsoft.com/office/drawing/2014/main" id="{67F3BBD2-2731-42AD-B79C-60C5683BB319}"/>
              </a:ext>
            </a:extLst>
          </p:cNvPr>
          <p:cNvSpPr>
            <a:spLocks xmlns:a="http://schemas.openxmlformats.org/drawingml/2006/main" noGrp="1"/>
          </p:cNvSpPr>
          <p:nvPr/>
        </p:nvSpPr>
        <p:spPr>
          <a:xfrm xmlns:a="http://schemas.openxmlformats.org/drawingml/2006/main">
            <a:off x="914400" y="4324350"/>
            <a:ext cx="876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950" b="1" i="0">
                <a:solidFill>
                  <a:srgbClr val="102B44"/>
                </a:solidFill>
                <a:latin typeface="Arial"/>
                <a:ea typeface="Arial"/>
                <a:cs typeface="Arial"/>
              </a:defRPr>
            </a:pPr>
            <a:r>
              <a:rPr sz="1950" b="1" i="0">
                <a:solidFill>
                  <a:srgbClr val="102B44"/>
                </a:solidFill>
                <a:latin typeface="Arial"/>
                <a:ea typeface="Arial"/>
                <a:cs typeface="Arial"/>
              </a:rPr>
              <a:t>Proposed autonomous web security assessment framework</a:t>
            </a:r>
          </a:p>
        </p:txBody>
      </p:sp>
      <p:sp>
        <p:nvSpPr>
          <p:cNvPr id="6" name="">
            <a:extLst xmlns:a="http://schemas.openxmlformats.org/drawingml/2006/main">
              <a:ext uri="{FF2B5EF4-FFF2-40B4-BE49-F238E27FC236}">
                <a16:creationId xmlns:a16="http://schemas.microsoft.com/office/drawing/2014/main" id="{C83F480A-BA77-4466-A101-D1D6BFBBB364}"/>
              </a:ext>
            </a:extLst>
          </p:cNvPr>
          <p:cNvSpPr>
            <a:spLocks xmlns:a="http://schemas.openxmlformats.org/drawingml/2006/main" noGrp="1"/>
          </p:cNvSpPr>
          <p:nvPr/>
        </p:nvSpPr>
        <p:spPr>
          <a:xfrm xmlns:a="http://schemas.openxmlformats.org/drawingml/2006/main">
            <a:off x="914400" y="4914900"/>
            <a:ext cx="8763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0" i="0">
                <a:solidFill>
                  <a:srgbClr val="354F63"/>
                </a:solidFill>
                <a:latin typeface="Arial"/>
                <a:ea typeface="Arial"/>
                <a:cs typeface="Arial"/>
              </a:defRPr>
            </a:pPr>
            <a:r>
              <a:rPr sz="1725" b="0" i="0">
                <a:solidFill>
                  <a:srgbClr val="354F63"/>
                </a:solidFill>
                <a:latin typeface="Arial"/>
                <a:ea typeface="Arial"/>
                <a:cs typeface="Arial"/>
              </a:rPr>
              <a:t>Working title · proposed architecture · planned evaluation</a:t>
            </a:r>
          </a:p>
        </p:txBody>
      </p:sp>
      <p:sp>
        <p:nvSpPr>
          <p:cNvPr id="7" name="">
            <a:extLst xmlns:a="http://schemas.openxmlformats.org/drawingml/2006/main">
              <a:ext uri="{FF2B5EF4-FFF2-40B4-BE49-F238E27FC236}">
                <a16:creationId xmlns:a16="http://schemas.microsoft.com/office/drawing/2014/main" id="{4E1C8DA8-F72F-4663-BB9B-D29ED2CC75C2}"/>
              </a:ext>
            </a:extLst>
          </p:cNvPr>
          <p:cNvSpPr>
            <a:spLocks xmlns:a="http://schemas.openxmlformats.org/drawingml/2006/main" noGrp="1"/>
          </p:cNvSpPr>
          <p:nvPr/>
        </p:nvSpPr>
        <p:spPr>
          <a:xfrm xmlns:a="http://schemas.openxmlformats.org/drawingml/2006/main">
            <a:off x="10477500" y="1352550"/>
            <a:ext cx="6191250" cy="6572250"/>
          </a:xfrm>
          <a:prstGeom xmlns:a="http://schemas.openxmlformats.org/drawingml/2006/main" prst="roundRect">
            <a:avLst>
              <a:gd name="adj" fmla="val 1231"/>
            </a:avLst>
          </a:prstGeom>
          <a:solidFill xmlns:a="http://schemas.openxmlformats.org/drawingml/2006/main">
            <a:srgbClr val="123B6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B9C14EC-9099-45EC-8CE2-BB72873BE741}"/>
              </a:ext>
            </a:extLst>
          </p:cNvPr>
          <p:cNvSpPr>
            <a:spLocks xmlns:a="http://schemas.openxmlformats.org/drawingml/2006/main" noGrp="1"/>
          </p:cNvSpPr>
          <p:nvPr/>
        </p:nvSpPr>
        <p:spPr>
          <a:xfrm xmlns:a="http://schemas.openxmlformats.org/drawingml/2006/main">
            <a:off x="11049000" y="1924050"/>
            <a:ext cx="5048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650" b="1" i="0">
                <a:solidFill>
                  <a:srgbClr val="79A9C8"/>
                </a:solidFill>
                <a:latin typeface="Arial"/>
                <a:ea typeface="Arial"/>
                <a:cs typeface="Arial"/>
              </a:defRPr>
            </a:pPr>
            <a:r>
              <a:rPr sz="1650" b="1" i="0">
                <a:solidFill>
                  <a:srgbClr val="79A9C8"/>
                </a:solidFill>
                <a:latin typeface="Arial"/>
                <a:ea typeface="Arial"/>
                <a:cs typeface="Arial"/>
              </a:rPr>
              <a:t>DISCUSSION</a:t>
            </a:r>
          </a:p>
        </p:txBody>
      </p:sp>
      <p:sp>
        <p:nvSpPr>
          <p:cNvPr id="9" name="">
            <a:extLst xmlns:a="http://schemas.openxmlformats.org/drawingml/2006/main">
              <a:ext uri="{FF2B5EF4-FFF2-40B4-BE49-F238E27FC236}">
                <a16:creationId xmlns:a16="http://schemas.microsoft.com/office/drawing/2014/main" id="{6B70CDD0-9950-4BB9-8046-373E010EA13B}"/>
              </a:ext>
            </a:extLst>
          </p:cNvPr>
          <p:cNvSpPr>
            <a:spLocks xmlns:a="http://schemas.openxmlformats.org/drawingml/2006/main" noGrp="1"/>
          </p:cNvSpPr>
          <p:nvPr/>
        </p:nvSpPr>
        <p:spPr>
          <a:xfrm xmlns:a="http://schemas.openxmlformats.org/drawingml/2006/main">
            <a:off x="11144250" y="2667000"/>
            <a:ext cx="4857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2850" b="1" i="0">
                <a:solidFill>
                  <a:srgbClr val="FFFFFF"/>
                </a:solidFill>
                <a:latin typeface="Arial"/>
                <a:ea typeface="Arial"/>
                <a:cs typeface="Arial"/>
              </a:defRPr>
            </a:pPr>
            <a:r>
              <a:rPr sz="2850" b="1" i="0">
                <a:solidFill>
                  <a:srgbClr val="FFFFFF"/>
                </a:solidFill>
                <a:latin typeface="Arial"/>
                <a:ea typeface="Arial"/>
                <a:cs typeface="Arial"/>
              </a:rPr>
              <a:t>How can a pentesting harness remain useful when AI is unavailable?</a:t>
            </a:r>
          </a:p>
        </p:txBody>
      </p:sp>
      <p:sp>
        <p:nvSpPr>
          <p:cNvPr id="10" name="">
            <a:extLst xmlns:a="http://schemas.openxmlformats.org/drawingml/2006/main">
              <a:ext uri="{FF2B5EF4-FFF2-40B4-BE49-F238E27FC236}">
                <a16:creationId xmlns:a16="http://schemas.microsoft.com/office/drawing/2014/main" id="{5F6119D2-F027-4ED0-A700-0A7648294DE1}"/>
              </a:ext>
            </a:extLst>
          </p:cNvPr>
          <p:cNvSpPr>
            <a:spLocks xmlns:a="http://schemas.openxmlformats.org/drawingml/2006/main" noGrp="1"/>
          </p:cNvSpPr>
          <p:nvPr/>
        </p:nvSpPr>
        <p:spPr>
          <a:xfrm xmlns:a="http://schemas.openxmlformats.org/drawingml/2006/main">
            <a:off x="11239500" y="4895850"/>
            <a:ext cx="2095500" cy="552450"/>
          </a:xfrm>
          <a:prstGeom xmlns:a="http://schemas.openxmlformats.org/drawingml/2006/main" prst="roundRect">
            <a:avLst>
              <a:gd name="adj" fmla="val 13793"/>
            </a:avLst>
          </a:prstGeom>
          <a:solidFill xmlns:a="http://schemas.openxmlformats.org/drawingml/2006/main">
            <a:srgbClr val="E5F0EC"/>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650" b="1">
                <a:solidFill>
                  <a:srgbClr val="2D8B84"/>
                </a:solidFill>
                <a:latin typeface="Arial"/>
                <a:ea typeface="Arial"/>
                <a:cs typeface="Arial"/>
              </a:defRPr>
            </a:pPr>
            <a:r>
              <a:rPr sz="1650" b="1">
                <a:solidFill>
                  <a:srgbClr val="2D8B84"/>
                </a:solidFill>
                <a:latin typeface="Arial"/>
                <a:ea typeface="Arial"/>
                <a:cs typeface="Arial"/>
              </a:rPr>
              <a:t>Methodology</a:t>
            </a:r>
          </a:p>
        </p:txBody>
      </p:sp>
      <p:sp>
        <p:nvSpPr>
          <p:cNvPr id="11" name="">
            <a:extLst xmlns:a="http://schemas.openxmlformats.org/drawingml/2006/main">
              <a:ext uri="{FF2B5EF4-FFF2-40B4-BE49-F238E27FC236}">
                <a16:creationId xmlns:a16="http://schemas.microsoft.com/office/drawing/2014/main" id="{8E38107E-3881-4AEA-A073-87B94942766C}"/>
              </a:ext>
            </a:extLst>
          </p:cNvPr>
          <p:cNvSpPr>
            <a:spLocks xmlns:a="http://schemas.openxmlformats.org/drawingml/2006/main" noGrp="1"/>
          </p:cNvSpPr>
          <p:nvPr/>
        </p:nvSpPr>
        <p:spPr>
          <a:xfrm xmlns:a="http://schemas.openxmlformats.org/drawingml/2006/main">
            <a:off x="13811250" y="4895850"/>
            <a:ext cx="2095500" cy="552450"/>
          </a:xfrm>
          <a:prstGeom xmlns:a="http://schemas.openxmlformats.org/drawingml/2006/main" prst="roundRect">
            <a:avLst>
              <a:gd name="adj" fmla="val 13793"/>
            </a:avLst>
          </a:prstGeom>
          <a:solidFill xmlns:a="http://schemas.openxmlformats.org/drawingml/2006/main">
            <a:srgbClr val="E6EE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650" b="1">
                <a:solidFill>
                  <a:srgbClr val="123B63"/>
                </a:solidFill>
                <a:latin typeface="Arial"/>
                <a:ea typeface="Arial"/>
                <a:cs typeface="Arial"/>
              </a:defRPr>
            </a:pPr>
            <a:r>
              <a:rPr sz="1650" b="1">
                <a:solidFill>
                  <a:srgbClr val="123B63"/>
                </a:solidFill>
                <a:latin typeface="Arial"/>
                <a:ea typeface="Arial"/>
                <a:cs typeface="Arial"/>
              </a:rPr>
              <a:t>Evidence</a:t>
            </a:r>
          </a:p>
        </p:txBody>
      </p:sp>
      <p:sp>
        <p:nvSpPr>
          <p:cNvPr id="12" name="">
            <a:extLst xmlns:a="http://schemas.openxmlformats.org/drawingml/2006/main">
              <a:ext uri="{FF2B5EF4-FFF2-40B4-BE49-F238E27FC236}">
                <a16:creationId xmlns:a16="http://schemas.microsoft.com/office/drawing/2014/main" id="{4A98FA77-F697-46EC-A968-C47C41914586}"/>
              </a:ext>
            </a:extLst>
          </p:cNvPr>
          <p:cNvSpPr>
            <a:spLocks xmlns:a="http://schemas.openxmlformats.org/drawingml/2006/main" noGrp="1"/>
          </p:cNvSpPr>
          <p:nvPr/>
        </p:nvSpPr>
        <p:spPr>
          <a:xfrm xmlns:a="http://schemas.openxmlformats.org/drawingml/2006/main">
            <a:off x="11239500" y="5791200"/>
            <a:ext cx="4667250" cy="552450"/>
          </a:xfrm>
          <a:prstGeom xmlns:a="http://schemas.openxmlformats.org/drawingml/2006/main" prst="roundRect">
            <a:avLst>
              <a:gd name="adj" fmla="val 13793"/>
            </a:avLst>
          </a:prstGeom>
          <a:solidFill xmlns:a="http://schemas.openxmlformats.org/drawingml/2006/main">
            <a:srgbClr val="F4E8D0"/>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650" b="1">
                <a:solidFill>
                  <a:srgbClr val="D79A32"/>
                </a:solidFill>
                <a:latin typeface="Arial"/>
                <a:ea typeface="Arial"/>
                <a:cs typeface="Arial"/>
              </a:defRPr>
            </a:pPr>
            <a:r>
              <a:rPr sz="1650" b="1">
                <a:solidFill>
                  <a:srgbClr val="D79A32"/>
                </a:solidFill>
                <a:latin typeface="Arial"/>
                <a:ea typeface="Arial"/>
                <a:cs typeface="Arial"/>
              </a:rPr>
              <a:t>Human control</a:t>
            </a:r>
          </a:p>
        </p:txBody>
      </p:sp>
      <p:sp>
        <p:nvSpPr>
          <p:cNvPr id="13" name="">
            <a:extLst xmlns:a="http://schemas.openxmlformats.org/drawingml/2006/main">
              <a:ext uri="{FF2B5EF4-FFF2-40B4-BE49-F238E27FC236}">
                <a16:creationId xmlns:a16="http://schemas.microsoft.com/office/drawing/2014/main" id="{8A7347D6-E405-422D-8E66-F9AECEA1CE9A}"/>
              </a:ext>
            </a:extLst>
          </p:cNvPr>
          <p:cNvSpPr>
            <a:spLocks xmlns:a="http://schemas.openxmlformats.org/drawingml/2006/main" noGrp="1"/>
          </p:cNvSpPr>
          <p:nvPr/>
        </p:nvSpPr>
        <p:spPr>
          <a:xfrm xmlns:a="http://schemas.openxmlformats.org/drawingml/2006/main">
            <a:off x="10934700" y="7162800"/>
            <a:ext cx="5276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307"/>
          </a:bodyPr>
          <a:lstStyle xmlns:a="http://schemas.openxmlformats.org/drawingml/2006/main"/>
          <a:p xmlns:a="http://schemas.openxmlformats.org/drawingml/2006/main">
            <a:pPr algn="ctr">
              <a:lnSpc>
                <a:spcPct val="100000"/>
              </a:lnSpc>
              <a:buNone/>
              <a:defRPr sz="1575" b="0" i="0">
                <a:solidFill>
                  <a:srgbClr val="DCE8F0"/>
                </a:solidFill>
                <a:latin typeface="Arial"/>
                <a:ea typeface="Arial"/>
                <a:cs typeface="Arial"/>
              </a:defRPr>
            </a:pPr>
            <a:r>
              <a:rPr sz="1575" b="0" i="0">
                <a:solidFill>
                  <a:srgbClr val="DCE8F0"/>
                </a:solidFill>
                <a:latin typeface="Arial"/>
                <a:ea typeface="Arial"/>
                <a:cs typeface="Arial"/>
              </a:rPr>
              <a:t>Muhammad Usman Hamed · Abdul Ahad · Obaid Ishtiaq Satti</a:t>
            </a:r>
          </a:p>
        </p:txBody>
      </p:sp>
    </p:spTree>
    <p:extLst>
      <p:ext uri="{BB962C8B-B14F-4D97-AF65-F5344CB8AC3E}">
        <p14:creationId xmlns:p14="http://schemas.microsoft.com/office/powerpoint/2010/main" val="200442874"/>
      </p:ext>
    </p:extLst>
  </p:cSld>
  <p:transition spd="med" advClick="1">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2026-10-01T15:40:37.9150000Z</dcterms:created>
  <dcterms:modified xsi:type="dcterms:W3CDTF">2026-10-01T15:40:37.9150000Z</dcterms:modified>
</coreProperties>
</file>