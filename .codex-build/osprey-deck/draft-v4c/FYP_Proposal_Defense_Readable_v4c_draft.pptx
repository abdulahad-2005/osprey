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127643c5214f30" /><Relationship Type="http://schemas.openxmlformats.org/officeDocument/2006/relationships/extended-properties" Target="/docProps/app.xml" Id="R6094ae09a4ee4db4" /><Relationship Type="http://schemas.openxmlformats.org/officeDocument/2006/relationships/officeDocument" Target="/ppt/presentation.xml" Id="Rffdc5cddcb634184"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d766c1ebc76e431c"/>
  </p:sldMasterIdLst>
  <p:notesMasterIdLst>
    <p:notesMasterId xmlns:r="http://schemas.openxmlformats.org/officeDocument/2006/relationships" r:id="Ra55553700f414c35"/>
  </p:notesMasterIdLst>
  <p:sldIdLst>
    <p:sldId xmlns:r="http://schemas.openxmlformats.org/officeDocument/2006/relationships" id="256" r:id="Raceb012a4fb44d80"/>
    <p:sldId xmlns:r="http://schemas.openxmlformats.org/officeDocument/2006/relationships" id="257" r:id="Rb2317e7548aa4738"/>
    <p:sldId xmlns:r="http://schemas.openxmlformats.org/officeDocument/2006/relationships" id="258" r:id="R734cbd38116941e9"/>
    <p:sldId xmlns:r="http://schemas.openxmlformats.org/officeDocument/2006/relationships" id="259" r:id="R281b4fc41c4846dd"/>
    <p:sldId xmlns:r="http://schemas.openxmlformats.org/officeDocument/2006/relationships" id="260" r:id="R76f97557612c4df3"/>
    <p:sldId xmlns:r="http://schemas.openxmlformats.org/officeDocument/2006/relationships" id="261" r:id="Rd020b29d9c0d4d45"/>
    <p:sldId xmlns:r="http://schemas.openxmlformats.org/officeDocument/2006/relationships" id="262" r:id="Re3f7b2df78e64a3b"/>
    <p:sldId xmlns:r="http://schemas.openxmlformats.org/officeDocument/2006/relationships" id="263" r:id="R2a077486a4474ab1"/>
    <p:sldId xmlns:r="http://schemas.openxmlformats.org/officeDocument/2006/relationships" id="264" r:id="R303807be50304af1"/>
    <p:sldId xmlns:r="http://schemas.openxmlformats.org/officeDocument/2006/relationships" id="265" r:id="Rc753209d60814537"/>
    <p:sldId xmlns:r="http://schemas.openxmlformats.org/officeDocument/2006/relationships" id="266" r:id="R746aedef2cae433f"/>
    <p:sldId xmlns:r="http://schemas.openxmlformats.org/officeDocument/2006/relationships" id="267" r:id="R7e7eeb1f5dbb4b32"/>
    <p:sldId xmlns:r="http://schemas.openxmlformats.org/officeDocument/2006/relationships" id="268" r:id="R5715e9e46010470a"/>
  </p:sldIdLst>
  <p:sldSz cx="18288000" cy="10287000"/>
  <p:notesSz cx="6858000" cy="9144000"/>
  <p:embeddedFontLst>
    <p:embeddedFont>
      <p:font typeface="Anton"/>
      <p:regular xmlns:r="http://schemas.openxmlformats.org/officeDocument/2006/relationships" r:id="R7a264ac1b77a4bc2"/>
    </p:embeddedFont>
    <p:embeddedFont>
      <p:font typeface="Canva Sans"/>
      <p:regular xmlns:r="http://schemas.openxmlformats.org/officeDocument/2006/relationships" r:id="R834f5d134ebf439f"/>
    </p:embeddedFont>
    <p:embeddedFont>
      <p:font typeface="Canva Sans Bold"/>
      <p:regular xmlns:r="http://schemas.openxmlformats.org/officeDocument/2006/relationships" r:id="R0f9c49764d934b46"/>
    </p:embeddedFont>
    <p:embeddedFont>
      <p:font typeface="Glacial Indifference"/>
      <p:regular xmlns:r="http://schemas.openxmlformats.org/officeDocument/2006/relationships" r:id="Rc567f97857214dbd"/>
    </p:embeddedFont>
    <p:embeddedFont>
      <p:font typeface="Glacial Indifference Bold"/>
      <p:regular xmlns:r="http://schemas.openxmlformats.org/officeDocument/2006/relationships" r:id="R3f63201e752a493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c6dbfa8918b437c" /><Relationship Type="http://schemas.openxmlformats.org/officeDocument/2006/relationships/slideMaster" Target="/ppt/slideMasters/slideMaster1.xml" Id="Rd766c1ebc76e431c" /><Relationship Type="http://schemas.openxmlformats.org/officeDocument/2006/relationships/notesMaster" Target="/ppt/notesMasters/notesMaster1.xml" Id="Ra55553700f414c35" /><Relationship Type="http://schemas.openxmlformats.org/officeDocument/2006/relationships/presProps" Target="/ppt/presProps.xml" Id="Rb4fecb65ecc1409d" /><Relationship Type="http://schemas.openxmlformats.org/officeDocument/2006/relationships/viewProps" Target="/ppt/viewProps.xml" Id="R703c03f7de9442bd" /><Relationship Type="http://schemas.openxmlformats.org/officeDocument/2006/relationships/tableStyles" Target="/ppt/tableStyles.xml" Id="R0d77e9a2934d486e" /><Relationship Type="http://schemas.openxmlformats.org/officeDocument/2006/relationships/font" Target="/ppt/fonts/font.dat" Id="R7a264ac1b77a4bc2" /><Relationship Type="http://schemas.openxmlformats.org/officeDocument/2006/relationships/font" Target="/ppt/fonts/font2.dat" Id="R834f5d134ebf439f" /><Relationship Type="http://schemas.openxmlformats.org/officeDocument/2006/relationships/font" Target="/ppt/fonts/font3.dat" Id="R0f9c49764d934b46" /><Relationship Type="http://schemas.openxmlformats.org/officeDocument/2006/relationships/font" Target="/ppt/fonts/font4.dat" Id="Rc567f97857214dbd" /><Relationship Type="http://schemas.openxmlformats.org/officeDocument/2006/relationships/font" Target="/ppt/fonts/font5.dat" Id="R3f63201e752a493b" /><Relationship Type="http://schemas.openxmlformats.org/officeDocument/2006/relationships/slide" Target="/ppt/slides/slide1.xml" Id="Raceb012a4fb44d80" /><Relationship Type="http://schemas.openxmlformats.org/officeDocument/2006/relationships/slide" Target="/ppt/slides/slide2.xml" Id="Rb2317e7548aa4738" /><Relationship Type="http://schemas.openxmlformats.org/officeDocument/2006/relationships/slide" Target="/ppt/slides/slide3.xml" Id="R734cbd38116941e9" /><Relationship Type="http://schemas.openxmlformats.org/officeDocument/2006/relationships/slide" Target="/ppt/slides/slide4.xml" Id="R281b4fc41c4846dd" /><Relationship Type="http://schemas.openxmlformats.org/officeDocument/2006/relationships/slide" Target="/ppt/slides/slide5.xml" Id="R76f97557612c4df3" /><Relationship Type="http://schemas.openxmlformats.org/officeDocument/2006/relationships/slide" Target="/ppt/slides/slide6.xml" Id="Rd020b29d9c0d4d45" /><Relationship Type="http://schemas.openxmlformats.org/officeDocument/2006/relationships/slide" Target="/ppt/slides/slide7.xml" Id="Re3f7b2df78e64a3b" /><Relationship Type="http://schemas.openxmlformats.org/officeDocument/2006/relationships/slide" Target="/ppt/slides/slide8.xml" Id="R2a077486a4474ab1" /><Relationship Type="http://schemas.openxmlformats.org/officeDocument/2006/relationships/slide" Target="/ppt/slides/slide9.xml" Id="R303807be50304af1" /><Relationship Type="http://schemas.openxmlformats.org/officeDocument/2006/relationships/slide" Target="/ppt/slides/slide10.xml" Id="Rc753209d60814537" /><Relationship Type="http://schemas.openxmlformats.org/officeDocument/2006/relationships/slide" Target="/ppt/slides/slide11.xml" Id="R746aedef2cae433f" /><Relationship Type="http://schemas.openxmlformats.org/officeDocument/2006/relationships/slide" Target="/ppt/slides/slide12.xml" Id="R7e7eeb1f5dbb4b32" /><Relationship Type="http://schemas.openxmlformats.org/officeDocument/2006/relationships/slide" Target="/ppt/slides/slide13.xml" Id="R5715e9e4601047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efdc320a6d4a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ccb0f241364eb6" /><Relationship Type="http://schemas.openxmlformats.org/officeDocument/2006/relationships/notesMaster" Target="/ppt/notesMasters/notesMaster1.xml" Id="R5ac552f8428947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a9622f6e214e74" /><Relationship Type="http://schemas.openxmlformats.org/officeDocument/2006/relationships/notesMaster" Target="/ppt/notesMasters/notesMaster1.xml" Id="R1aff7add129246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5002a1d9464acc" /><Relationship Type="http://schemas.openxmlformats.org/officeDocument/2006/relationships/notesMaster" Target="/ppt/notesMasters/notesMaster1.xml" Id="R35059ff25ce842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104257a41c4768" /><Relationship Type="http://schemas.openxmlformats.org/officeDocument/2006/relationships/notesMaster" Target="/ppt/notesMasters/notesMaster1.xml" Id="Rc9467af2bef34f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327a620f144852" /><Relationship Type="http://schemas.openxmlformats.org/officeDocument/2006/relationships/notesMaster" Target="/ppt/notesMasters/notesMaster1.xml" Id="Ra1bfef1873db48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85b4969511465e" /><Relationship Type="http://schemas.openxmlformats.org/officeDocument/2006/relationships/notesMaster" Target="/ppt/notesMasters/notesMaster1.xml" Id="R3fd1efc71c834d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01ab1c15504434" /><Relationship Type="http://schemas.openxmlformats.org/officeDocument/2006/relationships/notesMaster" Target="/ppt/notesMasters/notesMaster1.xml" Id="Rcb69f018da6441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93c2c6e05149c4" /><Relationship Type="http://schemas.openxmlformats.org/officeDocument/2006/relationships/notesMaster" Target="/ppt/notesMasters/notesMaster1.xml" Id="Ra78d4dcdf45f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490c4713594121" /><Relationship Type="http://schemas.openxmlformats.org/officeDocument/2006/relationships/notesMaster" Target="/ppt/notesMasters/notesMaster1.xml" Id="R55dcd89a17c949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16716414724fe2" /><Relationship Type="http://schemas.openxmlformats.org/officeDocument/2006/relationships/notesMaster" Target="/ppt/notesMasters/notesMaster1.xml" Id="R6e647c9d4d0d43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55fbe4eacf4e38" /><Relationship Type="http://schemas.openxmlformats.org/officeDocument/2006/relationships/notesMaster" Target="/ppt/notesMasters/notesMaster1.xml" Id="R49f2079ebd044c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8b299b2f28477b" /><Relationship Type="http://schemas.openxmlformats.org/officeDocument/2006/relationships/notesMaster" Target="/ppt/notesMasters/notesMaster1.xml" Id="R686dffdaad5b45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485b9dfbb34794" /><Relationship Type="http://schemas.openxmlformats.org/officeDocument/2006/relationships/notesMaster" Target="/ppt/notesMasters/notesMaster1.xml" Id="R07e2da4603f742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a proposal. The project name is still under consideration, so the deck uses a descriptive working title rather than treating Osprey as final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Equifax breach was not caused by a lack of security tools. The organization had a patching process, but a complex legacy environment and failed verification left an internet-facing portal exposed. Official sources: https://oversight.house.gov/report/committee-releases-report-revealing-new-information-on-equifax-data-breach/ and https://www.ftc.gov/news-events/news/press-releases/2019/07/equifax-pay-575-million-part-settlement-ftc-cfpb-states-related-2017-data-breach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at the top shows the steps a tester normally performs. The table compares conventional tools, AI pentesting agents and AI security frameworks. Conventional tools are mature but fragmented. AI systems add reasoning, yet many depend on external models and do not provide broad, continuous reconnaissance or persistent cross-stage correlation.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phrase operational security gap. The central argument is not that the industry lacks scanners; it lacks a dependable harness that can coordinate them over a changing, wide attack surface while keeping evidence and scope intact. Emphasize that LLMs are valuable but should not be mandatory for routine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three formal objectives at a high level. The first objective creates one unified assessment harness. The second keeps the system functional without an external LLM. The third covers scope, evidence and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architecture. The central idea is a world model: every tool observation updates shared memory, specialized agents act on that state, and both deterministic and reasoning-driven execution use the same tools and evidence. Use the three buttons for optional explanations, then return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pentester continuously observes, stores evidence, forms a hypothesis, tests it, validates the result and updates memory. That updated state changes the next decision. This loop is the world model that connects the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phase agents follow the standard pentesting methodology. Reconnaissance maps the surface, vulnerability assessment tests it, and validation confirms evidence before reporting. Each agent has appropriate tools and skills, while shared memory prevents the phases from becoming disconnected.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execution paths use the same skills and evidence. The deterministic pipeline performs repeatable, battle-tested steps without an LLM. The LLM oversees the wider context and adds judgment where uncertainty or adaptive reasoning matters. Skill files provide the extensible knowledge 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planned schedule. The final evaluation will compare coverage, reliability across both modes, safety controls and time efficiency against manual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primary areas identify ownership, not silos. Integration, testing, validation, debugging, evaluation and documentation remain shared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users are professional security teams. The SDG mapping is supportive context: resilient infrastructure, stronger institutions and interoperable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whether the system already exists, clarify that this defense presents the proposed architecture and planned implementation; the project name is still a working 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0855d0906d45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ca5fa6f52d48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cafeb9b19e49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5e0228efe444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e6b0e38c2342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cc5f01a757476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351658552cd4f5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86178144fcb40c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59dd50e71cd4d5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f27df9a72994e5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feb0411ff8540c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4F4A35-1644-4966-87CB-B8C11FC5C69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13A1920B-4D92-4CA8-86FB-2D8E74166BC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5C17B32A-5EF1-4AAE-A6D3-5CFAFF415E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1D455BFF-C836-4582-8088-30E96C3364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5553E80-F14F-42AF-BB39-553FA2BF0B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D16512-2217-4495-AB71-BA4645A118F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5BAE598-EC41-4957-9CF6-98B37ADC22B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CBF9094-00A7-456B-955C-D66838B37C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2AA0A5C3-C662-4472-BBEA-53CDFE4BF2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AA8593D-D3A2-43F3-8F3E-DB1F9E914A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81C1A1-3A8C-4499-8C51-ADD898F5AD4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5CEADAD-B9D7-4A1B-BF54-AE6AD48C86B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F39D095-5960-46BE-B221-CD567EE327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2019CE9C-4C0B-4B9C-8B32-30E553B8E7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4C4D84B-2356-4D16-B41E-7D38E0DC1B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BE0B1F-88E9-4F65-988E-3A4E5EED81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7883E3B-91D3-4990-92E5-E5C1049C382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78143D7E-727F-4212-BB44-5528E30D2B3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333FD4A-D112-46BB-A772-88B24BDA14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55C97C79-DE97-4083-A7D3-4329C1E017F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5D2C143-2141-4EB8-A140-80A7A0DCA9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EE90ED-5327-4D41-AD88-DB15E44907A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A08A3C-E860-497E-A0F7-B9F6A5B6333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150B200-996F-405F-BA2F-9CDD186500B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762818B7-00DD-4B50-B6FA-835CFEE3C4E0}"/>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F15C8F6-3975-4E0B-92FD-6252BC43C56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B7364F7E-D465-4041-A62A-F38D388E39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8" name="Footer Placeholder 7">
            <a:extLst xmlns:a="http://schemas.openxmlformats.org/drawingml/2006/main">
              <a:ext uri="{FF2B5EF4-FFF2-40B4-BE49-F238E27FC236}">
                <a16:creationId xmlns:a16="http://schemas.microsoft.com/office/drawing/2014/main" id="{714A3857-C84C-4847-A3F9-F4513D8179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8757B803-2FF6-4C01-A53F-CD59524B58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86706D2-3668-46AF-BFA2-8F05128F85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6EC0320-105F-4BF3-82D6-3F88926C2E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4" name="Footer Placeholder 3">
            <a:extLst xmlns:a="http://schemas.openxmlformats.org/drawingml/2006/main">
              <a:ext uri="{FF2B5EF4-FFF2-40B4-BE49-F238E27FC236}">
                <a16:creationId xmlns:a16="http://schemas.microsoft.com/office/drawing/2014/main" id="{57AF5544-6F07-4D39-B01D-64EB639223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91234BB-C538-4663-9396-5605622510B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D45606D-499B-4BEE-BC3F-A4356DE28D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3" name="Footer Placeholder 2">
            <a:extLst xmlns:a="http://schemas.openxmlformats.org/drawingml/2006/main">
              <a:ext uri="{FF2B5EF4-FFF2-40B4-BE49-F238E27FC236}">
                <a16:creationId xmlns:a16="http://schemas.microsoft.com/office/drawing/2014/main" id="{7EB98CE8-928E-438F-B091-FEA9CE4830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60C5A59-31EB-48E3-B46A-6C5DB9D3D4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2F7E48-17EC-4CB7-A3FD-79F96A150D7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897FBBD-84D6-4833-A89A-A8E6A13D2113}"/>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6A6A9D8D-6C05-4A17-B197-D63B8FF8B78D}"/>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5416954-A422-4ECF-9BC2-C66693B38A3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20AEEED0-C3E9-45ED-B9DB-186149B917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662E326-BF3A-4786-B7C2-F40A2100D9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D4065A2-9D7E-4375-97C3-D49368F9CE6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C47BAB4C-19AA-46F4-B595-9A4CE52F2A20}"/>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801CCC9-A1D5-434B-BB0F-81CE9AC86F6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5F1736F-DAA1-4EB7-BABB-BC3E974D58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0A6AD6E2-00BC-44D6-848D-7B7655C334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49AEF88-CAAD-4DAA-B26B-A79D1B7277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FDC004-8E5D-4E85-BF97-0D0A1B0A259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DC7ED93-3943-49BB-8C3F-A3FE3838662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64466DB-3297-437B-908C-B5082BA5049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EB42DDA0-892E-4C9D-951F-87BA1388A1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ECCCD48-51D5-4C12-9AF0-0B1F9DD6B1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6E113CC-F872-45F9-80BA-63B090B3F948}"/>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16A854D-A957-419E-AF8B-04F3BA19EDA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99B5981-1366-48A5-8AC1-C92AD7EC71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A0BC5915-BD58-4C04-82FB-C5CAFC5CB2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B1EAC3E-82FB-4C00-9203-38D08A3AFE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3a8b9b0efd4c81" /><Relationship Type="http://schemas.openxmlformats.org/officeDocument/2006/relationships/slideLayout" Target="/ppt/slideLayouts/slideLayout1.xml" Id="R94d550a114ae435e" /><Relationship Type="http://schemas.openxmlformats.org/officeDocument/2006/relationships/slideLayout" Target="/ppt/slideLayouts/slideLayout2.xml" Id="R9edd64c7941f4d6a" /><Relationship Type="http://schemas.openxmlformats.org/officeDocument/2006/relationships/slideLayout" Target="/ppt/slideLayouts/slideLayout3.xml" Id="Rc52472772bbc4c8d" /><Relationship Type="http://schemas.openxmlformats.org/officeDocument/2006/relationships/slideLayout" Target="/ppt/slideLayouts/slideLayout4.xml" Id="Rf36c257303d649e3" /><Relationship Type="http://schemas.openxmlformats.org/officeDocument/2006/relationships/slideLayout" Target="/ppt/slideLayouts/slideLayout5.xml" Id="R50e9d288640d4bf9" /><Relationship Type="http://schemas.openxmlformats.org/officeDocument/2006/relationships/slideLayout" Target="/ppt/slideLayouts/slideLayout6.xml" Id="R9e14bb1ea1df4a23" /><Relationship Type="http://schemas.openxmlformats.org/officeDocument/2006/relationships/slideLayout" Target="/ppt/slideLayouts/slideLayout7.xml" Id="Reb2552adc58c4328" /><Relationship Type="http://schemas.openxmlformats.org/officeDocument/2006/relationships/slideLayout" Target="/ppt/slideLayouts/slideLayout8.xml" Id="R24102b097cdf4fda" /><Relationship Type="http://schemas.openxmlformats.org/officeDocument/2006/relationships/slideLayout" Target="/ppt/slideLayouts/slideLayout9.xml" Id="R3968fa292c144136" /><Relationship Type="http://schemas.openxmlformats.org/officeDocument/2006/relationships/slideLayout" Target="/ppt/slideLayouts/slideLayout10.xml" Id="Rc0c0bbfcc2d64fd5" /><Relationship Type="http://schemas.openxmlformats.org/officeDocument/2006/relationships/slideLayout" Target="/ppt/slideLayouts/slideLayout11.xml" Id="R003d9ad143a345e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A1C0DFC-780C-4EC0-9DB8-A26424D23FF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17460EA-2A28-4E0F-96C2-0A515386F9D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A78003F-DE3E-4C21-B3C3-DFB6BB654672}"/>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4F69B0AA-62D6-414E-9BAB-1BF4AC95E07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2A935E6-026D-462E-93A4-4686478779C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d550a114ae435e"/>
    <p:sldLayoutId xmlns:r="http://schemas.openxmlformats.org/officeDocument/2006/relationships" id="2147483650" r:id="R9edd64c7941f4d6a"/>
    <p:sldLayoutId xmlns:r="http://schemas.openxmlformats.org/officeDocument/2006/relationships" id="2147483651" r:id="Rc52472772bbc4c8d"/>
    <p:sldLayoutId xmlns:r="http://schemas.openxmlformats.org/officeDocument/2006/relationships" id="2147483652" r:id="Rf36c257303d649e3"/>
    <p:sldLayoutId xmlns:r="http://schemas.openxmlformats.org/officeDocument/2006/relationships" id="2147483653" r:id="R50e9d288640d4bf9"/>
    <p:sldLayoutId xmlns:r="http://schemas.openxmlformats.org/officeDocument/2006/relationships" id="2147483654" r:id="R9e14bb1ea1df4a23"/>
    <p:sldLayoutId xmlns:r="http://schemas.openxmlformats.org/officeDocument/2006/relationships" id="2147483655" r:id="Reb2552adc58c4328"/>
    <p:sldLayoutId xmlns:r="http://schemas.openxmlformats.org/officeDocument/2006/relationships" id="2147483656" r:id="R24102b097cdf4fda"/>
    <p:sldLayoutId xmlns:r="http://schemas.openxmlformats.org/officeDocument/2006/relationships" id="2147483657" r:id="R3968fa292c144136"/>
    <p:sldLayoutId xmlns:r="http://schemas.openxmlformats.org/officeDocument/2006/relationships" id="2147483658" r:id="Rc0c0bbfcc2d64fd5"/>
    <p:sldLayoutId xmlns:r="http://schemas.openxmlformats.org/officeDocument/2006/relationships" id="2147483659" r:id="R003d9ad143a345e5"/>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a38c38dd323475d" /><Relationship Type="http://schemas.openxmlformats.org/officeDocument/2006/relationships/notesSlide" Target="/ppt/notesSlides/notesSlide1.xml" Id="R2741bd8b6c0d48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ba08e85917484995" /><Relationship Type="http://schemas.openxmlformats.org/officeDocument/2006/relationships/notesSlide" Target="/ppt/notesSlides/notesSlide2.xml" Id="Ra6e381c668ce41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8b09c1e08504d43" /><Relationship Type="http://schemas.openxmlformats.org/officeDocument/2006/relationships/notesSlide" Target="/ppt/notesSlides/notesSlide3.xml" Id="R3109d391ced541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7392ad74d0a4f61" /><Relationship Type="http://schemas.openxmlformats.org/officeDocument/2006/relationships/notesSlide" Target="/ppt/notesSlides/notesSlide4.xml" Id="R77d1cdb6f5664f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b7e1da6eb7c743ec" /><Relationship Type="http://schemas.openxmlformats.org/officeDocument/2006/relationships/notesSlide" Target="/ppt/notesSlides/notesSlide5.xml" Id="Rd91c168b3f1546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860a0efcae354da9" /><Relationship Type="http://schemas.openxmlformats.org/officeDocument/2006/relationships/image" Target="/ppt/media/image.png" Id="R1a4e2d12f5cb4b73" /><Relationship Type="http://schemas.openxmlformats.org/officeDocument/2006/relationships/slide" Target="../slides/slide7.xml" Id="Rbd3cd9d767d5421f" /><Relationship Type="http://schemas.openxmlformats.org/officeDocument/2006/relationships/slide" Target="../slides/slide8.xml" Id="R9dbadaba8f4a436d" /><Relationship Type="http://schemas.openxmlformats.org/officeDocument/2006/relationships/slide" Target="../slides/slide9.xml" Id="R1e1dbf472d0c4a62" /><Relationship Type="http://schemas.openxmlformats.org/officeDocument/2006/relationships/notesSlide" Target="/ppt/notesSlides/notesSlide6.xml" Id="R84e9223b8acd40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26c2ef8438648e6" /><Relationship Type="http://schemas.openxmlformats.org/officeDocument/2006/relationships/slide" Target="../slides/slide6.xml" Id="R72c4991535394540" /><Relationship Type="http://schemas.openxmlformats.org/officeDocument/2006/relationships/notesSlide" Target="/ppt/notesSlides/notesSlide7.xml" Id="R654e62e3de4b41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07a51da069d4979" /><Relationship Type="http://schemas.openxmlformats.org/officeDocument/2006/relationships/image" Target="/ppt/media/image2.png" Id="R0ad9f0464a71422c" /><Relationship Type="http://schemas.openxmlformats.org/officeDocument/2006/relationships/slide" Target="../slides/slide6.xml" Id="R19027d64edfc4fce" /><Relationship Type="http://schemas.openxmlformats.org/officeDocument/2006/relationships/notesSlide" Target="/ppt/notesSlides/notesSlide8.xml" Id="R414aa631312f45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b24d401c1ed4c84" /><Relationship Type="http://schemas.openxmlformats.org/officeDocument/2006/relationships/image" Target="/ppt/media/image3.png" Id="Re42a6c1f59f14bbb" /><Relationship Type="http://schemas.openxmlformats.org/officeDocument/2006/relationships/slide" Target="../slides/slide6.xml" Id="R83984b6ffce74ba5" /><Relationship Type="http://schemas.openxmlformats.org/officeDocument/2006/relationships/notesSlide" Target="/ppt/notesSlides/notesSlide9.xml" Id="R79dd0419d72a4f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fb826db47f54f7f" /><Relationship Type="http://schemas.openxmlformats.org/officeDocument/2006/relationships/notesSlide" Target="/ppt/notesSlides/notesSlide10.xml" Id="R5b4e568abffa48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3fb745a1e6ea425d" /><Relationship Type="http://schemas.openxmlformats.org/officeDocument/2006/relationships/notesSlide" Target="/ppt/notesSlides/notesSlide11.xml" Id="R6ae60528baf9450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2c919f65bc4a4b33" /><Relationship Type="http://schemas.openxmlformats.org/officeDocument/2006/relationships/notesSlide" Target="/ppt/notesSlides/notesSlide12.xml" Id="R78f96bf090ed4c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49a392153eb457c" /><Relationship Type="http://schemas.openxmlformats.org/officeDocument/2006/relationships/notesSlide" Target="/ppt/notesSlides/notesSlide13.xml" Id="Reed772a43a97465f"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56E9684-A1D6-4D60-A63C-5F11DA613E64}"/>
              </a:ext>
            </a:extLst>
          </p:cNvPr>
          <p:cNvSpPr>
            <a:spLocks xmlns:a="http://schemas.openxmlformats.org/drawingml/2006/main" noGrp="1"/>
          </p:cNvSpPr>
          <p:nvPr/>
        </p:nvSpPr>
        <p:spPr>
          <a:xfrm xmlns:a="http://schemas.openxmlformats.org/drawingml/2006/main">
            <a:off x="876300" y="704850"/>
            <a:ext cx="40957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94322"/>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FYP PROPOSAL DEFENSE · WORKING TITLE</a:t>
            </a:r>
          </a:p>
        </p:txBody>
      </p:sp>
      <p:sp>
        <p:nvSpPr>
          <p:cNvPr id="2" name="">
            <a:extLst xmlns:a="http://schemas.openxmlformats.org/drawingml/2006/main">
              <a:ext uri="{FF2B5EF4-FFF2-40B4-BE49-F238E27FC236}">
                <a16:creationId xmlns:a16="http://schemas.microsoft.com/office/drawing/2014/main" id="{864854C1-63FE-47E9-8FFD-ACF733FEA1F4}"/>
              </a:ext>
            </a:extLst>
          </p:cNvPr>
          <p:cNvSpPr>
            <a:spLocks xmlns:a="http://schemas.openxmlformats.org/drawingml/2006/main" noGrp="1"/>
          </p:cNvSpPr>
          <p:nvPr/>
        </p:nvSpPr>
        <p:spPr>
          <a:xfrm xmlns:a="http://schemas.openxmlformats.org/drawingml/2006/main">
            <a:off x="876300" y="1504950"/>
            <a:ext cx="876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Autonomous Web Security</a:t>
            </a:r>
          </a:p>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Assessment Framework</a:t>
            </a:r>
          </a:p>
        </p:txBody>
      </p:sp>
      <p:sp>
        <p:nvSpPr>
          <p:cNvPr id="3" name="">
            <a:extLst xmlns:a="http://schemas.openxmlformats.org/drawingml/2006/main">
              <a:ext uri="{FF2B5EF4-FFF2-40B4-BE49-F238E27FC236}">
                <a16:creationId xmlns:a16="http://schemas.microsoft.com/office/drawing/2014/main" id="{1083C4DC-3329-4423-B45C-6D14D00BC0C0}"/>
              </a:ext>
            </a:extLst>
          </p:cNvPr>
          <p:cNvSpPr>
            <a:spLocks xmlns:a="http://schemas.openxmlformats.org/drawingml/2006/main" noGrp="1"/>
          </p:cNvSpPr>
          <p:nvPr/>
        </p:nvSpPr>
        <p:spPr>
          <a:xfrm xmlns:a="http://schemas.openxmlformats.org/drawingml/2006/main">
            <a:off x="914400" y="3676650"/>
            <a:ext cx="8286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0" i="0">
                <a:solidFill>
                  <a:srgbClr val="354F63"/>
                </a:solidFill>
                <a:latin typeface="Arial"/>
                <a:ea typeface="Arial"/>
                <a:cs typeface="Arial"/>
              </a:defRPr>
            </a:pPr>
            <a:r>
              <a:rPr sz="2175" b="0" i="0">
                <a:solidFill>
                  <a:srgbClr val="354F63"/>
                </a:solidFill>
                <a:latin typeface="Arial"/>
                <a:ea typeface="Arial"/>
                <a:cs typeface="Arial"/>
              </a:rPr>
              <a:t>A proposed dual-mode pentesting harness for broad, evidence-driven testing</a:t>
            </a:r>
          </a:p>
        </p:txBody>
      </p:sp>
      <p:sp>
        <p:nvSpPr>
          <p:cNvPr id="4" name="">
            <a:extLst xmlns:a="http://schemas.openxmlformats.org/drawingml/2006/main">
              <a:ext uri="{FF2B5EF4-FFF2-40B4-BE49-F238E27FC236}">
                <a16:creationId xmlns:a16="http://schemas.microsoft.com/office/drawing/2014/main" id="{CF9B4E58-1F67-4C44-BBD9-7DB6DC95EE26}"/>
              </a:ext>
            </a:extLst>
          </p:cNvPr>
          <p:cNvSpPr>
            <a:spLocks xmlns:a="http://schemas.openxmlformats.org/drawingml/2006/main" noGrp="1"/>
          </p:cNvSpPr>
          <p:nvPr/>
        </p:nvSpPr>
        <p:spPr>
          <a:xfrm xmlns:a="http://schemas.openxmlformats.org/drawingml/2006/main">
            <a:off x="914400" y="47625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1123D1CC-9362-44A2-9AA9-9ABA965BEA43}"/>
              </a:ext>
            </a:extLst>
          </p:cNvPr>
          <p:cNvSpPr>
            <a:spLocks xmlns:a="http://schemas.openxmlformats.org/drawingml/2006/main" noGrp="1"/>
          </p:cNvSpPr>
          <p:nvPr/>
        </p:nvSpPr>
        <p:spPr>
          <a:xfrm xmlns:a="http://schemas.openxmlformats.org/drawingml/2006/main">
            <a:off x="914400" y="5086350"/>
            <a:ext cx="866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Muhammad Usman Hamed  ·  Abdul Ahad  ·  Obaid Ishtiaq Satti</a:t>
            </a:r>
          </a:p>
        </p:txBody>
      </p:sp>
      <p:sp>
        <p:nvSpPr>
          <p:cNvPr id="6" name="">
            <a:extLst xmlns:a="http://schemas.openxmlformats.org/drawingml/2006/main">
              <a:ext uri="{FF2B5EF4-FFF2-40B4-BE49-F238E27FC236}">
                <a16:creationId xmlns:a16="http://schemas.microsoft.com/office/drawing/2014/main" id="{032C8F20-5FB4-4951-B6C6-9DB6A4144A28}"/>
              </a:ext>
            </a:extLst>
          </p:cNvPr>
          <p:cNvSpPr>
            <a:spLocks xmlns:a="http://schemas.openxmlformats.org/drawingml/2006/main" noGrp="1"/>
          </p:cNvSpPr>
          <p:nvPr/>
        </p:nvSpPr>
        <p:spPr>
          <a:xfrm xmlns:a="http://schemas.openxmlformats.org/drawingml/2006/main">
            <a:off x="914400" y="5638800"/>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354F63"/>
                </a:solidFill>
                <a:latin typeface="Arial"/>
                <a:ea typeface="Arial"/>
                <a:cs typeface="Arial"/>
              </a:defRPr>
            </a:pPr>
            <a:r>
              <a:rPr sz="1650" b="0" i="0">
                <a:solidFill>
                  <a:srgbClr val="354F63"/>
                </a:solidFill>
                <a:latin typeface="Arial"/>
                <a:ea typeface="Arial"/>
                <a:cs typeface="Arial"/>
              </a:rPr>
              <a:t>Advisor: Dr. Madiha Khalid    Co-Advisor: Dr. Mehdi Hussain</a:t>
            </a:r>
          </a:p>
        </p:txBody>
      </p:sp>
      <p:sp>
        <p:nvSpPr>
          <p:cNvPr id="7" name="">
            <a:extLst xmlns:a="http://schemas.openxmlformats.org/drawingml/2006/main">
              <a:ext uri="{FF2B5EF4-FFF2-40B4-BE49-F238E27FC236}">
                <a16:creationId xmlns:a16="http://schemas.microsoft.com/office/drawing/2014/main" id="{B8AF5012-AFF2-4844-9519-D7BFACEA1C86}"/>
              </a:ext>
            </a:extLst>
          </p:cNvPr>
          <p:cNvSpPr>
            <a:spLocks xmlns:a="http://schemas.openxmlformats.org/drawingml/2006/main" noGrp="1"/>
          </p:cNvSpPr>
          <p:nvPr/>
        </p:nvSpPr>
        <p:spPr>
          <a:xfrm xmlns:a="http://schemas.openxmlformats.org/drawingml/2006/main">
            <a:off x="914400" y="6172200"/>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354F63"/>
                </a:solidFill>
                <a:latin typeface="Arial"/>
                <a:ea typeface="Arial"/>
                <a:cs typeface="Arial"/>
              </a:defRPr>
            </a:pPr>
            <a:r>
              <a:rPr sz="1575" b="0" i="0">
                <a:solidFill>
                  <a:srgbClr val="354F63"/>
                </a:solidFill>
                <a:latin typeface="Arial"/>
                <a:ea typeface="Arial"/>
                <a:cs typeface="Arial"/>
              </a:rPr>
              <a:t>School of Electrical Engineering and Computer Science · NUST</a:t>
            </a:r>
          </a:p>
        </p:txBody>
      </p:sp>
      <p:sp>
        <p:nvSpPr>
          <p:cNvPr id="8" name="">
            <a:extLst xmlns:a="http://schemas.openxmlformats.org/drawingml/2006/main">
              <a:ext uri="{FF2B5EF4-FFF2-40B4-BE49-F238E27FC236}">
                <a16:creationId xmlns:a16="http://schemas.microsoft.com/office/drawing/2014/main" id="{1C9FD4EF-B8BF-4A07-8024-4FEA2BDC2AE6}"/>
              </a:ext>
            </a:extLst>
          </p:cNvPr>
          <p:cNvSpPr>
            <a:spLocks xmlns:a="http://schemas.openxmlformats.org/drawingml/2006/main" noGrp="1"/>
          </p:cNvSpPr>
          <p:nvPr/>
        </p:nvSpPr>
        <p:spPr>
          <a:xfrm xmlns:a="http://schemas.openxmlformats.org/drawingml/2006/main">
            <a:off x="10287000" y="1143000"/>
            <a:ext cx="7048500" cy="7334250"/>
          </a:xfrm>
          <a:prstGeom xmlns:a="http://schemas.openxmlformats.org/drawingml/2006/main" prst="roundRect">
            <a:avLst>
              <a:gd name="adj" fmla="val 1081"/>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1CEE6C6E-6E1C-4CFE-8D4D-4A54A74DE868}"/>
              </a:ext>
            </a:extLst>
          </p:cNvPr>
          <p:cNvSpPr>
            <a:spLocks xmlns:a="http://schemas.openxmlformats.org/drawingml/2006/main" noGrp="1"/>
          </p:cNvSpPr>
          <p:nvPr/>
        </p:nvSpPr>
        <p:spPr>
          <a:xfrm xmlns:a="http://schemas.openxmlformats.org/drawingml/2006/main">
            <a:off x="12287250" y="1562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AUTHORIZED TARGET</a:t>
            </a:r>
          </a:p>
        </p:txBody>
      </p:sp>
      <p:sp>
        <p:nvSpPr>
          <p:cNvPr id="10" name="">
            <a:extLst xmlns:a="http://schemas.openxmlformats.org/drawingml/2006/main">
              <a:ext uri="{FF2B5EF4-FFF2-40B4-BE49-F238E27FC236}">
                <a16:creationId xmlns:a16="http://schemas.microsoft.com/office/drawing/2014/main" id="{F4D79C72-0C11-4A0A-8418-AC99A3990D08}"/>
              </a:ext>
            </a:extLst>
          </p:cNvPr>
          <p:cNvSpPr>
            <a:spLocks xmlns:a="http://schemas.openxmlformats.org/drawingml/2006/main" noGrp="1"/>
          </p:cNvSpPr>
          <p:nvPr/>
        </p:nvSpPr>
        <p:spPr>
          <a:xfrm xmlns:a="http://schemas.openxmlformats.org/drawingml/2006/main">
            <a:off x="12192000" y="2038350"/>
            <a:ext cx="323850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800" b="1">
                <a:solidFill>
                  <a:srgbClr val="123B63"/>
                </a:solidFill>
                <a:latin typeface="Arial"/>
                <a:ea typeface="Arial"/>
                <a:cs typeface="Arial"/>
              </a:defRPr>
            </a:pPr>
            <a:r>
              <a:rPr sz="1800" b="1">
                <a:solidFill>
                  <a:srgbClr val="123B63"/>
                </a:solidFill>
                <a:latin typeface="Arial"/>
                <a:ea typeface="Arial"/>
                <a:cs typeface="Arial"/>
              </a:rPr>
              <a:t>domain / IP / scope</a:t>
            </a:r>
          </a:p>
        </p:txBody>
      </p:sp>
      <p:sp>
        <p:nvSpPr>
          <p:cNvPr id="11" name="">
            <a:extLst xmlns:a="http://schemas.openxmlformats.org/drawingml/2006/main">
              <a:ext uri="{FF2B5EF4-FFF2-40B4-BE49-F238E27FC236}">
                <a16:creationId xmlns:a16="http://schemas.microsoft.com/office/drawing/2014/main" id="{A7108FDA-BE65-4C00-A9A4-81C7ED99E5EA}"/>
              </a:ext>
            </a:extLst>
          </p:cNvPr>
          <p:cNvSpPr>
            <a:spLocks xmlns:a="http://schemas.openxmlformats.org/drawingml/2006/main" noGrp="1"/>
          </p:cNvSpPr>
          <p:nvPr/>
        </p:nvSpPr>
        <p:spPr>
          <a:xfrm xmlns:a="http://schemas.openxmlformats.org/drawingml/2006/main">
            <a:off x="13620750" y="280035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22BFDCC-DBA8-4F52-837A-2D0FF5AFDBBA}"/>
              </a:ext>
            </a:extLst>
          </p:cNvPr>
          <p:cNvSpPr>
            <a:spLocks xmlns:a="http://schemas.openxmlformats.org/drawingml/2006/main" noGrp="1"/>
          </p:cNvSpPr>
          <p:nvPr/>
        </p:nvSpPr>
        <p:spPr>
          <a:xfrm xmlns:a="http://schemas.openxmlformats.org/drawingml/2006/main">
            <a:off x="11525250" y="3467100"/>
            <a:ext cx="45720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1753D3A-87BA-4277-8552-A3086383E0E0}"/>
              </a:ext>
            </a:extLst>
          </p:cNvPr>
          <p:cNvSpPr>
            <a:spLocks xmlns:a="http://schemas.openxmlformats.org/drawingml/2006/main" noGrp="1"/>
          </p:cNvSpPr>
          <p:nvPr/>
        </p:nvSpPr>
        <p:spPr>
          <a:xfrm xmlns:a="http://schemas.openxmlformats.org/drawingml/2006/main">
            <a:off x="11906250" y="3790950"/>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i="0">
                <a:solidFill>
                  <a:srgbClr val="FFFFFF"/>
                </a:solidFill>
                <a:latin typeface="Arial"/>
                <a:ea typeface="Arial"/>
                <a:cs typeface="Arial"/>
              </a:defRPr>
            </a:pPr>
            <a:r>
              <a:rPr sz="2400" b="1" i="0">
                <a:solidFill>
                  <a:srgbClr val="FFFFFF"/>
                </a:solidFill>
                <a:latin typeface="Arial"/>
                <a:ea typeface="Arial"/>
                <a:cs typeface="Arial"/>
              </a:rPr>
              <a:t>UNIFIED HARNESS</a:t>
            </a:r>
          </a:p>
        </p:txBody>
      </p:sp>
      <p:sp>
        <p:nvSpPr>
          <p:cNvPr id="14" name="">
            <a:extLst xmlns:a="http://schemas.openxmlformats.org/drawingml/2006/main">
              <a:ext uri="{FF2B5EF4-FFF2-40B4-BE49-F238E27FC236}">
                <a16:creationId xmlns:a16="http://schemas.microsoft.com/office/drawing/2014/main" id="{DD9BB1CC-7CAF-4B48-BC41-CDA9B5CC1C84}"/>
              </a:ext>
            </a:extLst>
          </p:cNvPr>
          <p:cNvSpPr>
            <a:spLocks xmlns:a="http://schemas.openxmlformats.org/drawingml/2006/main" noGrp="1"/>
          </p:cNvSpPr>
          <p:nvPr/>
        </p:nvSpPr>
        <p:spPr>
          <a:xfrm xmlns:a="http://schemas.openxmlformats.org/drawingml/2006/main">
            <a:off x="12001500" y="43624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0" i="0">
                <a:solidFill>
                  <a:srgbClr val="DDEAF2"/>
                </a:solidFill>
                <a:latin typeface="Arial"/>
                <a:ea typeface="Arial"/>
                <a:cs typeface="Arial"/>
              </a:defRPr>
            </a:pPr>
            <a:r>
              <a:rPr sz="1800" b="0" i="0">
                <a:solidFill>
                  <a:srgbClr val="DDEAF2"/>
                </a:solidFill>
                <a:latin typeface="Arial"/>
                <a:ea typeface="Arial"/>
                <a:cs typeface="Arial"/>
              </a:rPr>
              <a:t>Deterministic methodology</a:t>
            </a:r>
          </a:p>
          <a:p xmlns:a="http://schemas.openxmlformats.org/drawingml/2006/main">
            <a:pPr algn="ctr">
              <a:lnSpc>
                <a:spcPct val="100000"/>
              </a:lnSpc>
              <a:buNone/>
              <a:defRPr sz="1800" b="0" i="0">
                <a:solidFill>
                  <a:srgbClr val="DDEAF2"/>
                </a:solidFill>
                <a:latin typeface="Arial"/>
                <a:ea typeface="Arial"/>
                <a:cs typeface="Arial"/>
              </a:defRPr>
            </a:pPr>
            <a:r>
              <a:rPr sz="1800" b="0" i="0">
                <a:solidFill>
                  <a:srgbClr val="DDEAF2"/>
                </a:solidFill>
                <a:latin typeface="Arial"/>
                <a:ea typeface="Arial"/>
                <a:cs typeface="Arial"/>
              </a:rPr>
              <a:t>+ optional AI reasoning</a:t>
            </a:r>
          </a:p>
        </p:txBody>
      </p:sp>
      <p:sp>
        <p:nvSpPr>
          <p:cNvPr id="15" name="">
            <a:extLst xmlns:a="http://schemas.openxmlformats.org/drawingml/2006/main">
              <a:ext uri="{FF2B5EF4-FFF2-40B4-BE49-F238E27FC236}">
                <a16:creationId xmlns:a16="http://schemas.microsoft.com/office/drawing/2014/main" id="{DE00C644-6BF3-4734-90B5-EB605A48A302}"/>
              </a:ext>
            </a:extLst>
          </p:cNvPr>
          <p:cNvSpPr>
            <a:spLocks xmlns:a="http://schemas.openxmlformats.org/drawingml/2006/main" noGrp="1"/>
          </p:cNvSpPr>
          <p:nvPr/>
        </p:nvSpPr>
        <p:spPr>
          <a:xfrm xmlns:a="http://schemas.openxmlformats.org/drawingml/2006/main">
            <a:off x="13620750" y="556260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5F037A4-9DD2-4D0C-97CC-F17EEE5834F6}"/>
              </a:ext>
            </a:extLst>
          </p:cNvPr>
          <p:cNvSpPr>
            <a:spLocks xmlns:a="http://schemas.openxmlformats.org/drawingml/2006/main" noGrp="1"/>
          </p:cNvSpPr>
          <p:nvPr/>
        </p:nvSpPr>
        <p:spPr>
          <a:xfrm xmlns:a="http://schemas.openxmlformats.org/drawingml/2006/main">
            <a:off x="10744200" y="6457950"/>
            <a:ext cx="2000250" cy="590550"/>
          </a:xfrm>
          <a:prstGeom xmlns:a="http://schemas.openxmlformats.org/drawingml/2006/main" prst="roundRect">
            <a:avLst>
              <a:gd name="adj" fmla="val 1290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Attack-surface map</a:t>
            </a:r>
          </a:p>
        </p:txBody>
      </p:sp>
      <p:sp>
        <p:nvSpPr>
          <p:cNvPr id="17" name="">
            <a:extLst xmlns:a="http://schemas.openxmlformats.org/drawingml/2006/main">
              <a:ext uri="{FF2B5EF4-FFF2-40B4-BE49-F238E27FC236}">
                <a16:creationId xmlns:a16="http://schemas.microsoft.com/office/drawing/2014/main" id="{0F664F72-2BDC-43FB-B94C-82E4D4860FF0}"/>
              </a:ext>
            </a:extLst>
          </p:cNvPr>
          <p:cNvSpPr>
            <a:spLocks xmlns:a="http://schemas.openxmlformats.org/drawingml/2006/main" noGrp="1"/>
          </p:cNvSpPr>
          <p:nvPr/>
        </p:nvSpPr>
        <p:spPr>
          <a:xfrm xmlns:a="http://schemas.openxmlformats.org/drawingml/2006/main">
            <a:off x="12811125" y="6457950"/>
            <a:ext cx="2000250" cy="590550"/>
          </a:xfrm>
          <a:prstGeom xmlns:a="http://schemas.openxmlformats.org/drawingml/2006/main" prst="roundRect">
            <a:avLst>
              <a:gd name="adj" fmla="val 1290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Verified evidence</a:t>
            </a:r>
          </a:p>
        </p:txBody>
      </p:sp>
      <p:sp>
        <p:nvSpPr>
          <p:cNvPr id="18" name="">
            <a:extLst xmlns:a="http://schemas.openxmlformats.org/drawingml/2006/main">
              <a:ext uri="{FF2B5EF4-FFF2-40B4-BE49-F238E27FC236}">
                <a16:creationId xmlns:a16="http://schemas.microsoft.com/office/drawing/2014/main" id="{34FFBA60-D2AC-4445-A900-977DCDA1ACBA}"/>
              </a:ext>
            </a:extLst>
          </p:cNvPr>
          <p:cNvSpPr>
            <a:spLocks xmlns:a="http://schemas.openxmlformats.org/drawingml/2006/main" noGrp="1"/>
          </p:cNvSpPr>
          <p:nvPr/>
        </p:nvSpPr>
        <p:spPr>
          <a:xfrm xmlns:a="http://schemas.openxmlformats.org/drawingml/2006/main">
            <a:off x="14878050" y="6457950"/>
            <a:ext cx="2000250" cy="590550"/>
          </a:xfrm>
          <a:prstGeom xmlns:a="http://schemas.openxmlformats.org/drawingml/2006/main" prst="roundRect">
            <a:avLst>
              <a:gd name="adj" fmla="val 1290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D79A32"/>
                </a:solidFill>
                <a:latin typeface="Arial"/>
                <a:ea typeface="Arial"/>
                <a:cs typeface="Arial"/>
              </a:defRPr>
            </a:pPr>
            <a:r>
              <a:rPr sz="1500" b="1">
                <a:solidFill>
                  <a:srgbClr val="D79A32"/>
                </a:solidFill>
                <a:latin typeface="Arial"/>
                <a:ea typeface="Arial"/>
                <a:cs typeface="Arial"/>
              </a:rPr>
              <a:t>Structured report</a:t>
            </a:r>
          </a:p>
        </p:txBody>
      </p:sp>
      <p:sp>
        <p:nvSpPr>
          <p:cNvPr id="19" name="">
            <a:extLst xmlns:a="http://schemas.openxmlformats.org/drawingml/2006/main">
              <a:ext uri="{FF2B5EF4-FFF2-40B4-BE49-F238E27FC236}">
                <a16:creationId xmlns:a16="http://schemas.microsoft.com/office/drawing/2014/main" id="{0E53A500-A8EE-4FCB-BFAF-F5F7A03266EE}"/>
              </a:ext>
            </a:extLst>
          </p:cNvPr>
          <p:cNvSpPr>
            <a:spLocks xmlns:a="http://schemas.openxmlformats.org/drawingml/2006/main" noGrp="1"/>
          </p:cNvSpPr>
          <p:nvPr/>
        </p:nvSpPr>
        <p:spPr>
          <a:xfrm xmlns:a="http://schemas.openxmlformats.org/drawingml/2006/main">
            <a:off x="11334750" y="7715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i="1">
                <a:solidFill>
                  <a:srgbClr val="354F63"/>
                </a:solidFill>
                <a:latin typeface="Arial"/>
                <a:ea typeface="Arial"/>
                <a:cs typeface="Arial"/>
              </a:defRPr>
            </a:pPr>
            <a:r>
              <a:rPr sz="1575" b="0" i="1">
                <a:solidFill>
                  <a:srgbClr val="354F63"/>
                </a:solidFill>
                <a:latin typeface="Arial"/>
                <a:ea typeface="Arial"/>
                <a:cs typeface="Arial"/>
              </a:rPr>
              <a:t>Proposed system — not a completed product</a:t>
            </a:r>
          </a:p>
        </p:txBody>
      </p:sp>
    </p:spTree>
    <p:extLst>
      <p:ext uri="{BB962C8B-B14F-4D97-AF65-F5344CB8AC3E}">
        <p14:creationId xmlns:p14="http://schemas.microsoft.com/office/powerpoint/2010/main" val="1495128735"/>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BC76E50-5A82-4C51-918B-F1250E85A424}"/>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01 / WHY THIS MATTERS</a:t>
            </a:r>
          </a:p>
        </p:txBody>
      </p:sp>
      <p:sp>
        <p:nvSpPr>
          <p:cNvPr id="2" name="">
            <a:extLst xmlns:a="http://schemas.openxmlformats.org/drawingml/2006/main">
              <a:ext uri="{FF2B5EF4-FFF2-40B4-BE49-F238E27FC236}">
                <a16:creationId xmlns:a16="http://schemas.microsoft.com/office/drawing/2014/main" id="{023224E9-278A-46F0-80E0-0849452E4BE4}"/>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Web security protects the entire exposed application surface</a:t>
            </a:r>
          </a:p>
        </p:txBody>
      </p:sp>
      <p:sp>
        <p:nvSpPr>
          <p:cNvPr id="3" name="">
            <a:extLst xmlns:a="http://schemas.openxmlformats.org/drawingml/2006/main">
              <a:ext uri="{FF2B5EF4-FFF2-40B4-BE49-F238E27FC236}">
                <a16:creationId xmlns:a16="http://schemas.microsoft.com/office/drawing/2014/main" id="{75219B41-6AAC-4840-80DF-FDA860BC1F5C}"/>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E0263B24-72EE-403F-9037-78CCD91D03E2}"/>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FD37FFF-CF5A-4091-866A-7DBA02D66261}"/>
              </a:ext>
            </a:extLst>
          </p:cNvPr>
          <p:cNvSpPr>
            <a:spLocks xmlns:a="http://schemas.openxmlformats.org/drawingml/2006/main" noGrp="1"/>
          </p:cNvSpPr>
          <p:nvPr/>
        </p:nvSpPr>
        <p:spPr>
          <a:xfrm xmlns:a="http://schemas.openxmlformats.org/drawingml/2006/main">
            <a:off x="876300" y="2190750"/>
            <a:ext cx="6667500" cy="2933700"/>
          </a:xfrm>
          <a:prstGeom xmlns:a="http://schemas.openxmlformats.org/drawingml/2006/main" prst="roundRect">
            <a:avLst>
              <a:gd name="adj" fmla="val 2597"/>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9A954F-EEEC-41DF-9440-141168070BBE}"/>
              </a:ext>
            </a:extLst>
          </p:cNvPr>
          <p:cNvSpPr>
            <a:spLocks xmlns:a="http://schemas.openxmlformats.org/drawingml/2006/main" noGrp="1"/>
          </p:cNvSpPr>
          <p:nvPr/>
        </p:nvSpPr>
        <p:spPr>
          <a:xfrm xmlns:a="http://schemas.openxmlformats.org/drawingml/2006/main">
            <a:off x="1257300" y="2590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79A9C8"/>
                </a:solidFill>
                <a:latin typeface="Arial"/>
                <a:ea typeface="Arial"/>
                <a:cs typeface="Arial"/>
              </a:defRPr>
            </a:pPr>
            <a:r>
              <a:rPr sz="1800" b="1" i="0">
                <a:solidFill>
                  <a:srgbClr val="79A9C8"/>
                </a:solidFill>
                <a:latin typeface="Arial"/>
                <a:ea typeface="Arial"/>
                <a:cs typeface="Arial"/>
              </a:rPr>
              <a:t>WEB SECURITY</a:t>
            </a:r>
          </a:p>
        </p:txBody>
      </p:sp>
      <p:sp>
        <p:nvSpPr>
          <p:cNvPr id="7" name="">
            <a:extLst xmlns:a="http://schemas.openxmlformats.org/drawingml/2006/main">
              <a:ext uri="{FF2B5EF4-FFF2-40B4-BE49-F238E27FC236}">
                <a16:creationId xmlns:a16="http://schemas.microsoft.com/office/drawing/2014/main" id="{C0E13DA5-F27B-4FDD-9044-E209362385CE}"/>
              </a:ext>
            </a:extLst>
          </p:cNvPr>
          <p:cNvSpPr>
            <a:spLocks xmlns:a="http://schemas.openxmlformats.org/drawingml/2006/main" noGrp="1"/>
          </p:cNvSpPr>
          <p:nvPr/>
        </p:nvSpPr>
        <p:spPr>
          <a:xfrm xmlns:a="http://schemas.openxmlformats.org/drawingml/2006/main">
            <a:off x="1257300" y="314325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612"/>
          </a:bodyPr>
          <a:lstStyle xmlns:a="http://schemas.openxmlformats.org/drawingml/2006/main"/>
          <a:p xmlns:a="http://schemas.openxmlformats.org/drawingml/2006/main">
            <a:pPr algn="l">
              <a:lnSpc>
                <a:spcPct val="100000"/>
              </a:lnSpc>
              <a:buNone/>
              <a:defRPr sz="2700" b="1" i="0">
                <a:solidFill>
                  <a:srgbClr val="FFFFFF"/>
                </a:solidFill>
                <a:latin typeface="Arial"/>
                <a:ea typeface="Arial"/>
                <a:cs typeface="Arial"/>
              </a:defRPr>
            </a:pPr>
            <a:r>
              <a:rPr sz="2700" b="1" i="0">
                <a:solidFill>
                  <a:srgbClr val="FFFFFF"/>
                </a:solidFill>
                <a:latin typeface="Arial"/>
                <a:ea typeface="Arial"/>
                <a:cs typeface="Arial"/>
              </a:rPr>
              <a:t>Find, validate and reduce weaknesses before attackers exploit them.</a:t>
            </a:r>
          </a:p>
        </p:txBody>
      </p:sp>
      <p:sp>
        <p:nvSpPr>
          <p:cNvPr id="8" name="">
            <a:extLst xmlns:a="http://schemas.openxmlformats.org/drawingml/2006/main">
              <a:ext uri="{FF2B5EF4-FFF2-40B4-BE49-F238E27FC236}">
                <a16:creationId xmlns:a16="http://schemas.microsoft.com/office/drawing/2014/main" id="{C83940A8-FEA3-495D-ACC0-57A7FABB4746}"/>
              </a:ext>
            </a:extLst>
          </p:cNvPr>
          <p:cNvSpPr>
            <a:spLocks xmlns:a="http://schemas.openxmlformats.org/drawingml/2006/main" noGrp="1"/>
          </p:cNvSpPr>
          <p:nvPr/>
        </p:nvSpPr>
        <p:spPr>
          <a:xfrm xmlns:a="http://schemas.openxmlformats.org/drawingml/2006/main">
            <a:off x="1257300" y="4362450"/>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61"/>
          </a:bodyPr>
          <a:lstStyle xmlns:a="http://schemas.openxmlformats.org/drawingml/2006/main"/>
          <a:p xmlns:a="http://schemas.openxmlformats.org/drawingml/2006/main">
            <a:pPr algn="l">
              <a:lnSpc>
                <a:spcPct val="105000"/>
              </a:lnSpc>
              <a:buNone/>
              <a:defRPr sz="1650" b="0" i="0">
                <a:solidFill>
                  <a:srgbClr val="DCE8F0"/>
                </a:solidFill>
                <a:latin typeface="Arial"/>
                <a:ea typeface="Arial"/>
                <a:cs typeface="Arial"/>
              </a:defRPr>
            </a:pPr>
            <a:r>
              <a:rPr sz="1650" b="0" i="0">
                <a:solidFill>
                  <a:srgbClr val="DCE8F0"/>
                </a:solidFill>
                <a:latin typeface="Arial"/>
                <a:ea typeface="Arial"/>
                <a:cs typeface="Arial"/>
              </a:rPr>
              <a:t>The surface includes domains, services, applications, APIs, identities, third-party components and the data connecting them.</a:t>
            </a:r>
          </a:p>
        </p:txBody>
      </p:sp>
      <p:sp>
        <p:nvSpPr>
          <p:cNvPr id="9" name="">
            <a:extLst xmlns:a="http://schemas.openxmlformats.org/drawingml/2006/main">
              <a:ext uri="{FF2B5EF4-FFF2-40B4-BE49-F238E27FC236}">
                <a16:creationId xmlns:a16="http://schemas.microsoft.com/office/drawing/2014/main" id="{6D665E0D-0D95-4394-9FBC-7775352939B4}"/>
              </a:ext>
            </a:extLst>
          </p:cNvPr>
          <p:cNvSpPr>
            <a:spLocks xmlns:a="http://schemas.openxmlformats.org/drawingml/2006/main" noGrp="1"/>
          </p:cNvSpPr>
          <p:nvPr/>
        </p:nvSpPr>
        <p:spPr>
          <a:xfrm xmlns:a="http://schemas.openxmlformats.org/drawingml/2006/main">
            <a:off x="8191500" y="22860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C55B48"/>
                </a:solidFill>
                <a:latin typeface="Arial"/>
                <a:ea typeface="Arial"/>
                <a:cs typeface="Arial"/>
              </a:defRPr>
            </a:pPr>
            <a:r>
              <a:rPr sz="1800" b="1" i="0">
                <a:solidFill>
                  <a:srgbClr val="C55B48"/>
                </a:solidFill>
                <a:latin typeface="Arial"/>
                <a:ea typeface="Arial"/>
                <a:cs typeface="Arial"/>
              </a:rPr>
              <a:t>CASE STUDY · EQUIFAX, 2017</a:t>
            </a:r>
          </a:p>
        </p:txBody>
      </p:sp>
      <p:sp>
        <p:nvSpPr>
          <p:cNvPr id="10" name="">
            <a:extLst xmlns:a="http://schemas.openxmlformats.org/drawingml/2006/main">
              <a:ext uri="{FF2B5EF4-FFF2-40B4-BE49-F238E27FC236}">
                <a16:creationId xmlns:a16="http://schemas.microsoft.com/office/drawing/2014/main" id="{37BACD3F-8A12-4B9D-AFA7-6256271A5DAE}"/>
              </a:ext>
            </a:extLst>
          </p:cNvPr>
          <p:cNvSpPr>
            <a:spLocks xmlns:a="http://schemas.openxmlformats.org/drawingml/2006/main" noGrp="1"/>
          </p:cNvSpPr>
          <p:nvPr/>
        </p:nvSpPr>
        <p:spPr>
          <a:xfrm xmlns:a="http://schemas.openxmlformats.org/drawingml/2006/main">
            <a:off x="8191500" y="278130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54"/>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 known web vulnerability became a large-scale breach</a:t>
            </a:r>
          </a:p>
        </p:txBody>
      </p:sp>
      <p:sp>
        <p:nvSpPr>
          <p:cNvPr id="11" name="">
            <a:extLst xmlns:a="http://schemas.openxmlformats.org/drawingml/2006/main">
              <a:ext uri="{FF2B5EF4-FFF2-40B4-BE49-F238E27FC236}">
                <a16:creationId xmlns:a16="http://schemas.microsoft.com/office/drawing/2014/main" id="{8889D695-17C5-44A4-BBF6-846A6C11A524}"/>
              </a:ext>
            </a:extLst>
          </p:cNvPr>
          <p:cNvSpPr>
            <a:spLocks xmlns:a="http://schemas.openxmlformats.org/drawingml/2006/main" noGrp="1"/>
          </p:cNvSpPr>
          <p:nvPr/>
        </p:nvSpPr>
        <p:spPr>
          <a:xfrm xmlns:a="http://schemas.openxmlformats.org/drawingml/2006/main">
            <a:off x="81915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79543C83-7C18-46F5-A2FB-F02942ED0585}"/>
              </a:ext>
            </a:extLst>
          </p:cNvPr>
          <p:cNvSpPr>
            <a:spLocks xmlns:a="http://schemas.openxmlformats.org/drawingml/2006/main" noGrp="1"/>
          </p:cNvSpPr>
          <p:nvPr/>
        </p:nvSpPr>
        <p:spPr>
          <a:xfrm xmlns:a="http://schemas.openxmlformats.org/drawingml/2006/main">
            <a:off x="81915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DC0F7A1-7A20-4583-BDD8-7892FE770371}"/>
              </a:ext>
            </a:extLst>
          </p:cNvPr>
          <p:cNvSpPr>
            <a:spLocks xmlns:a="http://schemas.openxmlformats.org/drawingml/2006/main" noGrp="1"/>
          </p:cNvSpPr>
          <p:nvPr/>
        </p:nvSpPr>
        <p:spPr>
          <a:xfrm xmlns:a="http://schemas.openxmlformats.org/drawingml/2006/main">
            <a:off x="84582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Known flaw</a:t>
            </a:r>
          </a:p>
        </p:txBody>
      </p:sp>
      <p:sp>
        <p:nvSpPr>
          <p:cNvPr id="14" name="">
            <a:extLst xmlns:a="http://schemas.openxmlformats.org/drawingml/2006/main">
              <a:ext uri="{FF2B5EF4-FFF2-40B4-BE49-F238E27FC236}">
                <a16:creationId xmlns:a16="http://schemas.microsoft.com/office/drawing/2014/main" id="{55AA1122-C9E6-4C3A-A1A1-313EF2AE6674}"/>
              </a:ext>
            </a:extLst>
          </p:cNvPr>
          <p:cNvSpPr>
            <a:spLocks xmlns:a="http://schemas.openxmlformats.org/drawingml/2006/main" noGrp="1"/>
          </p:cNvSpPr>
          <p:nvPr/>
        </p:nvSpPr>
        <p:spPr>
          <a:xfrm xmlns:a="http://schemas.openxmlformats.org/drawingml/2006/main">
            <a:off x="84582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A critical Apache Struts vulnerability had a patch available.</a:t>
            </a:r>
          </a:p>
        </p:txBody>
      </p:sp>
      <p:sp>
        <p:nvSpPr>
          <p:cNvPr id="15" name="">
            <a:extLst xmlns:a="http://schemas.openxmlformats.org/drawingml/2006/main">
              <a:ext uri="{FF2B5EF4-FFF2-40B4-BE49-F238E27FC236}">
                <a16:creationId xmlns:a16="http://schemas.microsoft.com/office/drawing/2014/main" id="{5E7D973A-27C9-41EF-8D6F-1AC5B3D9A88D}"/>
              </a:ext>
            </a:extLst>
          </p:cNvPr>
          <p:cNvSpPr>
            <a:spLocks xmlns:a="http://schemas.openxmlformats.org/drawingml/2006/main" noGrp="1"/>
          </p:cNvSpPr>
          <p:nvPr/>
        </p:nvSpPr>
        <p:spPr>
          <a:xfrm xmlns:a="http://schemas.openxmlformats.org/drawingml/2006/main">
            <a:off x="110871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F51A5E2B-04FF-448B-ACEC-3CA89519CA99}"/>
              </a:ext>
            </a:extLst>
          </p:cNvPr>
          <p:cNvSpPr>
            <a:spLocks xmlns:a="http://schemas.openxmlformats.org/drawingml/2006/main" noGrp="1"/>
          </p:cNvSpPr>
          <p:nvPr/>
        </p:nvSpPr>
        <p:spPr>
          <a:xfrm xmlns:a="http://schemas.openxmlformats.org/drawingml/2006/main">
            <a:off x="11087100" y="3600450"/>
            <a:ext cx="85725" cy="20574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844475D-B61A-40A0-92A3-53B16C3F462B}"/>
              </a:ext>
            </a:extLst>
          </p:cNvPr>
          <p:cNvSpPr>
            <a:spLocks xmlns:a="http://schemas.openxmlformats.org/drawingml/2006/main" noGrp="1"/>
          </p:cNvSpPr>
          <p:nvPr/>
        </p:nvSpPr>
        <p:spPr>
          <a:xfrm xmlns:a="http://schemas.openxmlformats.org/drawingml/2006/main">
            <a:off x="113538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Coverage failure</a:t>
            </a:r>
          </a:p>
        </p:txBody>
      </p:sp>
      <p:sp>
        <p:nvSpPr>
          <p:cNvPr id="18" name="">
            <a:extLst xmlns:a="http://schemas.openxmlformats.org/drawingml/2006/main">
              <a:ext uri="{FF2B5EF4-FFF2-40B4-BE49-F238E27FC236}">
                <a16:creationId xmlns:a16="http://schemas.microsoft.com/office/drawing/2014/main" id="{CE63E73C-09B2-4005-8E9A-0D36F0D59AF3}"/>
              </a:ext>
            </a:extLst>
          </p:cNvPr>
          <p:cNvSpPr>
            <a:spLocks xmlns:a="http://schemas.openxmlformats.org/drawingml/2006/main" noGrp="1"/>
          </p:cNvSpPr>
          <p:nvPr/>
        </p:nvSpPr>
        <p:spPr>
          <a:xfrm xmlns:a="http://schemas.openxmlformats.org/drawingml/2006/main">
            <a:off x="113538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707"/>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The public dispute portal remained unpatched and verification did not catch it.</a:t>
            </a:r>
          </a:p>
        </p:txBody>
      </p:sp>
      <p:sp>
        <p:nvSpPr>
          <p:cNvPr id="19" name="">
            <a:extLst xmlns:a="http://schemas.openxmlformats.org/drawingml/2006/main">
              <a:ext uri="{FF2B5EF4-FFF2-40B4-BE49-F238E27FC236}">
                <a16:creationId xmlns:a16="http://schemas.microsoft.com/office/drawing/2014/main" id="{0911E677-AA86-4ECA-9F41-28D7182969C1}"/>
              </a:ext>
            </a:extLst>
          </p:cNvPr>
          <p:cNvSpPr>
            <a:spLocks xmlns:a="http://schemas.openxmlformats.org/drawingml/2006/main" noGrp="1"/>
          </p:cNvSpPr>
          <p:nvPr/>
        </p:nvSpPr>
        <p:spPr>
          <a:xfrm xmlns:a="http://schemas.openxmlformats.org/drawingml/2006/main">
            <a:off x="139827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CE3BD77D-CAA4-4E9D-A5B0-CABFDB1C7895}"/>
              </a:ext>
            </a:extLst>
          </p:cNvPr>
          <p:cNvSpPr>
            <a:spLocks xmlns:a="http://schemas.openxmlformats.org/drawingml/2006/main" noGrp="1"/>
          </p:cNvSpPr>
          <p:nvPr/>
        </p:nvSpPr>
        <p:spPr>
          <a:xfrm xmlns:a="http://schemas.openxmlformats.org/drawingml/2006/main">
            <a:off x="139827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7D26FCA-39D8-4F08-BAE9-1C179F9C7C53}"/>
              </a:ext>
            </a:extLst>
          </p:cNvPr>
          <p:cNvSpPr>
            <a:spLocks xmlns:a="http://schemas.openxmlformats.org/drawingml/2006/main" noGrp="1"/>
          </p:cNvSpPr>
          <p:nvPr/>
        </p:nvSpPr>
        <p:spPr>
          <a:xfrm xmlns:a="http://schemas.openxmlformats.org/drawingml/2006/main">
            <a:off x="142494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Impact</a:t>
            </a:r>
          </a:p>
        </p:txBody>
      </p:sp>
      <p:sp>
        <p:nvSpPr>
          <p:cNvPr id="22" name="">
            <a:extLst xmlns:a="http://schemas.openxmlformats.org/drawingml/2006/main">
              <a:ext uri="{FF2B5EF4-FFF2-40B4-BE49-F238E27FC236}">
                <a16:creationId xmlns:a16="http://schemas.microsoft.com/office/drawing/2014/main" id="{0CFC55CC-95F1-41DB-B29C-B3CB5EEE6777}"/>
              </a:ext>
            </a:extLst>
          </p:cNvPr>
          <p:cNvSpPr>
            <a:spLocks xmlns:a="http://schemas.openxmlformats.org/drawingml/2006/main" noGrp="1"/>
          </p:cNvSpPr>
          <p:nvPr/>
        </p:nvSpPr>
        <p:spPr>
          <a:xfrm xmlns:a="http://schemas.openxmlformats.org/drawingml/2006/main">
            <a:off x="142494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Personal information of about 147 million people was exposed.</a:t>
            </a:r>
          </a:p>
        </p:txBody>
      </p:sp>
      <p:sp>
        <p:nvSpPr>
          <p:cNvPr id="23" name="">
            <a:extLst xmlns:a="http://schemas.openxmlformats.org/drawingml/2006/main">
              <a:ext uri="{FF2B5EF4-FFF2-40B4-BE49-F238E27FC236}">
                <a16:creationId xmlns:a16="http://schemas.microsoft.com/office/drawing/2014/main" id="{92D9A396-BA8D-4D8F-B378-35EC0D3F0627}"/>
              </a:ext>
            </a:extLst>
          </p:cNvPr>
          <p:cNvSpPr>
            <a:spLocks xmlns:a="http://schemas.openxmlformats.org/drawingml/2006/main" noGrp="1"/>
          </p:cNvSpPr>
          <p:nvPr/>
        </p:nvSpPr>
        <p:spPr>
          <a:xfrm xmlns:a="http://schemas.openxmlformats.org/drawingml/2006/main">
            <a:off x="876300" y="6229350"/>
            <a:ext cx="15773400" cy="1962150"/>
          </a:xfrm>
          <a:prstGeom xmlns:a="http://schemas.openxmlformats.org/drawingml/2006/main" prst="roundRect">
            <a:avLst>
              <a:gd name="adj" fmla="val 3883"/>
            </a:avLst>
          </a:prstGeom>
          <a:solidFill xmlns:a="http://schemas.openxmlformats.org/drawingml/2006/main">
            <a:srgbClr val="E8EF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1B1780F-B992-4B9D-B5C4-6E03954BF600}"/>
              </a:ext>
            </a:extLst>
          </p:cNvPr>
          <p:cNvSpPr>
            <a:spLocks xmlns:a="http://schemas.openxmlformats.org/drawingml/2006/main" noGrp="1"/>
          </p:cNvSpPr>
          <p:nvPr/>
        </p:nvSpPr>
        <p:spPr>
          <a:xfrm xmlns:a="http://schemas.openxmlformats.org/drawingml/2006/main">
            <a:off x="1219200" y="65532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The lesson</a:t>
            </a:r>
          </a:p>
        </p:txBody>
      </p:sp>
      <p:sp>
        <p:nvSpPr>
          <p:cNvPr id="25" name="">
            <a:extLst xmlns:a="http://schemas.openxmlformats.org/drawingml/2006/main">
              <a:ext uri="{FF2B5EF4-FFF2-40B4-BE49-F238E27FC236}">
                <a16:creationId xmlns:a16="http://schemas.microsoft.com/office/drawing/2014/main" id="{9B69A0BF-724D-4445-BA5F-813224B0BD02}"/>
              </a:ext>
            </a:extLst>
          </p:cNvPr>
          <p:cNvSpPr>
            <a:spLocks xmlns:a="http://schemas.openxmlformats.org/drawingml/2006/main" noGrp="1"/>
          </p:cNvSpPr>
          <p:nvPr/>
        </p:nvSpPr>
        <p:spPr>
          <a:xfrm xmlns:a="http://schemas.openxmlformats.org/drawingml/2006/main">
            <a:off x="1219200" y="7067550"/>
            <a:ext cx="1476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02B44"/>
                </a:solidFill>
                <a:latin typeface="Arial"/>
                <a:ea typeface="Arial"/>
                <a:cs typeface="Arial"/>
              </a:defRPr>
            </a:pPr>
            <a:r>
              <a:rPr sz="2250" b="1" i="0">
                <a:solidFill>
                  <a:srgbClr val="102B44"/>
                </a:solidFill>
                <a:latin typeface="Arial"/>
                <a:ea typeface="Arial"/>
                <a:cs typeface="Arial"/>
              </a:rPr>
              <a:t>A single missed internet-facing asset can defeat security across a very large organisation. Effective testing must discover the full surface, verify coverage, and preserve evidence across every step.</a:t>
            </a:r>
          </a:p>
        </p:txBody>
      </p:sp>
      <p:sp>
        <p:nvSpPr>
          <p:cNvPr id="26" name="">
            <a:extLst xmlns:a="http://schemas.openxmlformats.org/drawingml/2006/main">
              <a:ext uri="{FF2B5EF4-FFF2-40B4-BE49-F238E27FC236}">
                <a16:creationId xmlns:a16="http://schemas.microsoft.com/office/drawing/2014/main" id="{7BD6E1BE-7CE3-4B8D-AF58-23FDFC0BDCF6}"/>
              </a:ext>
            </a:extLst>
          </p:cNvPr>
          <p:cNvSpPr>
            <a:spLocks xmlns:a="http://schemas.openxmlformats.org/drawingml/2006/main" noGrp="1"/>
          </p:cNvSpPr>
          <p:nvPr/>
        </p:nvSpPr>
        <p:spPr>
          <a:xfrm xmlns:a="http://schemas.openxmlformats.org/drawingml/2006/main">
            <a:off x="914400" y="8743950"/>
            <a:ext cx="1390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Sources: U.S. House Oversight Committee report (2018); U.S. Federal Trade Commission (2019).</a:t>
            </a:r>
          </a:p>
        </p:txBody>
      </p:sp>
    </p:spTree>
    <p:extLst>
      <p:ext uri="{BB962C8B-B14F-4D97-AF65-F5344CB8AC3E}">
        <p14:creationId xmlns:p14="http://schemas.microsoft.com/office/powerpoint/2010/main" val="663073499"/>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6EE0201-3159-48F3-830E-76DC32F31FF9}"/>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02 / CURRENT PRACTICE</a:t>
            </a:r>
          </a:p>
        </p:txBody>
      </p:sp>
      <p:sp>
        <p:nvSpPr>
          <p:cNvPr id="2" name="">
            <a:extLst xmlns:a="http://schemas.openxmlformats.org/drawingml/2006/main">
              <a:ext uri="{FF2B5EF4-FFF2-40B4-BE49-F238E27FC236}">
                <a16:creationId xmlns:a16="http://schemas.microsoft.com/office/drawing/2014/main" id="{14B35AC6-6894-4514-AC7A-D4F3D503040E}"/>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Existing tools and technologies</a:t>
            </a:r>
          </a:p>
        </p:txBody>
      </p:sp>
      <p:sp>
        <p:nvSpPr>
          <p:cNvPr id="3" name="">
            <a:extLst xmlns:a="http://schemas.openxmlformats.org/drawingml/2006/main">
              <a:ext uri="{FF2B5EF4-FFF2-40B4-BE49-F238E27FC236}">
                <a16:creationId xmlns:a16="http://schemas.microsoft.com/office/drawing/2014/main" id="{4E813D7C-80C2-4629-89D0-0D713EE122D8}"/>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3A3F4AEE-9F59-4E5A-B2FC-78017A18648D}"/>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D5CF2D1-8A9D-4835-AE07-E6EDC4041301}"/>
              </a:ext>
            </a:extLst>
          </p:cNvPr>
          <p:cNvSpPr>
            <a:spLocks xmlns:a="http://schemas.openxmlformats.org/drawingml/2006/main" noGrp="1"/>
          </p:cNvSpPr>
          <p:nvPr/>
        </p:nvSpPr>
        <p:spPr>
          <a:xfrm xmlns:a="http://schemas.openxmlformats.org/drawingml/2006/main">
            <a:off x="876300" y="2095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Typical pentesting workflow</a:t>
            </a:r>
          </a:p>
        </p:txBody>
      </p:sp>
      <p:sp>
        <p:nvSpPr>
          <p:cNvPr id="6" name="">
            <a:extLst xmlns:a="http://schemas.openxmlformats.org/drawingml/2006/main">
              <a:ext uri="{FF2B5EF4-FFF2-40B4-BE49-F238E27FC236}">
                <a16:creationId xmlns:a16="http://schemas.microsoft.com/office/drawing/2014/main" id="{41A04A41-347A-4F94-8744-67477A933911}"/>
              </a:ext>
            </a:extLst>
          </p:cNvPr>
          <p:cNvSpPr>
            <a:spLocks xmlns:a="http://schemas.openxmlformats.org/drawingml/2006/main" noGrp="1"/>
          </p:cNvSpPr>
          <p:nvPr/>
        </p:nvSpPr>
        <p:spPr>
          <a:xfrm xmlns:a="http://schemas.openxmlformats.org/drawingml/2006/main">
            <a:off x="87630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2D8B84"/>
                </a:solidFill>
                <a:latin typeface="Arial"/>
                <a:ea typeface="Arial"/>
                <a:cs typeface="Arial"/>
              </a:defRPr>
            </a:pPr>
            <a:r>
              <a:rPr sz="1575" b="1">
                <a:solidFill>
                  <a:srgbClr val="2D8B84"/>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884FC5BE-3A0D-417B-91BE-35482614AAE1}"/>
              </a:ext>
            </a:extLst>
          </p:cNvPr>
          <p:cNvSpPr>
            <a:spLocks xmlns:a="http://schemas.openxmlformats.org/drawingml/2006/main" noGrp="1"/>
          </p:cNvSpPr>
          <p:nvPr/>
        </p:nvSpPr>
        <p:spPr>
          <a:xfrm xmlns:a="http://schemas.openxmlformats.org/drawingml/2006/main">
            <a:off x="37338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1C16412-5AA4-46F2-A8EE-748A729382A4}"/>
              </a:ext>
            </a:extLst>
          </p:cNvPr>
          <p:cNvSpPr>
            <a:spLocks xmlns:a="http://schemas.openxmlformats.org/drawingml/2006/main" noGrp="1"/>
          </p:cNvSpPr>
          <p:nvPr/>
        </p:nvSpPr>
        <p:spPr>
          <a:xfrm xmlns:a="http://schemas.openxmlformats.org/drawingml/2006/main">
            <a:off x="405765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2D8B84"/>
                </a:solidFill>
                <a:latin typeface="Arial"/>
                <a:ea typeface="Arial"/>
                <a:cs typeface="Arial"/>
              </a:defRPr>
            </a:pPr>
            <a:r>
              <a:rPr sz="1575" b="1">
                <a:solidFill>
                  <a:srgbClr val="2D8B84"/>
                </a:solidFill>
                <a:latin typeface="Arial"/>
                <a:ea typeface="Arial"/>
                <a:cs typeface="Arial"/>
              </a:rPr>
              <a:t>Resolve and probe</a:t>
            </a:r>
          </a:p>
        </p:txBody>
      </p:sp>
      <p:sp>
        <p:nvSpPr>
          <p:cNvPr id="9" name="">
            <a:extLst xmlns:a="http://schemas.openxmlformats.org/drawingml/2006/main">
              <a:ext uri="{FF2B5EF4-FFF2-40B4-BE49-F238E27FC236}">
                <a16:creationId xmlns:a16="http://schemas.microsoft.com/office/drawing/2014/main" id="{6F982695-B2A9-4C56-AEE8-E4FE420B14C3}"/>
              </a:ext>
            </a:extLst>
          </p:cNvPr>
          <p:cNvSpPr>
            <a:spLocks xmlns:a="http://schemas.openxmlformats.org/drawingml/2006/main" noGrp="1"/>
          </p:cNvSpPr>
          <p:nvPr/>
        </p:nvSpPr>
        <p:spPr>
          <a:xfrm xmlns:a="http://schemas.openxmlformats.org/drawingml/2006/main">
            <a:off x="69151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F454EFD-439A-479B-ADF1-217B4FE48F55}"/>
              </a:ext>
            </a:extLst>
          </p:cNvPr>
          <p:cNvSpPr>
            <a:spLocks xmlns:a="http://schemas.openxmlformats.org/drawingml/2006/main" noGrp="1"/>
          </p:cNvSpPr>
          <p:nvPr/>
        </p:nvSpPr>
        <p:spPr>
          <a:xfrm xmlns:a="http://schemas.openxmlformats.org/drawingml/2006/main">
            <a:off x="723900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Map services</a:t>
            </a:r>
          </a:p>
        </p:txBody>
      </p:sp>
      <p:sp>
        <p:nvSpPr>
          <p:cNvPr id="11" name="">
            <a:extLst xmlns:a="http://schemas.openxmlformats.org/drawingml/2006/main">
              <a:ext uri="{FF2B5EF4-FFF2-40B4-BE49-F238E27FC236}">
                <a16:creationId xmlns:a16="http://schemas.microsoft.com/office/drawing/2014/main" id="{F63F0545-7934-4545-9F93-CDFAFE212735}"/>
              </a:ext>
            </a:extLst>
          </p:cNvPr>
          <p:cNvSpPr>
            <a:spLocks xmlns:a="http://schemas.openxmlformats.org/drawingml/2006/main" noGrp="1"/>
          </p:cNvSpPr>
          <p:nvPr/>
        </p:nvSpPr>
        <p:spPr>
          <a:xfrm xmlns:a="http://schemas.openxmlformats.org/drawingml/2006/main">
            <a:off x="100965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A083ED6-024A-4F15-B52E-B3236D4F5710}"/>
              </a:ext>
            </a:extLst>
          </p:cNvPr>
          <p:cNvSpPr>
            <a:spLocks xmlns:a="http://schemas.openxmlformats.org/drawingml/2006/main" noGrp="1"/>
          </p:cNvSpPr>
          <p:nvPr/>
        </p:nvSpPr>
        <p:spPr>
          <a:xfrm xmlns:a="http://schemas.openxmlformats.org/drawingml/2006/main">
            <a:off x="1042035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Test applications</a:t>
            </a:r>
          </a:p>
        </p:txBody>
      </p:sp>
      <p:sp>
        <p:nvSpPr>
          <p:cNvPr id="13" name="">
            <a:extLst xmlns:a="http://schemas.openxmlformats.org/drawingml/2006/main">
              <a:ext uri="{FF2B5EF4-FFF2-40B4-BE49-F238E27FC236}">
                <a16:creationId xmlns:a16="http://schemas.microsoft.com/office/drawing/2014/main" id="{DBC9E4A6-5F4F-43A4-8F75-150567311E10}"/>
              </a:ext>
            </a:extLst>
          </p:cNvPr>
          <p:cNvSpPr>
            <a:spLocks xmlns:a="http://schemas.openxmlformats.org/drawingml/2006/main" noGrp="1"/>
          </p:cNvSpPr>
          <p:nvPr/>
        </p:nvSpPr>
        <p:spPr>
          <a:xfrm xmlns:a="http://schemas.openxmlformats.org/drawingml/2006/main">
            <a:off x="132778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BD6AE3C-E374-47D8-918D-6994B67DCD46}"/>
              </a:ext>
            </a:extLst>
          </p:cNvPr>
          <p:cNvSpPr>
            <a:spLocks xmlns:a="http://schemas.openxmlformats.org/drawingml/2006/main" noGrp="1"/>
          </p:cNvSpPr>
          <p:nvPr/>
        </p:nvSpPr>
        <p:spPr>
          <a:xfrm xmlns:a="http://schemas.openxmlformats.org/drawingml/2006/main">
            <a:off x="13601700" y="2571750"/>
            <a:ext cx="2762250" cy="514350"/>
          </a:xfrm>
          <a:prstGeom xmlns:a="http://schemas.openxmlformats.org/drawingml/2006/main" prst="roundRect">
            <a:avLst>
              <a:gd name="adj" fmla="val 14815"/>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D79A32"/>
                </a:solidFill>
                <a:latin typeface="Arial"/>
                <a:ea typeface="Arial"/>
                <a:cs typeface="Arial"/>
              </a:defRPr>
            </a:pPr>
            <a:r>
              <a:rPr sz="1575" b="1">
                <a:solidFill>
                  <a:srgbClr val="D79A32"/>
                </a:solidFill>
                <a:latin typeface="Arial"/>
                <a:ea typeface="Arial"/>
                <a:cs typeface="Arial"/>
              </a:rPr>
              <a:t>Validate and report</a:t>
            </a:r>
          </a:p>
        </p:txBody>
      </p:sp>
      <p:graphicFrame>
        <p:nvGraphicFramePr>
          <p:cNvPr id="31" name=""/>
          <p:cNvGraphicFramePr/>
          <p:nvPr/>
        </p:nvGraphicFramePr>
        <p:xfrm>
          <a:off xmlns:a="http://schemas.openxmlformats.org/drawingml/2006/main" x="876300" y="3524250"/>
          <a:ext xmlns:a="http://schemas.openxmlformats.org/drawingml/2006/main" cx="15773400" cy="4495800"/>
        </p:xfrm>
        <a:graphic xmlns:a="http://schemas.openxmlformats.org/drawingml/2006/main">
          <a:graphicData uri="http://schemas.openxmlformats.org/drawingml/2006/table">
            <a:tbl>
              <a:tblPr/>
              <a:tblGrid>
                <a:gridCol w="2857500"/>
                <a:gridCol w="4953000"/>
                <a:gridCol w="3429000"/>
                <a:gridCol w="4533900"/>
              </a:tblGrid>
              <a:tr h="609600">
                <a:tc>
                  <a:txBody>
                    <a:bodyPr lIns="114300" tIns="95250" rIns="114300" bIns="95250">
                      <a:normAutofit/>
                    </a:bodyPr>
                    <a:lstStyle/>
                    <a:p>
                      <a:r>
                        <a:rPr sz="1800" b="1">
                          <a:solidFill>
                            <a:srgbClr val="FFFFFF"/>
                          </a:solidFill>
                          <a:latin typeface="Arial"/>
                          <a:ea typeface="Arial"/>
                          <a:cs typeface="Arial"/>
                        </a:rPr>
                        <a:t>Category</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Examples</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Strength</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Limitation</a:t>
                      </a:r>
                    </a:p>
                  </a:txBody>
                  <a:tcPr marL="91440" marR="91440" marT="45720" marB="45720" anchor="ctr">
                    <a:solidFill>
                      <a:srgbClr val="123B63"/>
                    </a:solidFill>
                  </a:tcPr>
                </a:tc>
              </a:tr>
              <a:tr h="1200150">
                <a:tc>
                  <a:txBody>
                    <a:bodyPr lIns="114300" tIns="95250" rIns="114300" bIns="95250">
                      <a:normAutofit/>
                    </a:bodyPr>
                    <a:lstStyle/>
                    <a:p>
                      <a:r>
                        <a:rPr sz="1650" b="1">
                          <a:solidFill>
                            <a:srgbClr val="102B44"/>
                          </a:solidFill>
                          <a:latin typeface="Arial"/>
                          <a:ea typeface="Arial"/>
                          <a:cs typeface="Arial"/>
                        </a:rPr>
                        <a:t>Conventional security tools</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Subfinder, Amass, Nmap, Nuclei, SQLmap, ZAP, Metasploit</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Mature, specialized and repeatable</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Require manual coordination. Outputs remain disconnected and provide limited contextual reasoning.</a:t>
                      </a:r>
                    </a:p>
                  </a:txBody>
                  <a:tcPr marL="91440" marR="91440" marT="45720" marB="45720" anchor="ctr">
                    <a:solidFill>
                      <a:srgbClr val="FFFDF9"/>
                    </a:solidFill>
                  </a:tcPr>
                </a:tc>
              </a:tr>
              <a:tr h="1485900">
                <a:tc>
                  <a:txBody>
                    <a:bodyPr lIns="114300" tIns="95250" rIns="114300" bIns="95250">
                      <a:normAutofit/>
                    </a:bodyPr>
                    <a:lstStyle/>
                    <a:p>
                      <a:r>
                        <a:rPr sz="1650" b="1">
                          <a:solidFill>
                            <a:srgbClr val="102B44"/>
                          </a:solidFill>
                          <a:latin typeface="Arial"/>
                          <a:ea typeface="Arial"/>
                          <a:cs typeface="Arial"/>
                        </a:rPr>
                        <a:t>AI pentesting agents</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PentestGPT, HackSynth, PentestAgent, AutoPentester, AutoAttacker, PentAGI, DarkMoon</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Adaptive planning and interpretation</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Depend on LLMs. Many evaluations use bounded tasks and provide limited broad reconnaissance coverage.</a:t>
                      </a:r>
                    </a:p>
                  </a:txBody>
                  <a:tcPr marL="91440" marR="91440" marT="45720" marB="45720" anchor="ctr">
                    <a:solidFill>
                      <a:srgbClr val="EDF3F5"/>
                    </a:solidFill>
                  </a:tcPr>
                </a:tc>
              </a:tr>
              <a:tr h="1200150">
                <a:tc>
                  <a:txBody>
                    <a:bodyPr lIns="114300" tIns="95250" rIns="114300" bIns="95250">
                      <a:normAutofit/>
                    </a:bodyPr>
                    <a:lstStyle/>
                    <a:p>
                      <a:r>
                        <a:rPr sz="1650" b="1">
                          <a:solidFill>
                            <a:srgbClr val="102B44"/>
                          </a:solidFill>
                          <a:latin typeface="Arial"/>
                          <a:ea typeface="Arial"/>
                          <a:cs typeface="Arial"/>
                        </a:rPr>
                        <a:t>AI security frameworks</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HexStrike AI, pentestMCP, Shannon</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Centralized tool access and automation</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Tool access alone does not provide a complete workflow or persistent correlation across testing stages.</a:t>
                      </a:r>
                    </a:p>
                  </a:txBody>
                  <a:tcPr marL="91440" marR="91440" marT="45720" marB="45720" anchor="ctr">
                    <a:solidFill>
                      <a:srgbClr val="FFFDF9"/>
                    </a:solidFill>
                  </a:tcPr>
                </a:tc>
              </a:tr>
            </a:tbl>
          </a:graphicData>
        </a:graphic>
      </p:graphicFrame>
      <p:sp>
        <p:nvSpPr>
          <p:cNvPr id="16" name="">
            <a:extLst xmlns:a="http://schemas.openxmlformats.org/drawingml/2006/main">
              <a:ext uri="{FF2B5EF4-FFF2-40B4-BE49-F238E27FC236}">
                <a16:creationId xmlns:a16="http://schemas.microsoft.com/office/drawing/2014/main" id="{BAFE5B80-2173-4B48-B69F-8F073754F2F9}"/>
              </a:ext>
            </a:extLst>
          </p:cNvPr>
          <p:cNvSpPr>
            <a:spLocks xmlns:a="http://schemas.openxmlformats.org/drawingml/2006/main" noGrp="1"/>
          </p:cNvSpPr>
          <p:nvPr/>
        </p:nvSpPr>
        <p:spPr>
          <a:xfrm xmlns:a="http://schemas.openxmlformats.org/drawingml/2006/main">
            <a:off x="914400" y="85725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literature review and comparison table, pp. 5–10.</a:t>
            </a:r>
          </a:p>
        </p:txBody>
      </p:sp>
    </p:spTree>
    <p:extLst>
      <p:ext uri="{BB962C8B-B14F-4D97-AF65-F5344CB8AC3E}">
        <p14:creationId xmlns:p14="http://schemas.microsoft.com/office/powerpoint/2010/main" val="811104157"/>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07E8676-E787-4701-9A45-72669EA51AA2}"/>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03 / THE GAP</a:t>
            </a:r>
          </a:p>
        </p:txBody>
      </p:sp>
      <p:sp>
        <p:nvSpPr>
          <p:cNvPr id="2" name="">
            <a:extLst xmlns:a="http://schemas.openxmlformats.org/drawingml/2006/main">
              <a:ext uri="{FF2B5EF4-FFF2-40B4-BE49-F238E27FC236}">
                <a16:creationId xmlns:a16="http://schemas.microsoft.com/office/drawing/2014/main" id="{3FD143FA-B4E2-4409-B029-1FE1F9ABA702}"/>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operational security gap is orchestration at scale</a:t>
            </a:r>
          </a:p>
        </p:txBody>
      </p:sp>
      <p:sp>
        <p:nvSpPr>
          <p:cNvPr id="3" name="">
            <a:extLst xmlns:a="http://schemas.openxmlformats.org/drawingml/2006/main">
              <a:ext uri="{FF2B5EF4-FFF2-40B4-BE49-F238E27FC236}">
                <a16:creationId xmlns:a16="http://schemas.microsoft.com/office/drawing/2014/main" id="{A82271C4-5B2D-4CDD-8780-B2D819CCD925}"/>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053E5349-47E0-4EB6-869E-95FA33960020}"/>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68BDE26-2162-465F-9BF0-0ECCB37155F2}"/>
              </a:ext>
            </a:extLst>
          </p:cNvPr>
          <p:cNvSpPr>
            <a:spLocks xmlns:a="http://schemas.openxmlformats.org/drawingml/2006/main" noGrp="1"/>
          </p:cNvSpPr>
          <p:nvPr/>
        </p:nvSpPr>
        <p:spPr>
          <a:xfrm xmlns:a="http://schemas.openxmlformats.org/drawingml/2006/main">
            <a:off x="876300" y="20574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0">
                <a:solidFill>
                  <a:srgbClr val="354F63"/>
                </a:solidFill>
                <a:latin typeface="Arial"/>
                <a:ea typeface="Arial"/>
                <a:cs typeface="Arial"/>
              </a:defRPr>
            </a:pPr>
            <a:r>
              <a:rPr sz="2100" b="0" i="0">
                <a:solidFill>
                  <a:srgbClr val="354F63"/>
                </a:solidFill>
                <a:latin typeface="Arial"/>
                <a:ea typeface="Arial"/>
                <a:cs typeface="Arial"/>
              </a:rPr>
              <a:t>Practical limitations prevent current tools from covering large infrastructures as one connected assessment.</a:t>
            </a:r>
          </a:p>
        </p:txBody>
      </p:sp>
      <p:sp>
        <p:nvSpPr>
          <p:cNvPr id="6" name="">
            <a:extLst xmlns:a="http://schemas.openxmlformats.org/drawingml/2006/main">
              <a:ext uri="{FF2B5EF4-FFF2-40B4-BE49-F238E27FC236}">
                <a16:creationId xmlns:a16="http://schemas.microsoft.com/office/drawing/2014/main" id="{C65D0F13-65E1-46EE-BBC8-2E7526CA07C0}"/>
              </a:ext>
            </a:extLst>
          </p:cNvPr>
          <p:cNvSpPr>
            <a:spLocks xmlns:a="http://schemas.openxmlformats.org/drawingml/2006/main" noGrp="1"/>
          </p:cNvSpPr>
          <p:nvPr/>
        </p:nvSpPr>
        <p:spPr>
          <a:xfrm xmlns:a="http://schemas.openxmlformats.org/drawingml/2006/main">
            <a:off x="87630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5D85586E-5C54-4657-8D7F-766731CEF2B8}"/>
              </a:ext>
            </a:extLst>
          </p:cNvPr>
          <p:cNvSpPr>
            <a:spLocks xmlns:a="http://schemas.openxmlformats.org/drawingml/2006/main" noGrp="1"/>
          </p:cNvSpPr>
          <p:nvPr/>
        </p:nvSpPr>
        <p:spPr>
          <a:xfrm xmlns:a="http://schemas.openxmlformats.org/drawingml/2006/main">
            <a:off x="876300" y="2781300"/>
            <a:ext cx="85725" cy="34290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CC7AE69-B3E9-4CE9-B7D6-69CDD5628A52}"/>
              </a:ext>
            </a:extLst>
          </p:cNvPr>
          <p:cNvSpPr>
            <a:spLocks xmlns:a="http://schemas.openxmlformats.org/drawingml/2006/main" noGrp="1"/>
          </p:cNvSpPr>
          <p:nvPr/>
        </p:nvSpPr>
        <p:spPr>
          <a:xfrm xmlns:a="http://schemas.openxmlformats.org/drawingml/2006/main">
            <a:off x="114300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Fragmented workflow</a:t>
            </a:r>
          </a:p>
        </p:txBody>
      </p:sp>
      <p:sp>
        <p:nvSpPr>
          <p:cNvPr id="9" name="">
            <a:extLst xmlns:a="http://schemas.openxmlformats.org/drawingml/2006/main">
              <a:ext uri="{FF2B5EF4-FFF2-40B4-BE49-F238E27FC236}">
                <a16:creationId xmlns:a16="http://schemas.microsoft.com/office/drawing/2014/main" id="{8E4B37B3-63BA-4FE4-A0D1-3AFB80DDEC48}"/>
              </a:ext>
            </a:extLst>
          </p:cNvPr>
          <p:cNvSpPr>
            <a:spLocks xmlns:a="http://schemas.openxmlformats.org/drawingml/2006/main" noGrp="1"/>
          </p:cNvSpPr>
          <p:nvPr/>
        </p:nvSpPr>
        <p:spPr>
          <a:xfrm xmlns:a="http://schemas.openxmlformats.org/drawingml/2006/main">
            <a:off x="114300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Specialized tools emit isolated outputs.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Humans repeatedly copy, filter, correlate and decide what to run next.</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Assets, services, endpoints and evidence are easily disconnected.</a:t>
            </a:r>
          </a:p>
        </p:txBody>
      </p:sp>
      <p:sp>
        <p:nvSpPr>
          <p:cNvPr id="10" name="">
            <a:extLst xmlns:a="http://schemas.openxmlformats.org/drawingml/2006/main">
              <a:ext uri="{FF2B5EF4-FFF2-40B4-BE49-F238E27FC236}">
                <a16:creationId xmlns:a16="http://schemas.microsoft.com/office/drawing/2014/main" id="{22A7857E-C3FD-401E-81FF-49F5DA93948B}"/>
              </a:ext>
            </a:extLst>
          </p:cNvPr>
          <p:cNvSpPr>
            <a:spLocks xmlns:a="http://schemas.openxmlformats.org/drawingml/2006/main" noGrp="1"/>
          </p:cNvSpPr>
          <p:nvPr/>
        </p:nvSpPr>
        <p:spPr>
          <a:xfrm xmlns:a="http://schemas.openxmlformats.org/drawingml/2006/main">
            <a:off x="600075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33667DC3-F404-476F-975C-2C8A4CC1CE01}"/>
              </a:ext>
            </a:extLst>
          </p:cNvPr>
          <p:cNvSpPr>
            <a:spLocks xmlns:a="http://schemas.openxmlformats.org/drawingml/2006/main" noGrp="1"/>
          </p:cNvSpPr>
          <p:nvPr/>
        </p:nvSpPr>
        <p:spPr>
          <a:xfrm xmlns:a="http://schemas.openxmlformats.org/drawingml/2006/main">
            <a:off x="6000750" y="2781300"/>
            <a:ext cx="85725" cy="34290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49773B9-3399-4653-9E64-F489F053797F}"/>
              </a:ext>
            </a:extLst>
          </p:cNvPr>
          <p:cNvSpPr>
            <a:spLocks xmlns:a="http://schemas.openxmlformats.org/drawingml/2006/main" noGrp="1"/>
          </p:cNvSpPr>
          <p:nvPr/>
        </p:nvSpPr>
        <p:spPr>
          <a:xfrm xmlns:a="http://schemas.openxmlformats.org/drawingml/2006/main">
            <a:off x="626745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Reconnaissance scale</a:t>
            </a:r>
          </a:p>
        </p:txBody>
      </p:sp>
      <p:sp>
        <p:nvSpPr>
          <p:cNvPr id="13" name="">
            <a:extLst xmlns:a="http://schemas.openxmlformats.org/drawingml/2006/main">
              <a:ext uri="{FF2B5EF4-FFF2-40B4-BE49-F238E27FC236}">
                <a16:creationId xmlns:a16="http://schemas.microsoft.com/office/drawing/2014/main" id="{9D6B4243-352E-4B90-99EA-A482516EE285}"/>
              </a:ext>
            </a:extLst>
          </p:cNvPr>
          <p:cNvSpPr>
            <a:spLocks xmlns:a="http://schemas.openxmlformats.org/drawingml/2006/main" noGrp="1"/>
          </p:cNvSpPr>
          <p:nvPr/>
        </p:nvSpPr>
        <p:spPr>
          <a:xfrm xmlns:a="http://schemas.openxmlformats.org/drawingml/2006/main">
            <a:off x="626745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Real infrastructures are wider than bounded CTF tasks.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Each new domain, host, port or endpoint creates more work.</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Many AI systems are not optimized for continuous, broad reconnaissance coverage.</a:t>
            </a:r>
          </a:p>
        </p:txBody>
      </p:sp>
      <p:sp>
        <p:nvSpPr>
          <p:cNvPr id="14" name="">
            <a:extLst xmlns:a="http://schemas.openxmlformats.org/drawingml/2006/main">
              <a:ext uri="{FF2B5EF4-FFF2-40B4-BE49-F238E27FC236}">
                <a16:creationId xmlns:a16="http://schemas.microsoft.com/office/drawing/2014/main" id="{B62640F1-8767-4C94-B2E0-8D930D45D8DB}"/>
              </a:ext>
            </a:extLst>
          </p:cNvPr>
          <p:cNvSpPr>
            <a:spLocks xmlns:a="http://schemas.openxmlformats.org/drawingml/2006/main" noGrp="1"/>
          </p:cNvSpPr>
          <p:nvPr/>
        </p:nvSpPr>
        <p:spPr>
          <a:xfrm xmlns:a="http://schemas.openxmlformats.org/drawingml/2006/main">
            <a:off x="11125200" y="2781300"/>
            <a:ext cx="55245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5" name="">
            <a:extLst xmlns:a="http://schemas.openxmlformats.org/drawingml/2006/main">
              <a:ext uri="{FF2B5EF4-FFF2-40B4-BE49-F238E27FC236}">
                <a16:creationId xmlns:a16="http://schemas.microsoft.com/office/drawing/2014/main" id="{05AFB94C-9BAF-4A78-B7A0-5E5310710A84}"/>
              </a:ext>
            </a:extLst>
          </p:cNvPr>
          <p:cNvSpPr>
            <a:spLocks xmlns:a="http://schemas.openxmlformats.org/drawingml/2006/main" noGrp="1"/>
          </p:cNvSpPr>
          <p:nvPr/>
        </p:nvSpPr>
        <p:spPr>
          <a:xfrm xmlns:a="http://schemas.openxmlformats.org/drawingml/2006/main">
            <a:off x="11125200" y="2781300"/>
            <a:ext cx="85725" cy="34290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276EA4F-346E-47D5-BD19-4C6D9DB930D6}"/>
              </a:ext>
            </a:extLst>
          </p:cNvPr>
          <p:cNvSpPr>
            <a:spLocks xmlns:a="http://schemas.openxmlformats.org/drawingml/2006/main" noGrp="1"/>
          </p:cNvSpPr>
          <p:nvPr/>
        </p:nvSpPr>
        <p:spPr>
          <a:xfrm xmlns:a="http://schemas.openxmlformats.org/drawingml/2006/main">
            <a:off x="11391900" y="29908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3 · External LLM dependency</a:t>
            </a:r>
          </a:p>
        </p:txBody>
      </p:sp>
      <p:sp>
        <p:nvSpPr>
          <p:cNvPr id="17" name="">
            <a:extLst xmlns:a="http://schemas.openxmlformats.org/drawingml/2006/main">
              <a:ext uri="{FF2B5EF4-FFF2-40B4-BE49-F238E27FC236}">
                <a16:creationId xmlns:a16="http://schemas.microsoft.com/office/drawing/2014/main" id="{9783F462-6F8F-434C-A7C2-A4083D6EEB23}"/>
              </a:ext>
            </a:extLst>
          </p:cNvPr>
          <p:cNvSpPr>
            <a:spLocks xmlns:a="http://schemas.openxmlformats.org/drawingml/2006/main" noGrp="1"/>
          </p:cNvSpPr>
          <p:nvPr/>
        </p:nvSpPr>
        <p:spPr>
          <a:xfrm xmlns:a="http://schemas.openxmlformats.org/drawingml/2006/main">
            <a:off x="11391900" y="3524250"/>
            <a:ext cx="50292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API cost, rate limits, connectivity and model behavior can interrupt assessments.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Known pentesting steps do not require expensive reasoning every time.</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When the model stops, the core workflow should not stop.</a:t>
            </a:r>
          </a:p>
        </p:txBody>
      </p:sp>
      <p:sp>
        <p:nvSpPr>
          <p:cNvPr id="18" name="">
            <a:extLst xmlns:a="http://schemas.openxmlformats.org/drawingml/2006/main">
              <a:ext uri="{FF2B5EF4-FFF2-40B4-BE49-F238E27FC236}">
                <a16:creationId xmlns:a16="http://schemas.microsoft.com/office/drawing/2014/main" id="{2C2B0DD4-EC74-46A9-9ADC-35C1ABAEE52C}"/>
              </a:ext>
            </a:extLst>
          </p:cNvPr>
          <p:cNvSpPr>
            <a:spLocks xmlns:a="http://schemas.openxmlformats.org/drawingml/2006/main" noGrp="1"/>
          </p:cNvSpPr>
          <p:nvPr/>
        </p:nvSpPr>
        <p:spPr>
          <a:xfrm xmlns:a="http://schemas.openxmlformats.org/drawingml/2006/main">
            <a:off x="876300" y="6667500"/>
            <a:ext cx="15773400" cy="1466850"/>
          </a:xfrm>
          <a:prstGeom xmlns:a="http://schemas.openxmlformats.org/drawingml/2006/main" prst="roundRect">
            <a:avLst>
              <a:gd name="adj" fmla="val 5195"/>
            </a:avLst>
          </a:prstGeom>
          <a:solidFill xmlns:a="http://schemas.openxmlformats.org/drawingml/2006/main">
            <a:srgbClr val="F1E8D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A34E2ED-8C37-4EB3-9AC5-4F1EE38FFADC}"/>
              </a:ext>
            </a:extLst>
          </p:cNvPr>
          <p:cNvSpPr>
            <a:spLocks xmlns:a="http://schemas.openxmlformats.org/drawingml/2006/main" noGrp="1"/>
          </p:cNvSpPr>
          <p:nvPr/>
        </p:nvSpPr>
        <p:spPr>
          <a:xfrm xmlns:a="http://schemas.openxmlformats.org/drawingml/2006/main">
            <a:off x="1200150" y="695325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C55B48"/>
                </a:solidFill>
                <a:latin typeface="Arial"/>
                <a:ea typeface="Arial"/>
                <a:cs typeface="Arial"/>
              </a:defRPr>
            </a:pPr>
            <a:r>
              <a:rPr sz="1950" b="1" i="0">
                <a:solidFill>
                  <a:srgbClr val="C55B48"/>
                </a:solidFill>
                <a:latin typeface="Arial"/>
                <a:ea typeface="Arial"/>
                <a:cs typeface="Arial"/>
              </a:rPr>
              <a:t>Trust and control must span the entire workflow</a:t>
            </a:r>
          </a:p>
        </p:txBody>
      </p:sp>
      <p:sp>
        <p:nvSpPr>
          <p:cNvPr id="20" name="">
            <a:extLst xmlns:a="http://schemas.openxmlformats.org/drawingml/2006/main">
              <a:ext uri="{FF2B5EF4-FFF2-40B4-BE49-F238E27FC236}">
                <a16:creationId xmlns:a16="http://schemas.microsoft.com/office/drawing/2014/main" id="{C45A5BA0-6B55-4F0D-A186-226C26C7ED72}"/>
              </a:ext>
            </a:extLst>
          </p:cNvPr>
          <p:cNvSpPr>
            <a:spLocks xmlns:a="http://schemas.openxmlformats.org/drawingml/2006/main" noGrp="1"/>
          </p:cNvSpPr>
          <p:nvPr/>
        </p:nvSpPr>
        <p:spPr>
          <a:xfrm xmlns:a="http://schemas.openxmlformats.org/drawingml/2006/main">
            <a:off x="1257300" y="75438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Scope enforcement</a:t>
            </a:r>
          </a:p>
        </p:txBody>
      </p:sp>
      <p:sp>
        <p:nvSpPr>
          <p:cNvPr id="21" name="">
            <a:extLst xmlns:a="http://schemas.openxmlformats.org/drawingml/2006/main">
              <a:ext uri="{FF2B5EF4-FFF2-40B4-BE49-F238E27FC236}">
                <a16:creationId xmlns:a16="http://schemas.microsoft.com/office/drawing/2014/main" id="{2A43D660-A1DE-4A80-9745-E094F0980B5E}"/>
              </a:ext>
            </a:extLst>
          </p:cNvPr>
          <p:cNvSpPr>
            <a:spLocks xmlns:a="http://schemas.openxmlformats.org/drawingml/2006/main" noGrp="1"/>
          </p:cNvSpPr>
          <p:nvPr/>
        </p:nvSpPr>
        <p:spPr>
          <a:xfrm xmlns:a="http://schemas.openxmlformats.org/drawingml/2006/main">
            <a:off x="5048250" y="75438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Evidence-based findings</a:t>
            </a:r>
          </a:p>
        </p:txBody>
      </p:sp>
      <p:sp>
        <p:nvSpPr>
          <p:cNvPr id="22" name="">
            <a:extLst xmlns:a="http://schemas.openxmlformats.org/drawingml/2006/main">
              <a:ext uri="{FF2B5EF4-FFF2-40B4-BE49-F238E27FC236}">
                <a16:creationId xmlns:a16="http://schemas.microsoft.com/office/drawing/2014/main" id="{76DDE65E-DFC1-42A1-8E5E-D0FA80764A17}"/>
              </a:ext>
            </a:extLst>
          </p:cNvPr>
          <p:cNvSpPr>
            <a:spLocks xmlns:a="http://schemas.openxmlformats.org/drawingml/2006/main" noGrp="1"/>
          </p:cNvSpPr>
          <p:nvPr/>
        </p:nvSpPr>
        <p:spPr>
          <a:xfrm xmlns:a="http://schemas.openxmlformats.org/drawingml/2006/main">
            <a:off x="9353550" y="7543800"/>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Human approval before impactful actions</a:t>
            </a:r>
          </a:p>
        </p:txBody>
      </p:sp>
      <p:sp>
        <p:nvSpPr>
          <p:cNvPr id="23" name="">
            <a:extLst xmlns:a="http://schemas.openxmlformats.org/drawingml/2006/main">
              <a:ext uri="{FF2B5EF4-FFF2-40B4-BE49-F238E27FC236}">
                <a16:creationId xmlns:a16="http://schemas.microsoft.com/office/drawing/2014/main" id="{305D4E42-DAD6-402D-A2A9-001AE766FB85}"/>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pp. 10–12.</a:t>
            </a:r>
          </a:p>
        </p:txBody>
      </p:sp>
    </p:spTree>
    <p:extLst>
      <p:ext uri="{BB962C8B-B14F-4D97-AF65-F5344CB8AC3E}">
        <p14:creationId xmlns:p14="http://schemas.microsoft.com/office/powerpoint/2010/main" val="1005768791"/>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0ADF20E-313F-4CD2-B5D6-1388397542D5}"/>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04 / PROJECT OBJECTIVES</a:t>
            </a:r>
          </a:p>
        </p:txBody>
      </p:sp>
      <p:sp>
        <p:nvSpPr>
          <p:cNvPr id="2" name="">
            <a:extLst xmlns:a="http://schemas.openxmlformats.org/drawingml/2006/main">
              <a:ext uri="{FF2B5EF4-FFF2-40B4-BE49-F238E27FC236}">
                <a16:creationId xmlns:a16="http://schemas.microsoft.com/office/drawing/2014/main" id="{E443FB5A-6389-4DE2-B9A6-E0356486E01B}"/>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17FC1A36-A4B8-4A38-884F-B0E114569FED}"/>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60415F0F-B4F1-4A80-A635-BD0B675BF3B2}"/>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C0F3F2E-B4ED-4921-9C74-87D05B00CA7A}"/>
              </a:ext>
            </a:extLst>
          </p:cNvPr>
          <p:cNvSpPr>
            <a:spLocks xmlns:a="http://schemas.openxmlformats.org/drawingml/2006/main" noGrp="1"/>
          </p:cNvSpPr>
          <p:nvPr/>
        </p:nvSpPr>
        <p:spPr>
          <a:xfrm xmlns:a="http://schemas.openxmlformats.org/drawingml/2006/main">
            <a:off x="87630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E6C15263-69BC-4110-B7DD-7D802B80503A}"/>
              </a:ext>
            </a:extLst>
          </p:cNvPr>
          <p:cNvSpPr>
            <a:spLocks xmlns:a="http://schemas.openxmlformats.org/drawingml/2006/main" noGrp="1"/>
          </p:cNvSpPr>
          <p:nvPr/>
        </p:nvSpPr>
        <p:spPr>
          <a:xfrm xmlns:a="http://schemas.openxmlformats.org/drawingml/2006/main">
            <a:off x="876300" y="2533650"/>
            <a:ext cx="85725" cy="42862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7D4BC5-0634-41A4-A614-F72E6E5EA02F}"/>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422"/>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1 · Integrated security assessment</a:t>
            </a:r>
          </a:p>
        </p:txBody>
      </p:sp>
      <p:sp>
        <p:nvSpPr>
          <p:cNvPr id="8" name="">
            <a:extLst xmlns:a="http://schemas.openxmlformats.org/drawingml/2006/main">
              <a:ext uri="{FF2B5EF4-FFF2-40B4-BE49-F238E27FC236}">
                <a16:creationId xmlns:a16="http://schemas.microsoft.com/office/drawing/2014/main" id="{5BEBF5DD-04C2-4B8D-99F8-03C9AEF49B11}"/>
              </a:ext>
            </a:extLst>
          </p:cNvPr>
          <p:cNvSpPr>
            <a:spLocks xmlns:a="http://schemas.openxmlformats.org/drawingml/2006/main" noGrp="1"/>
          </p:cNvSpPr>
          <p:nvPr/>
        </p:nvSpPr>
        <p:spPr>
          <a:xfrm xmlns:a="http://schemas.openxmlformats.org/drawingml/2006/main">
            <a:off x="114300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Develop one unified harness covering reconnaissance, progressive attack-surface discovery, scanning, vulnerability identification, business-logic analysis, correlation and reporting.</a:t>
            </a:r>
          </a:p>
        </p:txBody>
      </p:sp>
      <p:sp>
        <p:nvSpPr>
          <p:cNvPr id="9" name="">
            <a:extLst xmlns:a="http://schemas.openxmlformats.org/drawingml/2006/main">
              <a:ext uri="{FF2B5EF4-FFF2-40B4-BE49-F238E27FC236}">
                <a16:creationId xmlns:a16="http://schemas.microsoft.com/office/drawing/2014/main" id="{0FACDFF1-45A8-447C-AC32-332099F3C491}"/>
              </a:ext>
            </a:extLst>
          </p:cNvPr>
          <p:cNvSpPr>
            <a:spLocks xmlns:a="http://schemas.openxmlformats.org/drawingml/2006/main" noGrp="1"/>
          </p:cNvSpPr>
          <p:nvPr/>
        </p:nvSpPr>
        <p:spPr>
          <a:xfrm xmlns:a="http://schemas.openxmlformats.org/drawingml/2006/main">
            <a:off x="600075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53184DA7-27AC-460B-8668-7F2337F44990}"/>
              </a:ext>
            </a:extLst>
          </p:cNvPr>
          <p:cNvSpPr>
            <a:spLocks xmlns:a="http://schemas.openxmlformats.org/drawingml/2006/main" noGrp="1"/>
          </p:cNvSpPr>
          <p:nvPr/>
        </p:nvSpPr>
        <p:spPr>
          <a:xfrm xmlns:a="http://schemas.openxmlformats.org/drawingml/2006/main">
            <a:off x="6000750" y="2533650"/>
            <a:ext cx="85725" cy="42862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78A7A4E-A2E0-44A1-94A9-B9917AF53477}"/>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2 · Dual-mode orchestration</a:t>
            </a:r>
          </a:p>
        </p:txBody>
      </p:sp>
      <p:sp>
        <p:nvSpPr>
          <p:cNvPr id="12" name="">
            <a:extLst xmlns:a="http://schemas.openxmlformats.org/drawingml/2006/main">
              <a:ext uri="{FF2B5EF4-FFF2-40B4-BE49-F238E27FC236}">
                <a16:creationId xmlns:a16="http://schemas.microsoft.com/office/drawing/2014/main" id="{82E701EA-987B-4012-A9F8-3957F24A0FC0}"/>
              </a:ext>
            </a:extLst>
          </p:cNvPr>
          <p:cNvSpPr>
            <a:spLocks xmlns:a="http://schemas.openxmlformats.org/drawingml/2006/main" noGrp="1"/>
          </p:cNvSpPr>
          <p:nvPr/>
        </p:nvSpPr>
        <p:spPr>
          <a:xfrm xmlns:a="http://schemas.openxmlformats.org/drawingml/2006/main">
            <a:off x="626745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Use LLM reasoning when available while maintaining a deterministic rule-based mode with no mandatory LLM dependency.</a:t>
            </a:r>
          </a:p>
        </p:txBody>
      </p:sp>
      <p:sp>
        <p:nvSpPr>
          <p:cNvPr id="13" name="">
            <a:extLst xmlns:a="http://schemas.openxmlformats.org/drawingml/2006/main">
              <a:ext uri="{FF2B5EF4-FFF2-40B4-BE49-F238E27FC236}">
                <a16:creationId xmlns:a16="http://schemas.microsoft.com/office/drawing/2014/main" id="{2F33EFFA-D26E-425C-8528-689D20925DA3}"/>
              </a:ext>
            </a:extLst>
          </p:cNvPr>
          <p:cNvSpPr>
            <a:spLocks xmlns:a="http://schemas.openxmlformats.org/drawingml/2006/main" noGrp="1"/>
          </p:cNvSpPr>
          <p:nvPr/>
        </p:nvSpPr>
        <p:spPr>
          <a:xfrm xmlns:a="http://schemas.openxmlformats.org/drawingml/2006/main">
            <a:off x="11125200" y="2533650"/>
            <a:ext cx="55245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22F7C002-32C1-45F7-8518-57687AA8C0D2}"/>
              </a:ext>
            </a:extLst>
          </p:cNvPr>
          <p:cNvSpPr>
            <a:spLocks xmlns:a="http://schemas.openxmlformats.org/drawingml/2006/main" noGrp="1"/>
          </p:cNvSpPr>
          <p:nvPr/>
        </p:nvSpPr>
        <p:spPr>
          <a:xfrm xmlns:a="http://schemas.openxmlformats.org/drawingml/2006/main">
            <a:off x="11125200" y="2533650"/>
            <a:ext cx="85725" cy="428625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D62E3CF-1DDB-4284-B8B7-504D37EA9DD3}"/>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3 · Safe and controlled testing</a:t>
            </a:r>
          </a:p>
        </p:txBody>
      </p:sp>
      <p:sp>
        <p:nvSpPr>
          <p:cNvPr id="16" name="">
            <a:extLst xmlns:a="http://schemas.openxmlformats.org/drawingml/2006/main">
              <a:ext uri="{FF2B5EF4-FFF2-40B4-BE49-F238E27FC236}">
                <a16:creationId xmlns:a16="http://schemas.microsoft.com/office/drawing/2014/main" id="{C950E4FB-3D59-4E83-ADD7-5F392F7829B8}"/>
              </a:ext>
            </a:extLst>
          </p:cNvPr>
          <p:cNvSpPr>
            <a:spLocks xmlns:a="http://schemas.openxmlformats.org/drawingml/2006/main" noGrp="1"/>
          </p:cNvSpPr>
          <p:nvPr/>
        </p:nvSpPr>
        <p:spPr>
          <a:xfrm xmlns:a="http://schemas.openxmlformats.org/drawingml/2006/main">
            <a:off x="11391900" y="3276600"/>
            <a:ext cx="50292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Enforce the authorized scope, validate findings with evidence and require human approval before potentially impactful actions.</a:t>
            </a:r>
          </a:p>
        </p:txBody>
      </p:sp>
      <p:sp>
        <p:nvSpPr>
          <p:cNvPr id="17" name="">
            <a:extLst xmlns:a="http://schemas.openxmlformats.org/drawingml/2006/main">
              <a:ext uri="{FF2B5EF4-FFF2-40B4-BE49-F238E27FC236}">
                <a16:creationId xmlns:a16="http://schemas.microsoft.com/office/drawing/2014/main" id="{F31EC4F3-EA6D-4D4F-987E-EEC22B74010C}"/>
              </a:ext>
            </a:extLst>
          </p:cNvPr>
          <p:cNvSpPr>
            <a:spLocks xmlns:a="http://schemas.openxmlformats.org/drawingml/2006/main" noGrp="1"/>
          </p:cNvSpPr>
          <p:nvPr/>
        </p:nvSpPr>
        <p:spPr>
          <a:xfrm xmlns:a="http://schemas.openxmlformats.org/drawingml/2006/main">
            <a:off x="876300" y="7334250"/>
            <a:ext cx="15773400" cy="1028700"/>
          </a:xfrm>
          <a:prstGeom xmlns:a="http://schemas.openxmlformats.org/drawingml/2006/main" prst="roundRect">
            <a:avLst>
              <a:gd name="adj" fmla="val 7407"/>
            </a:avLst>
          </a:prstGeom>
          <a:solidFill xmlns:a="http://schemas.openxmlformats.org/drawingml/2006/main">
            <a:srgbClr val="E8EFF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48C8C3E-126B-4838-BFCF-887DE27CAF02}"/>
              </a:ext>
            </a:extLst>
          </p:cNvPr>
          <p:cNvSpPr>
            <a:spLocks xmlns:a="http://schemas.openxmlformats.org/drawingml/2006/main" noGrp="1"/>
          </p:cNvSpPr>
          <p:nvPr/>
        </p:nvSpPr>
        <p:spPr>
          <a:xfrm xmlns:a="http://schemas.openxmlformats.org/drawingml/2006/main">
            <a:off x="1257300" y="7620000"/>
            <a:ext cx="15011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The proposed framework combines one unified harness, reliable non-LLM operation and controlled AI assistance.</a:t>
            </a:r>
          </a:p>
        </p:txBody>
      </p:sp>
      <p:sp>
        <p:nvSpPr>
          <p:cNvPr id="19" name="">
            <a:extLst xmlns:a="http://schemas.openxmlformats.org/drawingml/2006/main">
              <a:ext uri="{FF2B5EF4-FFF2-40B4-BE49-F238E27FC236}">
                <a16:creationId xmlns:a16="http://schemas.microsoft.com/office/drawing/2014/main" id="{7654076B-B90C-4EC7-9C24-13850BF2AAE9}"/>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Objectives, p. 14.</a:t>
            </a:r>
          </a:p>
        </p:txBody>
      </p:sp>
    </p:spTree>
    <p:extLst>
      <p:ext uri="{BB962C8B-B14F-4D97-AF65-F5344CB8AC3E}">
        <p14:creationId xmlns:p14="http://schemas.microsoft.com/office/powerpoint/2010/main" val="2133230056"/>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9D093F5-D5F0-4217-882E-67D8CD197B96}"/>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05 / PROPOSED ARCHITECTURE</a:t>
            </a:r>
          </a:p>
        </p:txBody>
      </p:sp>
      <p:sp>
        <p:nvSpPr>
          <p:cNvPr id="2" name="">
            <a:extLst xmlns:a="http://schemas.openxmlformats.org/drawingml/2006/main">
              <a:ext uri="{FF2B5EF4-FFF2-40B4-BE49-F238E27FC236}">
                <a16:creationId xmlns:a16="http://schemas.microsoft.com/office/drawing/2014/main" id="{9B593F62-86C2-400B-AC96-FA2E37A5FF9F}"/>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WORLD MODEL FOR PENTESTING</a:t>
            </a:r>
          </a:p>
        </p:txBody>
      </p:sp>
      <p:sp>
        <p:nvSpPr>
          <p:cNvPr id="3" name="">
            <a:extLst xmlns:a="http://schemas.openxmlformats.org/drawingml/2006/main">
              <a:ext uri="{FF2B5EF4-FFF2-40B4-BE49-F238E27FC236}">
                <a16:creationId xmlns:a16="http://schemas.microsoft.com/office/drawing/2014/main" id="{16B67FBA-2B67-4279-ADF5-554EB7944CE7}"/>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ACA24DCA-24D2-4E84-8725-5E3D41BCB1E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ED8D214-4C03-48B8-BA60-9EDC20015FDE}"/>
              </a:ext>
            </a:extLst>
          </p:cNvPr>
          <p:cNvSpPr>
            <a:spLocks xmlns:a="http://schemas.openxmlformats.org/drawingml/2006/main" noGrp="1"/>
          </p:cNvSpPr>
          <p:nvPr/>
        </p:nvSpPr>
        <p:spPr>
          <a:xfrm xmlns:a="http://schemas.openxmlformats.org/drawingml/2006/main">
            <a:off x="685800" y="2076450"/>
            <a:ext cx="13049250" cy="7029450"/>
          </a:xfrm>
          <a:prstGeom xmlns:a="http://schemas.openxmlformats.org/drawingml/2006/main" prst="roundRect">
            <a:avLst>
              <a:gd name="adj" fmla="val 1084"/>
            </a:avLst>
          </a:prstGeom>
          <a:solidFill xmlns:a="http://schemas.openxmlformats.org/drawingml/2006/main">
            <a:srgbClr val="FFFFFF"/>
          </a:solidFill>
          <a:ln xmlns:a="http://schemas.openxmlformats.org/drawingml/2006/main" w="19050">
            <a:solidFill>
              <a:srgbClr val="CAD6DE"/>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a4e2d12f5cb4b73"/>
          <a:stretch xmlns:a="http://schemas.openxmlformats.org/drawingml/2006/main"/>
        </p:blipFill>
        <p:spPr>
          <a:xfrm xmlns:a="http://schemas.openxmlformats.org/drawingml/2006/main">
            <a:off x="1967715" y="2228850"/>
            <a:ext cx="10485421" cy="6724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D0450ED-6A9D-4BC8-8CDD-C6AEE5FF9B4C}"/>
              </a:ext>
            </a:extLst>
          </p:cNvPr>
          <p:cNvSpPr>
            <a:spLocks xmlns:a="http://schemas.openxmlformats.org/drawingml/2006/main" noGrp="1"/>
          </p:cNvSpPr>
          <p:nvPr/>
        </p:nvSpPr>
        <p:spPr>
          <a:xfrm xmlns:a="http://schemas.openxmlformats.org/drawingml/2006/main">
            <a:off x="14211300" y="24384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EXPLORE THE MODEL</a:t>
            </a:r>
          </a:p>
        </p:txBody>
      </p:sp>
      <p:sp>
        <p:nvSpPr>
          <p:cNvPr id="8" name="">
            <a:hlinkClick xmlns:a="http://schemas.openxmlformats.org/drawingml/2006/main" xmlns:r="http://schemas.openxmlformats.org/officeDocument/2006/relationships" r:id="Rbd3cd9d767d5421f" action="ppaction://hlinksldjump"/>
            <a:extLst xmlns:a="http://schemas.openxmlformats.org/drawingml/2006/main">
              <a:ext uri="{FF2B5EF4-FFF2-40B4-BE49-F238E27FC236}">
                <a16:creationId xmlns:a16="http://schemas.microsoft.com/office/drawing/2014/main" id="{CFE0F3AC-AA3B-4280-90A9-E2F9B16A78E9}"/>
              </a:ext>
            </a:extLst>
          </p:cNvPr>
          <p:cNvSpPr>
            <a:spLocks xmlns:a="http://schemas.openxmlformats.org/drawingml/2006/main" noGrp="1"/>
          </p:cNvSpPr>
          <p:nvPr/>
        </p:nvSpPr>
        <p:spPr>
          <a:xfrm xmlns:a="http://schemas.openxmlformats.org/drawingml/2006/main">
            <a:off x="14039850" y="3086100"/>
            <a:ext cx="3048000" cy="876300"/>
          </a:xfrm>
          <a:prstGeom xmlns:a="http://schemas.openxmlformats.org/drawingml/2006/main" prst="roundRect">
            <a:avLst>
              <a:gd name="adj" fmla="val 8696"/>
            </a:avLst>
          </a:prstGeom>
          <a:solidFill xmlns:a="http://schemas.openxmlformats.org/drawingml/2006/main">
            <a:srgbClr val="2D8B84"/>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World model?</a:t>
            </a:r>
          </a:p>
        </p:txBody>
      </p:sp>
      <p:sp>
        <p:nvSpPr>
          <p:cNvPr id="9" name="">
            <a:hlinkClick xmlns:a="http://schemas.openxmlformats.org/drawingml/2006/main" xmlns:r="http://schemas.openxmlformats.org/officeDocument/2006/relationships" r:id="R9dbadaba8f4a436d" action="ppaction://hlinksldjump"/>
            <a:extLst xmlns:a="http://schemas.openxmlformats.org/drawingml/2006/main">
              <a:ext uri="{FF2B5EF4-FFF2-40B4-BE49-F238E27FC236}">
                <a16:creationId xmlns:a16="http://schemas.microsoft.com/office/drawing/2014/main" id="{CC133006-306C-47D1-83FC-6B3EE02F4923}"/>
              </a:ext>
            </a:extLst>
          </p:cNvPr>
          <p:cNvSpPr>
            <a:spLocks xmlns:a="http://schemas.openxmlformats.org/drawingml/2006/main" noGrp="1"/>
          </p:cNvSpPr>
          <p:nvPr/>
        </p:nvSpPr>
        <p:spPr>
          <a:xfrm xmlns:a="http://schemas.openxmlformats.org/drawingml/2006/main">
            <a:off x="14039850" y="4362450"/>
            <a:ext cx="3048000" cy="876300"/>
          </a:xfrm>
          <a:prstGeom xmlns:a="http://schemas.openxmlformats.org/drawingml/2006/main" prst="roundRect">
            <a:avLst>
              <a:gd name="adj" fmla="val 8696"/>
            </a:avLst>
          </a:prstGeom>
          <a:solidFill xmlns:a="http://schemas.openxmlformats.org/drawingml/2006/main">
            <a:srgbClr val="2C669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Phase agents?</a:t>
            </a:r>
          </a:p>
        </p:txBody>
      </p:sp>
      <p:sp>
        <p:nvSpPr>
          <p:cNvPr id="10" name="">
            <a:hlinkClick xmlns:a="http://schemas.openxmlformats.org/drawingml/2006/main" xmlns:r="http://schemas.openxmlformats.org/officeDocument/2006/relationships" r:id="R1e1dbf472d0c4a62" action="ppaction://hlinksldjump"/>
            <a:extLst xmlns:a="http://schemas.openxmlformats.org/drawingml/2006/main">
              <a:ext uri="{FF2B5EF4-FFF2-40B4-BE49-F238E27FC236}">
                <a16:creationId xmlns:a16="http://schemas.microsoft.com/office/drawing/2014/main" id="{AFD2E54E-DFC8-467D-B956-86BCCA6D0143}"/>
              </a:ext>
            </a:extLst>
          </p:cNvPr>
          <p:cNvSpPr>
            <a:spLocks xmlns:a="http://schemas.openxmlformats.org/drawingml/2006/main" noGrp="1"/>
          </p:cNvSpPr>
          <p:nvPr/>
        </p:nvSpPr>
        <p:spPr>
          <a:xfrm xmlns:a="http://schemas.openxmlformats.org/drawingml/2006/main">
            <a:off x="14039850" y="5638800"/>
            <a:ext cx="3048000" cy="990600"/>
          </a:xfrm>
          <a:prstGeom xmlns:a="http://schemas.openxmlformats.org/drawingml/2006/main" prst="roundRect">
            <a:avLst>
              <a:gd name="adj" fmla="val 7692"/>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How will it all work?</a:t>
            </a:r>
          </a:p>
        </p:txBody>
      </p:sp>
      <p:sp>
        <p:nvSpPr>
          <p:cNvPr id="11" name="">
            <a:extLst xmlns:a="http://schemas.openxmlformats.org/drawingml/2006/main">
              <a:ext uri="{FF2B5EF4-FFF2-40B4-BE49-F238E27FC236}">
                <a16:creationId xmlns:a16="http://schemas.microsoft.com/office/drawing/2014/main" id="{E5D9F0A0-E405-467A-BF05-6E5EA271E2CF}"/>
              </a:ext>
            </a:extLst>
          </p:cNvPr>
          <p:cNvSpPr>
            <a:spLocks xmlns:a="http://schemas.openxmlformats.org/drawingml/2006/main" noGrp="1"/>
          </p:cNvSpPr>
          <p:nvPr/>
        </p:nvSpPr>
        <p:spPr>
          <a:xfrm xmlns:a="http://schemas.openxmlformats.org/drawingml/2006/main">
            <a:off x="14097000" y="7105650"/>
            <a:ext cx="2933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354F63"/>
                </a:solidFill>
                <a:latin typeface="Arial"/>
                <a:ea typeface="Arial"/>
                <a:cs typeface="Arial"/>
              </a:defRPr>
            </a:pPr>
            <a:r>
              <a:rPr sz="1575" b="0" i="0">
                <a:solidFill>
                  <a:srgbClr val="354F63"/>
                </a:solidFill>
                <a:latin typeface="Arial"/>
                <a:ea typeface="Arial"/>
                <a:cs typeface="Arial"/>
              </a:rPr>
              <a:t>Select a question during the presentation to open its explanation.</a:t>
            </a:r>
          </a:p>
        </p:txBody>
      </p:sp>
    </p:spTree>
    <p:extLst>
      <p:ext uri="{BB962C8B-B14F-4D97-AF65-F5344CB8AC3E}">
        <p14:creationId xmlns:p14="http://schemas.microsoft.com/office/powerpoint/2010/main" val="724914143"/>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9DF1432-EA7B-4A99-9EAB-A7EC8AC9354A}"/>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06 / WORLD MODEL</a:t>
            </a:r>
          </a:p>
        </p:txBody>
      </p:sp>
      <p:sp>
        <p:nvSpPr>
          <p:cNvPr id="2" name="">
            <a:extLst xmlns:a="http://schemas.openxmlformats.org/drawingml/2006/main">
              <a:ext uri="{FF2B5EF4-FFF2-40B4-BE49-F238E27FC236}">
                <a16:creationId xmlns:a16="http://schemas.microsoft.com/office/drawing/2014/main" id="{01DEE9C5-9B82-4956-B8FD-256F964AF7D3}"/>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How a real pentester works</a:t>
            </a:r>
          </a:p>
        </p:txBody>
      </p:sp>
      <p:sp>
        <p:nvSpPr>
          <p:cNvPr id="3" name="">
            <a:extLst xmlns:a="http://schemas.openxmlformats.org/drawingml/2006/main">
              <a:ext uri="{FF2B5EF4-FFF2-40B4-BE49-F238E27FC236}">
                <a16:creationId xmlns:a16="http://schemas.microsoft.com/office/drawing/2014/main" id="{7DBB6704-3563-4B5B-A3FF-F79994EC1BCE}"/>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0D53D84-253E-41C6-97A5-94AC245D528F}"/>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F4CF62C-5D5F-4DFE-82BE-E5DF5EDB4BA6}"/>
              </a:ext>
            </a:extLst>
          </p:cNvPr>
          <p:cNvSpPr>
            <a:spLocks xmlns:a="http://schemas.openxmlformats.org/drawingml/2006/main" noGrp="1"/>
          </p:cNvSpPr>
          <p:nvPr/>
        </p:nvSpPr>
        <p:spPr>
          <a:xfrm xmlns:a="http://schemas.openxmlformats.org/drawingml/2006/main">
            <a:off x="876300" y="2076450"/>
            <a:ext cx="1628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THE WORLD MODEL FOR PENTESTING</a:t>
            </a:r>
          </a:p>
        </p:txBody>
      </p:sp>
      <p:sp>
        <p:nvSpPr>
          <p:cNvPr id="6" name="">
            <a:extLst xmlns:a="http://schemas.openxmlformats.org/drawingml/2006/main">
              <a:ext uri="{FF2B5EF4-FFF2-40B4-BE49-F238E27FC236}">
                <a16:creationId xmlns:a16="http://schemas.microsoft.com/office/drawing/2014/main" id="{964796FD-B88B-41D0-A021-FA871168D945}"/>
              </a:ext>
            </a:extLst>
          </p:cNvPr>
          <p:cNvSpPr>
            <a:spLocks xmlns:a="http://schemas.openxmlformats.org/drawingml/2006/main" noGrp="1"/>
          </p:cNvSpPr>
          <p:nvPr/>
        </p:nvSpPr>
        <p:spPr>
          <a:xfrm xmlns:a="http://schemas.openxmlformats.org/drawingml/2006/main">
            <a:off x="87630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CB8DCB98-44C7-4505-8AB5-182B06FB788D}"/>
              </a:ext>
            </a:extLst>
          </p:cNvPr>
          <p:cNvSpPr>
            <a:spLocks xmlns:a="http://schemas.openxmlformats.org/drawingml/2006/main" noGrp="1"/>
          </p:cNvSpPr>
          <p:nvPr/>
        </p:nvSpPr>
        <p:spPr>
          <a:xfrm xmlns:a="http://schemas.openxmlformats.org/drawingml/2006/main">
            <a:off x="876300" y="2819400"/>
            <a:ext cx="85725" cy="23241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A282873-887D-4BF3-BCF0-68632FC3B1B3}"/>
              </a:ext>
            </a:extLst>
          </p:cNvPr>
          <p:cNvSpPr>
            <a:spLocks xmlns:a="http://schemas.openxmlformats.org/drawingml/2006/main" noGrp="1"/>
          </p:cNvSpPr>
          <p:nvPr/>
        </p:nvSpPr>
        <p:spPr>
          <a:xfrm xmlns:a="http://schemas.openxmlformats.org/drawingml/2006/main">
            <a:off x="114300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1 · Observe</a:t>
            </a:r>
          </a:p>
        </p:txBody>
      </p:sp>
      <p:sp>
        <p:nvSpPr>
          <p:cNvPr id="9" name="">
            <a:extLst xmlns:a="http://schemas.openxmlformats.org/drawingml/2006/main">
              <a:ext uri="{FF2B5EF4-FFF2-40B4-BE49-F238E27FC236}">
                <a16:creationId xmlns:a16="http://schemas.microsoft.com/office/drawing/2014/main" id="{77EF8BF2-7748-4CDF-97FE-72367AEDC301}"/>
              </a:ext>
            </a:extLst>
          </p:cNvPr>
          <p:cNvSpPr>
            <a:spLocks xmlns:a="http://schemas.openxmlformats.org/drawingml/2006/main" noGrp="1"/>
          </p:cNvSpPr>
          <p:nvPr/>
        </p:nvSpPr>
        <p:spPr>
          <a:xfrm xmlns:a="http://schemas.openxmlformats.org/drawingml/2006/main">
            <a:off x="114300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Collect signals from tools, targets and prior evidence.</a:t>
            </a:r>
          </a:p>
        </p:txBody>
      </p:sp>
      <p:sp>
        <p:nvSpPr>
          <p:cNvPr id="10" name="">
            <a:extLst xmlns:a="http://schemas.openxmlformats.org/drawingml/2006/main">
              <a:ext uri="{FF2B5EF4-FFF2-40B4-BE49-F238E27FC236}">
                <a16:creationId xmlns:a16="http://schemas.microsoft.com/office/drawing/2014/main" id="{16B78084-D6EF-4986-BE72-D1B97D6B9175}"/>
              </a:ext>
            </a:extLst>
          </p:cNvPr>
          <p:cNvSpPr>
            <a:spLocks xmlns:a="http://schemas.openxmlformats.org/drawingml/2006/main" noGrp="1"/>
          </p:cNvSpPr>
          <p:nvPr/>
        </p:nvSpPr>
        <p:spPr>
          <a:xfrm xmlns:a="http://schemas.openxmlformats.org/drawingml/2006/main">
            <a:off x="449580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3F7CC4-32D8-48E0-B02F-77A4FF90C3D3}"/>
              </a:ext>
            </a:extLst>
          </p:cNvPr>
          <p:cNvSpPr>
            <a:spLocks xmlns:a="http://schemas.openxmlformats.org/drawingml/2006/main" noGrp="1"/>
          </p:cNvSpPr>
          <p:nvPr/>
        </p:nvSpPr>
        <p:spPr>
          <a:xfrm xmlns:a="http://schemas.openxmlformats.org/drawingml/2006/main">
            <a:off x="481965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8D9AAED9-B4F0-49FA-817A-2B0E695A5E5F}"/>
              </a:ext>
            </a:extLst>
          </p:cNvPr>
          <p:cNvSpPr>
            <a:spLocks xmlns:a="http://schemas.openxmlformats.org/drawingml/2006/main" noGrp="1"/>
          </p:cNvSpPr>
          <p:nvPr/>
        </p:nvSpPr>
        <p:spPr>
          <a:xfrm xmlns:a="http://schemas.openxmlformats.org/drawingml/2006/main">
            <a:off x="4819650" y="2819400"/>
            <a:ext cx="85725" cy="23241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4EB1B9-92F8-4012-8478-687FACBDA18E}"/>
              </a:ext>
            </a:extLst>
          </p:cNvPr>
          <p:cNvSpPr>
            <a:spLocks xmlns:a="http://schemas.openxmlformats.org/drawingml/2006/main" noGrp="1"/>
          </p:cNvSpPr>
          <p:nvPr/>
        </p:nvSpPr>
        <p:spPr>
          <a:xfrm xmlns:a="http://schemas.openxmlformats.org/drawingml/2006/main">
            <a:off x="508635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2 · Store in memory</a:t>
            </a:r>
          </a:p>
        </p:txBody>
      </p:sp>
      <p:sp>
        <p:nvSpPr>
          <p:cNvPr id="14" name="">
            <a:extLst xmlns:a="http://schemas.openxmlformats.org/drawingml/2006/main">
              <a:ext uri="{FF2B5EF4-FFF2-40B4-BE49-F238E27FC236}">
                <a16:creationId xmlns:a16="http://schemas.microsoft.com/office/drawing/2014/main" id="{26327A9C-D9C5-4090-BE1D-93F5C4F564A7}"/>
              </a:ext>
            </a:extLst>
          </p:cNvPr>
          <p:cNvSpPr>
            <a:spLocks xmlns:a="http://schemas.openxmlformats.org/drawingml/2006/main" noGrp="1"/>
          </p:cNvSpPr>
          <p:nvPr/>
        </p:nvSpPr>
        <p:spPr>
          <a:xfrm xmlns:a="http://schemas.openxmlformats.org/drawingml/2006/main">
            <a:off x="508635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Preserve assets, observations, relationships and source evidence.</a:t>
            </a:r>
          </a:p>
        </p:txBody>
      </p:sp>
      <p:sp>
        <p:nvSpPr>
          <p:cNvPr id="15" name="">
            <a:extLst xmlns:a="http://schemas.openxmlformats.org/drawingml/2006/main">
              <a:ext uri="{FF2B5EF4-FFF2-40B4-BE49-F238E27FC236}">
                <a16:creationId xmlns:a16="http://schemas.microsoft.com/office/drawing/2014/main" id="{2737664F-D14C-4F3E-A696-11088733118B}"/>
              </a:ext>
            </a:extLst>
          </p:cNvPr>
          <p:cNvSpPr>
            <a:spLocks xmlns:a="http://schemas.openxmlformats.org/drawingml/2006/main" noGrp="1"/>
          </p:cNvSpPr>
          <p:nvPr/>
        </p:nvSpPr>
        <p:spPr>
          <a:xfrm xmlns:a="http://schemas.openxmlformats.org/drawingml/2006/main">
            <a:off x="843915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61A40F6-6E3C-4007-A612-6D102AEBD6CB}"/>
              </a:ext>
            </a:extLst>
          </p:cNvPr>
          <p:cNvSpPr>
            <a:spLocks xmlns:a="http://schemas.openxmlformats.org/drawingml/2006/main" noGrp="1"/>
          </p:cNvSpPr>
          <p:nvPr/>
        </p:nvSpPr>
        <p:spPr>
          <a:xfrm xmlns:a="http://schemas.openxmlformats.org/drawingml/2006/main">
            <a:off x="876300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EC1BF3E0-AD05-41F5-86CF-19C1D0740904}"/>
              </a:ext>
            </a:extLst>
          </p:cNvPr>
          <p:cNvSpPr>
            <a:spLocks xmlns:a="http://schemas.openxmlformats.org/drawingml/2006/main" noGrp="1"/>
          </p:cNvSpPr>
          <p:nvPr/>
        </p:nvSpPr>
        <p:spPr>
          <a:xfrm xmlns:a="http://schemas.openxmlformats.org/drawingml/2006/main">
            <a:off x="8763000" y="2819400"/>
            <a:ext cx="85725" cy="23241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78DECE2-033B-4308-B53A-55C0BC098099}"/>
              </a:ext>
            </a:extLst>
          </p:cNvPr>
          <p:cNvSpPr>
            <a:spLocks xmlns:a="http://schemas.openxmlformats.org/drawingml/2006/main" noGrp="1"/>
          </p:cNvSpPr>
          <p:nvPr/>
        </p:nvSpPr>
        <p:spPr>
          <a:xfrm xmlns:a="http://schemas.openxmlformats.org/drawingml/2006/main">
            <a:off x="902970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3 · Form a hypothesis</a:t>
            </a:r>
          </a:p>
        </p:txBody>
      </p:sp>
      <p:sp>
        <p:nvSpPr>
          <p:cNvPr id="19" name="">
            <a:extLst xmlns:a="http://schemas.openxmlformats.org/drawingml/2006/main">
              <a:ext uri="{FF2B5EF4-FFF2-40B4-BE49-F238E27FC236}">
                <a16:creationId xmlns:a16="http://schemas.microsoft.com/office/drawing/2014/main" id="{E5E556E7-49DE-4AA0-A996-D72A9212C7D0}"/>
              </a:ext>
            </a:extLst>
          </p:cNvPr>
          <p:cNvSpPr>
            <a:spLocks xmlns:a="http://schemas.openxmlformats.org/drawingml/2006/main" noGrp="1"/>
          </p:cNvSpPr>
          <p:nvPr/>
        </p:nvSpPr>
        <p:spPr>
          <a:xfrm xmlns:a="http://schemas.openxmlformats.org/drawingml/2006/main">
            <a:off x="902970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Explain what the evidence may mean and what could be vulnerable.</a:t>
            </a:r>
          </a:p>
        </p:txBody>
      </p:sp>
      <p:sp>
        <p:nvSpPr>
          <p:cNvPr id="20" name="">
            <a:extLst xmlns:a="http://schemas.openxmlformats.org/drawingml/2006/main">
              <a:ext uri="{FF2B5EF4-FFF2-40B4-BE49-F238E27FC236}">
                <a16:creationId xmlns:a16="http://schemas.microsoft.com/office/drawing/2014/main" id="{E9B3C519-C9D9-410B-8AFC-D584539D2658}"/>
              </a:ext>
            </a:extLst>
          </p:cNvPr>
          <p:cNvSpPr>
            <a:spLocks xmlns:a="http://schemas.openxmlformats.org/drawingml/2006/main" noGrp="1"/>
          </p:cNvSpPr>
          <p:nvPr/>
        </p:nvSpPr>
        <p:spPr>
          <a:xfrm xmlns:a="http://schemas.openxmlformats.org/drawingml/2006/main">
            <a:off x="1238250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3EF4B13-257B-4281-971D-0F70FCF5CF4B}"/>
              </a:ext>
            </a:extLst>
          </p:cNvPr>
          <p:cNvSpPr>
            <a:spLocks xmlns:a="http://schemas.openxmlformats.org/drawingml/2006/main" noGrp="1"/>
          </p:cNvSpPr>
          <p:nvPr/>
        </p:nvSpPr>
        <p:spPr>
          <a:xfrm xmlns:a="http://schemas.openxmlformats.org/drawingml/2006/main">
            <a:off x="1270635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4F30C44B-8988-4E80-97AF-F40A3650EA45}"/>
              </a:ext>
            </a:extLst>
          </p:cNvPr>
          <p:cNvSpPr>
            <a:spLocks xmlns:a="http://schemas.openxmlformats.org/drawingml/2006/main" noGrp="1"/>
          </p:cNvSpPr>
          <p:nvPr/>
        </p:nvSpPr>
        <p:spPr>
          <a:xfrm xmlns:a="http://schemas.openxmlformats.org/drawingml/2006/main">
            <a:off x="12706350" y="2819400"/>
            <a:ext cx="85725" cy="23241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925CA96-CFF4-453F-8572-3234805B997C}"/>
              </a:ext>
            </a:extLst>
          </p:cNvPr>
          <p:cNvSpPr>
            <a:spLocks xmlns:a="http://schemas.openxmlformats.org/drawingml/2006/main" noGrp="1"/>
          </p:cNvSpPr>
          <p:nvPr/>
        </p:nvSpPr>
        <p:spPr>
          <a:xfrm xmlns:a="http://schemas.openxmlformats.org/drawingml/2006/main">
            <a:off x="1297305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4 · Test</a:t>
            </a:r>
          </a:p>
        </p:txBody>
      </p:sp>
      <p:sp>
        <p:nvSpPr>
          <p:cNvPr id="24" name="">
            <a:extLst xmlns:a="http://schemas.openxmlformats.org/drawingml/2006/main">
              <a:ext uri="{FF2B5EF4-FFF2-40B4-BE49-F238E27FC236}">
                <a16:creationId xmlns:a16="http://schemas.microsoft.com/office/drawing/2014/main" id="{7B1128A7-4F3D-4201-83A2-B4552552A1DA}"/>
              </a:ext>
            </a:extLst>
          </p:cNvPr>
          <p:cNvSpPr>
            <a:spLocks xmlns:a="http://schemas.openxmlformats.org/drawingml/2006/main" noGrp="1"/>
          </p:cNvSpPr>
          <p:nvPr/>
        </p:nvSpPr>
        <p:spPr>
          <a:xfrm xmlns:a="http://schemas.openxmlformats.org/drawingml/2006/main">
            <a:off x="1297305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Choose the next useful probe and run the appropriate security tool.</a:t>
            </a:r>
          </a:p>
        </p:txBody>
      </p:sp>
      <p:sp>
        <p:nvSpPr>
          <p:cNvPr id="25" name="">
            <a:extLst xmlns:a="http://schemas.openxmlformats.org/drawingml/2006/main">
              <a:ext uri="{FF2B5EF4-FFF2-40B4-BE49-F238E27FC236}">
                <a16:creationId xmlns:a16="http://schemas.microsoft.com/office/drawing/2014/main" id="{B648CC8D-483F-4C23-8856-0D93B5B12E29}"/>
              </a:ext>
            </a:extLst>
          </p:cNvPr>
          <p:cNvSpPr>
            <a:spLocks xmlns:a="http://schemas.openxmlformats.org/drawingml/2006/main" noGrp="1"/>
          </p:cNvSpPr>
          <p:nvPr/>
        </p:nvSpPr>
        <p:spPr>
          <a:xfrm xmlns:a="http://schemas.openxmlformats.org/drawingml/2006/main">
            <a:off x="15830550" y="5276850"/>
            <a:ext cx="323850" cy="609600"/>
          </a:xfrm>
          <a:prstGeom xmlns:a="http://schemas.openxmlformats.org/drawingml/2006/main" prst="downArrow">
            <a:avLst/>
          </a:prstGeom>
          <a:solidFill xmlns:a="http://schemas.openxmlformats.org/drawingml/2006/main">
            <a:srgbClr val="79A9C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8DEB56D-5157-429D-A0A5-C4243617F503}"/>
              </a:ext>
            </a:extLst>
          </p:cNvPr>
          <p:cNvSpPr>
            <a:spLocks xmlns:a="http://schemas.openxmlformats.org/drawingml/2006/main" noGrp="1"/>
          </p:cNvSpPr>
          <p:nvPr/>
        </p:nvSpPr>
        <p:spPr>
          <a:xfrm xmlns:a="http://schemas.openxmlformats.org/drawingml/2006/main">
            <a:off x="12001500" y="6191250"/>
            <a:ext cx="4648200" cy="1771650"/>
          </a:xfrm>
          <a:prstGeom xmlns:a="http://schemas.openxmlformats.org/drawingml/2006/main" prst="roundRect">
            <a:avLst>
              <a:gd name="adj" fmla="val 4301"/>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E2314DB0-CFB5-434F-BD2E-1CF619DCCA33}"/>
              </a:ext>
            </a:extLst>
          </p:cNvPr>
          <p:cNvSpPr>
            <a:spLocks xmlns:a="http://schemas.openxmlformats.org/drawingml/2006/main" noGrp="1"/>
          </p:cNvSpPr>
          <p:nvPr/>
        </p:nvSpPr>
        <p:spPr>
          <a:xfrm xmlns:a="http://schemas.openxmlformats.org/drawingml/2006/main">
            <a:off x="12001500" y="6191250"/>
            <a:ext cx="85725" cy="17716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0F9034B-75C6-4E31-9B07-FC24986740FE}"/>
              </a:ext>
            </a:extLst>
          </p:cNvPr>
          <p:cNvSpPr>
            <a:spLocks xmlns:a="http://schemas.openxmlformats.org/drawingml/2006/main" noGrp="1"/>
          </p:cNvSpPr>
          <p:nvPr/>
        </p:nvSpPr>
        <p:spPr>
          <a:xfrm xmlns:a="http://schemas.openxmlformats.org/drawingml/2006/main">
            <a:off x="12268200" y="6400800"/>
            <a:ext cx="4152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5 · Validate</a:t>
            </a:r>
          </a:p>
        </p:txBody>
      </p:sp>
      <p:sp>
        <p:nvSpPr>
          <p:cNvPr id="29" name="">
            <a:extLst xmlns:a="http://schemas.openxmlformats.org/drawingml/2006/main">
              <a:ext uri="{FF2B5EF4-FFF2-40B4-BE49-F238E27FC236}">
                <a16:creationId xmlns:a16="http://schemas.microsoft.com/office/drawing/2014/main" id="{5E4CE8D7-AB98-4DCC-8042-6592515070B6}"/>
              </a:ext>
            </a:extLst>
          </p:cNvPr>
          <p:cNvSpPr>
            <a:spLocks xmlns:a="http://schemas.openxmlformats.org/drawingml/2006/main" noGrp="1"/>
          </p:cNvSpPr>
          <p:nvPr/>
        </p:nvSpPr>
        <p:spPr>
          <a:xfrm xmlns:a="http://schemas.openxmlformats.org/drawingml/2006/main">
            <a:off x="12268200" y="6934200"/>
            <a:ext cx="4152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Compare outcomes, reproduce the result and separate a lead from verified evidence.</a:t>
            </a:r>
          </a:p>
        </p:txBody>
      </p:sp>
      <p:sp>
        <p:nvSpPr>
          <p:cNvPr id="30" name="">
            <a:extLst xmlns:a="http://schemas.openxmlformats.org/drawingml/2006/main">
              <a:ext uri="{FF2B5EF4-FFF2-40B4-BE49-F238E27FC236}">
                <a16:creationId xmlns:a16="http://schemas.microsoft.com/office/drawing/2014/main" id="{32CEFC32-1C39-45FB-A915-DD163EB8374F}"/>
              </a:ext>
            </a:extLst>
          </p:cNvPr>
          <p:cNvSpPr>
            <a:spLocks xmlns:a="http://schemas.openxmlformats.org/drawingml/2006/main" noGrp="1"/>
          </p:cNvSpPr>
          <p:nvPr/>
        </p:nvSpPr>
        <p:spPr>
          <a:xfrm xmlns:a="http://schemas.openxmlformats.org/drawingml/2006/main">
            <a:off x="11087100" y="6819900"/>
            <a:ext cx="723900" cy="342900"/>
          </a:xfrm>
          <a:prstGeom xmlns:a="http://schemas.openxmlformats.org/drawingml/2006/main" prst="leftArrow">
            <a:avLst/>
          </a:prstGeom>
          <a:solidFill xmlns:a="http://schemas.openxmlformats.org/drawingml/2006/main">
            <a:srgbClr val="79A9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32A8C5A-87CA-47C5-A337-A408F3016136}"/>
              </a:ext>
            </a:extLst>
          </p:cNvPr>
          <p:cNvSpPr>
            <a:spLocks xmlns:a="http://schemas.openxmlformats.org/drawingml/2006/main" noGrp="1"/>
          </p:cNvSpPr>
          <p:nvPr/>
        </p:nvSpPr>
        <p:spPr>
          <a:xfrm xmlns:a="http://schemas.openxmlformats.org/drawingml/2006/main">
            <a:off x="6000750" y="6191250"/>
            <a:ext cx="4857750" cy="1771650"/>
          </a:xfrm>
          <a:prstGeom xmlns:a="http://schemas.openxmlformats.org/drawingml/2006/main" prst="roundRect">
            <a:avLst>
              <a:gd name="adj" fmla="val 4301"/>
            </a:avLst>
          </a:prstGeom>
          <a:solidFill xmlns:a="http://schemas.openxmlformats.org/drawingml/2006/main">
            <a:srgbClr val="FFFDF9"/>
          </a:solidFill>
          <a:ln xmlns:a="http://schemas.openxmlformats.org/drawingml/2006/main" w="19050">
            <a:solidFill>
              <a:srgbClr val="CAD6DE"/>
            </a:solidFill>
          </a:ln>
        </p:spPr>
      </p:sp>
      <p:sp>
        <p:nvSpPr>
          <p:cNvPr id="32" name="">
            <a:extLst xmlns:a="http://schemas.openxmlformats.org/drawingml/2006/main">
              <a:ext uri="{FF2B5EF4-FFF2-40B4-BE49-F238E27FC236}">
                <a16:creationId xmlns:a16="http://schemas.microsoft.com/office/drawing/2014/main" id="{36B81F38-3078-4D7B-A377-E9A778DAE830}"/>
              </a:ext>
            </a:extLst>
          </p:cNvPr>
          <p:cNvSpPr>
            <a:spLocks xmlns:a="http://schemas.openxmlformats.org/drawingml/2006/main" noGrp="1"/>
          </p:cNvSpPr>
          <p:nvPr/>
        </p:nvSpPr>
        <p:spPr>
          <a:xfrm xmlns:a="http://schemas.openxmlformats.org/drawingml/2006/main">
            <a:off x="6000750" y="6191250"/>
            <a:ext cx="85725" cy="17716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0B0C95C-0345-4B1C-BF65-A6B3C51E2ACB}"/>
              </a:ext>
            </a:extLst>
          </p:cNvPr>
          <p:cNvSpPr>
            <a:spLocks xmlns:a="http://schemas.openxmlformats.org/drawingml/2006/main" noGrp="1"/>
          </p:cNvSpPr>
          <p:nvPr/>
        </p:nvSpPr>
        <p:spPr>
          <a:xfrm xmlns:a="http://schemas.openxmlformats.org/drawingml/2006/main">
            <a:off x="6267450" y="6400800"/>
            <a:ext cx="436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6 · Update memory</a:t>
            </a:r>
          </a:p>
        </p:txBody>
      </p:sp>
      <p:sp>
        <p:nvSpPr>
          <p:cNvPr id="34" name="">
            <a:extLst xmlns:a="http://schemas.openxmlformats.org/drawingml/2006/main">
              <a:ext uri="{FF2B5EF4-FFF2-40B4-BE49-F238E27FC236}">
                <a16:creationId xmlns:a16="http://schemas.microsoft.com/office/drawing/2014/main" id="{C7D89AF4-E3E6-441D-AB8D-D37FE62760DC}"/>
              </a:ext>
            </a:extLst>
          </p:cNvPr>
          <p:cNvSpPr>
            <a:spLocks xmlns:a="http://schemas.openxmlformats.org/drawingml/2006/main" noGrp="1"/>
          </p:cNvSpPr>
          <p:nvPr/>
        </p:nvSpPr>
        <p:spPr>
          <a:xfrm xmlns:a="http://schemas.openxmlformats.org/drawingml/2006/main">
            <a:off x="6267450" y="6934200"/>
            <a:ext cx="4362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Record what changed, connect the evidence and revise what should be tested next.</a:t>
            </a:r>
          </a:p>
        </p:txBody>
      </p:sp>
      <p:sp>
        <p:nvSpPr>
          <p:cNvPr id="35" name="">
            <a:extLst xmlns:a="http://schemas.openxmlformats.org/drawingml/2006/main">
              <a:ext uri="{FF2B5EF4-FFF2-40B4-BE49-F238E27FC236}">
                <a16:creationId xmlns:a16="http://schemas.microsoft.com/office/drawing/2014/main" id="{4921243F-6902-4E95-94D8-2D3B12337232}"/>
              </a:ext>
            </a:extLst>
          </p:cNvPr>
          <p:cNvSpPr>
            <a:spLocks xmlns:a="http://schemas.openxmlformats.org/drawingml/2006/main" noGrp="1"/>
          </p:cNvSpPr>
          <p:nvPr/>
        </p:nvSpPr>
        <p:spPr>
          <a:xfrm xmlns:a="http://schemas.openxmlformats.org/drawingml/2006/main">
            <a:off x="5029200" y="6819900"/>
            <a:ext cx="742950" cy="342900"/>
          </a:xfrm>
          <a:prstGeom xmlns:a="http://schemas.openxmlformats.org/drawingml/2006/main" prst="leftArrow">
            <a:avLst/>
          </a:prstGeom>
          <a:solidFill xmlns:a="http://schemas.openxmlformats.org/drawingml/2006/main">
            <a:srgbClr val="79A9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97B56CF-B9D9-4CFC-BD71-4282218FEF02}"/>
              </a:ext>
            </a:extLst>
          </p:cNvPr>
          <p:cNvSpPr>
            <a:spLocks xmlns:a="http://schemas.openxmlformats.org/drawingml/2006/main" noGrp="1"/>
          </p:cNvSpPr>
          <p:nvPr/>
        </p:nvSpPr>
        <p:spPr>
          <a:xfrm xmlns:a="http://schemas.openxmlformats.org/drawingml/2006/main">
            <a:off x="876300" y="6191250"/>
            <a:ext cx="3943350" cy="1771650"/>
          </a:xfrm>
          <a:prstGeom xmlns:a="http://schemas.openxmlformats.org/drawingml/2006/main" prst="roundRect">
            <a:avLst>
              <a:gd name="adj" fmla="val 4301"/>
            </a:avLst>
          </a:prstGeom>
          <a:solidFill xmlns:a="http://schemas.openxmlformats.org/drawingml/2006/main">
            <a:srgbClr val="123B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12E8D8A-37AE-4195-BE09-9279C85455E8}"/>
              </a:ext>
            </a:extLst>
          </p:cNvPr>
          <p:cNvSpPr>
            <a:spLocks xmlns:a="http://schemas.openxmlformats.org/drawingml/2006/main" noGrp="1"/>
          </p:cNvSpPr>
          <p:nvPr/>
        </p:nvSpPr>
        <p:spPr>
          <a:xfrm xmlns:a="http://schemas.openxmlformats.org/drawingml/2006/main">
            <a:off x="1181100" y="65151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325" b="1" i="0">
                <a:solidFill>
                  <a:srgbClr val="FFFFFF"/>
                </a:solidFill>
                <a:latin typeface="Arial"/>
                <a:ea typeface="Arial"/>
                <a:cs typeface="Arial"/>
              </a:defRPr>
            </a:pPr>
            <a:r>
              <a:rPr sz="2325" b="1" i="0">
                <a:solidFill>
                  <a:srgbClr val="FFFFFF"/>
                </a:solidFill>
                <a:latin typeface="Arial"/>
                <a:ea typeface="Arial"/>
                <a:cs typeface="Arial"/>
              </a:rPr>
              <a:t>Repeat</a:t>
            </a:r>
          </a:p>
        </p:txBody>
      </p:sp>
      <p:sp>
        <p:nvSpPr>
          <p:cNvPr id="38" name="">
            <a:extLst xmlns:a="http://schemas.openxmlformats.org/drawingml/2006/main">
              <a:ext uri="{FF2B5EF4-FFF2-40B4-BE49-F238E27FC236}">
                <a16:creationId xmlns:a16="http://schemas.microsoft.com/office/drawing/2014/main" id="{B8C689F6-60A7-45FD-8836-A6B0F53A6C9C}"/>
              </a:ext>
            </a:extLst>
          </p:cNvPr>
          <p:cNvSpPr>
            <a:spLocks xmlns:a="http://schemas.openxmlformats.org/drawingml/2006/main" noGrp="1"/>
          </p:cNvSpPr>
          <p:nvPr/>
        </p:nvSpPr>
        <p:spPr>
          <a:xfrm xmlns:a="http://schemas.openxmlformats.org/drawingml/2006/main">
            <a:off x="1181100" y="70675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0" i="0">
                <a:solidFill>
                  <a:srgbClr val="DCE8F0"/>
                </a:solidFill>
                <a:latin typeface="Arial"/>
                <a:ea typeface="Arial"/>
                <a:cs typeface="Arial"/>
              </a:defRPr>
            </a:pPr>
            <a:r>
              <a:rPr sz="1650" b="0" i="0">
                <a:solidFill>
                  <a:srgbClr val="DCE8F0"/>
                </a:solidFill>
                <a:latin typeface="Arial"/>
                <a:ea typeface="Arial"/>
                <a:cs typeface="Arial"/>
              </a:rPr>
              <a:t>Updated memory changes what the tester observes and tests next.</a:t>
            </a:r>
          </a:p>
        </p:txBody>
      </p:sp>
      <p:sp>
        <p:nvSpPr>
          <p:cNvPr id="39" name="">
            <a:extLst xmlns:a="http://schemas.openxmlformats.org/drawingml/2006/main">
              <a:ext uri="{FF2B5EF4-FFF2-40B4-BE49-F238E27FC236}">
                <a16:creationId xmlns:a16="http://schemas.microsoft.com/office/drawing/2014/main" id="{1614C175-4E90-4A85-82ED-5B69F780252E}"/>
              </a:ext>
            </a:extLst>
          </p:cNvPr>
          <p:cNvSpPr>
            <a:spLocks xmlns:a="http://schemas.openxmlformats.org/drawingml/2006/main" noGrp="1"/>
          </p:cNvSpPr>
          <p:nvPr/>
        </p:nvSpPr>
        <p:spPr>
          <a:xfrm xmlns:a="http://schemas.openxmlformats.org/drawingml/2006/main">
            <a:off x="2533650" y="5353050"/>
            <a:ext cx="323850" cy="609600"/>
          </a:xfrm>
          <a:prstGeom xmlns:a="http://schemas.openxmlformats.org/drawingml/2006/main" prst="upArrow">
            <a:avLst/>
          </a:prstGeom>
          <a:solidFill xmlns:a="http://schemas.openxmlformats.org/drawingml/2006/main">
            <a:srgbClr val="79A9C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4861031-C72A-4210-B238-E4FF30BD7942}"/>
              </a:ext>
            </a:extLst>
          </p:cNvPr>
          <p:cNvSpPr>
            <a:spLocks xmlns:a="http://schemas.openxmlformats.org/drawingml/2006/main" noGrp="1"/>
          </p:cNvSpPr>
          <p:nvPr/>
        </p:nvSpPr>
        <p:spPr>
          <a:xfrm xmlns:a="http://schemas.openxmlformats.org/drawingml/2006/main">
            <a:off x="876300" y="8553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The assessment is a continuous evidence loop—not a one-time scanner run.</a:t>
            </a:r>
          </a:p>
        </p:txBody>
      </p:sp>
      <p:sp>
        <p:nvSpPr>
          <p:cNvPr id="41" name="">
            <a:hlinkClick xmlns:a="http://schemas.openxmlformats.org/drawingml/2006/main" xmlns:r="http://schemas.openxmlformats.org/officeDocument/2006/relationships" r:id="R72c4991535394540" action="ppaction://hlinksldjump"/>
            <a:extLst xmlns:a="http://schemas.openxmlformats.org/drawingml/2006/main">
              <a:ext uri="{FF2B5EF4-FFF2-40B4-BE49-F238E27FC236}">
                <a16:creationId xmlns:a16="http://schemas.microsoft.com/office/drawing/2014/main" id="{CF97CEF1-37FD-4238-B6B3-BE179843875A}"/>
              </a:ext>
            </a:extLst>
          </p:cNvPr>
          <p:cNvSpPr>
            <a:spLocks xmlns:a="http://schemas.openxmlformats.org/drawingml/2006/main" noGrp="1"/>
          </p:cNvSpPr>
          <p:nvPr/>
        </p:nvSpPr>
        <p:spPr>
          <a:xfrm xmlns:a="http://schemas.openxmlformats.org/drawingml/2006/main">
            <a:off x="14382750" y="84391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92302"/>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 Back to architecture</a:t>
            </a:r>
          </a:p>
        </p:txBody>
      </p:sp>
    </p:spTree>
    <p:extLst>
      <p:ext uri="{BB962C8B-B14F-4D97-AF65-F5344CB8AC3E}">
        <p14:creationId xmlns:p14="http://schemas.microsoft.com/office/powerpoint/2010/main" val="2042388314"/>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A0DF199-B41E-4873-806E-56563B8BB16F}"/>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07 / PHASE AGENTS</a:t>
            </a:r>
          </a:p>
        </p:txBody>
      </p:sp>
      <p:sp>
        <p:nvSpPr>
          <p:cNvPr id="2" name="">
            <a:extLst xmlns:a="http://schemas.openxmlformats.org/drawingml/2006/main">
              <a:ext uri="{FF2B5EF4-FFF2-40B4-BE49-F238E27FC236}">
                <a16:creationId xmlns:a16="http://schemas.microsoft.com/office/drawing/2014/main" id="{9837088E-3C83-454A-BDBD-C55652AC6B49}"/>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Specialized agents for each testing phase</a:t>
            </a:r>
          </a:p>
        </p:txBody>
      </p:sp>
      <p:sp>
        <p:nvSpPr>
          <p:cNvPr id="3" name="">
            <a:extLst xmlns:a="http://schemas.openxmlformats.org/drawingml/2006/main">
              <a:ext uri="{FF2B5EF4-FFF2-40B4-BE49-F238E27FC236}">
                <a16:creationId xmlns:a16="http://schemas.microsoft.com/office/drawing/2014/main" id="{D27788EC-72E0-419D-920F-2A17F237B813}"/>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575A6A55-CC8F-467A-94F8-6E6656891097}"/>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B10744A-A149-4841-B1FD-F5E1210269A3}"/>
              </a:ext>
            </a:extLst>
          </p:cNvPr>
          <p:cNvSpPr>
            <a:spLocks xmlns:a="http://schemas.openxmlformats.org/drawingml/2006/main" noGrp="1"/>
          </p:cNvSpPr>
          <p:nvPr/>
        </p:nvSpPr>
        <p:spPr>
          <a:xfrm xmlns:a="http://schemas.openxmlformats.org/drawingml/2006/main">
            <a:off x="876300" y="2114550"/>
            <a:ext cx="1628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0" i="0">
                <a:solidFill>
                  <a:srgbClr val="354F63"/>
                </a:solidFill>
                <a:latin typeface="Arial"/>
                <a:ea typeface="Arial"/>
                <a:cs typeface="Arial"/>
              </a:defRPr>
            </a:pPr>
            <a:r>
              <a:rPr sz="2175" b="0" i="0">
                <a:solidFill>
                  <a:srgbClr val="354F63"/>
                </a:solidFill>
                <a:latin typeface="Arial"/>
                <a:ea typeface="Arial"/>
                <a:cs typeface="Arial"/>
              </a:rPr>
              <a:t>Standard pentest methodology is divided among specialized agents.</a:t>
            </a:r>
          </a:p>
        </p:txBody>
      </p:sp>
      <p:sp>
        <p:nvSpPr>
          <p:cNvPr id="6" name="">
            <a:extLst xmlns:a="http://schemas.openxmlformats.org/drawingml/2006/main">
              <a:ext uri="{FF2B5EF4-FFF2-40B4-BE49-F238E27FC236}">
                <a16:creationId xmlns:a16="http://schemas.microsoft.com/office/drawing/2014/main" id="{BFA08E89-3E7F-4A63-888B-7106BCE415CC}"/>
              </a:ext>
            </a:extLst>
          </p:cNvPr>
          <p:cNvSpPr>
            <a:spLocks xmlns:a="http://schemas.openxmlformats.org/drawingml/2006/main" noGrp="1"/>
          </p:cNvSpPr>
          <p:nvPr/>
        </p:nvSpPr>
        <p:spPr>
          <a:xfrm xmlns:a="http://schemas.openxmlformats.org/drawingml/2006/main">
            <a:off x="1123950" y="2971800"/>
            <a:ext cx="15278100" cy="2876550"/>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19050">
            <a:solidFill>
              <a:srgbClr val="CAD6DE"/>
            </a:solid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ad9f0464a71422c"/>
          <a:stretch xmlns:a="http://schemas.openxmlformats.org/drawingml/2006/main"/>
        </p:blipFill>
        <p:spPr>
          <a:xfrm xmlns:a="http://schemas.openxmlformats.org/drawingml/2006/main">
            <a:off x="1543050" y="3333750"/>
            <a:ext cx="14439900" cy="2095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E71AF4F-63EF-47A1-8C34-B44991F45D4C}"/>
              </a:ext>
            </a:extLst>
          </p:cNvPr>
          <p:cNvSpPr>
            <a:spLocks xmlns:a="http://schemas.openxmlformats.org/drawingml/2006/main" noGrp="1"/>
          </p:cNvSpPr>
          <p:nvPr/>
        </p:nvSpPr>
        <p:spPr>
          <a:xfrm xmlns:a="http://schemas.openxmlformats.org/drawingml/2006/main">
            <a:off x="8763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A5435086-A867-4970-B562-E2DEDDF02F1E}"/>
              </a:ext>
            </a:extLst>
          </p:cNvPr>
          <p:cNvSpPr>
            <a:spLocks xmlns:a="http://schemas.openxmlformats.org/drawingml/2006/main" noGrp="1"/>
          </p:cNvSpPr>
          <p:nvPr/>
        </p:nvSpPr>
        <p:spPr>
          <a:xfrm xmlns:a="http://schemas.openxmlformats.org/drawingml/2006/main">
            <a:off x="876300" y="6477000"/>
            <a:ext cx="85725" cy="18478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D780E65-0E72-4D23-9B91-1403987A9DA0}"/>
              </a:ext>
            </a:extLst>
          </p:cNvPr>
          <p:cNvSpPr>
            <a:spLocks xmlns:a="http://schemas.openxmlformats.org/drawingml/2006/main" noGrp="1"/>
          </p:cNvSpPr>
          <p:nvPr/>
        </p:nvSpPr>
        <p:spPr>
          <a:xfrm xmlns:a="http://schemas.openxmlformats.org/drawingml/2006/main">
            <a:off x="11430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Reconnaissance</a:t>
            </a:r>
          </a:p>
        </p:txBody>
      </p:sp>
      <p:sp>
        <p:nvSpPr>
          <p:cNvPr id="11" name="">
            <a:extLst xmlns:a="http://schemas.openxmlformats.org/drawingml/2006/main">
              <a:ext uri="{FF2B5EF4-FFF2-40B4-BE49-F238E27FC236}">
                <a16:creationId xmlns:a16="http://schemas.microsoft.com/office/drawing/2014/main" id="{787CC4BD-25EE-492B-B9D1-2CA8A3C33BE4}"/>
              </a:ext>
            </a:extLst>
          </p:cNvPr>
          <p:cNvSpPr>
            <a:spLocks xmlns:a="http://schemas.openxmlformats.org/drawingml/2006/main" noGrp="1"/>
          </p:cNvSpPr>
          <p:nvPr/>
        </p:nvSpPr>
        <p:spPr>
          <a:xfrm xmlns:a="http://schemas.openxmlformats.org/drawingml/2006/main">
            <a:off x="11430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Maps the attack surface using discovery, DNS, probing and service-enumeration tools.</a:t>
            </a:r>
          </a:p>
        </p:txBody>
      </p:sp>
      <p:sp>
        <p:nvSpPr>
          <p:cNvPr id="12" name="">
            <a:extLst xmlns:a="http://schemas.openxmlformats.org/drawingml/2006/main">
              <a:ext uri="{FF2B5EF4-FFF2-40B4-BE49-F238E27FC236}">
                <a16:creationId xmlns:a16="http://schemas.microsoft.com/office/drawing/2014/main" id="{E52681C9-3F50-46C8-8731-0CC59A6E0143}"/>
              </a:ext>
            </a:extLst>
          </p:cNvPr>
          <p:cNvSpPr>
            <a:spLocks xmlns:a="http://schemas.openxmlformats.org/drawingml/2006/main" noGrp="1"/>
          </p:cNvSpPr>
          <p:nvPr/>
        </p:nvSpPr>
        <p:spPr>
          <a:xfrm xmlns:a="http://schemas.openxmlformats.org/drawingml/2006/main">
            <a:off x="61341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13" name="">
            <a:extLst xmlns:a="http://schemas.openxmlformats.org/drawingml/2006/main">
              <a:ext uri="{FF2B5EF4-FFF2-40B4-BE49-F238E27FC236}">
                <a16:creationId xmlns:a16="http://schemas.microsoft.com/office/drawing/2014/main" id="{A49761A3-06EE-4CD9-8656-EE8D201C8B1C}"/>
              </a:ext>
            </a:extLst>
          </p:cNvPr>
          <p:cNvSpPr>
            <a:spLocks xmlns:a="http://schemas.openxmlformats.org/drawingml/2006/main" noGrp="1"/>
          </p:cNvSpPr>
          <p:nvPr/>
        </p:nvSpPr>
        <p:spPr>
          <a:xfrm xmlns:a="http://schemas.openxmlformats.org/drawingml/2006/main">
            <a:off x="6134100" y="6477000"/>
            <a:ext cx="85725" cy="18478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B2AA96E-36FF-47B0-8A54-8F5F7AA53618}"/>
              </a:ext>
            </a:extLst>
          </p:cNvPr>
          <p:cNvSpPr>
            <a:spLocks xmlns:a="http://schemas.openxmlformats.org/drawingml/2006/main" noGrp="1"/>
          </p:cNvSpPr>
          <p:nvPr/>
        </p:nvSpPr>
        <p:spPr>
          <a:xfrm xmlns:a="http://schemas.openxmlformats.org/drawingml/2006/main">
            <a:off x="64008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Vulnerability</a:t>
            </a:r>
          </a:p>
        </p:txBody>
      </p:sp>
      <p:sp>
        <p:nvSpPr>
          <p:cNvPr id="15" name="">
            <a:extLst xmlns:a="http://schemas.openxmlformats.org/drawingml/2006/main">
              <a:ext uri="{FF2B5EF4-FFF2-40B4-BE49-F238E27FC236}">
                <a16:creationId xmlns:a16="http://schemas.microsoft.com/office/drawing/2014/main" id="{EC236C01-0687-4D9F-8837-309E671F932A}"/>
              </a:ext>
            </a:extLst>
          </p:cNvPr>
          <p:cNvSpPr>
            <a:spLocks xmlns:a="http://schemas.openxmlformats.org/drawingml/2006/main" noGrp="1"/>
          </p:cNvSpPr>
          <p:nvPr/>
        </p:nvSpPr>
        <p:spPr>
          <a:xfrm xmlns:a="http://schemas.openxmlformats.org/drawingml/2006/main">
            <a:off x="64008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Tests the mapped surface with network, web and vulnerability-analysis tools.</a:t>
            </a:r>
          </a:p>
        </p:txBody>
      </p:sp>
      <p:sp>
        <p:nvSpPr>
          <p:cNvPr id="16" name="">
            <a:extLst xmlns:a="http://schemas.openxmlformats.org/drawingml/2006/main">
              <a:ext uri="{FF2B5EF4-FFF2-40B4-BE49-F238E27FC236}">
                <a16:creationId xmlns:a16="http://schemas.microsoft.com/office/drawing/2014/main" id="{82E9CE9D-B9F1-424B-A204-9E9B0C947973}"/>
              </a:ext>
            </a:extLst>
          </p:cNvPr>
          <p:cNvSpPr>
            <a:spLocks xmlns:a="http://schemas.openxmlformats.org/drawingml/2006/main" noGrp="1"/>
          </p:cNvSpPr>
          <p:nvPr/>
        </p:nvSpPr>
        <p:spPr>
          <a:xfrm xmlns:a="http://schemas.openxmlformats.org/drawingml/2006/main">
            <a:off x="113919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239BEDCB-53CD-4F16-8B35-2D6B9242E369}"/>
              </a:ext>
            </a:extLst>
          </p:cNvPr>
          <p:cNvSpPr>
            <a:spLocks xmlns:a="http://schemas.openxmlformats.org/drawingml/2006/main" noGrp="1"/>
          </p:cNvSpPr>
          <p:nvPr/>
        </p:nvSpPr>
        <p:spPr>
          <a:xfrm xmlns:a="http://schemas.openxmlformats.org/drawingml/2006/main">
            <a:off x="11391900" y="6477000"/>
            <a:ext cx="85725" cy="18478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AD1051F-9331-49DF-A9D8-8AD7052B6C04}"/>
              </a:ext>
            </a:extLst>
          </p:cNvPr>
          <p:cNvSpPr>
            <a:spLocks xmlns:a="http://schemas.openxmlformats.org/drawingml/2006/main" noGrp="1"/>
          </p:cNvSpPr>
          <p:nvPr/>
        </p:nvSpPr>
        <p:spPr>
          <a:xfrm xmlns:a="http://schemas.openxmlformats.org/drawingml/2006/main">
            <a:off x="116586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Validation</a:t>
            </a:r>
          </a:p>
        </p:txBody>
      </p:sp>
      <p:sp>
        <p:nvSpPr>
          <p:cNvPr id="19" name="">
            <a:extLst xmlns:a="http://schemas.openxmlformats.org/drawingml/2006/main">
              <a:ext uri="{FF2B5EF4-FFF2-40B4-BE49-F238E27FC236}">
                <a16:creationId xmlns:a16="http://schemas.microsoft.com/office/drawing/2014/main" id="{EFAC0686-E0FA-4183-A148-B82E0334F649}"/>
              </a:ext>
            </a:extLst>
          </p:cNvPr>
          <p:cNvSpPr>
            <a:spLocks xmlns:a="http://schemas.openxmlformats.org/drawingml/2006/main" noGrp="1"/>
          </p:cNvSpPr>
          <p:nvPr/>
        </p:nvSpPr>
        <p:spPr>
          <a:xfrm xmlns:a="http://schemas.openxmlformats.org/drawingml/2006/main">
            <a:off x="116586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Confirms evidence and separates reproducible findings from scanner leads.</a:t>
            </a:r>
          </a:p>
        </p:txBody>
      </p:sp>
      <p:sp>
        <p:nvSpPr>
          <p:cNvPr id="20" name="">
            <a:extLst xmlns:a="http://schemas.openxmlformats.org/drawingml/2006/main">
              <a:ext uri="{FF2B5EF4-FFF2-40B4-BE49-F238E27FC236}">
                <a16:creationId xmlns:a16="http://schemas.microsoft.com/office/drawing/2014/main" id="{8E889F47-7F64-4F1A-BDB1-DE3EF6444747}"/>
              </a:ext>
            </a:extLst>
          </p:cNvPr>
          <p:cNvSpPr>
            <a:spLocks xmlns:a="http://schemas.openxmlformats.org/drawingml/2006/main" noGrp="1"/>
          </p:cNvSpPr>
          <p:nvPr/>
        </p:nvSpPr>
        <p:spPr>
          <a:xfrm xmlns:a="http://schemas.openxmlformats.org/drawingml/2006/main">
            <a:off x="876300" y="87058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Each agent has its own tools and skill files, but all agents operate on the same shared memory.</a:t>
            </a:r>
          </a:p>
        </p:txBody>
      </p:sp>
      <p:sp>
        <p:nvSpPr>
          <p:cNvPr id="21" name="">
            <a:hlinkClick xmlns:a="http://schemas.openxmlformats.org/drawingml/2006/main" xmlns:r="http://schemas.openxmlformats.org/officeDocument/2006/relationships" r:id="R19027d64edfc4fce" action="ppaction://hlinksldjump"/>
            <a:extLst xmlns:a="http://schemas.openxmlformats.org/drawingml/2006/main">
              <a:ext uri="{FF2B5EF4-FFF2-40B4-BE49-F238E27FC236}">
                <a16:creationId xmlns:a16="http://schemas.microsoft.com/office/drawing/2014/main" id="{AD79B3B6-3765-4C07-8B80-B3BD43114852}"/>
              </a:ext>
            </a:extLst>
          </p:cNvPr>
          <p:cNvSpPr>
            <a:spLocks xmlns:a="http://schemas.openxmlformats.org/drawingml/2006/main" noGrp="1"/>
          </p:cNvSpPr>
          <p:nvPr/>
        </p:nvSpPr>
        <p:spPr>
          <a:xfrm xmlns:a="http://schemas.openxmlformats.org/drawingml/2006/main">
            <a:off x="14382750" y="85534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92302"/>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 Back to architecture</a:t>
            </a:r>
          </a:p>
        </p:txBody>
      </p:sp>
    </p:spTree>
    <p:extLst>
      <p:ext uri="{BB962C8B-B14F-4D97-AF65-F5344CB8AC3E}">
        <p14:creationId xmlns:p14="http://schemas.microsoft.com/office/powerpoint/2010/main" val="1060258522"/>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D07B03D-CECC-440B-813A-91A060180AF4}"/>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08 / DUAL-MODE EXECUTION</a:t>
            </a:r>
          </a:p>
        </p:txBody>
      </p:sp>
      <p:sp>
        <p:nvSpPr>
          <p:cNvPr id="2" name="">
            <a:extLst xmlns:a="http://schemas.openxmlformats.org/drawingml/2006/main">
              <a:ext uri="{FF2B5EF4-FFF2-40B4-BE49-F238E27FC236}">
                <a16:creationId xmlns:a16="http://schemas.microsoft.com/office/drawing/2014/main" id="{D6DAFB75-B598-48CA-AC7C-21E4EBA18FA0}"/>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How will it all work?</a:t>
            </a:r>
          </a:p>
        </p:txBody>
      </p:sp>
      <p:sp>
        <p:nvSpPr>
          <p:cNvPr id="3" name="">
            <a:extLst xmlns:a="http://schemas.openxmlformats.org/drawingml/2006/main">
              <a:ext uri="{FF2B5EF4-FFF2-40B4-BE49-F238E27FC236}">
                <a16:creationId xmlns:a16="http://schemas.microsoft.com/office/drawing/2014/main" id="{3F585F83-31BB-4D54-87CC-05B5737C2AF5}"/>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39A1120D-D7C8-4F38-9327-E1070BCE4A6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447BD7FB-0C9A-4105-A85E-3A1761E39B2F}"/>
              </a:ext>
            </a:extLst>
          </p:cNvPr>
          <p:cNvSpPr>
            <a:spLocks xmlns:a="http://schemas.openxmlformats.org/drawingml/2006/main" noGrp="1"/>
          </p:cNvSpPr>
          <p:nvPr/>
        </p:nvSpPr>
        <p:spPr>
          <a:xfrm xmlns:a="http://schemas.openxmlformats.org/drawingml/2006/main">
            <a:off x="1123950" y="2114550"/>
            <a:ext cx="152781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19050">
            <a:solidFill>
              <a:srgbClr val="CAD6DE"/>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42a6c1f59f14bbb"/>
          <a:stretch xmlns:a="http://schemas.openxmlformats.org/drawingml/2006/main"/>
        </p:blipFill>
        <p:spPr>
          <a:xfrm xmlns:a="http://schemas.openxmlformats.org/drawingml/2006/main">
            <a:off x="2763887" y="2419350"/>
            <a:ext cx="11998226" cy="3295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FC35597-20E5-4563-8688-29C27B85984B}"/>
              </a:ext>
            </a:extLst>
          </p:cNvPr>
          <p:cNvSpPr>
            <a:spLocks xmlns:a="http://schemas.openxmlformats.org/drawingml/2006/main" noGrp="1"/>
          </p:cNvSpPr>
          <p:nvPr/>
        </p:nvSpPr>
        <p:spPr>
          <a:xfrm xmlns:a="http://schemas.openxmlformats.org/drawingml/2006/main">
            <a:off x="876300" y="6477000"/>
            <a:ext cx="7620000" cy="1866900"/>
          </a:xfrm>
          <a:prstGeom xmlns:a="http://schemas.openxmlformats.org/drawingml/2006/main" prst="roundRect">
            <a:avLst>
              <a:gd name="adj" fmla="val 4082"/>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56AB10E8-C498-4492-8CAB-ACE95D66F2B3}"/>
              </a:ext>
            </a:extLst>
          </p:cNvPr>
          <p:cNvSpPr>
            <a:spLocks xmlns:a="http://schemas.openxmlformats.org/drawingml/2006/main" noGrp="1"/>
          </p:cNvSpPr>
          <p:nvPr/>
        </p:nvSpPr>
        <p:spPr>
          <a:xfrm xmlns:a="http://schemas.openxmlformats.org/drawingml/2006/main">
            <a:off x="876300" y="6477000"/>
            <a:ext cx="85725" cy="18669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2162BE6-314E-49B8-80E2-69FE2B85D411}"/>
              </a:ext>
            </a:extLst>
          </p:cNvPr>
          <p:cNvSpPr>
            <a:spLocks xmlns:a="http://schemas.openxmlformats.org/drawingml/2006/main" noGrp="1"/>
          </p:cNvSpPr>
          <p:nvPr/>
        </p:nvSpPr>
        <p:spPr>
          <a:xfrm xmlns:a="http://schemas.openxmlformats.org/drawingml/2006/main">
            <a:off x="1143000" y="6686550"/>
            <a:ext cx="712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Deterministic methodology</a:t>
            </a:r>
          </a:p>
        </p:txBody>
      </p:sp>
      <p:sp>
        <p:nvSpPr>
          <p:cNvPr id="10" name="">
            <a:extLst xmlns:a="http://schemas.openxmlformats.org/drawingml/2006/main">
              <a:ext uri="{FF2B5EF4-FFF2-40B4-BE49-F238E27FC236}">
                <a16:creationId xmlns:a16="http://schemas.microsoft.com/office/drawing/2014/main" id="{D68B262E-3778-4DDF-BD53-E566206014A0}"/>
              </a:ext>
            </a:extLst>
          </p:cNvPr>
          <p:cNvSpPr>
            <a:spLocks xmlns:a="http://schemas.openxmlformats.org/drawingml/2006/main" noGrp="1"/>
          </p:cNvSpPr>
          <p:nvPr/>
        </p:nvSpPr>
        <p:spPr>
          <a:xfrm xmlns:a="http://schemas.openxmlformats.org/drawingml/2006/main">
            <a:off x="1143000" y="7219950"/>
            <a:ext cx="712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The battle-tested pentesting methodology runs through repeatable rules and tools without requiring an LLM.</a:t>
            </a:r>
          </a:p>
        </p:txBody>
      </p:sp>
      <p:sp>
        <p:nvSpPr>
          <p:cNvPr id="11" name="">
            <a:extLst xmlns:a="http://schemas.openxmlformats.org/drawingml/2006/main">
              <a:ext uri="{FF2B5EF4-FFF2-40B4-BE49-F238E27FC236}">
                <a16:creationId xmlns:a16="http://schemas.microsoft.com/office/drawing/2014/main" id="{7E0420D0-3B63-4CDE-B295-2627922DE4ED}"/>
              </a:ext>
            </a:extLst>
          </p:cNvPr>
          <p:cNvSpPr>
            <a:spLocks xmlns:a="http://schemas.openxmlformats.org/drawingml/2006/main" noGrp="1"/>
          </p:cNvSpPr>
          <p:nvPr/>
        </p:nvSpPr>
        <p:spPr>
          <a:xfrm xmlns:a="http://schemas.openxmlformats.org/drawingml/2006/main">
            <a:off x="8839200" y="6477000"/>
            <a:ext cx="7810500" cy="1866900"/>
          </a:xfrm>
          <a:prstGeom xmlns:a="http://schemas.openxmlformats.org/drawingml/2006/main" prst="roundRect">
            <a:avLst>
              <a:gd name="adj" fmla="val 4082"/>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1CE5BC88-E7C2-4D9E-81CF-95EBC0227F5A}"/>
              </a:ext>
            </a:extLst>
          </p:cNvPr>
          <p:cNvSpPr>
            <a:spLocks xmlns:a="http://schemas.openxmlformats.org/drawingml/2006/main" noGrp="1"/>
          </p:cNvSpPr>
          <p:nvPr/>
        </p:nvSpPr>
        <p:spPr>
          <a:xfrm xmlns:a="http://schemas.openxmlformats.org/drawingml/2006/main">
            <a:off x="8839200" y="6477000"/>
            <a:ext cx="85725" cy="18669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A9729ED-5D62-46EF-9D0B-FFF98E8405DD}"/>
              </a:ext>
            </a:extLst>
          </p:cNvPr>
          <p:cNvSpPr>
            <a:spLocks xmlns:a="http://schemas.openxmlformats.org/drawingml/2006/main" noGrp="1"/>
          </p:cNvSpPr>
          <p:nvPr/>
        </p:nvSpPr>
        <p:spPr>
          <a:xfrm xmlns:a="http://schemas.openxmlformats.org/drawingml/2006/main">
            <a:off x="9105900" y="6686550"/>
            <a:ext cx="731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LLM oversight</a:t>
            </a:r>
          </a:p>
        </p:txBody>
      </p:sp>
      <p:sp>
        <p:nvSpPr>
          <p:cNvPr id="14" name="">
            <a:extLst xmlns:a="http://schemas.openxmlformats.org/drawingml/2006/main">
              <a:ext uri="{FF2B5EF4-FFF2-40B4-BE49-F238E27FC236}">
                <a16:creationId xmlns:a16="http://schemas.microsoft.com/office/drawing/2014/main" id="{6EBE96B9-0E94-4FFC-B971-770E4E36B474}"/>
              </a:ext>
            </a:extLst>
          </p:cNvPr>
          <p:cNvSpPr>
            <a:spLocks xmlns:a="http://schemas.openxmlformats.org/drawingml/2006/main" noGrp="1"/>
          </p:cNvSpPr>
          <p:nvPr/>
        </p:nvSpPr>
        <p:spPr>
          <a:xfrm xmlns:a="http://schemas.openxmlformats.org/drawingml/2006/main">
            <a:off x="9105900" y="7219950"/>
            <a:ext cx="731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The LLM oversees the assessment, performs contextual analysis and decides where deeper reasoning is useful.</a:t>
            </a:r>
          </a:p>
        </p:txBody>
      </p:sp>
      <p:sp>
        <p:nvSpPr>
          <p:cNvPr id="15" name="">
            <a:extLst xmlns:a="http://schemas.openxmlformats.org/drawingml/2006/main">
              <a:ext uri="{FF2B5EF4-FFF2-40B4-BE49-F238E27FC236}">
                <a16:creationId xmlns:a16="http://schemas.microsoft.com/office/drawing/2014/main" id="{03D650E1-DB09-4054-B32D-5FC4B443DC49}"/>
              </a:ext>
            </a:extLst>
          </p:cNvPr>
          <p:cNvSpPr>
            <a:spLocks xmlns:a="http://schemas.openxmlformats.org/drawingml/2006/main" noGrp="1"/>
          </p:cNvSpPr>
          <p:nvPr/>
        </p:nvSpPr>
        <p:spPr>
          <a:xfrm xmlns:a="http://schemas.openxmlformats.org/drawingml/2006/main">
            <a:off x="876300" y="87058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Skill files form the knowledge base for tools, techniques and phase-specific procedures.</a:t>
            </a:r>
          </a:p>
        </p:txBody>
      </p:sp>
      <p:sp>
        <p:nvSpPr>
          <p:cNvPr id="16" name="">
            <a:hlinkClick xmlns:a="http://schemas.openxmlformats.org/drawingml/2006/main" xmlns:r="http://schemas.openxmlformats.org/officeDocument/2006/relationships" r:id="R83984b6ffce74ba5" action="ppaction://hlinksldjump"/>
            <a:extLst xmlns:a="http://schemas.openxmlformats.org/drawingml/2006/main">
              <a:ext uri="{FF2B5EF4-FFF2-40B4-BE49-F238E27FC236}">
                <a16:creationId xmlns:a16="http://schemas.microsoft.com/office/drawing/2014/main" id="{2E30E3C5-CEFF-44E9-88CE-9FDC60CFD65A}"/>
              </a:ext>
            </a:extLst>
          </p:cNvPr>
          <p:cNvSpPr>
            <a:spLocks xmlns:a="http://schemas.openxmlformats.org/drawingml/2006/main" noGrp="1"/>
          </p:cNvSpPr>
          <p:nvPr/>
        </p:nvSpPr>
        <p:spPr>
          <a:xfrm xmlns:a="http://schemas.openxmlformats.org/drawingml/2006/main">
            <a:off x="14382750" y="85534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92302"/>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 Back to architecture</a:t>
            </a:r>
          </a:p>
        </p:txBody>
      </p:sp>
    </p:spTree>
    <p:extLst>
      <p:ext uri="{BB962C8B-B14F-4D97-AF65-F5344CB8AC3E}">
        <p14:creationId xmlns:p14="http://schemas.microsoft.com/office/powerpoint/2010/main" val="635167942"/>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48E5DAD-700D-4F8F-9F79-63B721580C1D}"/>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09 / DELIVERY PLAN</a:t>
            </a:r>
          </a:p>
        </p:txBody>
      </p:sp>
      <p:sp>
        <p:nvSpPr>
          <p:cNvPr id="2" name="">
            <a:extLst xmlns:a="http://schemas.openxmlformats.org/drawingml/2006/main">
              <a:ext uri="{FF2B5EF4-FFF2-40B4-BE49-F238E27FC236}">
                <a16:creationId xmlns:a16="http://schemas.microsoft.com/office/drawing/2014/main" id="{BD107A09-4FC3-490C-A405-6F6C4F3B4510}"/>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Planned timeline and milestones</a:t>
            </a:r>
          </a:p>
        </p:txBody>
      </p:sp>
      <p:sp>
        <p:nvSpPr>
          <p:cNvPr id="3" name="">
            <a:extLst xmlns:a="http://schemas.openxmlformats.org/drawingml/2006/main">
              <a:ext uri="{FF2B5EF4-FFF2-40B4-BE49-F238E27FC236}">
                <a16:creationId xmlns:a16="http://schemas.microsoft.com/office/drawing/2014/main" id="{010A9DCB-B501-4FF5-9928-15955C3DC7FA}"/>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6C64FFA8-BDA6-4A41-8AD1-4B47C568CE82}"/>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35F1BE4-DED5-4E83-835F-DB4D00407F25}"/>
              </a:ext>
            </a:extLst>
          </p:cNvPr>
          <p:cNvSpPr>
            <a:spLocks xmlns:a="http://schemas.openxmlformats.org/drawingml/2006/main" noGrp="1"/>
          </p:cNvSpPr>
          <p:nvPr/>
        </p:nvSpPr>
        <p:spPr>
          <a:xfrm xmlns:a="http://schemas.openxmlformats.org/drawingml/2006/main">
            <a:off x="876300" y="20574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0">
                <a:solidFill>
                  <a:srgbClr val="354F63"/>
                </a:solidFill>
                <a:latin typeface="Arial"/>
                <a:ea typeface="Arial"/>
                <a:cs typeface="Arial"/>
              </a:defRPr>
            </a:pPr>
            <a:r>
              <a:rPr sz="2100" b="0" i="0">
                <a:solidFill>
                  <a:srgbClr val="354F63"/>
                </a:solidFill>
                <a:latin typeface="Arial"/>
                <a:ea typeface="Arial"/>
                <a:cs typeface="Arial"/>
              </a:rPr>
              <a:t>September 2026 → April 2027</a:t>
            </a:r>
          </a:p>
        </p:txBody>
      </p:sp>
      <p:sp>
        <p:nvSpPr>
          <p:cNvPr id="6" name="">
            <a:extLst xmlns:a="http://schemas.openxmlformats.org/drawingml/2006/main">
              <a:ext uri="{FF2B5EF4-FFF2-40B4-BE49-F238E27FC236}">
                <a16:creationId xmlns:a16="http://schemas.microsoft.com/office/drawing/2014/main" id="{2B47D765-8B46-4611-8A07-F5CD2208D30D}"/>
              </a:ext>
            </a:extLst>
          </p:cNvPr>
          <p:cNvSpPr>
            <a:spLocks xmlns:a="http://schemas.openxmlformats.org/drawingml/2006/main" noGrp="1"/>
          </p:cNvSpPr>
          <p:nvPr/>
        </p:nvSpPr>
        <p:spPr>
          <a:xfrm xmlns:a="http://schemas.openxmlformats.org/drawingml/2006/main">
            <a:off x="1504950" y="4171950"/>
            <a:ext cx="14382750" cy="0"/>
          </a:xfrm>
          <a:prstGeom xmlns:a="http://schemas.openxmlformats.org/drawingml/2006/main" prst="line">
            <a:avLst/>
          </a:prstGeom>
          <a:noFill xmlns:a="http://schemas.openxmlformats.org/drawingml/2006/main"/>
          <a:ln xmlns:a="http://schemas.openxmlformats.org/drawingml/2006/main" w="57150">
            <a:solidFill>
              <a:srgbClr val="CAD6DE"/>
            </a:solidFill>
          </a:ln>
        </p:spPr>
      </p:sp>
      <p:sp>
        <p:nvSpPr>
          <p:cNvPr id="7" name="">
            <a:extLst xmlns:a="http://schemas.openxmlformats.org/drawingml/2006/main">
              <a:ext uri="{FF2B5EF4-FFF2-40B4-BE49-F238E27FC236}">
                <a16:creationId xmlns:a16="http://schemas.microsoft.com/office/drawing/2014/main" id="{74C37219-DD8F-4C2B-BB9C-E162303E9AC4}"/>
              </a:ext>
            </a:extLst>
          </p:cNvPr>
          <p:cNvSpPr>
            <a:spLocks xmlns:a="http://schemas.openxmlformats.org/drawingml/2006/main" noGrp="1"/>
          </p:cNvSpPr>
          <p:nvPr/>
        </p:nvSpPr>
        <p:spPr>
          <a:xfrm xmlns:a="http://schemas.openxmlformats.org/drawingml/2006/main">
            <a:off x="8763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1376143E-0463-4F36-BFF1-72D363C5BD15}"/>
              </a:ext>
            </a:extLst>
          </p:cNvPr>
          <p:cNvSpPr>
            <a:spLocks xmlns:a="http://schemas.openxmlformats.org/drawingml/2006/main" noGrp="1"/>
          </p:cNvSpPr>
          <p:nvPr/>
        </p:nvSpPr>
        <p:spPr>
          <a:xfrm xmlns:a="http://schemas.openxmlformats.org/drawingml/2006/main">
            <a:off x="1162050"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SEP</a:t>
            </a:r>
          </a:p>
        </p:txBody>
      </p:sp>
      <p:sp>
        <p:nvSpPr>
          <p:cNvPr id="9" name="">
            <a:extLst xmlns:a="http://schemas.openxmlformats.org/drawingml/2006/main">
              <a:ext uri="{FF2B5EF4-FFF2-40B4-BE49-F238E27FC236}">
                <a16:creationId xmlns:a16="http://schemas.microsoft.com/office/drawing/2014/main" id="{EB273FD5-CA23-487D-BC39-87626FED771B}"/>
              </a:ext>
            </a:extLst>
          </p:cNvPr>
          <p:cNvSpPr>
            <a:spLocks xmlns:a="http://schemas.openxmlformats.org/drawingml/2006/main" noGrp="1"/>
          </p:cNvSpPr>
          <p:nvPr/>
        </p:nvSpPr>
        <p:spPr>
          <a:xfrm xmlns:a="http://schemas.openxmlformats.org/drawingml/2006/main">
            <a:off x="9715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Planning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E7D8572C-6864-442A-98B5-E5B406C24F31}"/>
              </a:ext>
            </a:extLst>
          </p:cNvPr>
          <p:cNvSpPr>
            <a:spLocks xmlns:a="http://schemas.openxmlformats.org/drawingml/2006/main" noGrp="1"/>
          </p:cNvSpPr>
          <p:nvPr/>
        </p:nvSpPr>
        <p:spPr>
          <a:xfrm xmlns:a="http://schemas.openxmlformats.org/drawingml/2006/main">
            <a:off x="28479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67E364C3-D379-48B2-A15C-5253916ECE7C}"/>
              </a:ext>
            </a:extLst>
          </p:cNvPr>
          <p:cNvSpPr>
            <a:spLocks xmlns:a="http://schemas.openxmlformats.org/drawingml/2006/main" noGrp="1"/>
          </p:cNvSpPr>
          <p:nvPr/>
        </p:nvSpPr>
        <p:spPr>
          <a:xfrm xmlns:a="http://schemas.openxmlformats.org/drawingml/2006/main">
            <a:off x="3133725" y="3295650"/>
            <a:ext cx="1085850" cy="457200"/>
          </a:xfrm>
          <a:prstGeom xmlns:a="http://schemas.openxmlformats.org/drawingml/2006/main" prst="roundRect">
            <a:avLst>
              <a:gd name="adj" fmla="val 16667"/>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OCT</a:t>
            </a:r>
          </a:p>
        </p:txBody>
      </p:sp>
      <p:sp>
        <p:nvSpPr>
          <p:cNvPr id="12" name="">
            <a:extLst xmlns:a="http://schemas.openxmlformats.org/drawingml/2006/main">
              <a:ext uri="{FF2B5EF4-FFF2-40B4-BE49-F238E27FC236}">
                <a16:creationId xmlns:a16="http://schemas.microsoft.com/office/drawing/2014/main" id="{6E5764BE-10AD-499F-B602-A87EB82EAE5D}"/>
              </a:ext>
            </a:extLst>
          </p:cNvPr>
          <p:cNvSpPr>
            <a:spLocks xmlns:a="http://schemas.openxmlformats.org/drawingml/2006/main" noGrp="1"/>
          </p:cNvSpPr>
          <p:nvPr/>
        </p:nvSpPr>
        <p:spPr>
          <a:xfrm xmlns:a="http://schemas.openxmlformats.org/drawingml/2006/main">
            <a:off x="29432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Recon</a:t>
            </a:r>
          </a:p>
        </p:txBody>
      </p:sp>
      <p:sp>
        <p:nvSpPr>
          <p:cNvPr id="13" name="">
            <a:extLst xmlns:a="http://schemas.openxmlformats.org/drawingml/2006/main">
              <a:ext uri="{FF2B5EF4-FFF2-40B4-BE49-F238E27FC236}">
                <a16:creationId xmlns:a16="http://schemas.microsoft.com/office/drawing/2014/main" id="{CF565268-07F6-41FA-BB09-02EB398E525D}"/>
              </a:ext>
            </a:extLst>
          </p:cNvPr>
          <p:cNvSpPr>
            <a:spLocks xmlns:a="http://schemas.openxmlformats.org/drawingml/2006/main" noGrp="1"/>
          </p:cNvSpPr>
          <p:nvPr/>
        </p:nvSpPr>
        <p:spPr>
          <a:xfrm xmlns:a="http://schemas.openxmlformats.org/drawingml/2006/main">
            <a:off x="48196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E8F7699E-8B01-4C25-9C01-6E58A55C9377}"/>
              </a:ext>
            </a:extLst>
          </p:cNvPr>
          <p:cNvSpPr>
            <a:spLocks xmlns:a="http://schemas.openxmlformats.org/drawingml/2006/main" noGrp="1"/>
          </p:cNvSpPr>
          <p:nvPr/>
        </p:nvSpPr>
        <p:spPr>
          <a:xfrm xmlns:a="http://schemas.openxmlformats.org/drawingml/2006/main">
            <a:off x="51054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NOV</a:t>
            </a:r>
          </a:p>
        </p:txBody>
      </p:sp>
      <p:sp>
        <p:nvSpPr>
          <p:cNvPr id="15" name="">
            <a:extLst xmlns:a="http://schemas.openxmlformats.org/drawingml/2006/main">
              <a:ext uri="{FF2B5EF4-FFF2-40B4-BE49-F238E27FC236}">
                <a16:creationId xmlns:a16="http://schemas.microsoft.com/office/drawing/2014/main" id="{F0DD56ED-8995-47E4-AD1F-4FF8870F61B2}"/>
              </a:ext>
            </a:extLst>
          </p:cNvPr>
          <p:cNvSpPr>
            <a:spLocks xmlns:a="http://schemas.openxmlformats.org/drawingml/2006/main" noGrp="1"/>
          </p:cNvSpPr>
          <p:nvPr/>
        </p:nvSpPr>
        <p:spPr>
          <a:xfrm xmlns:a="http://schemas.openxmlformats.org/drawingml/2006/main">
            <a:off x="49149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Network &amp; web</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assessment</a:t>
            </a:r>
          </a:p>
        </p:txBody>
      </p:sp>
      <p:sp>
        <p:nvSpPr>
          <p:cNvPr id="16" name="">
            <a:extLst xmlns:a="http://schemas.openxmlformats.org/drawingml/2006/main">
              <a:ext uri="{FF2B5EF4-FFF2-40B4-BE49-F238E27FC236}">
                <a16:creationId xmlns:a16="http://schemas.microsoft.com/office/drawing/2014/main" id="{246685CF-4B0A-4B10-B81E-2763F12F1613}"/>
              </a:ext>
            </a:extLst>
          </p:cNvPr>
          <p:cNvSpPr>
            <a:spLocks xmlns:a="http://schemas.openxmlformats.org/drawingml/2006/main" noGrp="1"/>
          </p:cNvSpPr>
          <p:nvPr/>
        </p:nvSpPr>
        <p:spPr>
          <a:xfrm xmlns:a="http://schemas.openxmlformats.org/drawingml/2006/main">
            <a:off x="67913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2B9C7A3D-6CFD-4939-9EFB-23F5A68B6B44}"/>
              </a:ext>
            </a:extLst>
          </p:cNvPr>
          <p:cNvSpPr>
            <a:spLocks xmlns:a="http://schemas.openxmlformats.org/drawingml/2006/main" noGrp="1"/>
          </p:cNvSpPr>
          <p:nvPr/>
        </p:nvSpPr>
        <p:spPr>
          <a:xfrm xmlns:a="http://schemas.openxmlformats.org/drawingml/2006/main">
            <a:off x="7077075" y="3295650"/>
            <a:ext cx="1085850" cy="457200"/>
          </a:xfrm>
          <a:prstGeom xmlns:a="http://schemas.openxmlformats.org/drawingml/2006/main" prst="roundRect">
            <a:avLst>
              <a:gd name="adj" fmla="val 16667"/>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DEC</a:t>
            </a:r>
          </a:p>
        </p:txBody>
      </p:sp>
      <p:sp>
        <p:nvSpPr>
          <p:cNvPr id="18" name="">
            <a:extLst xmlns:a="http://schemas.openxmlformats.org/drawingml/2006/main">
              <a:ext uri="{FF2B5EF4-FFF2-40B4-BE49-F238E27FC236}">
                <a16:creationId xmlns:a16="http://schemas.microsoft.com/office/drawing/2014/main" id="{99CB796A-F3E9-430B-9CC5-B7097C8D3C81}"/>
              </a:ext>
            </a:extLst>
          </p:cNvPr>
          <p:cNvSpPr>
            <a:spLocks xmlns:a="http://schemas.openxmlformats.org/drawingml/2006/main" noGrp="1"/>
          </p:cNvSpPr>
          <p:nvPr/>
        </p:nvSpPr>
        <p:spPr>
          <a:xfrm xmlns:a="http://schemas.openxmlformats.org/drawingml/2006/main">
            <a:off x="68865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Integration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correlation</a:t>
            </a:r>
          </a:p>
        </p:txBody>
      </p:sp>
      <p:sp>
        <p:nvSpPr>
          <p:cNvPr id="19" name="">
            <a:extLst xmlns:a="http://schemas.openxmlformats.org/drawingml/2006/main">
              <a:ext uri="{FF2B5EF4-FFF2-40B4-BE49-F238E27FC236}">
                <a16:creationId xmlns:a16="http://schemas.microsoft.com/office/drawing/2014/main" id="{B5A8D0FF-5900-42C6-A3FD-DB51040312A8}"/>
              </a:ext>
            </a:extLst>
          </p:cNvPr>
          <p:cNvSpPr>
            <a:spLocks xmlns:a="http://schemas.openxmlformats.org/drawingml/2006/main" noGrp="1"/>
          </p:cNvSpPr>
          <p:nvPr/>
        </p:nvSpPr>
        <p:spPr>
          <a:xfrm xmlns:a="http://schemas.openxmlformats.org/drawingml/2006/main">
            <a:off x="87630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042B887D-7EBD-4E66-907B-BE3C43E976C8}"/>
              </a:ext>
            </a:extLst>
          </p:cNvPr>
          <p:cNvSpPr>
            <a:spLocks xmlns:a="http://schemas.openxmlformats.org/drawingml/2006/main" noGrp="1"/>
          </p:cNvSpPr>
          <p:nvPr/>
        </p:nvSpPr>
        <p:spPr>
          <a:xfrm xmlns:a="http://schemas.openxmlformats.org/drawingml/2006/main">
            <a:off x="9048750" y="3295650"/>
            <a:ext cx="1085850" cy="457200"/>
          </a:xfrm>
          <a:prstGeom xmlns:a="http://schemas.openxmlformats.org/drawingml/2006/main" prst="roundRect">
            <a:avLst>
              <a:gd name="adj" fmla="val 16667"/>
            </a:avLst>
          </a:prstGeom>
          <a:solidFill xmlns:a="http://schemas.openxmlformats.org/drawingml/2006/main">
            <a:srgbClr val="C55B48"/>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JAN</a:t>
            </a:r>
          </a:p>
        </p:txBody>
      </p:sp>
      <p:sp>
        <p:nvSpPr>
          <p:cNvPr id="21" name="">
            <a:extLst xmlns:a="http://schemas.openxmlformats.org/drawingml/2006/main">
              <a:ext uri="{FF2B5EF4-FFF2-40B4-BE49-F238E27FC236}">
                <a16:creationId xmlns:a16="http://schemas.microsoft.com/office/drawing/2014/main" id="{CEB29B52-D5BD-4221-99AE-EFBFC7B662F9}"/>
              </a:ext>
            </a:extLst>
          </p:cNvPr>
          <p:cNvSpPr>
            <a:spLocks xmlns:a="http://schemas.openxmlformats.org/drawingml/2006/main" noGrp="1"/>
          </p:cNvSpPr>
          <p:nvPr/>
        </p:nvSpPr>
        <p:spPr>
          <a:xfrm xmlns:a="http://schemas.openxmlformats.org/drawingml/2006/main">
            <a:off x="88582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Business logic</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&amp; safety</a:t>
            </a:r>
          </a:p>
        </p:txBody>
      </p:sp>
      <p:sp>
        <p:nvSpPr>
          <p:cNvPr id="22" name="">
            <a:extLst xmlns:a="http://schemas.openxmlformats.org/drawingml/2006/main">
              <a:ext uri="{FF2B5EF4-FFF2-40B4-BE49-F238E27FC236}">
                <a16:creationId xmlns:a16="http://schemas.microsoft.com/office/drawing/2014/main" id="{B2F99128-CC7F-4303-B2B1-5DD113AC81DA}"/>
              </a:ext>
            </a:extLst>
          </p:cNvPr>
          <p:cNvSpPr>
            <a:spLocks xmlns:a="http://schemas.openxmlformats.org/drawingml/2006/main" noGrp="1"/>
          </p:cNvSpPr>
          <p:nvPr/>
        </p:nvSpPr>
        <p:spPr>
          <a:xfrm xmlns:a="http://schemas.openxmlformats.org/drawingml/2006/main">
            <a:off x="107346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CF7D96CB-1F95-48AB-B0E4-44D9050A876D}"/>
              </a:ext>
            </a:extLst>
          </p:cNvPr>
          <p:cNvSpPr>
            <a:spLocks xmlns:a="http://schemas.openxmlformats.org/drawingml/2006/main" noGrp="1"/>
          </p:cNvSpPr>
          <p:nvPr/>
        </p:nvSpPr>
        <p:spPr>
          <a:xfrm xmlns:a="http://schemas.openxmlformats.org/drawingml/2006/main">
            <a:off x="11020425" y="3295650"/>
            <a:ext cx="1085850" cy="457200"/>
          </a:xfrm>
          <a:prstGeom xmlns:a="http://schemas.openxmlformats.org/drawingml/2006/main" prst="roundRect">
            <a:avLst>
              <a:gd name="adj" fmla="val 16667"/>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FEB</a:t>
            </a:r>
          </a:p>
        </p:txBody>
      </p:sp>
      <p:sp>
        <p:nvSpPr>
          <p:cNvPr id="24" name="">
            <a:extLst xmlns:a="http://schemas.openxmlformats.org/drawingml/2006/main">
              <a:ext uri="{FF2B5EF4-FFF2-40B4-BE49-F238E27FC236}">
                <a16:creationId xmlns:a16="http://schemas.microsoft.com/office/drawing/2014/main" id="{231668EF-9D38-4F28-9E23-6BECDD075C7D}"/>
              </a:ext>
            </a:extLst>
          </p:cNvPr>
          <p:cNvSpPr>
            <a:spLocks xmlns:a="http://schemas.openxmlformats.org/drawingml/2006/main" noGrp="1"/>
          </p:cNvSpPr>
          <p:nvPr/>
        </p:nvSpPr>
        <p:spPr>
          <a:xfrm xmlns:a="http://schemas.openxmlformats.org/drawingml/2006/main">
            <a:off x="108299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Dual-mode</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orchestration</a:t>
            </a:r>
          </a:p>
        </p:txBody>
      </p:sp>
      <p:sp>
        <p:nvSpPr>
          <p:cNvPr id="25" name="">
            <a:extLst xmlns:a="http://schemas.openxmlformats.org/drawingml/2006/main">
              <a:ext uri="{FF2B5EF4-FFF2-40B4-BE49-F238E27FC236}">
                <a16:creationId xmlns:a16="http://schemas.microsoft.com/office/drawing/2014/main" id="{217244D6-5956-41A4-B60C-CCBA6266E710}"/>
              </a:ext>
            </a:extLst>
          </p:cNvPr>
          <p:cNvSpPr>
            <a:spLocks xmlns:a="http://schemas.openxmlformats.org/drawingml/2006/main" noGrp="1"/>
          </p:cNvSpPr>
          <p:nvPr/>
        </p:nvSpPr>
        <p:spPr>
          <a:xfrm xmlns:a="http://schemas.openxmlformats.org/drawingml/2006/main">
            <a:off x="127063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6" name="">
            <a:extLst xmlns:a="http://schemas.openxmlformats.org/drawingml/2006/main">
              <a:ext uri="{FF2B5EF4-FFF2-40B4-BE49-F238E27FC236}">
                <a16:creationId xmlns:a16="http://schemas.microsoft.com/office/drawing/2014/main" id="{B524EE5C-6F36-4A57-A864-FEF4906DA138}"/>
              </a:ext>
            </a:extLst>
          </p:cNvPr>
          <p:cNvSpPr>
            <a:spLocks xmlns:a="http://schemas.openxmlformats.org/drawingml/2006/main" noGrp="1"/>
          </p:cNvSpPr>
          <p:nvPr/>
        </p:nvSpPr>
        <p:spPr>
          <a:xfrm xmlns:a="http://schemas.openxmlformats.org/drawingml/2006/main">
            <a:off x="129921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MAR</a:t>
            </a:r>
          </a:p>
        </p:txBody>
      </p:sp>
      <p:sp>
        <p:nvSpPr>
          <p:cNvPr id="27" name="">
            <a:extLst xmlns:a="http://schemas.openxmlformats.org/drawingml/2006/main">
              <a:ext uri="{FF2B5EF4-FFF2-40B4-BE49-F238E27FC236}">
                <a16:creationId xmlns:a16="http://schemas.microsoft.com/office/drawing/2014/main" id="{7E7398BE-907D-4D03-B716-4D2F18CC6842}"/>
              </a:ext>
            </a:extLst>
          </p:cNvPr>
          <p:cNvSpPr>
            <a:spLocks xmlns:a="http://schemas.openxmlformats.org/drawingml/2006/main" noGrp="1"/>
          </p:cNvSpPr>
          <p:nvPr/>
        </p:nvSpPr>
        <p:spPr>
          <a:xfrm xmlns:a="http://schemas.openxmlformats.org/drawingml/2006/main">
            <a:off x="128016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Testing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refinement</a:t>
            </a:r>
          </a:p>
        </p:txBody>
      </p:sp>
      <p:sp>
        <p:nvSpPr>
          <p:cNvPr id="28" name="">
            <a:extLst xmlns:a="http://schemas.openxmlformats.org/drawingml/2006/main">
              <a:ext uri="{FF2B5EF4-FFF2-40B4-BE49-F238E27FC236}">
                <a16:creationId xmlns:a16="http://schemas.microsoft.com/office/drawing/2014/main" id="{38DBF991-56D3-4822-8ECE-D13B5A77E800}"/>
              </a:ext>
            </a:extLst>
          </p:cNvPr>
          <p:cNvSpPr>
            <a:spLocks xmlns:a="http://schemas.openxmlformats.org/drawingml/2006/main" noGrp="1"/>
          </p:cNvSpPr>
          <p:nvPr/>
        </p:nvSpPr>
        <p:spPr>
          <a:xfrm xmlns:a="http://schemas.openxmlformats.org/drawingml/2006/main">
            <a:off x="146780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9" name="">
            <a:extLst xmlns:a="http://schemas.openxmlformats.org/drawingml/2006/main">
              <a:ext uri="{FF2B5EF4-FFF2-40B4-BE49-F238E27FC236}">
                <a16:creationId xmlns:a16="http://schemas.microsoft.com/office/drawing/2014/main" id="{7A582D4A-5445-45C2-9FD0-FE47BBD17BB9}"/>
              </a:ext>
            </a:extLst>
          </p:cNvPr>
          <p:cNvSpPr>
            <a:spLocks xmlns:a="http://schemas.openxmlformats.org/drawingml/2006/main" noGrp="1"/>
          </p:cNvSpPr>
          <p:nvPr/>
        </p:nvSpPr>
        <p:spPr>
          <a:xfrm xmlns:a="http://schemas.openxmlformats.org/drawingml/2006/main">
            <a:off x="14963775"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APR</a:t>
            </a:r>
          </a:p>
        </p:txBody>
      </p:sp>
      <p:sp>
        <p:nvSpPr>
          <p:cNvPr id="30" name="">
            <a:extLst xmlns:a="http://schemas.openxmlformats.org/drawingml/2006/main">
              <a:ext uri="{FF2B5EF4-FFF2-40B4-BE49-F238E27FC236}">
                <a16:creationId xmlns:a16="http://schemas.microsoft.com/office/drawing/2014/main" id="{29E3E805-456D-4CC3-A6D3-8AAC27CC171F}"/>
              </a:ext>
            </a:extLst>
          </p:cNvPr>
          <p:cNvSpPr>
            <a:spLocks xmlns:a="http://schemas.openxmlformats.org/drawingml/2006/main" noGrp="1"/>
          </p:cNvSpPr>
          <p:nvPr/>
        </p:nvSpPr>
        <p:spPr>
          <a:xfrm xmlns:a="http://schemas.openxmlformats.org/drawingml/2006/main">
            <a:off x="147732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Evaluation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defense</a:t>
            </a:r>
          </a:p>
        </p:txBody>
      </p:sp>
      <p:sp>
        <p:nvSpPr>
          <p:cNvPr id="31" name="">
            <a:extLst xmlns:a="http://schemas.openxmlformats.org/drawingml/2006/main">
              <a:ext uri="{FF2B5EF4-FFF2-40B4-BE49-F238E27FC236}">
                <a16:creationId xmlns:a16="http://schemas.microsoft.com/office/drawing/2014/main" id="{91B8B8F2-9723-4440-AB71-3D729B1AC691}"/>
              </a:ext>
            </a:extLst>
          </p:cNvPr>
          <p:cNvSpPr>
            <a:spLocks xmlns:a="http://schemas.openxmlformats.org/drawingml/2006/main" noGrp="1"/>
          </p:cNvSpPr>
          <p:nvPr/>
        </p:nvSpPr>
        <p:spPr>
          <a:xfrm xmlns:a="http://schemas.openxmlformats.org/drawingml/2006/main">
            <a:off x="876300" y="5867400"/>
            <a:ext cx="15773400" cy="2247900"/>
          </a:xfrm>
          <a:prstGeom xmlns:a="http://schemas.openxmlformats.org/drawingml/2006/main" prst="roundRect">
            <a:avLst>
              <a:gd name="adj" fmla="val 3390"/>
            </a:avLst>
          </a:prstGeom>
          <a:solidFill xmlns:a="http://schemas.openxmlformats.org/drawingml/2006/main">
            <a:srgbClr val="E8EFF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D28F8EF-AD5C-4FB1-A76E-8BB522FFB2C1}"/>
              </a:ext>
            </a:extLst>
          </p:cNvPr>
          <p:cNvSpPr>
            <a:spLocks xmlns:a="http://schemas.openxmlformats.org/drawingml/2006/main" noGrp="1"/>
          </p:cNvSpPr>
          <p:nvPr/>
        </p:nvSpPr>
        <p:spPr>
          <a:xfrm xmlns:a="http://schemas.openxmlformats.org/drawingml/2006/main">
            <a:off x="12192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Evaluation focus</a:t>
            </a:r>
          </a:p>
        </p:txBody>
      </p:sp>
      <p:sp>
        <p:nvSpPr>
          <p:cNvPr id="33" name="">
            <a:extLst xmlns:a="http://schemas.openxmlformats.org/drawingml/2006/main">
              <a:ext uri="{FF2B5EF4-FFF2-40B4-BE49-F238E27FC236}">
                <a16:creationId xmlns:a16="http://schemas.microsoft.com/office/drawing/2014/main" id="{FEE07BAA-AC17-411B-B57B-2D523EE542C9}"/>
              </a:ext>
            </a:extLst>
          </p:cNvPr>
          <p:cNvSpPr>
            <a:spLocks xmlns:a="http://schemas.openxmlformats.org/drawingml/2006/main" noGrp="1"/>
          </p:cNvSpPr>
          <p:nvPr/>
        </p:nvSpPr>
        <p:spPr>
          <a:xfrm xmlns:a="http://schemas.openxmlformats.org/drawingml/2006/main">
            <a:off x="12192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2114DC1F-46E3-4B6E-90E4-3DE133897585}"/>
              </a:ext>
            </a:extLst>
          </p:cNvPr>
          <p:cNvSpPr>
            <a:spLocks xmlns:a="http://schemas.openxmlformats.org/drawingml/2006/main" noGrp="1"/>
          </p:cNvSpPr>
          <p:nvPr/>
        </p:nvSpPr>
        <p:spPr>
          <a:xfrm xmlns:a="http://schemas.openxmlformats.org/drawingml/2006/main">
            <a:off x="1219200" y="6724650"/>
            <a:ext cx="85725" cy="10668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F8B999C-676C-428D-8CA1-7F751C809BD1}"/>
              </a:ext>
            </a:extLst>
          </p:cNvPr>
          <p:cNvSpPr>
            <a:spLocks xmlns:a="http://schemas.openxmlformats.org/drawingml/2006/main" noGrp="1"/>
          </p:cNvSpPr>
          <p:nvPr/>
        </p:nvSpPr>
        <p:spPr>
          <a:xfrm xmlns:a="http://schemas.openxmlformats.org/drawingml/2006/main">
            <a:off x="14859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Coverage</a:t>
            </a:r>
          </a:p>
        </p:txBody>
      </p:sp>
      <p:sp>
        <p:nvSpPr>
          <p:cNvPr id="36" name="">
            <a:extLst xmlns:a="http://schemas.openxmlformats.org/drawingml/2006/main">
              <a:ext uri="{FF2B5EF4-FFF2-40B4-BE49-F238E27FC236}">
                <a16:creationId xmlns:a16="http://schemas.microsoft.com/office/drawing/2014/main" id="{D2AE0EF4-5E81-4453-A47D-40B4821B6E45}"/>
              </a:ext>
            </a:extLst>
          </p:cNvPr>
          <p:cNvSpPr>
            <a:spLocks xmlns:a="http://schemas.openxmlformats.org/drawingml/2006/main" noGrp="1"/>
          </p:cNvSpPr>
          <p:nvPr/>
        </p:nvSpPr>
        <p:spPr>
          <a:xfrm xmlns:a="http://schemas.openxmlformats.org/drawingml/2006/main">
            <a:off x="14859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492"/>
          </a:bodyPr>
          <a:lstStyle xmlns:a="http://schemas.openxmlformats.org/drawingml/2006/main"/>
          <a:p xmlns:a="http://schemas.openxmlformats.org/drawingml/2006/main">
            <a:pPr algn="l">
              <a:lnSpc>
                <a:spcPct val="105000"/>
              </a:lnSpc>
              <a:buNone/>
              <a:defRPr sz="1500" b="0" i="0">
                <a:solidFill>
                  <a:srgbClr val="354F63"/>
                </a:solidFill>
                <a:latin typeface="Arial"/>
                <a:ea typeface="Arial"/>
                <a:cs typeface="Arial"/>
              </a:defRPr>
            </a:pPr>
            <a:r>
              <a:rPr sz="1500" b="0" i="0">
                <a:solidFill>
                  <a:srgbClr val="354F63"/>
                </a:solidFill>
                <a:latin typeface="Arial"/>
                <a:ea typeface="Arial"/>
                <a:cs typeface="Arial"/>
              </a:rPr>
              <a:t>Attack-surface discovery and vulnerability coverage.</a:t>
            </a:r>
          </a:p>
        </p:txBody>
      </p:sp>
      <p:sp>
        <p:nvSpPr>
          <p:cNvPr id="37" name="">
            <a:extLst xmlns:a="http://schemas.openxmlformats.org/drawingml/2006/main">
              <a:ext uri="{FF2B5EF4-FFF2-40B4-BE49-F238E27FC236}">
                <a16:creationId xmlns:a16="http://schemas.microsoft.com/office/drawing/2014/main" id="{FEDB2EEA-C9A2-4D69-8ED8-FC03EB82B379}"/>
              </a:ext>
            </a:extLst>
          </p:cNvPr>
          <p:cNvSpPr>
            <a:spLocks xmlns:a="http://schemas.openxmlformats.org/drawingml/2006/main" noGrp="1"/>
          </p:cNvSpPr>
          <p:nvPr/>
        </p:nvSpPr>
        <p:spPr>
          <a:xfrm xmlns:a="http://schemas.openxmlformats.org/drawingml/2006/main">
            <a:off x="59436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41C84BF4-5A60-4809-81B9-1262EE427956}"/>
              </a:ext>
            </a:extLst>
          </p:cNvPr>
          <p:cNvSpPr>
            <a:spLocks xmlns:a="http://schemas.openxmlformats.org/drawingml/2006/main" noGrp="1"/>
          </p:cNvSpPr>
          <p:nvPr/>
        </p:nvSpPr>
        <p:spPr>
          <a:xfrm xmlns:a="http://schemas.openxmlformats.org/drawingml/2006/main">
            <a:off x="5943600" y="6724650"/>
            <a:ext cx="85725" cy="10668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0550DD25-3DA4-4B4D-B1F5-AC1D107B189B}"/>
              </a:ext>
            </a:extLst>
          </p:cNvPr>
          <p:cNvSpPr>
            <a:spLocks xmlns:a="http://schemas.openxmlformats.org/drawingml/2006/main" noGrp="1"/>
          </p:cNvSpPr>
          <p:nvPr/>
        </p:nvSpPr>
        <p:spPr>
          <a:xfrm xmlns:a="http://schemas.openxmlformats.org/drawingml/2006/main">
            <a:off x="62103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Reliability</a:t>
            </a:r>
          </a:p>
        </p:txBody>
      </p:sp>
      <p:sp>
        <p:nvSpPr>
          <p:cNvPr id="40" name="">
            <a:extLst xmlns:a="http://schemas.openxmlformats.org/drawingml/2006/main">
              <a:ext uri="{FF2B5EF4-FFF2-40B4-BE49-F238E27FC236}">
                <a16:creationId xmlns:a16="http://schemas.microsoft.com/office/drawing/2014/main" id="{0AA15CF9-DA53-43F2-9767-21B25F337812}"/>
              </a:ext>
            </a:extLst>
          </p:cNvPr>
          <p:cNvSpPr>
            <a:spLocks xmlns:a="http://schemas.openxmlformats.org/drawingml/2006/main" noGrp="1"/>
          </p:cNvSpPr>
          <p:nvPr/>
        </p:nvSpPr>
        <p:spPr>
          <a:xfrm xmlns:a="http://schemas.openxmlformats.org/drawingml/2006/main">
            <a:off x="62103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492"/>
          </a:bodyPr>
          <a:lstStyle xmlns:a="http://schemas.openxmlformats.org/drawingml/2006/main"/>
          <a:p xmlns:a="http://schemas.openxmlformats.org/drawingml/2006/main">
            <a:pPr algn="l">
              <a:lnSpc>
                <a:spcPct val="105000"/>
              </a:lnSpc>
              <a:buNone/>
              <a:defRPr sz="1500" b="0" i="0">
                <a:solidFill>
                  <a:srgbClr val="354F63"/>
                </a:solidFill>
                <a:latin typeface="Arial"/>
                <a:ea typeface="Arial"/>
                <a:cs typeface="Arial"/>
              </a:defRPr>
            </a:pPr>
            <a:r>
              <a:rPr sz="1500" b="0" i="0">
                <a:solidFill>
                  <a:srgbClr val="354F63"/>
                </a:solidFill>
                <a:latin typeface="Arial"/>
                <a:ea typeface="Arial"/>
                <a:cs typeface="Arial"/>
              </a:rPr>
              <a:t>Comparable operation with and without an LLM.</a:t>
            </a:r>
          </a:p>
        </p:txBody>
      </p:sp>
      <p:sp>
        <p:nvSpPr>
          <p:cNvPr id="41" name="">
            <a:extLst xmlns:a="http://schemas.openxmlformats.org/drawingml/2006/main">
              <a:ext uri="{FF2B5EF4-FFF2-40B4-BE49-F238E27FC236}">
                <a16:creationId xmlns:a16="http://schemas.microsoft.com/office/drawing/2014/main" id="{F749119C-1E63-47BD-9DF2-628914776565}"/>
              </a:ext>
            </a:extLst>
          </p:cNvPr>
          <p:cNvSpPr>
            <a:spLocks xmlns:a="http://schemas.openxmlformats.org/drawingml/2006/main" noGrp="1"/>
          </p:cNvSpPr>
          <p:nvPr/>
        </p:nvSpPr>
        <p:spPr>
          <a:xfrm xmlns:a="http://schemas.openxmlformats.org/drawingml/2006/main">
            <a:off x="10668000" y="6724650"/>
            <a:ext cx="5619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8217D441-3B46-4867-82ED-ACCE852B1029}"/>
              </a:ext>
            </a:extLst>
          </p:cNvPr>
          <p:cNvSpPr>
            <a:spLocks xmlns:a="http://schemas.openxmlformats.org/drawingml/2006/main" noGrp="1"/>
          </p:cNvSpPr>
          <p:nvPr/>
        </p:nvSpPr>
        <p:spPr>
          <a:xfrm xmlns:a="http://schemas.openxmlformats.org/drawingml/2006/main">
            <a:off x="10668000" y="6724650"/>
            <a:ext cx="85725" cy="10668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1369CFB-028B-4B43-9BD1-CA736BC48F23}"/>
              </a:ext>
            </a:extLst>
          </p:cNvPr>
          <p:cNvSpPr>
            <a:spLocks xmlns:a="http://schemas.openxmlformats.org/drawingml/2006/main" noGrp="1"/>
          </p:cNvSpPr>
          <p:nvPr/>
        </p:nvSpPr>
        <p:spPr>
          <a:xfrm xmlns:a="http://schemas.openxmlformats.org/drawingml/2006/main">
            <a:off x="10934700" y="693420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Safety and efficiency</a:t>
            </a:r>
          </a:p>
        </p:txBody>
      </p:sp>
      <p:sp>
        <p:nvSpPr>
          <p:cNvPr id="44" name="">
            <a:extLst xmlns:a="http://schemas.openxmlformats.org/drawingml/2006/main">
              <a:ext uri="{FF2B5EF4-FFF2-40B4-BE49-F238E27FC236}">
                <a16:creationId xmlns:a16="http://schemas.microsoft.com/office/drawing/2014/main" id="{A53DC799-A317-4DC5-B96B-2AF7940EC939}"/>
              </a:ext>
            </a:extLst>
          </p:cNvPr>
          <p:cNvSpPr>
            <a:spLocks xmlns:a="http://schemas.openxmlformats.org/drawingml/2006/main" noGrp="1"/>
          </p:cNvSpPr>
          <p:nvPr/>
        </p:nvSpPr>
        <p:spPr>
          <a:xfrm xmlns:a="http://schemas.openxmlformats.org/drawingml/2006/main">
            <a:off x="10934700" y="7467600"/>
            <a:ext cx="5124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492"/>
          </a:bodyPr>
          <a:lstStyle xmlns:a="http://schemas.openxmlformats.org/drawingml/2006/main"/>
          <a:p xmlns:a="http://schemas.openxmlformats.org/drawingml/2006/main">
            <a:pPr algn="l">
              <a:lnSpc>
                <a:spcPct val="105000"/>
              </a:lnSpc>
              <a:buNone/>
              <a:defRPr sz="1500" b="0" i="0">
                <a:solidFill>
                  <a:srgbClr val="354F63"/>
                </a:solidFill>
                <a:latin typeface="Arial"/>
                <a:ea typeface="Arial"/>
                <a:cs typeface="Arial"/>
              </a:defRPr>
            </a:pPr>
            <a:r>
              <a:rPr sz="1500" b="0" i="0">
                <a:solidFill>
                  <a:srgbClr val="354F63"/>
                </a:solidFill>
                <a:latin typeface="Arial"/>
                <a:ea typeface="Arial"/>
                <a:cs typeface="Arial"/>
              </a:rPr>
              <a:t>Zero scope violations and measurable time improvement.</a:t>
            </a:r>
          </a:p>
        </p:txBody>
      </p:sp>
    </p:spTree>
    <p:extLst>
      <p:ext uri="{BB962C8B-B14F-4D97-AF65-F5344CB8AC3E}">
        <p14:creationId xmlns:p14="http://schemas.microsoft.com/office/powerpoint/2010/main" val="634809561"/>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7672FEE-DC5E-4ABF-A81F-787C1B274981}"/>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10 / TEAM</a:t>
            </a:r>
          </a:p>
        </p:txBody>
      </p:sp>
      <p:sp>
        <p:nvSpPr>
          <p:cNvPr id="2" name="">
            <a:extLst xmlns:a="http://schemas.openxmlformats.org/drawingml/2006/main">
              <a:ext uri="{FF2B5EF4-FFF2-40B4-BE49-F238E27FC236}">
                <a16:creationId xmlns:a16="http://schemas.microsoft.com/office/drawing/2014/main" id="{E2752380-4072-4730-9B9B-DCFA93C58D98}"/>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Team responsibilities and shared ownership</a:t>
            </a:r>
          </a:p>
        </p:txBody>
      </p:sp>
      <p:sp>
        <p:nvSpPr>
          <p:cNvPr id="3" name="">
            <a:extLst xmlns:a="http://schemas.openxmlformats.org/drawingml/2006/main">
              <a:ext uri="{FF2B5EF4-FFF2-40B4-BE49-F238E27FC236}">
                <a16:creationId xmlns:a16="http://schemas.microsoft.com/office/drawing/2014/main" id="{04894186-0069-4077-BA95-7887EBED017C}"/>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14334DD-8A4D-47BF-B1F8-1B18AA0B1C58}"/>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E0D813B6-7A9F-46BB-BEAA-3DF3F37E2D68}"/>
              </a:ext>
            </a:extLst>
          </p:cNvPr>
          <p:cNvSpPr>
            <a:spLocks xmlns:a="http://schemas.openxmlformats.org/drawingml/2006/main" noGrp="1"/>
          </p:cNvSpPr>
          <p:nvPr/>
        </p:nvSpPr>
        <p:spPr>
          <a:xfrm xmlns:a="http://schemas.openxmlformats.org/drawingml/2006/main">
            <a:off x="87630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633AE1C3-1774-4A9E-9146-D131041C8181}"/>
              </a:ext>
            </a:extLst>
          </p:cNvPr>
          <p:cNvSpPr>
            <a:spLocks xmlns:a="http://schemas.openxmlformats.org/drawingml/2006/main" noGrp="1"/>
          </p:cNvSpPr>
          <p:nvPr/>
        </p:nvSpPr>
        <p:spPr>
          <a:xfrm xmlns:a="http://schemas.openxmlformats.org/drawingml/2006/main">
            <a:off x="876300" y="2533650"/>
            <a:ext cx="85725" cy="33147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AEBEC9-A418-43BC-8E1A-274C6ACFDA8A}"/>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Abdul Ahad</a:t>
            </a:r>
          </a:p>
        </p:txBody>
      </p:sp>
      <p:sp>
        <p:nvSpPr>
          <p:cNvPr id="8" name="">
            <a:extLst xmlns:a="http://schemas.openxmlformats.org/drawingml/2006/main">
              <a:ext uri="{FF2B5EF4-FFF2-40B4-BE49-F238E27FC236}">
                <a16:creationId xmlns:a16="http://schemas.microsoft.com/office/drawing/2014/main" id="{479BD8A0-3C5E-4B5F-B2C6-A0DD1C42939B}"/>
              </a:ext>
            </a:extLst>
          </p:cNvPr>
          <p:cNvSpPr>
            <a:spLocks xmlns:a="http://schemas.openxmlformats.org/drawingml/2006/main" noGrp="1"/>
          </p:cNvSpPr>
          <p:nvPr/>
        </p:nvSpPr>
        <p:spPr>
          <a:xfrm xmlns:a="http://schemas.openxmlformats.org/drawingml/2006/main">
            <a:off x="114300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System architecture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AI orchestration</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Methodology integration</a:t>
            </a:r>
          </a:p>
        </p:txBody>
      </p:sp>
      <p:sp>
        <p:nvSpPr>
          <p:cNvPr id="9" name="">
            <a:extLst xmlns:a="http://schemas.openxmlformats.org/drawingml/2006/main">
              <a:ext uri="{FF2B5EF4-FFF2-40B4-BE49-F238E27FC236}">
                <a16:creationId xmlns:a16="http://schemas.microsoft.com/office/drawing/2014/main" id="{62782A15-4EF5-48C5-B82B-5AAFDC5B31D8}"/>
              </a:ext>
            </a:extLst>
          </p:cNvPr>
          <p:cNvSpPr>
            <a:spLocks xmlns:a="http://schemas.openxmlformats.org/drawingml/2006/main" noGrp="1"/>
          </p:cNvSpPr>
          <p:nvPr/>
        </p:nvSpPr>
        <p:spPr>
          <a:xfrm xmlns:a="http://schemas.openxmlformats.org/drawingml/2006/main">
            <a:off x="600075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C2581B50-420F-4322-A542-94369A868CBD}"/>
              </a:ext>
            </a:extLst>
          </p:cNvPr>
          <p:cNvSpPr>
            <a:spLocks xmlns:a="http://schemas.openxmlformats.org/drawingml/2006/main" noGrp="1"/>
          </p:cNvSpPr>
          <p:nvPr/>
        </p:nvSpPr>
        <p:spPr>
          <a:xfrm xmlns:a="http://schemas.openxmlformats.org/drawingml/2006/main">
            <a:off x="6000750" y="2533650"/>
            <a:ext cx="85725" cy="33147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A0D9E9-772A-4B80-9024-67ED324E8511}"/>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Muhammad Usman Hamed</a:t>
            </a:r>
          </a:p>
        </p:txBody>
      </p:sp>
      <p:sp>
        <p:nvSpPr>
          <p:cNvPr id="12" name="">
            <a:extLst xmlns:a="http://schemas.openxmlformats.org/drawingml/2006/main">
              <a:ext uri="{FF2B5EF4-FFF2-40B4-BE49-F238E27FC236}">
                <a16:creationId xmlns:a16="http://schemas.microsoft.com/office/drawing/2014/main" id="{F7E19E71-35ED-4891-874C-8CBD57BE79DB}"/>
              </a:ext>
            </a:extLst>
          </p:cNvPr>
          <p:cNvSpPr>
            <a:spLocks xmlns:a="http://schemas.openxmlformats.org/drawingml/2006/main" noGrp="1"/>
          </p:cNvSpPr>
          <p:nvPr/>
        </p:nvSpPr>
        <p:spPr>
          <a:xfrm xmlns:a="http://schemas.openxmlformats.org/drawingml/2006/main">
            <a:off x="626745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Reconnaissance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Security assessment</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Tool evaluation</a:t>
            </a:r>
          </a:p>
        </p:txBody>
      </p:sp>
      <p:sp>
        <p:nvSpPr>
          <p:cNvPr id="13" name="">
            <a:extLst xmlns:a="http://schemas.openxmlformats.org/drawingml/2006/main">
              <a:ext uri="{FF2B5EF4-FFF2-40B4-BE49-F238E27FC236}">
                <a16:creationId xmlns:a16="http://schemas.microsoft.com/office/drawing/2014/main" id="{25CDE5A3-CAC5-4D53-8D00-7080992B2B24}"/>
              </a:ext>
            </a:extLst>
          </p:cNvPr>
          <p:cNvSpPr>
            <a:spLocks xmlns:a="http://schemas.openxmlformats.org/drawingml/2006/main" noGrp="1"/>
          </p:cNvSpPr>
          <p:nvPr/>
        </p:nvSpPr>
        <p:spPr>
          <a:xfrm xmlns:a="http://schemas.openxmlformats.org/drawingml/2006/main">
            <a:off x="11125200" y="2533650"/>
            <a:ext cx="55245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964E583B-D94C-4B3B-972B-5A17832000AC}"/>
              </a:ext>
            </a:extLst>
          </p:cNvPr>
          <p:cNvSpPr>
            <a:spLocks xmlns:a="http://schemas.openxmlformats.org/drawingml/2006/main" noGrp="1"/>
          </p:cNvSpPr>
          <p:nvPr/>
        </p:nvSpPr>
        <p:spPr>
          <a:xfrm xmlns:a="http://schemas.openxmlformats.org/drawingml/2006/main">
            <a:off x="11125200" y="2533650"/>
            <a:ext cx="85725" cy="33147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6C20F0A-B644-466A-A19C-C9E74B94E48C}"/>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Obaid Ishtiaq Satti</a:t>
            </a:r>
          </a:p>
        </p:txBody>
      </p:sp>
      <p:sp>
        <p:nvSpPr>
          <p:cNvPr id="16" name="">
            <a:extLst xmlns:a="http://schemas.openxmlformats.org/drawingml/2006/main">
              <a:ext uri="{FF2B5EF4-FFF2-40B4-BE49-F238E27FC236}">
                <a16:creationId xmlns:a16="http://schemas.microsoft.com/office/drawing/2014/main" id="{22695450-64CA-4FF1-A515-0BBFE4E29AD6}"/>
              </a:ext>
            </a:extLst>
          </p:cNvPr>
          <p:cNvSpPr>
            <a:spLocks xmlns:a="http://schemas.openxmlformats.org/drawingml/2006/main" noGrp="1"/>
          </p:cNvSpPr>
          <p:nvPr/>
        </p:nvSpPr>
        <p:spPr>
          <a:xfrm xmlns:a="http://schemas.openxmlformats.org/drawingml/2006/main">
            <a:off x="11391900" y="3276600"/>
            <a:ext cx="50292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Platform and interface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Reporting</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Deployment support</a:t>
            </a:r>
          </a:p>
        </p:txBody>
      </p:sp>
      <p:sp>
        <p:nvSpPr>
          <p:cNvPr id="17" name="">
            <a:extLst xmlns:a="http://schemas.openxmlformats.org/drawingml/2006/main">
              <a:ext uri="{FF2B5EF4-FFF2-40B4-BE49-F238E27FC236}">
                <a16:creationId xmlns:a16="http://schemas.microsoft.com/office/drawing/2014/main" id="{299D6D65-DD13-4285-88E9-86DF6601E672}"/>
              </a:ext>
            </a:extLst>
          </p:cNvPr>
          <p:cNvSpPr>
            <a:spLocks xmlns:a="http://schemas.openxmlformats.org/drawingml/2006/main" noGrp="1"/>
          </p:cNvSpPr>
          <p:nvPr/>
        </p:nvSpPr>
        <p:spPr>
          <a:xfrm xmlns:a="http://schemas.openxmlformats.org/drawingml/2006/main">
            <a:off x="876300" y="6362700"/>
            <a:ext cx="157734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ECE8F65-45B8-41B0-87B1-747A7B2EBCD9}"/>
              </a:ext>
            </a:extLst>
          </p:cNvPr>
          <p:cNvSpPr>
            <a:spLocks xmlns:a="http://schemas.openxmlformats.org/drawingml/2006/main" noGrp="1"/>
          </p:cNvSpPr>
          <p:nvPr/>
        </p:nvSpPr>
        <p:spPr>
          <a:xfrm xmlns:a="http://schemas.openxmlformats.org/drawingml/2006/main">
            <a:off x="1219200" y="67056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79A9C8"/>
                </a:solidFill>
                <a:latin typeface="Arial"/>
                <a:ea typeface="Arial"/>
                <a:cs typeface="Arial"/>
              </a:defRPr>
            </a:pPr>
            <a:r>
              <a:rPr sz="1950" b="1" i="0">
                <a:solidFill>
                  <a:srgbClr val="79A9C8"/>
                </a:solidFill>
                <a:latin typeface="Arial"/>
                <a:ea typeface="Arial"/>
                <a:cs typeface="Arial"/>
              </a:rPr>
              <a:t>Shared across the team</a:t>
            </a:r>
          </a:p>
        </p:txBody>
      </p:sp>
      <p:sp>
        <p:nvSpPr>
          <p:cNvPr id="19" name="">
            <a:extLst xmlns:a="http://schemas.openxmlformats.org/drawingml/2006/main">
              <a:ext uri="{FF2B5EF4-FFF2-40B4-BE49-F238E27FC236}">
                <a16:creationId xmlns:a16="http://schemas.microsoft.com/office/drawing/2014/main" id="{CFDCCD76-CA1E-4CD5-B496-E0C46AE0CA57}"/>
              </a:ext>
            </a:extLst>
          </p:cNvPr>
          <p:cNvSpPr>
            <a:spLocks xmlns:a="http://schemas.openxmlformats.org/drawingml/2006/main" noGrp="1"/>
          </p:cNvSpPr>
          <p:nvPr/>
        </p:nvSpPr>
        <p:spPr>
          <a:xfrm xmlns:a="http://schemas.openxmlformats.org/drawingml/2006/main">
            <a:off x="1219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Integration</a:t>
            </a:r>
          </a:p>
        </p:txBody>
      </p:sp>
      <p:sp>
        <p:nvSpPr>
          <p:cNvPr id="20" name="">
            <a:extLst xmlns:a="http://schemas.openxmlformats.org/drawingml/2006/main">
              <a:ext uri="{FF2B5EF4-FFF2-40B4-BE49-F238E27FC236}">
                <a16:creationId xmlns:a16="http://schemas.microsoft.com/office/drawing/2014/main" id="{1C4B4730-BED0-4975-B767-4ADA1F0595C8}"/>
              </a:ext>
            </a:extLst>
          </p:cNvPr>
          <p:cNvSpPr>
            <a:spLocks xmlns:a="http://schemas.openxmlformats.org/drawingml/2006/main" noGrp="1"/>
          </p:cNvSpPr>
          <p:nvPr/>
        </p:nvSpPr>
        <p:spPr>
          <a:xfrm xmlns:a="http://schemas.openxmlformats.org/drawingml/2006/main">
            <a:off x="59817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Testing</a:t>
            </a:r>
          </a:p>
        </p:txBody>
      </p:sp>
      <p:sp>
        <p:nvSpPr>
          <p:cNvPr id="21" name="">
            <a:extLst xmlns:a="http://schemas.openxmlformats.org/drawingml/2006/main">
              <a:ext uri="{FF2B5EF4-FFF2-40B4-BE49-F238E27FC236}">
                <a16:creationId xmlns:a16="http://schemas.microsoft.com/office/drawing/2014/main" id="{A4D68668-F9B2-443D-AC21-4889D301C76D}"/>
              </a:ext>
            </a:extLst>
          </p:cNvPr>
          <p:cNvSpPr>
            <a:spLocks xmlns:a="http://schemas.openxmlformats.org/drawingml/2006/main" noGrp="1"/>
          </p:cNvSpPr>
          <p:nvPr/>
        </p:nvSpPr>
        <p:spPr>
          <a:xfrm xmlns:a="http://schemas.openxmlformats.org/drawingml/2006/main">
            <a:off x="10744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EC291D10-5F3C-4D77-BA18-37916FB1526E}"/>
              </a:ext>
            </a:extLst>
          </p:cNvPr>
          <p:cNvSpPr>
            <a:spLocks xmlns:a="http://schemas.openxmlformats.org/drawingml/2006/main" noGrp="1"/>
          </p:cNvSpPr>
          <p:nvPr/>
        </p:nvSpPr>
        <p:spPr>
          <a:xfrm xmlns:a="http://schemas.openxmlformats.org/drawingml/2006/main">
            <a:off x="1219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Debugging</a:t>
            </a:r>
          </a:p>
        </p:txBody>
      </p:sp>
      <p:sp>
        <p:nvSpPr>
          <p:cNvPr id="23" name="">
            <a:extLst xmlns:a="http://schemas.openxmlformats.org/drawingml/2006/main">
              <a:ext uri="{FF2B5EF4-FFF2-40B4-BE49-F238E27FC236}">
                <a16:creationId xmlns:a16="http://schemas.microsoft.com/office/drawing/2014/main" id="{BB316FCF-5221-4C30-9E12-BB88A4FF6138}"/>
              </a:ext>
            </a:extLst>
          </p:cNvPr>
          <p:cNvSpPr>
            <a:spLocks xmlns:a="http://schemas.openxmlformats.org/drawingml/2006/main" noGrp="1"/>
          </p:cNvSpPr>
          <p:nvPr/>
        </p:nvSpPr>
        <p:spPr>
          <a:xfrm xmlns:a="http://schemas.openxmlformats.org/drawingml/2006/main">
            <a:off x="59817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Performance evaluation</a:t>
            </a:r>
          </a:p>
        </p:txBody>
      </p:sp>
      <p:sp>
        <p:nvSpPr>
          <p:cNvPr id="24" name="">
            <a:extLst xmlns:a="http://schemas.openxmlformats.org/drawingml/2006/main">
              <a:ext uri="{FF2B5EF4-FFF2-40B4-BE49-F238E27FC236}">
                <a16:creationId xmlns:a16="http://schemas.microsoft.com/office/drawing/2014/main" id="{3F3F591D-CA6C-4F91-88E3-D6794D7230E5}"/>
              </a:ext>
            </a:extLst>
          </p:cNvPr>
          <p:cNvSpPr>
            <a:spLocks xmlns:a="http://schemas.openxmlformats.org/drawingml/2006/main" noGrp="1"/>
          </p:cNvSpPr>
          <p:nvPr/>
        </p:nvSpPr>
        <p:spPr>
          <a:xfrm xmlns:a="http://schemas.openxmlformats.org/drawingml/2006/main">
            <a:off x="10744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Documentation</a:t>
            </a:r>
          </a:p>
        </p:txBody>
      </p:sp>
    </p:spTree>
    <p:extLst>
      <p:ext uri="{BB962C8B-B14F-4D97-AF65-F5344CB8AC3E}">
        <p14:creationId xmlns:p14="http://schemas.microsoft.com/office/powerpoint/2010/main" val="1079337490"/>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5DEA87E-912D-4FC9-BCC3-A0BD1475E34F}"/>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11 / IMPACT</a:t>
            </a:r>
          </a:p>
        </p:txBody>
      </p:sp>
      <p:sp>
        <p:nvSpPr>
          <p:cNvPr id="2" name="">
            <a:extLst xmlns:a="http://schemas.openxmlformats.org/drawingml/2006/main">
              <a:ext uri="{FF2B5EF4-FFF2-40B4-BE49-F238E27FC236}">
                <a16:creationId xmlns:a16="http://schemas.microsoft.com/office/drawing/2014/main" id="{5463DC95-6A7E-4131-A078-030CA5706BEC}"/>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Who will use the proposed system?</a:t>
            </a:r>
          </a:p>
        </p:txBody>
      </p:sp>
      <p:sp>
        <p:nvSpPr>
          <p:cNvPr id="3" name="">
            <a:extLst xmlns:a="http://schemas.openxmlformats.org/drawingml/2006/main">
              <a:ext uri="{FF2B5EF4-FFF2-40B4-BE49-F238E27FC236}">
                <a16:creationId xmlns:a16="http://schemas.microsoft.com/office/drawing/2014/main" id="{7C421991-BF96-4F42-854A-F33F84C7009B}"/>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FB4DCD5-BD3B-441C-A956-B0BAD9077B91}"/>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B7EA737D-98A6-49F5-B30B-87C04B13114C}"/>
              </a:ext>
            </a:extLst>
          </p:cNvPr>
          <p:cNvSpPr>
            <a:spLocks xmlns:a="http://schemas.openxmlformats.org/drawingml/2006/main" noGrp="1"/>
          </p:cNvSpPr>
          <p:nvPr/>
        </p:nvSpPr>
        <p:spPr>
          <a:xfrm xmlns:a="http://schemas.openxmlformats.org/drawingml/2006/main">
            <a:off x="8763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AD0048CC-2AF8-41A7-B0A3-F4D5E099FC3B}"/>
              </a:ext>
            </a:extLst>
          </p:cNvPr>
          <p:cNvSpPr>
            <a:spLocks xmlns:a="http://schemas.openxmlformats.org/drawingml/2006/main" noGrp="1"/>
          </p:cNvSpPr>
          <p:nvPr/>
        </p:nvSpPr>
        <p:spPr>
          <a:xfrm xmlns:a="http://schemas.openxmlformats.org/drawingml/2006/main">
            <a:off x="876300" y="2476500"/>
            <a:ext cx="85725" cy="2724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2AEE88A-4B42-44E1-9539-FAEB5AF4CCAC}"/>
              </a:ext>
            </a:extLst>
          </p:cNvPr>
          <p:cNvSpPr>
            <a:spLocks xmlns:a="http://schemas.openxmlformats.org/drawingml/2006/main" noGrp="1"/>
          </p:cNvSpPr>
          <p:nvPr/>
        </p:nvSpPr>
        <p:spPr>
          <a:xfrm xmlns:a="http://schemas.openxmlformats.org/drawingml/2006/main">
            <a:off x="11430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Penetration testing firms</a:t>
            </a:r>
          </a:p>
        </p:txBody>
      </p:sp>
      <p:sp>
        <p:nvSpPr>
          <p:cNvPr id="8" name="">
            <a:extLst xmlns:a="http://schemas.openxmlformats.org/drawingml/2006/main">
              <a:ext uri="{FF2B5EF4-FFF2-40B4-BE49-F238E27FC236}">
                <a16:creationId xmlns:a16="http://schemas.microsoft.com/office/drawing/2014/main" id="{50A48599-E98B-4DF8-AF49-B6532C518710}"/>
              </a:ext>
            </a:extLst>
          </p:cNvPr>
          <p:cNvSpPr>
            <a:spLocks xmlns:a="http://schemas.openxmlformats.org/drawingml/2006/main" noGrp="1"/>
          </p:cNvSpPr>
          <p:nvPr/>
        </p:nvSpPr>
        <p:spPr>
          <a:xfrm xmlns:a="http://schemas.openxmlformats.org/drawingml/2006/main">
            <a:off x="11430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Repeatable external assessments across wide client surfaces.</a:t>
            </a:r>
          </a:p>
        </p:txBody>
      </p:sp>
      <p:sp>
        <p:nvSpPr>
          <p:cNvPr id="9" name="">
            <a:extLst xmlns:a="http://schemas.openxmlformats.org/drawingml/2006/main">
              <a:ext uri="{FF2B5EF4-FFF2-40B4-BE49-F238E27FC236}">
                <a16:creationId xmlns:a16="http://schemas.microsoft.com/office/drawing/2014/main" id="{065E8047-2A56-4062-8E7A-D2905F8D0313}"/>
              </a:ext>
            </a:extLst>
          </p:cNvPr>
          <p:cNvSpPr>
            <a:spLocks xmlns:a="http://schemas.openxmlformats.org/drawingml/2006/main" noGrp="1"/>
          </p:cNvSpPr>
          <p:nvPr/>
        </p:nvSpPr>
        <p:spPr>
          <a:xfrm xmlns:a="http://schemas.openxmlformats.org/drawingml/2006/main">
            <a:off x="48196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088F675C-5152-440A-AB95-0E7DDA285C0B}"/>
              </a:ext>
            </a:extLst>
          </p:cNvPr>
          <p:cNvSpPr>
            <a:spLocks xmlns:a="http://schemas.openxmlformats.org/drawingml/2006/main" noGrp="1"/>
          </p:cNvSpPr>
          <p:nvPr/>
        </p:nvSpPr>
        <p:spPr>
          <a:xfrm xmlns:a="http://schemas.openxmlformats.org/drawingml/2006/main">
            <a:off x="4819650" y="2476500"/>
            <a:ext cx="85725" cy="2724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368CE59-68AA-4AE6-98C1-750D0BB1C7FE}"/>
              </a:ext>
            </a:extLst>
          </p:cNvPr>
          <p:cNvSpPr>
            <a:spLocks xmlns:a="http://schemas.openxmlformats.org/drawingml/2006/main" noGrp="1"/>
          </p:cNvSpPr>
          <p:nvPr/>
        </p:nvSpPr>
        <p:spPr>
          <a:xfrm xmlns:a="http://schemas.openxmlformats.org/drawingml/2006/main">
            <a:off x="50863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Internal security teams</a:t>
            </a:r>
          </a:p>
        </p:txBody>
      </p:sp>
      <p:sp>
        <p:nvSpPr>
          <p:cNvPr id="12" name="">
            <a:extLst xmlns:a="http://schemas.openxmlformats.org/drawingml/2006/main">
              <a:ext uri="{FF2B5EF4-FFF2-40B4-BE49-F238E27FC236}">
                <a16:creationId xmlns:a16="http://schemas.microsoft.com/office/drawing/2014/main" id="{90B40BBF-F6FC-44D6-A097-DC915DB38EB1}"/>
              </a:ext>
            </a:extLst>
          </p:cNvPr>
          <p:cNvSpPr>
            <a:spLocks xmlns:a="http://schemas.openxmlformats.org/drawingml/2006/main" noGrp="1"/>
          </p:cNvSpPr>
          <p:nvPr/>
        </p:nvSpPr>
        <p:spPr>
          <a:xfrm xmlns:a="http://schemas.openxmlformats.org/drawingml/2006/main">
            <a:off x="50863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Continuous visibility and evidence across changing infrastructure.</a:t>
            </a:r>
          </a:p>
        </p:txBody>
      </p:sp>
      <p:sp>
        <p:nvSpPr>
          <p:cNvPr id="13" name="">
            <a:extLst xmlns:a="http://schemas.openxmlformats.org/drawingml/2006/main">
              <a:ext uri="{FF2B5EF4-FFF2-40B4-BE49-F238E27FC236}">
                <a16:creationId xmlns:a16="http://schemas.microsoft.com/office/drawing/2014/main" id="{D3B778BF-DFF4-4776-B182-08AB42FB1750}"/>
              </a:ext>
            </a:extLst>
          </p:cNvPr>
          <p:cNvSpPr>
            <a:spLocks xmlns:a="http://schemas.openxmlformats.org/drawingml/2006/main" noGrp="1"/>
          </p:cNvSpPr>
          <p:nvPr/>
        </p:nvSpPr>
        <p:spPr>
          <a:xfrm xmlns:a="http://schemas.openxmlformats.org/drawingml/2006/main">
            <a:off x="87630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F57769DE-0173-4FF5-B3D1-339D8AF55CED}"/>
              </a:ext>
            </a:extLst>
          </p:cNvPr>
          <p:cNvSpPr>
            <a:spLocks xmlns:a="http://schemas.openxmlformats.org/drawingml/2006/main" noGrp="1"/>
          </p:cNvSpPr>
          <p:nvPr/>
        </p:nvSpPr>
        <p:spPr>
          <a:xfrm xmlns:a="http://schemas.openxmlformats.org/drawingml/2006/main">
            <a:off x="8763000" y="2476500"/>
            <a:ext cx="85725" cy="2724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EDE8898-BCA0-4267-A6B4-9A64E0F78DE7}"/>
              </a:ext>
            </a:extLst>
          </p:cNvPr>
          <p:cNvSpPr>
            <a:spLocks xmlns:a="http://schemas.openxmlformats.org/drawingml/2006/main" noGrp="1"/>
          </p:cNvSpPr>
          <p:nvPr/>
        </p:nvSpPr>
        <p:spPr>
          <a:xfrm xmlns:a="http://schemas.openxmlformats.org/drawingml/2006/main">
            <a:off x="90297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02"/>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Managed security providers</a:t>
            </a:r>
          </a:p>
        </p:txBody>
      </p:sp>
      <p:sp>
        <p:nvSpPr>
          <p:cNvPr id="16" name="">
            <a:extLst xmlns:a="http://schemas.openxmlformats.org/drawingml/2006/main">
              <a:ext uri="{FF2B5EF4-FFF2-40B4-BE49-F238E27FC236}">
                <a16:creationId xmlns:a16="http://schemas.microsoft.com/office/drawing/2014/main" id="{1500512A-3536-427E-BE1A-5F942BC3C778}"/>
              </a:ext>
            </a:extLst>
          </p:cNvPr>
          <p:cNvSpPr>
            <a:spLocks xmlns:a="http://schemas.openxmlformats.org/drawingml/2006/main" noGrp="1"/>
          </p:cNvSpPr>
          <p:nvPr/>
        </p:nvSpPr>
        <p:spPr>
          <a:xfrm xmlns:a="http://schemas.openxmlformats.org/drawingml/2006/main">
            <a:off x="90297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Standardized multi-engagement execution and reporting.</a:t>
            </a:r>
          </a:p>
        </p:txBody>
      </p:sp>
      <p:sp>
        <p:nvSpPr>
          <p:cNvPr id="17" name="">
            <a:extLst xmlns:a="http://schemas.openxmlformats.org/drawingml/2006/main">
              <a:ext uri="{FF2B5EF4-FFF2-40B4-BE49-F238E27FC236}">
                <a16:creationId xmlns:a16="http://schemas.microsoft.com/office/drawing/2014/main" id="{BBA1FF33-30DA-42CC-B459-FDC4F502EEBF}"/>
              </a:ext>
            </a:extLst>
          </p:cNvPr>
          <p:cNvSpPr>
            <a:spLocks xmlns:a="http://schemas.openxmlformats.org/drawingml/2006/main" noGrp="1"/>
          </p:cNvSpPr>
          <p:nvPr/>
        </p:nvSpPr>
        <p:spPr>
          <a:xfrm xmlns:a="http://schemas.openxmlformats.org/drawingml/2006/main">
            <a:off x="127063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8" name="">
            <a:extLst xmlns:a="http://schemas.openxmlformats.org/drawingml/2006/main">
              <a:ext uri="{FF2B5EF4-FFF2-40B4-BE49-F238E27FC236}">
                <a16:creationId xmlns:a16="http://schemas.microsoft.com/office/drawing/2014/main" id="{CF64EE77-890C-4BA6-A8BA-601908137AFD}"/>
              </a:ext>
            </a:extLst>
          </p:cNvPr>
          <p:cNvSpPr>
            <a:spLocks xmlns:a="http://schemas.openxmlformats.org/drawingml/2006/main" noGrp="1"/>
          </p:cNvSpPr>
          <p:nvPr/>
        </p:nvSpPr>
        <p:spPr>
          <a:xfrm xmlns:a="http://schemas.openxmlformats.org/drawingml/2006/main">
            <a:off x="12706350" y="2476500"/>
            <a:ext cx="85725" cy="27241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A16D6CF-D324-4CCF-84AC-EC7CEBA1E3FA}"/>
              </a:ext>
            </a:extLst>
          </p:cNvPr>
          <p:cNvSpPr>
            <a:spLocks xmlns:a="http://schemas.openxmlformats.org/drawingml/2006/main" noGrp="1"/>
          </p:cNvSpPr>
          <p:nvPr/>
        </p:nvSpPr>
        <p:spPr>
          <a:xfrm xmlns:a="http://schemas.openxmlformats.org/drawingml/2006/main">
            <a:off x="129730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DevSecOps teams</a:t>
            </a:r>
          </a:p>
        </p:txBody>
      </p:sp>
      <p:sp>
        <p:nvSpPr>
          <p:cNvPr id="20" name="">
            <a:extLst xmlns:a="http://schemas.openxmlformats.org/drawingml/2006/main">
              <a:ext uri="{FF2B5EF4-FFF2-40B4-BE49-F238E27FC236}">
                <a16:creationId xmlns:a16="http://schemas.microsoft.com/office/drawing/2014/main" id="{0210F598-3FF8-4756-BD55-8BD6D992EDAA}"/>
              </a:ext>
            </a:extLst>
          </p:cNvPr>
          <p:cNvSpPr>
            <a:spLocks xmlns:a="http://schemas.openxmlformats.org/drawingml/2006/main" noGrp="1"/>
          </p:cNvSpPr>
          <p:nvPr/>
        </p:nvSpPr>
        <p:spPr>
          <a:xfrm xmlns:a="http://schemas.openxmlformats.org/drawingml/2006/main">
            <a:off x="129730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Security assessment integrated into engineering workflows.</a:t>
            </a:r>
          </a:p>
        </p:txBody>
      </p:sp>
      <p:sp>
        <p:nvSpPr>
          <p:cNvPr id="21" name="">
            <a:extLst xmlns:a="http://schemas.openxmlformats.org/drawingml/2006/main">
              <a:ext uri="{FF2B5EF4-FFF2-40B4-BE49-F238E27FC236}">
                <a16:creationId xmlns:a16="http://schemas.microsoft.com/office/drawing/2014/main" id="{C810CCC2-EC08-47DD-AD2C-C5644668B68A}"/>
              </a:ext>
            </a:extLst>
          </p:cNvPr>
          <p:cNvSpPr>
            <a:spLocks xmlns:a="http://schemas.openxmlformats.org/drawingml/2006/main" noGrp="1"/>
          </p:cNvSpPr>
          <p:nvPr/>
        </p:nvSpPr>
        <p:spPr>
          <a:xfrm xmlns:a="http://schemas.openxmlformats.org/drawingml/2006/main">
            <a:off x="876300" y="58483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UN Sustainable Development Goal alignment</a:t>
            </a:r>
          </a:p>
        </p:txBody>
      </p:sp>
      <p:sp>
        <p:nvSpPr>
          <p:cNvPr id="22" name="">
            <a:extLst xmlns:a="http://schemas.openxmlformats.org/drawingml/2006/main">
              <a:ext uri="{FF2B5EF4-FFF2-40B4-BE49-F238E27FC236}">
                <a16:creationId xmlns:a16="http://schemas.microsoft.com/office/drawing/2014/main" id="{96FCC183-A07D-4E36-AB53-724DD7969CF1}"/>
              </a:ext>
            </a:extLst>
          </p:cNvPr>
          <p:cNvSpPr>
            <a:spLocks xmlns:a="http://schemas.openxmlformats.org/drawingml/2006/main" noGrp="1"/>
          </p:cNvSpPr>
          <p:nvPr/>
        </p:nvSpPr>
        <p:spPr>
          <a:xfrm xmlns:a="http://schemas.openxmlformats.org/drawingml/2006/main">
            <a:off x="87630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622FB80E-66DB-476C-BB95-4F9E2AA91F42}"/>
              </a:ext>
            </a:extLst>
          </p:cNvPr>
          <p:cNvSpPr>
            <a:spLocks xmlns:a="http://schemas.openxmlformats.org/drawingml/2006/main" noGrp="1"/>
          </p:cNvSpPr>
          <p:nvPr/>
        </p:nvSpPr>
        <p:spPr>
          <a:xfrm xmlns:a="http://schemas.openxmlformats.org/drawingml/2006/main">
            <a:off x="876300" y="6496050"/>
            <a:ext cx="85725" cy="16954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10B19D9-0D30-4F2E-9418-F251B3D557AF}"/>
              </a:ext>
            </a:extLst>
          </p:cNvPr>
          <p:cNvSpPr>
            <a:spLocks xmlns:a="http://schemas.openxmlformats.org/drawingml/2006/main" noGrp="1"/>
          </p:cNvSpPr>
          <p:nvPr/>
        </p:nvSpPr>
        <p:spPr>
          <a:xfrm xmlns:a="http://schemas.openxmlformats.org/drawingml/2006/main">
            <a:off x="114300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9</a:t>
            </a:r>
          </a:p>
        </p:txBody>
      </p:sp>
      <p:sp>
        <p:nvSpPr>
          <p:cNvPr id="25" name="">
            <a:extLst xmlns:a="http://schemas.openxmlformats.org/drawingml/2006/main">
              <a:ext uri="{FF2B5EF4-FFF2-40B4-BE49-F238E27FC236}">
                <a16:creationId xmlns:a16="http://schemas.microsoft.com/office/drawing/2014/main" id="{F2D5285E-47F2-4EC7-85D1-14D6F32E3A47}"/>
              </a:ext>
            </a:extLst>
          </p:cNvPr>
          <p:cNvSpPr>
            <a:spLocks xmlns:a="http://schemas.openxmlformats.org/drawingml/2006/main" noGrp="1"/>
          </p:cNvSpPr>
          <p:nvPr/>
        </p:nvSpPr>
        <p:spPr>
          <a:xfrm xmlns:a="http://schemas.openxmlformats.org/drawingml/2006/main">
            <a:off x="114300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Industry, innovation and resilient infrastructure.</a:t>
            </a:r>
          </a:p>
        </p:txBody>
      </p:sp>
      <p:sp>
        <p:nvSpPr>
          <p:cNvPr id="26" name="">
            <a:extLst xmlns:a="http://schemas.openxmlformats.org/drawingml/2006/main">
              <a:ext uri="{FF2B5EF4-FFF2-40B4-BE49-F238E27FC236}">
                <a16:creationId xmlns:a16="http://schemas.microsoft.com/office/drawing/2014/main" id="{2BC97330-C5A7-4C3C-93B6-F4D48990765D}"/>
              </a:ext>
            </a:extLst>
          </p:cNvPr>
          <p:cNvSpPr>
            <a:spLocks xmlns:a="http://schemas.openxmlformats.org/drawingml/2006/main" noGrp="1"/>
          </p:cNvSpPr>
          <p:nvPr/>
        </p:nvSpPr>
        <p:spPr>
          <a:xfrm xmlns:a="http://schemas.openxmlformats.org/drawingml/2006/main">
            <a:off x="600075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C169645E-EC85-43B8-BAB1-B46AB74D68B0}"/>
              </a:ext>
            </a:extLst>
          </p:cNvPr>
          <p:cNvSpPr>
            <a:spLocks xmlns:a="http://schemas.openxmlformats.org/drawingml/2006/main" noGrp="1"/>
          </p:cNvSpPr>
          <p:nvPr/>
        </p:nvSpPr>
        <p:spPr>
          <a:xfrm xmlns:a="http://schemas.openxmlformats.org/drawingml/2006/main">
            <a:off x="6000750" y="6496050"/>
            <a:ext cx="85725" cy="16954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F168CF8-6A15-45EA-92FE-52E3CBE92EAA}"/>
              </a:ext>
            </a:extLst>
          </p:cNvPr>
          <p:cNvSpPr>
            <a:spLocks xmlns:a="http://schemas.openxmlformats.org/drawingml/2006/main" noGrp="1"/>
          </p:cNvSpPr>
          <p:nvPr/>
        </p:nvSpPr>
        <p:spPr>
          <a:xfrm xmlns:a="http://schemas.openxmlformats.org/drawingml/2006/main">
            <a:off x="626745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16</a:t>
            </a:r>
          </a:p>
        </p:txBody>
      </p:sp>
      <p:sp>
        <p:nvSpPr>
          <p:cNvPr id="29" name="">
            <a:extLst xmlns:a="http://schemas.openxmlformats.org/drawingml/2006/main">
              <a:ext uri="{FF2B5EF4-FFF2-40B4-BE49-F238E27FC236}">
                <a16:creationId xmlns:a16="http://schemas.microsoft.com/office/drawing/2014/main" id="{BB2CCBDB-273E-4189-94E6-C18017EC209F}"/>
              </a:ext>
            </a:extLst>
          </p:cNvPr>
          <p:cNvSpPr>
            <a:spLocks xmlns:a="http://schemas.openxmlformats.org/drawingml/2006/main" noGrp="1"/>
          </p:cNvSpPr>
          <p:nvPr/>
        </p:nvSpPr>
        <p:spPr>
          <a:xfrm xmlns:a="http://schemas.openxmlformats.org/drawingml/2006/main">
            <a:off x="626745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Stronger institutions through improved cyber resilience.</a:t>
            </a:r>
          </a:p>
        </p:txBody>
      </p:sp>
      <p:sp>
        <p:nvSpPr>
          <p:cNvPr id="30" name="">
            <a:extLst xmlns:a="http://schemas.openxmlformats.org/drawingml/2006/main">
              <a:ext uri="{FF2B5EF4-FFF2-40B4-BE49-F238E27FC236}">
                <a16:creationId xmlns:a16="http://schemas.microsoft.com/office/drawing/2014/main" id="{58FFBD86-8B23-47C4-A4BC-792502CC47C1}"/>
              </a:ext>
            </a:extLst>
          </p:cNvPr>
          <p:cNvSpPr>
            <a:spLocks xmlns:a="http://schemas.openxmlformats.org/drawingml/2006/main" noGrp="1"/>
          </p:cNvSpPr>
          <p:nvPr/>
        </p:nvSpPr>
        <p:spPr>
          <a:xfrm xmlns:a="http://schemas.openxmlformats.org/drawingml/2006/main">
            <a:off x="11125200" y="6496050"/>
            <a:ext cx="55245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31" name="">
            <a:extLst xmlns:a="http://schemas.openxmlformats.org/drawingml/2006/main">
              <a:ext uri="{FF2B5EF4-FFF2-40B4-BE49-F238E27FC236}">
                <a16:creationId xmlns:a16="http://schemas.microsoft.com/office/drawing/2014/main" id="{9CEBA048-94D6-4E20-801A-FFF24550AC19}"/>
              </a:ext>
            </a:extLst>
          </p:cNvPr>
          <p:cNvSpPr>
            <a:spLocks xmlns:a="http://schemas.openxmlformats.org/drawingml/2006/main" noGrp="1"/>
          </p:cNvSpPr>
          <p:nvPr/>
        </p:nvSpPr>
        <p:spPr>
          <a:xfrm xmlns:a="http://schemas.openxmlformats.org/drawingml/2006/main">
            <a:off x="11125200" y="6496050"/>
            <a:ext cx="85725" cy="16954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BE0079E-B4ED-41A9-BA4E-DDD61EA5934C}"/>
              </a:ext>
            </a:extLst>
          </p:cNvPr>
          <p:cNvSpPr>
            <a:spLocks xmlns:a="http://schemas.openxmlformats.org/drawingml/2006/main" noGrp="1"/>
          </p:cNvSpPr>
          <p:nvPr/>
        </p:nvSpPr>
        <p:spPr>
          <a:xfrm xmlns:a="http://schemas.openxmlformats.org/drawingml/2006/main">
            <a:off x="11391900" y="67056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17</a:t>
            </a:r>
          </a:p>
        </p:txBody>
      </p:sp>
      <p:sp>
        <p:nvSpPr>
          <p:cNvPr id="33" name="">
            <a:extLst xmlns:a="http://schemas.openxmlformats.org/drawingml/2006/main">
              <a:ext uri="{FF2B5EF4-FFF2-40B4-BE49-F238E27FC236}">
                <a16:creationId xmlns:a16="http://schemas.microsoft.com/office/drawing/2014/main" id="{90951C23-B8E3-497C-8E53-C3227365A624}"/>
              </a:ext>
            </a:extLst>
          </p:cNvPr>
          <p:cNvSpPr>
            <a:spLocks xmlns:a="http://schemas.openxmlformats.org/drawingml/2006/main" noGrp="1"/>
          </p:cNvSpPr>
          <p:nvPr/>
        </p:nvSpPr>
        <p:spPr>
          <a:xfrm xmlns:a="http://schemas.openxmlformats.org/drawingml/2006/main">
            <a:off x="11391900" y="7239000"/>
            <a:ext cx="5029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Partnerships through interoperable, open security tooling.</a:t>
            </a:r>
          </a:p>
        </p:txBody>
      </p:sp>
    </p:spTree>
    <p:extLst>
      <p:ext uri="{BB962C8B-B14F-4D97-AF65-F5344CB8AC3E}">
        <p14:creationId xmlns:p14="http://schemas.microsoft.com/office/powerpoint/2010/main" val="2070204476"/>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C6A46A6-F071-47C5-8A4E-0F679AF78281}"/>
              </a:ext>
            </a:extLst>
          </p:cNvPr>
          <p:cNvSpPr>
            <a:spLocks xmlns:a="http://schemas.openxmlformats.org/drawingml/2006/main" noGrp="1"/>
          </p:cNvSpPr>
          <p:nvPr/>
        </p:nvSpPr>
        <p:spPr>
          <a:xfrm xmlns:a="http://schemas.openxmlformats.org/drawingml/2006/main">
            <a:off x="876300" y="723900"/>
            <a:ext cx="27241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FYP PROPOSAL DEFENSE</a:t>
            </a:r>
          </a:p>
        </p:txBody>
      </p:sp>
      <p:sp>
        <p:nvSpPr>
          <p:cNvPr id="2" name="">
            <a:extLst xmlns:a="http://schemas.openxmlformats.org/drawingml/2006/main">
              <a:ext uri="{FF2B5EF4-FFF2-40B4-BE49-F238E27FC236}">
                <a16:creationId xmlns:a16="http://schemas.microsoft.com/office/drawing/2014/main" id="{A9F5BC1A-E85E-45A2-A6CA-2A357554F2C3}"/>
              </a:ext>
            </a:extLst>
          </p:cNvPr>
          <p:cNvSpPr>
            <a:spLocks xmlns:a="http://schemas.openxmlformats.org/drawingml/2006/main" noGrp="1"/>
          </p:cNvSpPr>
          <p:nvPr/>
        </p:nvSpPr>
        <p:spPr>
          <a:xfrm xmlns:a="http://schemas.openxmlformats.org/drawingml/2006/main">
            <a:off x="876300" y="17907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850" b="1" i="0">
                <a:solidFill>
                  <a:srgbClr val="123B63"/>
                </a:solidFill>
                <a:latin typeface="Arial"/>
                <a:ea typeface="Arial"/>
                <a:cs typeface="Arial"/>
              </a:defRPr>
            </a:pPr>
            <a:r>
              <a:rPr sz="5850" b="1" i="0">
                <a:solidFill>
                  <a:srgbClr val="123B63"/>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E2DCA6DA-5099-449B-A134-979B1B0D87DF}"/>
              </a:ext>
            </a:extLst>
          </p:cNvPr>
          <p:cNvSpPr>
            <a:spLocks xmlns:a="http://schemas.openxmlformats.org/drawingml/2006/main" noGrp="1"/>
          </p:cNvSpPr>
          <p:nvPr/>
        </p:nvSpPr>
        <p:spPr>
          <a:xfrm xmlns:a="http://schemas.openxmlformats.org/drawingml/2006/main">
            <a:off x="914400" y="31242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0" i="0">
                <a:solidFill>
                  <a:srgbClr val="354F63"/>
                </a:solidFill>
                <a:latin typeface="Arial"/>
                <a:ea typeface="Arial"/>
                <a:cs typeface="Arial"/>
              </a:defRPr>
            </a:pPr>
            <a:r>
              <a:rPr sz="2550" b="0" i="0">
                <a:solidFill>
                  <a:srgbClr val="354F63"/>
                </a:solidFill>
                <a:latin typeface="Arial"/>
                <a:ea typeface="Arial"/>
                <a:cs typeface="Arial"/>
              </a:rPr>
              <a:t>Questions and discussion</a:t>
            </a:r>
          </a:p>
        </p:txBody>
      </p:sp>
      <p:sp>
        <p:nvSpPr>
          <p:cNvPr id="4" name="">
            <a:extLst xmlns:a="http://schemas.openxmlformats.org/drawingml/2006/main">
              <a:ext uri="{FF2B5EF4-FFF2-40B4-BE49-F238E27FC236}">
                <a16:creationId xmlns:a16="http://schemas.microsoft.com/office/drawing/2014/main" id="{D7108B54-BCB7-4633-A287-66CD635C1901}"/>
              </a:ext>
            </a:extLst>
          </p:cNvPr>
          <p:cNvSpPr>
            <a:spLocks xmlns:a="http://schemas.openxmlformats.org/drawingml/2006/main" noGrp="1"/>
          </p:cNvSpPr>
          <p:nvPr/>
        </p:nvSpPr>
        <p:spPr>
          <a:xfrm xmlns:a="http://schemas.openxmlformats.org/drawingml/2006/main">
            <a:off x="914400" y="39624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0C8F0F08-0964-448A-8112-C41BA057F1BA}"/>
              </a:ext>
            </a:extLst>
          </p:cNvPr>
          <p:cNvSpPr>
            <a:spLocks xmlns:a="http://schemas.openxmlformats.org/drawingml/2006/main" noGrp="1"/>
          </p:cNvSpPr>
          <p:nvPr/>
        </p:nvSpPr>
        <p:spPr>
          <a:xfrm xmlns:a="http://schemas.openxmlformats.org/drawingml/2006/main">
            <a:off x="914400" y="43243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02B44"/>
                </a:solidFill>
                <a:latin typeface="Arial"/>
                <a:ea typeface="Arial"/>
                <a:cs typeface="Arial"/>
              </a:defRPr>
            </a:pPr>
            <a:r>
              <a:rPr sz="1950" b="1" i="0">
                <a:solidFill>
                  <a:srgbClr val="102B44"/>
                </a:solidFill>
                <a:latin typeface="Arial"/>
                <a:ea typeface="Arial"/>
                <a:cs typeface="Arial"/>
              </a:rPr>
              <a:t>Proposed autonomous web security assessment framework</a:t>
            </a:r>
          </a:p>
        </p:txBody>
      </p:sp>
      <p:sp>
        <p:nvSpPr>
          <p:cNvPr id="6" name="">
            <a:extLst xmlns:a="http://schemas.openxmlformats.org/drawingml/2006/main">
              <a:ext uri="{FF2B5EF4-FFF2-40B4-BE49-F238E27FC236}">
                <a16:creationId xmlns:a16="http://schemas.microsoft.com/office/drawing/2014/main" id="{E1DD82DB-1C39-497C-9B89-00D5F365CC0B}"/>
              </a:ext>
            </a:extLst>
          </p:cNvPr>
          <p:cNvSpPr>
            <a:spLocks xmlns:a="http://schemas.openxmlformats.org/drawingml/2006/main" noGrp="1"/>
          </p:cNvSpPr>
          <p:nvPr/>
        </p:nvSpPr>
        <p:spPr>
          <a:xfrm xmlns:a="http://schemas.openxmlformats.org/drawingml/2006/main">
            <a:off x="914400" y="491490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354F63"/>
                </a:solidFill>
                <a:latin typeface="Arial"/>
                <a:ea typeface="Arial"/>
                <a:cs typeface="Arial"/>
              </a:defRPr>
            </a:pPr>
            <a:r>
              <a:rPr sz="1725" b="0" i="0">
                <a:solidFill>
                  <a:srgbClr val="354F63"/>
                </a:solidFill>
                <a:latin typeface="Arial"/>
                <a:ea typeface="Arial"/>
                <a:cs typeface="Arial"/>
              </a:rPr>
              <a:t>Working title · proposed architecture · planned evaluation</a:t>
            </a:r>
          </a:p>
        </p:txBody>
      </p:sp>
      <p:sp>
        <p:nvSpPr>
          <p:cNvPr id="7" name="">
            <a:extLst xmlns:a="http://schemas.openxmlformats.org/drawingml/2006/main">
              <a:ext uri="{FF2B5EF4-FFF2-40B4-BE49-F238E27FC236}">
                <a16:creationId xmlns:a16="http://schemas.microsoft.com/office/drawing/2014/main" id="{84EEC8A1-0CA2-4398-8BC4-8C9AC1D66A27}"/>
              </a:ext>
            </a:extLst>
          </p:cNvPr>
          <p:cNvSpPr>
            <a:spLocks xmlns:a="http://schemas.openxmlformats.org/drawingml/2006/main" noGrp="1"/>
          </p:cNvSpPr>
          <p:nvPr/>
        </p:nvSpPr>
        <p:spPr>
          <a:xfrm xmlns:a="http://schemas.openxmlformats.org/drawingml/2006/main">
            <a:off x="10477500" y="1352550"/>
            <a:ext cx="6191250" cy="6572250"/>
          </a:xfrm>
          <a:prstGeom xmlns:a="http://schemas.openxmlformats.org/drawingml/2006/main" prst="roundRect">
            <a:avLst>
              <a:gd name="adj" fmla="val 1231"/>
            </a:avLst>
          </a:prstGeom>
          <a:solidFill xmlns:a="http://schemas.openxmlformats.org/drawingml/2006/main">
            <a:srgbClr val="123B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3D007D8-2DD7-4B8B-8C04-F9D2C89B595F}"/>
              </a:ext>
            </a:extLst>
          </p:cNvPr>
          <p:cNvSpPr>
            <a:spLocks xmlns:a="http://schemas.openxmlformats.org/drawingml/2006/main" noGrp="1"/>
          </p:cNvSpPr>
          <p:nvPr/>
        </p:nvSpPr>
        <p:spPr>
          <a:xfrm xmlns:a="http://schemas.openxmlformats.org/drawingml/2006/main">
            <a:off x="11049000" y="19240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79A9C8"/>
                </a:solidFill>
                <a:latin typeface="Arial"/>
                <a:ea typeface="Arial"/>
                <a:cs typeface="Arial"/>
              </a:defRPr>
            </a:pPr>
            <a:r>
              <a:rPr sz="1650" b="1" i="0">
                <a:solidFill>
                  <a:srgbClr val="79A9C8"/>
                </a:solidFill>
                <a:latin typeface="Arial"/>
                <a:ea typeface="Arial"/>
                <a:cs typeface="Arial"/>
              </a:rPr>
              <a:t>DISCUSSION</a:t>
            </a:r>
          </a:p>
        </p:txBody>
      </p:sp>
      <p:sp>
        <p:nvSpPr>
          <p:cNvPr id="9" name="">
            <a:extLst xmlns:a="http://schemas.openxmlformats.org/drawingml/2006/main">
              <a:ext uri="{FF2B5EF4-FFF2-40B4-BE49-F238E27FC236}">
                <a16:creationId xmlns:a16="http://schemas.microsoft.com/office/drawing/2014/main" id="{84EAEE08-9FFC-4E0E-ADBE-8DEB5BCF4DC5}"/>
              </a:ext>
            </a:extLst>
          </p:cNvPr>
          <p:cNvSpPr>
            <a:spLocks xmlns:a="http://schemas.openxmlformats.org/drawingml/2006/main" noGrp="1"/>
          </p:cNvSpPr>
          <p:nvPr/>
        </p:nvSpPr>
        <p:spPr>
          <a:xfrm xmlns:a="http://schemas.openxmlformats.org/drawingml/2006/main">
            <a:off x="1114425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FFFFFF"/>
                </a:solidFill>
                <a:latin typeface="Arial"/>
                <a:ea typeface="Arial"/>
                <a:cs typeface="Arial"/>
              </a:defRPr>
            </a:pPr>
            <a:r>
              <a:rPr sz="2850" b="1" i="0">
                <a:solidFill>
                  <a:srgbClr val="FFFFFF"/>
                </a:solidFill>
                <a:latin typeface="Arial"/>
                <a:ea typeface="Arial"/>
                <a:cs typeface="Arial"/>
              </a:rPr>
              <a:t>How can a pentesting harness remain useful when AI is unavailable?</a:t>
            </a:r>
          </a:p>
        </p:txBody>
      </p:sp>
      <p:sp>
        <p:nvSpPr>
          <p:cNvPr id="10" name="">
            <a:extLst xmlns:a="http://schemas.openxmlformats.org/drawingml/2006/main">
              <a:ext uri="{FF2B5EF4-FFF2-40B4-BE49-F238E27FC236}">
                <a16:creationId xmlns:a16="http://schemas.microsoft.com/office/drawing/2014/main" id="{6F669CEE-E33F-4650-80A5-4688C1142FF0}"/>
              </a:ext>
            </a:extLst>
          </p:cNvPr>
          <p:cNvSpPr>
            <a:spLocks xmlns:a="http://schemas.openxmlformats.org/drawingml/2006/main" noGrp="1"/>
          </p:cNvSpPr>
          <p:nvPr/>
        </p:nvSpPr>
        <p:spPr>
          <a:xfrm xmlns:a="http://schemas.openxmlformats.org/drawingml/2006/main">
            <a:off x="11239500" y="4895850"/>
            <a:ext cx="2095500" cy="552450"/>
          </a:xfrm>
          <a:prstGeom xmlns:a="http://schemas.openxmlformats.org/drawingml/2006/main" prst="roundRect">
            <a:avLst>
              <a:gd name="adj" fmla="val 13793"/>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2D8B84"/>
                </a:solidFill>
                <a:latin typeface="Arial"/>
                <a:ea typeface="Arial"/>
                <a:cs typeface="Arial"/>
              </a:defRPr>
            </a:pPr>
            <a:r>
              <a:rPr sz="1650" b="1">
                <a:solidFill>
                  <a:srgbClr val="2D8B84"/>
                </a:solidFill>
                <a:latin typeface="Arial"/>
                <a:ea typeface="Arial"/>
                <a:cs typeface="Arial"/>
              </a:rPr>
              <a:t>Methodology</a:t>
            </a:r>
          </a:p>
        </p:txBody>
      </p:sp>
      <p:sp>
        <p:nvSpPr>
          <p:cNvPr id="11" name="">
            <a:extLst xmlns:a="http://schemas.openxmlformats.org/drawingml/2006/main">
              <a:ext uri="{FF2B5EF4-FFF2-40B4-BE49-F238E27FC236}">
                <a16:creationId xmlns:a16="http://schemas.microsoft.com/office/drawing/2014/main" id="{C1813D69-9162-4C8E-937F-B48B11D947A0}"/>
              </a:ext>
            </a:extLst>
          </p:cNvPr>
          <p:cNvSpPr>
            <a:spLocks xmlns:a="http://schemas.openxmlformats.org/drawingml/2006/main" noGrp="1"/>
          </p:cNvSpPr>
          <p:nvPr/>
        </p:nvSpPr>
        <p:spPr>
          <a:xfrm xmlns:a="http://schemas.openxmlformats.org/drawingml/2006/main">
            <a:off x="13811250" y="4895850"/>
            <a:ext cx="209550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123B63"/>
                </a:solidFill>
                <a:latin typeface="Arial"/>
                <a:ea typeface="Arial"/>
                <a:cs typeface="Arial"/>
              </a:defRPr>
            </a:pPr>
            <a:r>
              <a:rPr sz="1650" b="1">
                <a:solidFill>
                  <a:srgbClr val="123B63"/>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C6B15005-FB95-4B31-9CF1-FA9EA5C55656}"/>
              </a:ext>
            </a:extLst>
          </p:cNvPr>
          <p:cNvSpPr>
            <a:spLocks xmlns:a="http://schemas.openxmlformats.org/drawingml/2006/main" noGrp="1"/>
          </p:cNvSpPr>
          <p:nvPr/>
        </p:nvSpPr>
        <p:spPr>
          <a:xfrm xmlns:a="http://schemas.openxmlformats.org/drawingml/2006/main">
            <a:off x="11239500" y="5791200"/>
            <a:ext cx="46672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D79A32"/>
                </a:solidFill>
                <a:latin typeface="Arial"/>
                <a:ea typeface="Arial"/>
                <a:cs typeface="Arial"/>
              </a:defRPr>
            </a:pPr>
            <a:r>
              <a:rPr sz="1650" b="1">
                <a:solidFill>
                  <a:srgbClr val="D79A32"/>
                </a:solidFill>
                <a:latin typeface="Arial"/>
                <a:ea typeface="Arial"/>
                <a:cs typeface="Arial"/>
              </a:rPr>
              <a:t>Human control</a:t>
            </a:r>
          </a:p>
        </p:txBody>
      </p:sp>
      <p:sp>
        <p:nvSpPr>
          <p:cNvPr id="13" name="">
            <a:extLst xmlns:a="http://schemas.openxmlformats.org/drawingml/2006/main">
              <a:ext uri="{FF2B5EF4-FFF2-40B4-BE49-F238E27FC236}">
                <a16:creationId xmlns:a16="http://schemas.microsoft.com/office/drawing/2014/main" id="{898CD18C-B9A3-443B-A2B9-E67365C753A8}"/>
              </a:ext>
            </a:extLst>
          </p:cNvPr>
          <p:cNvSpPr>
            <a:spLocks xmlns:a="http://schemas.openxmlformats.org/drawingml/2006/main" noGrp="1"/>
          </p:cNvSpPr>
          <p:nvPr/>
        </p:nvSpPr>
        <p:spPr>
          <a:xfrm xmlns:a="http://schemas.openxmlformats.org/drawingml/2006/main">
            <a:off x="10668000" y="716280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i="0">
                <a:solidFill>
                  <a:srgbClr val="DCE8F0"/>
                </a:solidFill>
                <a:latin typeface="Arial"/>
                <a:ea typeface="Arial"/>
                <a:cs typeface="Arial"/>
              </a:defRPr>
            </a:pPr>
            <a:r>
              <a:rPr sz="1500" b="0" i="0">
                <a:solidFill>
                  <a:srgbClr val="DCE8F0"/>
                </a:solidFill>
                <a:latin typeface="Arial"/>
                <a:ea typeface="Arial"/>
                <a:cs typeface="Arial"/>
              </a:rPr>
              <a:t>Muhammad Usman Hamed · Abdul Ahad · Obaid Ishtiaq Satti</a:t>
            </a:r>
          </a:p>
        </p:txBody>
      </p:sp>
    </p:spTree>
    <p:extLst>
      <p:ext uri="{BB962C8B-B14F-4D97-AF65-F5344CB8AC3E}">
        <p14:creationId xmlns:p14="http://schemas.microsoft.com/office/powerpoint/2010/main" val="92297085"/>
      </p:ext>
    </p:extLst>
  </p:cSld>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2026-10-01T15:41:50.6010000Z</dcterms:created>
  <dcterms:modified xsi:type="dcterms:W3CDTF">2026-10-01T15:41:50.6010000Z</dcterms:modified>
</coreProperties>
</file>