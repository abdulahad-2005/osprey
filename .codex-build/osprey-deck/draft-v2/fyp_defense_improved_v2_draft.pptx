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1105fb91c448f1" /><Relationship Type="http://schemas.openxmlformats.org/officeDocument/2006/relationships/extended-properties" Target="/docProps/app.xml" Id="R8e509a89378544af" /><Relationship Type="http://schemas.openxmlformats.org/officeDocument/2006/relationships/officeDocument" Target="/ppt/presentation.xml" Id="R6750a13633d4417c"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a2ee1c217a354cf5"/>
  </p:sldMasterIdLst>
  <p:notesMasterIdLst>
    <p:notesMasterId xmlns:r="http://schemas.openxmlformats.org/officeDocument/2006/relationships" r:id="R2d66c98d56dc43e0"/>
  </p:notesMasterIdLst>
  <p:sldIdLst>
    <p:sldId xmlns:r="http://schemas.openxmlformats.org/officeDocument/2006/relationships" id="256" r:id="Ra3920dc0b69f4295"/>
    <p:sldId xmlns:r="http://schemas.openxmlformats.org/officeDocument/2006/relationships" id="257" r:id="R1715c86bf6dd484b"/>
    <p:sldId xmlns:r="http://schemas.openxmlformats.org/officeDocument/2006/relationships" id="258" r:id="R94a9ff8a6b2e4e9f"/>
    <p:sldId xmlns:r="http://schemas.openxmlformats.org/officeDocument/2006/relationships" id="259" r:id="R72ed57d308e447b4"/>
    <p:sldId xmlns:r="http://schemas.openxmlformats.org/officeDocument/2006/relationships" id="260" r:id="R7239a1cc55184b0b"/>
    <p:sldId xmlns:r="http://schemas.openxmlformats.org/officeDocument/2006/relationships" id="261" r:id="R1d4bf9cf59e04a07"/>
    <p:sldId xmlns:r="http://schemas.openxmlformats.org/officeDocument/2006/relationships" id="262" r:id="Rfb65b0909d5b4e68"/>
    <p:sldId xmlns:r="http://schemas.openxmlformats.org/officeDocument/2006/relationships" id="263" r:id="R932112c24eb74aa9"/>
    <p:sldId xmlns:r="http://schemas.openxmlformats.org/officeDocument/2006/relationships" id="264" r:id="Raf2eadfe861141d2"/>
    <p:sldId xmlns:r="http://schemas.openxmlformats.org/officeDocument/2006/relationships" id="265" r:id="Ref0a4ed9423b4c5a"/>
    <p:sldId xmlns:r="http://schemas.openxmlformats.org/officeDocument/2006/relationships" id="266" r:id="Rc16c4c8bcebc482d"/>
    <p:sldId xmlns:r="http://schemas.openxmlformats.org/officeDocument/2006/relationships" id="267" r:id="Rb80a6769a879472f"/>
    <p:sldId xmlns:r="http://schemas.openxmlformats.org/officeDocument/2006/relationships" id="268" r:id="R0d03d5e03388461e"/>
  </p:sldIdLst>
  <p:sldSz cx="18288000" cy="10287000"/>
  <p:notesSz cx="6858000" cy="9144000"/>
  <p:embeddedFontLst>
    <p:embeddedFont>
      <p:font typeface="Anton"/>
      <p:regular xmlns:r="http://schemas.openxmlformats.org/officeDocument/2006/relationships" r:id="Rf15a591e19fc40a5"/>
    </p:embeddedFont>
    <p:embeddedFont>
      <p:font typeface="Canva Sans"/>
      <p:regular xmlns:r="http://schemas.openxmlformats.org/officeDocument/2006/relationships" r:id="R2b88bc7664b04f7a"/>
    </p:embeddedFont>
    <p:embeddedFont>
      <p:font typeface="Canva Sans Bold"/>
      <p:regular xmlns:r="http://schemas.openxmlformats.org/officeDocument/2006/relationships" r:id="Reed88c43dba04ece"/>
    </p:embeddedFont>
    <p:embeddedFont>
      <p:font typeface="Glacial Indifference"/>
      <p:regular xmlns:r="http://schemas.openxmlformats.org/officeDocument/2006/relationships" r:id="Refcb7af36ed34366"/>
    </p:embeddedFont>
    <p:embeddedFont>
      <p:font typeface="Glacial Indifference Bold"/>
      <p:regular xmlns:r="http://schemas.openxmlformats.org/officeDocument/2006/relationships" r:id="R6d8fdf01ed924d7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8fcc4490cdb49d1" /><Relationship Type="http://schemas.openxmlformats.org/officeDocument/2006/relationships/slideMaster" Target="/ppt/slideMasters/slideMaster1.xml" Id="Ra2ee1c217a354cf5" /><Relationship Type="http://schemas.openxmlformats.org/officeDocument/2006/relationships/notesMaster" Target="/ppt/notesMasters/notesMaster1.xml" Id="R2d66c98d56dc43e0" /><Relationship Type="http://schemas.openxmlformats.org/officeDocument/2006/relationships/presProps" Target="/ppt/presProps.xml" Id="Rc902ee01c2454e62" /><Relationship Type="http://schemas.openxmlformats.org/officeDocument/2006/relationships/viewProps" Target="/ppt/viewProps.xml" Id="R6b6f937adf0d400e" /><Relationship Type="http://schemas.openxmlformats.org/officeDocument/2006/relationships/tableStyles" Target="/ppt/tableStyles.xml" Id="Rfe89cc5f601a4f77" /><Relationship Type="http://schemas.openxmlformats.org/officeDocument/2006/relationships/font" Target="/ppt/fonts/font.dat" Id="Rf15a591e19fc40a5" /><Relationship Type="http://schemas.openxmlformats.org/officeDocument/2006/relationships/font" Target="/ppt/fonts/font2.dat" Id="R2b88bc7664b04f7a" /><Relationship Type="http://schemas.openxmlformats.org/officeDocument/2006/relationships/font" Target="/ppt/fonts/font3.dat" Id="Reed88c43dba04ece" /><Relationship Type="http://schemas.openxmlformats.org/officeDocument/2006/relationships/font" Target="/ppt/fonts/font4.dat" Id="Refcb7af36ed34366" /><Relationship Type="http://schemas.openxmlformats.org/officeDocument/2006/relationships/font" Target="/ppt/fonts/font5.dat" Id="R6d8fdf01ed924d79" /><Relationship Type="http://schemas.openxmlformats.org/officeDocument/2006/relationships/slide" Target="/ppt/slides/slide1.xml" Id="Ra3920dc0b69f4295" /><Relationship Type="http://schemas.openxmlformats.org/officeDocument/2006/relationships/slide" Target="/ppt/slides/slide2.xml" Id="R1715c86bf6dd484b" /><Relationship Type="http://schemas.openxmlformats.org/officeDocument/2006/relationships/slide" Target="/ppt/slides/slide3.xml" Id="R94a9ff8a6b2e4e9f" /><Relationship Type="http://schemas.openxmlformats.org/officeDocument/2006/relationships/slide" Target="/ppt/slides/slide4.xml" Id="R72ed57d308e447b4" /><Relationship Type="http://schemas.openxmlformats.org/officeDocument/2006/relationships/slide" Target="/ppt/slides/slide5.xml" Id="R7239a1cc55184b0b" /><Relationship Type="http://schemas.openxmlformats.org/officeDocument/2006/relationships/slide" Target="/ppt/slides/slide6.xml" Id="R1d4bf9cf59e04a07" /><Relationship Type="http://schemas.openxmlformats.org/officeDocument/2006/relationships/slide" Target="/ppt/slides/slide7.xml" Id="Rfb65b0909d5b4e68" /><Relationship Type="http://schemas.openxmlformats.org/officeDocument/2006/relationships/slide" Target="/ppt/slides/slide8.xml" Id="R932112c24eb74aa9" /><Relationship Type="http://schemas.openxmlformats.org/officeDocument/2006/relationships/slide" Target="/ppt/slides/slide9.xml" Id="Raf2eadfe861141d2" /><Relationship Type="http://schemas.openxmlformats.org/officeDocument/2006/relationships/slide" Target="/ppt/slides/slide10.xml" Id="Ref0a4ed9423b4c5a" /><Relationship Type="http://schemas.openxmlformats.org/officeDocument/2006/relationships/slide" Target="/ppt/slides/slide11.xml" Id="Rc16c4c8bcebc482d" /><Relationship Type="http://schemas.openxmlformats.org/officeDocument/2006/relationships/slide" Target="/ppt/slides/slide12.xml" Id="Rb80a6769a879472f" /><Relationship Type="http://schemas.openxmlformats.org/officeDocument/2006/relationships/slide" Target="/ppt/slides/slide13.xml" Id="R0d03d5e0338846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05a5a8cb2846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9d7e8f6a154806" /><Relationship Type="http://schemas.openxmlformats.org/officeDocument/2006/relationships/notesMaster" Target="/ppt/notesMasters/notesMaster1.xml" Id="R48ca0bd7332a4c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86228c4ffa4d6e" /><Relationship Type="http://schemas.openxmlformats.org/officeDocument/2006/relationships/notesMaster" Target="/ppt/notesMasters/notesMaster1.xml" Id="R66ec27f0b2e749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cb83168656474d" /><Relationship Type="http://schemas.openxmlformats.org/officeDocument/2006/relationships/notesMaster" Target="/ppt/notesMasters/notesMaster1.xml" Id="Ra57f16ba4c8341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62be3a5fa54ca3" /><Relationship Type="http://schemas.openxmlformats.org/officeDocument/2006/relationships/notesMaster" Target="/ppt/notesMasters/notesMaster1.xml" Id="R08b7da52b1bf46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7ef903a3a74c49" /><Relationship Type="http://schemas.openxmlformats.org/officeDocument/2006/relationships/notesMaster" Target="/ppt/notesMasters/notesMaster1.xml" Id="Rc02e651748f24e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aa6a3d9b5d4fa5" /><Relationship Type="http://schemas.openxmlformats.org/officeDocument/2006/relationships/notesMaster" Target="/ppt/notesMasters/notesMaster1.xml" Id="R9824d5eb096d45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1ac89447c14a23" /><Relationship Type="http://schemas.openxmlformats.org/officeDocument/2006/relationships/notesMaster" Target="/ppt/notesMasters/notesMaster1.xml" Id="R23e43bb799f64c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cce1df377d4b78" /><Relationship Type="http://schemas.openxmlformats.org/officeDocument/2006/relationships/notesMaster" Target="/ppt/notesMasters/notesMaster1.xml" Id="Rb3e910f6fb7348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3b507c59aa4f01" /><Relationship Type="http://schemas.openxmlformats.org/officeDocument/2006/relationships/notesMaster" Target="/ppt/notesMasters/notesMaster1.xml" Id="Rf35c2a88c4494b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c3710c85446c7" /><Relationship Type="http://schemas.openxmlformats.org/officeDocument/2006/relationships/notesMaster" Target="/ppt/notesMasters/notesMaster1.xml" Id="R71119ee6b09545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aef4b1c0bc445b" /><Relationship Type="http://schemas.openxmlformats.org/officeDocument/2006/relationships/notesMaster" Target="/ppt/notesMasters/notesMaster1.xml" Id="Ra16d214029ed4a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335bacdcf840ec" /><Relationship Type="http://schemas.openxmlformats.org/officeDocument/2006/relationships/notesMaster" Target="/ppt/notesMasters/notesMaster1.xml" Id="R1217d3984e0b4b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c008314669481b" /><Relationship Type="http://schemas.openxmlformats.org/officeDocument/2006/relationships/notesMaster" Target="/ppt/notesMasters/notesMaster1.xml" Id="Re3ac5937557040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solution. One unified harness connects authorized scope, security tools, evidence and reporting. The deterministic engine performs the repeatable methodology. AI assistance adds contextual reasoning when needed. Both modes use the same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presents the methodology at the level expected in a proposal defense. Reconnaissance builds the surface. Vulnerability assessment tests it. Validation prevents scanner output from becoming an unsupported finding. Reporting preserves the evidence chain. The unified harness coordinates all four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single expansion tool and not a rigid checklist. The engine evaluates opportunities from current evidence, selects the next standard action, and loops when new facts change the surface. Nuclei, SQLmap and other baseline scanners remain part of the methodology; AI is not required to remember to run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the platform will not rely on promotion calculations or a mixed bucket of findings. Memory will reflect an evidence lifecycle: raw tool facts first, hypotheses and candidates separately, then verified findings only when proof exists. This reduces false positives without adding another complex scoring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3c5183565445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815c805d9547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a7b01eb08945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19af3d701343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a6e95c193445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ea75222669401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41e8c900d2d4d2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65d18bd31a41f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9dd79198ac04e5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5dfed69a5f2447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4e984583705430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DB72CB-0C3A-4D7B-B516-B8432E2161A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41A6C2E-B59E-4A8B-87E6-2EFAA344A4D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42B300E-6AA2-46DA-96DA-D1ECC53C17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826C0AE-4906-4D96-A3E1-AD6F0CB38B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D85C24F-174D-42A5-99EF-4E78F0F270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EC3D6-9494-4F46-AC5E-DB6B0CD5AC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7A51A5-EDC4-4354-ADC3-12C4358E67F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6E15809-562A-457B-9023-570F3701F9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0E38C7F0-B363-404A-80AA-F5F1270386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273040-D85C-4ECA-954F-5902D252BA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385302-C685-49B7-94CF-C3EF0B16C8B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E2ADE70-FE19-4802-AC06-C02957B4FEC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EA1CB95-5115-4B45-AB32-207A88FD34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4119288-2D84-485A-944D-8B3E015363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AC0089-6D9B-4A26-82BB-69CD7028D7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81F03C-5760-4DFD-B805-850BB2D094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8A178D0-BAA6-481A-8A1F-7A98B7CD760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81BA754-21A3-4800-92E7-0ED5BF0E613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D0861B4-4003-4137-8229-F448E39446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C2F3F7D8-476C-481D-8231-77CA0D6A9F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57EA59C-2BAE-497A-9763-5F8811DF23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4D0606-98B3-460B-B01C-BC2679B1BC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BD76864-8F3B-4C32-A057-45429831FF0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EEF2A9B-1A2B-40FE-8170-76E2E627344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6ED6DB4-E352-436B-8DE7-5877C7560F0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4FEDA6-08D3-4733-990E-384F70303399}"/>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66D673B-AA5B-4049-8363-331AD1EC37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9C5426E7-DAD7-4D85-BFCD-88BB6ED032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E38CF0E-1E04-4FC3-88C6-D1E4ACF06A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D760F0-1DFD-478C-ADC3-B312C6632D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9A8E856-26C7-4182-B542-0E0FF77E0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8FD36122-A975-4FA1-8830-64F64D280D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4DFA473-32ED-4D24-B72E-E2EE5C84B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71E8E23-60D2-4BE1-A3BD-1A560D4C18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EADAF818-8FA1-4715-BFEB-40C637090B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C4F4290-7A3A-4449-9E23-E9FDEED7CB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D4A760-7FC6-4FAA-A4AA-2F9ECC98F73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EFCACCE-A5F9-433F-B0F8-2E5A079A952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ED64386A-0327-4311-BD1A-0AB341F7A10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F949D27-B4D4-47A5-834D-20C4E25347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FFC1962D-C0E4-481E-B590-5BEA0DD7FF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3D211D-7744-45C1-B7EF-AB7B51F46C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4E4A49-22B4-4E14-BD1E-3C9B5AA7CE2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9585289-5734-4E12-A43C-86E19573FCD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7D583E7-8CA6-46D8-9E0D-1220DA2C824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E97B1A7-18FD-4A99-9862-631AFA949D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3D8CC3D9-F115-41FE-A8BA-98696E2BF6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B3644CA-EF8F-4666-BA1F-0A91BD524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39B901-7BEC-4206-9AD6-F426DE5D12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0D09170-9443-4AB2-86F6-4D2837535C0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C0B5EFD-8CC4-4D3B-981A-2A39973C4B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5721B04-F308-482E-8DF9-299A4855E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7BE44BB-C390-4B68-90DA-71E1119006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4548C0D-18F1-477E-85BB-13C1B9521C1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9C772E8-E935-418D-8BE9-89546B6D9C9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021CFD-E968-418A-AA76-23BA17AB66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9868E0AA-759E-44C5-B6F9-1A2D5EFDEC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3890E4-4786-4486-B0F4-01E3A3FF4E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c3eb775cac42e7" /><Relationship Type="http://schemas.openxmlformats.org/officeDocument/2006/relationships/slideLayout" Target="/ppt/slideLayouts/slideLayout1.xml" Id="Rc0c158022b3949bf" /><Relationship Type="http://schemas.openxmlformats.org/officeDocument/2006/relationships/slideLayout" Target="/ppt/slideLayouts/slideLayout2.xml" Id="R8e88192b3f5743d8" /><Relationship Type="http://schemas.openxmlformats.org/officeDocument/2006/relationships/slideLayout" Target="/ppt/slideLayouts/slideLayout3.xml" Id="Rc77887dd532a4369" /><Relationship Type="http://schemas.openxmlformats.org/officeDocument/2006/relationships/slideLayout" Target="/ppt/slideLayouts/slideLayout4.xml" Id="R743d05a49c6846ab" /><Relationship Type="http://schemas.openxmlformats.org/officeDocument/2006/relationships/slideLayout" Target="/ppt/slideLayouts/slideLayout5.xml" Id="R9c35953502c14e8a" /><Relationship Type="http://schemas.openxmlformats.org/officeDocument/2006/relationships/slideLayout" Target="/ppt/slideLayouts/slideLayout6.xml" Id="R7817292100a94d1c" /><Relationship Type="http://schemas.openxmlformats.org/officeDocument/2006/relationships/slideLayout" Target="/ppt/slideLayouts/slideLayout7.xml" Id="R16f7c695e3a84b08" /><Relationship Type="http://schemas.openxmlformats.org/officeDocument/2006/relationships/slideLayout" Target="/ppt/slideLayouts/slideLayout8.xml" Id="R3c090883ffd44d18" /><Relationship Type="http://schemas.openxmlformats.org/officeDocument/2006/relationships/slideLayout" Target="/ppt/slideLayouts/slideLayout9.xml" Id="R0ae7c82ecfe8405a" /><Relationship Type="http://schemas.openxmlformats.org/officeDocument/2006/relationships/slideLayout" Target="/ppt/slideLayouts/slideLayout10.xml" Id="R986ea47d4ad846de" /><Relationship Type="http://schemas.openxmlformats.org/officeDocument/2006/relationships/slideLayout" Target="/ppt/slideLayouts/slideLayout11.xml" Id="R0e8428325cc247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CDE470F-F41D-4557-9D03-99AB37100A5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131D8B5-FB6D-4A7F-A53F-46868AE7193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B8A1CE-0D66-4069-B4F3-FBD69E744F3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6B75FB0C-3893-49F6-B6EA-5D0D52591DA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9C7C9E-DE76-4512-8751-CAB1F25544F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c158022b3949bf"/>
    <p:sldLayoutId xmlns:r="http://schemas.openxmlformats.org/officeDocument/2006/relationships" id="2147483650" r:id="R8e88192b3f5743d8"/>
    <p:sldLayoutId xmlns:r="http://schemas.openxmlformats.org/officeDocument/2006/relationships" id="2147483651" r:id="Rc77887dd532a4369"/>
    <p:sldLayoutId xmlns:r="http://schemas.openxmlformats.org/officeDocument/2006/relationships" id="2147483652" r:id="R743d05a49c6846ab"/>
    <p:sldLayoutId xmlns:r="http://schemas.openxmlformats.org/officeDocument/2006/relationships" id="2147483653" r:id="R9c35953502c14e8a"/>
    <p:sldLayoutId xmlns:r="http://schemas.openxmlformats.org/officeDocument/2006/relationships" id="2147483654" r:id="R7817292100a94d1c"/>
    <p:sldLayoutId xmlns:r="http://schemas.openxmlformats.org/officeDocument/2006/relationships" id="2147483655" r:id="R16f7c695e3a84b08"/>
    <p:sldLayoutId xmlns:r="http://schemas.openxmlformats.org/officeDocument/2006/relationships" id="2147483656" r:id="R3c090883ffd44d18"/>
    <p:sldLayoutId xmlns:r="http://schemas.openxmlformats.org/officeDocument/2006/relationships" id="2147483657" r:id="R0ae7c82ecfe8405a"/>
    <p:sldLayoutId xmlns:r="http://schemas.openxmlformats.org/officeDocument/2006/relationships" id="2147483658" r:id="R986ea47d4ad846de"/>
    <p:sldLayoutId xmlns:r="http://schemas.openxmlformats.org/officeDocument/2006/relationships" id="2147483659" r:id="R0e8428325cc24792"/>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01bf1513834424c" /><Relationship Type="http://schemas.openxmlformats.org/officeDocument/2006/relationships/notesSlide" Target="/ppt/notesSlides/notesSlide1.xml" Id="R0f74a91a112042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f5bea78ae694697" /><Relationship Type="http://schemas.openxmlformats.org/officeDocument/2006/relationships/notesSlide" Target="/ppt/notesSlides/notesSlide2.xml" Id="Rf6b21888862243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eb1d0dfa25f42f9" /><Relationship Type="http://schemas.openxmlformats.org/officeDocument/2006/relationships/notesSlide" Target="/ppt/notesSlides/notesSlide3.xml" Id="R7e737a7fd16947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b3fd568b3b14790" /><Relationship Type="http://schemas.openxmlformats.org/officeDocument/2006/relationships/notesSlide" Target="/ppt/notesSlides/notesSlide4.xml" Id="R322712d360504b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9be538947964713" /><Relationship Type="http://schemas.openxmlformats.org/officeDocument/2006/relationships/notesSlide" Target="/ppt/notesSlides/notesSlide5.xml" Id="R89cc49a20d4b42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15f29fa0a1747fb" /><Relationship Type="http://schemas.openxmlformats.org/officeDocument/2006/relationships/notesSlide" Target="/ppt/notesSlides/notesSlide6.xml" Id="Rc6b7bca36f4849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8ceb093c47b4188" /><Relationship Type="http://schemas.openxmlformats.org/officeDocument/2006/relationships/notesSlide" Target="/ppt/notesSlides/notesSlide7.xml" Id="R0631ba7cf10746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20eab6ade6c413e" /><Relationship Type="http://schemas.openxmlformats.org/officeDocument/2006/relationships/notesSlide" Target="/ppt/notesSlides/notesSlide8.xml" Id="Re5a573ddf5ef43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77c24721e954039" /><Relationship Type="http://schemas.openxmlformats.org/officeDocument/2006/relationships/notesSlide" Target="/ppt/notesSlides/notesSlide9.xml" Id="R07fd96ad410e4b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7c1af573a2c45da" /><Relationship Type="http://schemas.openxmlformats.org/officeDocument/2006/relationships/notesSlide" Target="/ppt/notesSlides/notesSlide10.xml" Id="Rd31f449e7b4c40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09c5565386545a9" /><Relationship Type="http://schemas.openxmlformats.org/officeDocument/2006/relationships/notesSlide" Target="/ppt/notesSlides/notesSlide11.xml" Id="Rc2c6dba2029e45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075faa281aa412f" /><Relationship Type="http://schemas.openxmlformats.org/officeDocument/2006/relationships/notesSlide" Target="/ppt/notesSlides/notesSlide12.xml" Id="R7cbfce9452d844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d96ac38e22f4693" /><Relationship Type="http://schemas.openxmlformats.org/officeDocument/2006/relationships/notesSlide" Target="/ppt/notesSlides/notesSlide13.xml" Id="R8f63345f0b9644ff"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E57D011-C43C-467F-B2A0-AC5E2E592B7D}"/>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702DB130-D020-4905-800D-E27F706A807B}"/>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555C97BA-AC60-4234-9B2F-F01AC0DFB321}"/>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i="0">
                <a:solidFill>
                  <a:srgbClr val="5F7180"/>
                </a:solidFill>
                <a:latin typeface="Arial"/>
                <a:ea typeface="Arial"/>
                <a:cs typeface="Arial"/>
              </a:defRPr>
            </a:pPr>
            <a:r>
              <a:rPr sz="2100" b="0" i="0">
                <a:solidFill>
                  <a:srgbClr val="5F7180"/>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6343F5D5-BDDC-4A14-B3BB-955333ECB7FD}"/>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960A1B61-0ED9-4A27-8992-F0603E2353E5}"/>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3739C53B-8614-4906-8C14-249DBD4D6879}"/>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5F7180"/>
                </a:solidFill>
                <a:latin typeface="Arial"/>
                <a:ea typeface="Arial"/>
                <a:cs typeface="Arial"/>
              </a:defRPr>
            </a:pPr>
            <a:r>
              <a:rPr sz="1500" b="0" i="0">
                <a:solidFill>
                  <a:srgbClr val="5F7180"/>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052FE24F-EEA8-4D31-87B3-0CAC028DE70D}"/>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5EADC363-4712-4A16-95ED-3DB3C12E5A17}"/>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511D52F9-7EFB-43EE-89D5-08C2F103F06A}"/>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13F2AF18-A29A-4FD8-8EC3-ED964660C8EB}"/>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650" b="1">
                <a:solidFill>
                  <a:srgbClr val="123B63"/>
                </a:solidFill>
                <a:latin typeface="Arial"/>
                <a:ea typeface="Arial"/>
                <a:cs typeface="Arial"/>
              </a:defRPr>
            </a:pPr>
            <a:r>
              <a:rPr sz="165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BA0405D3-DAA8-4694-A9DD-1434E18A8F4E}"/>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38D9A9-E7AF-460B-A47B-8C2260F6FD5E}"/>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A683D6F-2188-4B9A-B64B-B85F5793DFC4}"/>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0ADB0B88-08FF-4B9E-A640-908074387D4F}"/>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Deterministic methodology</a:t>
            </a:r>
          </a:p>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795F9E0F-3A40-4168-8FFD-1247BC495568}"/>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507EF8-523B-4E9E-AC32-217D7F181A5F}"/>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123B63"/>
                </a:solidFill>
                <a:latin typeface="Arial"/>
                <a:ea typeface="Arial"/>
                <a:cs typeface="Arial"/>
              </a:defRPr>
            </a:pPr>
            <a:r>
              <a:rPr sz="135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65E2072F-D7B6-4ADC-AE5D-A217F4F64F7B}"/>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BCF25F15-735A-475A-8571-0C4F4E8EAB4E}"/>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D79A32"/>
                </a:solidFill>
                <a:latin typeface="Arial"/>
                <a:ea typeface="Arial"/>
                <a:cs typeface="Arial"/>
              </a:defRPr>
            </a:pPr>
            <a:r>
              <a:rPr sz="135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AF0C8CCC-47A0-4CF5-8FBE-F041AD49796A}"/>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5F7180"/>
                </a:solidFill>
                <a:latin typeface="Arial"/>
                <a:ea typeface="Arial"/>
                <a:cs typeface="Arial"/>
              </a:defRPr>
            </a:pPr>
            <a:r>
              <a:rPr sz="1425" b="0" i="1">
                <a:solidFill>
                  <a:srgbClr val="5F7180"/>
                </a:solidFill>
                <a:latin typeface="Arial"/>
                <a:ea typeface="Arial"/>
                <a:cs typeface="Arial"/>
              </a:rPr>
              <a:t>Proposed system — not a completed product</a:t>
            </a:r>
          </a:p>
        </p:txBody>
      </p:sp>
    </p:spTree>
    <p:extLst>
      <p:ext uri="{BB962C8B-B14F-4D97-AF65-F5344CB8AC3E}">
        <p14:creationId xmlns:p14="http://schemas.microsoft.com/office/powerpoint/2010/main" val="195173163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1C66C70-3CBD-412E-A1FB-2C541F7973D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311D711C-5ACD-4F45-907A-8BC91A240E9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AC7C481C-B4CF-4837-BECD-0B1884F1765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E335F4E-9C47-4747-9B21-445B4E6B226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A765864-5E39-42D1-BBCD-54D68DE60352}"/>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1853D8-DB42-4ED8-82E1-FC963038D147}"/>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F96A42D7-3D63-4FEA-BAE6-3E6676E20CE6}"/>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5047AE9B-C13F-4CEA-91B3-C46BEBCA02FC}"/>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DCE8F0"/>
                </a:solidFill>
                <a:latin typeface="Arial"/>
                <a:ea typeface="Arial"/>
                <a:cs typeface="Arial"/>
              </a:defRPr>
            </a:pPr>
            <a:r>
              <a:rPr sz="150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243573AD-F58E-44C4-99E1-A6759FAEDC8A}"/>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C55B48"/>
                </a:solidFill>
                <a:latin typeface="Arial"/>
                <a:ea typeface="Arial"/>
                <a:cs typeface="Arial"/>
              </a:defRPr>
            </a:pPr>
            <a:r>
              <a:rPr sz="165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7FBC5D78-98B7-441F-A58E-A1AF1FEC7111}"/>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4175DFEE-5EB3-4A49-AF0F-52E8481EAAB1}"/>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5456F58C-4315-4497-AACC-CE506901B2EA}"/>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CCB475-4DC0-443A-9229-E50987FE00DE}"/>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3DD44741-705E-4981-AAB1-1A1BEF7889DE}"/>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AFB9F76B-1482-413C-863C-E1F0DDCAC1FB}"/>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FC299E7E-B30E-44FE-B80D-3AA2A39A4A88}"/>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9B7454E-EC4B-483B-8058-D4E905A458FA}"/>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492B2684-9DFC-4E31-A1E7-43EB527ACEEF}"/>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C5CCAC62-FFAE-4F5E-BC2E-4BE4F0AF9664}"/>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1F5BE42F-D906-4391-8E9F-9BEEFF7C9755}"/>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18E99D-43C3-46D0-9A4A-1257A9E4F6B1}"/>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6F1DAEDE-551D-43E6-B9F7-1082F59720C5}"/>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D8D476CF-D855-4CA7-85A9-887EEDDDB74F}"/>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73C2BF-A6C0-4105-A2B7-1C39DFB3E195}"/>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DA2C8734-564D-4124-A20C-7D617151C45F}"/>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8334B"/>
                </a:solidFill>
                <a:latin typeface="Arial"/>
                <a:ea typeface="Arial"/>
                <a:cs typeface="Arial"/>
              </a:defRPr>
            </a:pPr>
            <a:r>
              <a:rPr sz="2175" b="1" i="0">
                <a:solidFill>
                  <a:srgbClr val="18334B"/>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8D96FD61-2F43-4AC4-8E4A-9C24374716BD}"/>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71217284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4806B0F-26F7-482F-B289-597FF2988F1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9FA84090-96D8-4056-A106-E601BB3238C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8407D4F4-7322-4C9F-A269-2C6FE7B3DB5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B324BF3A-FB15-4ADC-9F89-8FEC9D4D6129}"/>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5C03D5A-9F90-4D65-9426-0B591186A1B3}"/>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BC6AE9DE-7643-4662-A5B6-B9B6292657B3}"/>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2D8B84"/>
                </a:solidFill>
                <a:latin typeface="Arial"/>
                <a:ea typeface="Arial"/>
                <a:cs typeface="Arial"/>
              </a:defRPr>
            </a:pPr>
            <a:r>
              <a:rPr sz="142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4220EF1-1D38-4FDF-9EFA-1609EB700DBC}"/>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EB7983-89AF-4608-B3E6-CB87DE94E10A}"/>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2D8B84"/>
                </a:solidFill>
                <a:latin typeface="Arial"/>
                <a:ea typeface="Arial"/>
                <a:cs typeface="Arial"/>
              </a:defRPr>
            </a:pPr>
            <a:r>
              <a:rPr sz="142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DEA020F0-4B0D-422D-AB0D-79B6B15C9402}"/>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ADFC32-6E88-4FBC-BC49-C40B7D7564EE}"/>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C5910A76-CE2E-4108-8163-5DDBAC7E1B59}"/>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781E67-EE71-46CC-BEF2-71E5379E0CDE}"/>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DA297022-D394-4D97-B33F-2037E8B7DC73}"/>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13602F-7DB9-4F48-BEDD-9104CB72A81D}"/>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D79A32"/>
                </a:solidFill>
                <a:latin typeface="Arial"/>
                <a:ea typeface="Arial"/>
                <a:cs typeface="Arial"/>
              </a:defRPr>
            </a:pPr>
            <a:r>
              <a:rPr sz="1425" b="1">
                <a:solidFill>
                  <a:srgbClr val="D79A32"/>
                </a:solidFill>
                <a:latin typeface="Arial"/>
                <a:ea typeface="Arial"/>
                <a:cs typeface="Arial"/>
              </a:rPr>
              <a:t>Validate and report</a:t>
            </a:r>
          </a:p>
        </p:txBody>
      </p:sp>
      <p:graphicFrame>
        <p:nvGraphicFramePr>
          <p:cNvPr id="31"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65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500" b="1">
                          <a:solidFill>
                            <a:srgbClr val="18334B"/>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500" b="1">
                          <a:solidFill>
                            <a:srgbClr val="18334B"/>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500" b="1">
                          <a:solidFill>
                            <a:srgbClr val="18334B"/>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0106C402-A0FB-40D4-962C-B254F9BAC292}"/>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92179656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C7A3164-A621-4EBB-B058-5782B7367AD3}"/>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D3A04B46-6063-4688-B10E-40FCDE45617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41642DE8-4E8F-4C10-9BB4-C6D8E0825FB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41028C7-B99D-4D9B-AC42-FF2779874A3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4A52FA4-1C63-4423-9C7A-FF04CA86815C}"/>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B2B34A1F-7A8B-480B-AB60-48115369E82D}"/>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9099D37D-0914-46D5-9F44-AC9BC9B7C0EE}"/>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5681F2-A419-4271-92F0-C2E02F084E2C}"/>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BD4CFAE8-E25B-40DB-9506-A0A1F91EFC12}"/>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489A9905-80CB-4EDF-A9A2-28F0AEDA2172}"/>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1DE89574-211A-49A5-A2D1-5B08572FEDEE}"/>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81F70C-39DC-4D5D-BBBD-0AA915BB1285}"/>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AFC19BD1-AE12-47CC-A061-324DF8E4921B}"/>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EFCE1CEB-E4EE-41AA-9632-4D9189AD1BB4}"/>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0EE3FEED-275F-4A47-9DDA-0E20179C13E1}"/>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AA0D9E2-EF82-4570-A0EC-407F8C8828C1}"/>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282E1B2C-1EC4-4198-AAE8-8DD1BF7E011E}"/>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F1C762C0-BEC9-434D-A4E1-3872DE6D8F1B}"/>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A75A45C-08CA-44D0-88F1-031A9573E6E6}"/>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03098096-B647-4900-AAF1-AB70735DC306}"/>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4ED5495C-321A-47F1-B830-46DD3F9C0059}"/>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79681BC4-DB5C-4FA3-91E7-4BCEE24B9046}"/>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D603DEB8-8E2C-424B-A53E-9932E546CFA2}"/>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pp. 10–12.</a:t>
            </a:r>
          </a:p>
        </p:txBody>
      </p:sp>
    </p:spTree>
    <p:extLst>
      <p:ext uri="{BB962C8B-B14F-4D97-AF65-F5344CB8AC3E}">
        <p14:creationId xmlns:p14="http://schemas.microsoft.com/office/powerpoint/2010/main" val="182027388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8C27AB-A852-4D30-B8C3-4F2BFE12C6D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55F6E1EC-423A-4268-B4DD-1D9CBF81D6F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3110BDBF-C91E-4CEE-A66B-A03FC239293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B3EF6D3-4CBE-4A5E-AC51-E5546D38B3F6}"/>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FC60158-DB64-4A57-881B-7993173124D7}"/>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F72ED755-4002-4CAA-B713-4F39DA888440}"/>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A724AC-98E8-4571-9CF9-08446A67D846}"/>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5"/>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206A2F88-759A-4597-A22E-CB446BA15E86}"/>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28868A85-A0D7-4E6A-A6ED-BC72B42EA4EE}"/>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22DB7613-AD71-4941-BD11-B16A20EB1845}"/>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BC175D-0EC6-4362-AE8A-C44DF37D0DDA}"/>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C4B8CE9C-EBB1-48E8-BF4A-81839DB08B8C}"/>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056666EB-4FD0-4628-84CB-AF284094C976}"/>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A9EBEBA8-B561-45AC-B723-C4E9AB0CDEEF}"/>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3491A5-8919-4530-9D06-D5AFB6196539}"/>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CEE7C0F5-81ED-4C0F-96AC-355895F046E8}"/>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204908E8-99F6-4206-8107-E2DAF223D46B}"/>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F1F0E24-73B9-4D61-B6D0-F19C098AED91}"/>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9BFF0014-B232-49FB-9AFB-48163EC24242}"/>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Objectives, p. 14.</a:t>
            </a:r>
          </a:p>
        </p:txBody>
      </p:sp>
    </p:spTree>
    <p:extLst>
      <p:ext uri="{BB962C8B-B14F-4D97-AF65-F5344CB8AC3E}">
        <p14:creationId xmlns:p14="http://schemas.microsoft.com/office/powerpoint/2010/main" val="56899250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B5A6D5C-A6CA-456C-AEF8-62D0BA909933}"/>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05 / PROPOSED SOLUTION</a:t>
            </a:r>
          </a:p>
        </p:txBody>
      </p:sp>
      <p:sp>
        <p:nvSpPr>
          <p:cNvPr id="2" name="">
            <a:extLst xmlns:a="http://schemas.openxmlformats.org/drawingml/2006/main">
              <a:ext uri="{FF2B5EF4-FFF2-40B4-BE49-F238E27FC236}">
                <a16:creationId xmlns:a16="http://schemas.microsoft.com/office/drawing/2014/main" id="{F766C6F5-30DA-4461-B619-FD28782B8E4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Proposed unified assessment harness</a:t>
            </a:r>
          </a:p>
        </p:txBody>
      </p:sp>
      <p:sp>
        <p:nvSpPr>
          <p:cNvPr id="3" name="">
            <a:extLst xmlns:a="http://schemas.openxmlformats.org/drawingml/2006/main">
              <a:ext uri="{FF2B5EF4-FFF2-40B4-BE49-F238E27FC236}">
                <a16:creationId xmlns:a16="http://schemas.microsoft.com/office/drawing/2014/main" id="{28D1DFF1-F89D-4008-B4BF-3B17CB861DE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C9D905CF-D600-4AC6-BDB1-210D41741C2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F452C41-8C64-4AFE-B37E-C034BD4648A2}"/>
              </a:ext>
            </a:extLst>
          </p:cNvPr>
          <p:cNvSpPr>
            <a:spLocks xmlns:a="http://schemas.openxmlformats.org/drawingml/2006/main" noGrp="1"/>
          </p:cNvSpPr>
          <p:nvPr/>
        </p:nvSpPr>
        <p:spPr>
          <a:xfrm xmlns:a="http://schemas.openxmlformats.org/drawingml/2006/main">
            <a:off x="8763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AUTHORIZED SCOPE</a:t>
            </a:r>
          </a:p>
        </p:txBody>
      </p:sp>
      <p:sp>
        <p:nvSpPr>
          <p:cNvPr id="6" name="">
            <a:extLst xmlns:a="http://schemas.openxmlformats.org/drawingml/2006/main">
              <a:ext uri="{FF2B5EF4-FFF2-40B4-BE49-F238E27FC236}">
                <a16:creationId xmlns:a16="http://schemas.microsoft.com/office/drawing/2014/main" id="{4DCC2859-53B6-4EC9-B086-38A234DCE36B}"/>
              </a:ext>
            </a:extLst>
          </p:cNvPr>
          <p:cNvSpPr>
            <a:spLocks xmlns:a="http://schemas.openxmlformats.org/drawingml/2006/main" noGrp="1"/>
          </p:cNvSpPr>
          <p:nvPr/>
        </p:nvSpPr>
        <p:spPr>
          <a:xfrm xmlns:a="http://schemas.openxmlformats.org/drawingml/2006/main">
            <a:off x="34290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44E83A-768E-4B6A-8E2C-3EBCF3EA00D2}"/>
              </a:ext>
            </a:extLst>
          </p:cNvPr>
          <p:cNvSpPr>
            <a:spLocks xmlns:a="http://schemas.openxmlformats.org/drawingml/2006/main" noGrp="1"/>
          </p:cNvSpPr>
          <p:nvPr/>
        </p:nvSpPr>
        <p:spPr>
          <a:xfrm xmlns:a="http://schemas.openxmlformats.org/drawingml/2006/main">
            <a:off x="4095750" y="2324100"/>
            <a:ext cx="2381250" cy="552450"/>
          </a:xfrm>
          <a:prstGeom xmlns:a="http://schemas.openxmlformats.org/drawingml/2006/main" prst="roundRect">
            <a:avLst>
              <a:gd name="adj" fmla="val 13793"/>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UNIFIED HARNESS</a:t>
            </a:r>
          </a:p>
        </p:txBody>
      </p:sp>
      <p:sp>
        <p:nvSpPr>
          <p:cNvPr id="8" name="">
            <a:extLst xmlns:a="http://schemas.openxmlformats.org/drawingml/2006/main">
              <a:ext uri="{FF2B5EF4-FFF2-40B4-BE49-F238E27FC236}">
                <a16:creationId xmlns:a16="http://schemas.microsoft.com/office/drawing/2014/main" id="{A0E908FE-3608-4F94-A467-226860A6AF7A}"/>
              </a:ext>
            </a:extLst>
          </p:cNvPr>
          <p:cNvSpPr>
            <a:spLocks xmlns:a="http://schemas.openxmlformats.org/drawingml/2006/main" noGrp="1"/>
          </p:cNvSpPr>
          <p:nvPr/>
        </p:nvSpPr>
        <p:spPr>
          <a:xfrm xmlns:a="http://schemas.openxmlformats.org/drawingml/2006/main">
            <a:off x="66484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CA2DB9-993E-4475-B515-4F91DDAB2AF4}"/>
              </a:ext>
            </a:extLst>
          </p:cNvPr>
          <p:cNvSpPr>
            <a:spLocks xmlns:a="http://schemas.openxmlformats.org/drawingml/2006/main" noGrp="1"/>
          </p:cNvSpPr>
          <p:nvPr/>
        </p:nvSpPr>
        <p:spPr>
          <a:xfrm xmlns:a="http://schemas.openxmlformats.org/drawingml/2006/main">
            <a:off x="7315200" y="2324100"/>
            <a:ext cx="2667000" cy="552450"/>
          </a:xfrm>
          <a:prstGeom xmlns:a="http://schemas.openxmlformats.org/drawingml/2006/main" prst="roundRect">
            <a:avLst>
              <a:gd name="adj" fmla="val 1379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SHARED EVIDENCE</a:t>
            </a:r>
          </a:p>
        </p:txBody>
      </p:sp>
      <p:sp>
        <p:nvSpPr>
          <p:cNvPr id="10" name="">
            <a:extLst xmlns:a="http://schemas.openxmlformats.org/drawingml/2006/main">
              <a:ext uri="{FF2B5EF4-FFF2-40B4-BE49-F238E27FC236}">
                <a16:creationId xmlns:a16="http://schemas.microsoft.com/office/drawing/2014/main" id="{AF161E42-7E4D-43D9-AF41-06B4BA004EE6}"/>
              </a:ext>
            </a:extLst>
          </p:cNvPr>
          <p:cNvSpPr>
            <a:spLocks xmlns:a="http://schemas.openxmlformats.org/drawingml/2006/main" noGrp="1"/>
          </p:cNvSpPr>
          <p:nvPr/>
        </p:nvSpPr>
        <p:spPr>
          <a:xfrm xmlns:a="http://schemas.openxmlformats.org/drawingml/2006/main">
            <a:off x="101536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585667-1B89-4C1A-89BD-2B69CB138381}"/>
              </a:ext>
            </a:extLst>
          </p:cNvPr>
          <p:cNvSpPr>
            <a:spLocks xmlns:a="http://schemas.openxmlformats.org/drawingml/2006/main" noGrp="1"/>
          </p:cNvSpPr>
          <p:nvPr/>
        </p:nvSpPr>
        <p:spPr>
          <a:xfrm xmlns:a="http://schemas.openxmlformats.org/drawingml/2006/main">
            <a:off x="108204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SECURITY TOOLS</a:t>
            </a:r>
          </a:p>
        </p:txBody>
      </p:sp>
      <p:sp>
        <p:nvSpPr>
          <p:cNvPr id="12" name="">
            <a:extLst xmlns:a="http://schemas.openxmlformats.org/drawingml/2006/main">
              <a:ext uri="{FF2B5EF4-FFF2-40B4-BE49-F238E27FC236}">
                <a16:creationId xmlns:a16="http://schemas.microsoft.com/office/drawing/2014/main" id="{F15C32EF-B045-4AA6-AE5E-C6F214E233EB}"/>
              </a:ext>
            </a:extLst>
          </p:cNvPr>
          <p:cNvSpPr>
            <a:spLocks xmlns:a="http://schemas.openxmlformats.org/drawingml/2006/main" noGrp="1"/>
          </p:cNvSpPr>
          <p:nvPr/>
        </p:nvSpPr>
        <p:spPr>
          <a:xfrm xmlns:a="http://schemas.openxmlformats.org/drawingml/2006/main">
            <a:off x="133731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8AEDBE-43D3-4965-8D2A-53725714702C}"/>
              </a:ext>
            </a:extLst>
          </p:cNvPr>
          <p:cNvSpPr>
            <a:spLocks xmlns:a="http://schemas.openxmlformats.org/drawingml/2006/main" noGrp="1"/>
          </p:cNvSpPr>
          <p:nvPr/>
        </p:nvSpPr>
        <p:spPr>
          <a:xfrm xmlns:a="http://schemas.openxmlformats.org/drawingml/2006/main">
            <a:off x="14039850" y="2324100"/>
            <a:ext cx="26098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REPORT</a:t>
            </a:r>
          </a:p>
        </p:txBody>
      </p:sp>
      <p:sp>
        <p:nvSpPr>
          <p:cNvPr id="14" name="">
            <a:extLst xmlns:a="http://schemas.openxmlformats.org/drawingml/2006/main">
              <a:ext uri="{FF2B5EF4-FFF2-40B4-BE49-F238E27FC236}">
                <a16:creationId xmlns:a16="http://schemas.microsoft.com/office/drawing/2014/main" id="{0CDCCEF5-A63D-4018-B7DD-DD2D1EF39E4A}"/>
              </a:ext>
            </a:extLst>
          </p:cNvPr>
          <p:cNvSpPr>
            <a:spLocks xmlns:a="http://schemas.openxmlformats.org/drawingml/2006/main" noGrp="1"/>
          </p:cNvSpPr>
          <p:nvPr/>
        </p:nvSpPr>
        <p:spPr>
          <a:xfrm xmlns:a="http://schemas.openxmlformats.org/drawingml/2006/main">
            <a:off x="876300" y="3352800"/>
            <a:ext cx="7620000" cy="4095750"/>
          </a:xfrm>
          <a:prstGeom xmlns:a="http://schemas.openxmlformats.org/drawingml/2006/main" prst="roundRect">
            <a:avLst>
              <a:gd name="adj" fmla="val 1860"/>
            </a:avLst>
          </a:prstGeom>
          <a:solidFill xmlns:a="http://schemas.openxmlformats.org/drawingml/2006/main">
            <a:srgbClr val="E7F0F5"/>
          </a:solidFill>
          <a:ln xmlns:a="http://schemas.openxmlformats.org/drawingml/2006/main" w="19050">
            <a:solidFill>
              <a:srgbClr val="79A9C8"/>
            </a:solidFill>
          </a:ln>
        </p:spPr>
      </p:sp>
      <p:sp>
        <p:nvSpPr>
          <p:cNvPr id="15" name="">
            <a:extLst xmlns:a="http://schemas.openxmlformats.org/drawingml/2006/main">
              <a:ext uri="{FF2B5EF4-FFF2-40B4-BE49-F238E27FC236}">
                <a16:creationId xmlns:a16="http://schemas.microsoft.com/office/drawing/2014/main" id="{F9AF5AC2-3A8F-4B31-84B2-D86184AB714D}"/>
              </a:ext>
            </a:extLst>
          </p:cNvPr>
          <p:cNvSpPr>
            <a:spLocks xmlns:a="http://schemas.openxmlformats.org/drawingml/2006/main" noGrp="1"/>
          </p:cNvSpPr>
          <p:nvPr/>
        </p:nvSpPr>
        <p:spPr>
          <a:xfrm xmlns:a="http://schemas.openxmlformats.org/drawingml/2006/main">
            <a:off x="12001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8B84"/>
                </a:solidFill>
                <a:latin typeface="Arial"/>
                <a:ea typeface="Arial"/>
                <a:cs typeface="Arial"/>
              </a:defRPr>
            </a:pPr>
            <a:r>
              <a:rPr sz="1350" b="1" i="0">
                <a:solidFill>
                  <a:srgbClr val="2D8B84"/>
                </a:solidFill>
                <a:latin typeface="Arial"/>
                <a:ea typeface="Arial"/>
                <a:cs typeface="Arial"/>
              </a:rPr>
              <a:t>ALWAYS ON</a:t>
            </a:r>
          </a:p>
        </p:txBody>
      </p:sp>
      <p:sp>
        <p:nvSpPr>
          <p:cNvPr id="16" name="">
            <a:extLst xmlns:a="http://schemas.openxmlformats.org/drawingml/2006/main">
              <a:ext uri="{FF2B5EF4-FFF2-40B4-BE49-F238E27FC236}">
                <a16:creationId xmlns:a16="http://schemas.microsoft.com/office/drawing/2014/main" id="{498EE06E-C252-4325-8D9D-146EB915BEB8}"/>
              </a:ext>
            </a:extLst>
          </p:cNvPr>
          <p:cNvSpPr>
            <a:spLocks xmlns:a="http://schemas.openxmlformats.org/drawingml/2006/main" noGrp="1"/>
          </p:cNvSpPr>
          <p:nvPr/>
        </p:nvSpPr>
        <p:spPr>
          <a:xfrm xmlns:a="http://schemas.openxmlformats.org/drawingml/2006/main">
            <a:off x="1200150" y="40767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Deterministic methodology engine</a:t>
            </a:r>
          </a:p>
        </p:txBody>
      </p:sp>
      <p:sp>
        <p:nvSpPr>
          <p:cNvPr id="17" name="">
            <a:extLst xmlns:a="http://schemas.openxmlformats.org/drawingml/2006/main">
              <a:ext uri="{FF2B5EF4-FFF2-40B4-BE49-F238E27FC236}">
                <a16:creationId xmlns:a16="http://schemas.microsoft.com/office/drawing/2014/main" id="{1A612506-E525-45F2-833B-61141D624586}"/>
              </a:ext>
            </a:extLst>
          </p:cNvPr>
          <p:cNvSpPr>
            <a:spLocks xmlns:a="http://schemas.openxmlformats.org/drawingml/2006/main" noGrp="1"/>
          </p:cNvSpPr>
          <p:nvPr/>
        </p:nvSpPr>
        <p:spPr>
          <a:xfrm xmlns:a="http://schemas.openxmlformats.org/drawingml/2006/main">
            <a:off x="1238250" y="48577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8328C387-2E9B-4D3E-802E-E4F6E18C0B9D}"/>
              </a:ext>
            </a:extLst>
          </p:cNvPr>
          <p:cNvSpPr>
            <a:spLocks xmlns:a="http://schemas.openxmlformats.org/drawingml/2006/main" noGrp="1"/>
          </p:cNvSpPr>
          <p:nvPr/>
        </p:nvSpPr>
        <p:spPr>
          <a:xfrm xmlns:a="http://schemas.openxmlformats.org/drawingml/2006/main">
            <a:off x="1771650" y="48387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Widen domains and subdomains</a:t>
            </a:r>
          </a:p>
        </p:txBody>
      </p:sp>
      <p:sp>
        <p:nvSpPr>
          <p:cNvPr id="19" name="">
            <a:extLst xmlns:a="http://schemas.openxmlformats.org/drawingml/2006/main">
              <a:ext uri="{FF2B5EF4-FFF2-40B4-BE49-F238E27FC236}">
                <a16:creationId xmlns:a16="http://schemas.microsoft.com/office/drawing/2014/main" id="{A4D378BE-485A-4B97-A6A2-0EC3920EA320}"/>
              </a:ext>
            </a:extLst>
          </p:cNvPr>
          <p:cNvSpPr>
            <a:spLocks xmlns:a="http://schemas.openxmlformats.org/drawingml/2006/main" noGrp="1"/>
          </p:cNvSpPr>
          <p:nvPr/>
        </p:nvSpPr>
        <p:spPr>
          <a:xfrm xmlns:a="http://schemas.openxmlformats.org/drawingml/2006/main">
            <a:off x="1238250" y="532447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71AFF22D-2F70-48C7-8E28-2762189F71FE}"/>
              </a:ext>
            </a:extLst>
          </p:cNvPr>
          <p:cNvSpPr>
            <a:spLocks xmlns:a="http://schemas.openxmlformats.org/drawingml/2006/main" noGrp="1"/>
          </p:cNvSpPr>
          <p:nvPr/>
        </p:nvSpPr>
        <p:spPr>
          <a:xfrm xmlns:a="http://schemas.openxmlformats.org/drawingml/2006/main">
            <a:off x="1771650" y="53054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Resolve, probe and map services</a:t>
            </a:r>
          </a:p>
        </p:txBody>
      </p:sp>
      <p:sp>
        <p:nvSpPr>
          <p:cNvPr id="21" name="">
            <a:extLst xmlns:a="http://schemas.openxmlformats.org/drawingml/2006/main">
              <a:ext uri="{FF2B5EF4-FFF2-40B4-BE49-F238E27FC236}">
                <a16:creationId xmlns:a16="http://schemas.microsoft.com/office/drawing/2014/main" id="{86B9A553-E12B-4D8E-AFF4-07F68293FB77}"/>
              </a:ext>
            </a:extLst>
          </p:cNvPr>
          <p:cNvSpPr>
            <a:spLocks xmlns:a="http://schemas.openxmlformats.org/drawingml/2006/main" noGrp="1"/>
          </p:cNvSpPr>
          <p:nvPr/>
        </p:nvSpPr>
        <p:spPr>
          <a:xfrm xmlns:a="http://schemas.openxmlformats.org/drawingml/2006/main">
            <a:off x="1238250" y="579120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DEE34E8-B95B-40DB-8C27-82535B5A41FC}"/>
              </a:ext>
            </a:extLst>
          </p:cNvPr>
          <p:cNvSpPr>
            <a:spLocks xmlns:a="http://schemas.openxmlformats.org/drawingml/2006/main" noGrp="1"/>
          </p:cNvSpPr>
          <p:nvPr/>
        </p:nvSpPr>
        <p:spPr>
          <a:xfrm xmlns:a="http://schemas.openxmlformats.org/drawingml/2006/main">
            <a:off x="1771650" y="57721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Crawl, enumerate and run baseline scanners</a:t>
            </a:r>
          </a:p>
        </p:txBody>
      </p:sp>
      <p:sp>
        <p:nvSpPr>
          <p:cNvPr id="23" name="">
            <a:extLst xmlns:a="http://schemas.openxmlformats.org/drawingml/2006/main">
              <a:ext uri="{FF2B5EF4-FFF2-40B4-BE49-F238E27FC236}">
                <a16:creationId xmlns:a16="http://schemas.microsoft.com/office/drawing/2014/main" id="{5D5B0C48-B470-4C7A-B9CF-B5D85F1EFC03}"/>
              </a:ext>
            </a:extLst>
          </p:cNvPr>
          <p:cNvSpPr>
            <a:spLocks xmlns:a="http://schemas.openxmlformats.org/drawingml/2006/main" noGrp="1"/>
          </p:cNvSpPr>
          <p:nvPr/>
        </p:nvSpPr>
        <p:spPr>
          <a:xfrm xmlns:a="http://schemas.openxmlformats.org/drawingml/2006/main">
            <a:off x="1238250" y="625792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C68B0D7-D9BE-420E-93DB-7B2F7E117374}"/>
              </a:ext>
            </a:extLst>
          </p:cNvPr>
          <p:cNvSpPr>
            <a:spLocks xmlns:a="http://schemas.openxmlformats.org/drawingml/2006/main" noGrp="1"/>
          </p:cNvSpPr>
          <p:nvPr/>
        </p:nvSpPr>
        <p:spPr>
          <a:xfrm xmlns:a="http://schemas.openxmlformats.org/drawingml/2006/main">
            <a:off x="1771650" y="62388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Track coverage and react to new evidence</a:t>
            </a:r>
          </a:p>
        </p:txBody>
      </p:sp>
      <p:sp>
        <p:nvSpPr>
          <p:cNvPr id="25" name="">
            <a:extLst xmlns:a="http://schemas.openxmlformats.org/drawingml/2006/main">
              <a:ext uri="{FF2B5EF4-FFF2-40B4-BE49-F238E27FC236}">
                <a16:creationId xmlns:a16="http://schemas.microsoft.com/office/drawing/2014/main" id="{D4B84AE8-32EC-42BD-8281-CCD3F96C0E91}"/>
              </a:ext>
            </a:extLst>
          </p:cNvPr>
          <p:cNvSpPr>
            <a:spLocks xmlns:a="http://schemas.openxmlformats.org/drawingml/2006/main" noGrp="1"/>
          </p:cNvSpPr>
          <p:nvPr/>
        </p:nvSpPr>
        <p:spPr>
          <a:xfrm xmlns:a="http://schemas.openxmlformats.org/drawingml/2006/main">
            <a:off x="1238250" y="67246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EA5B2E-94B9-4832-9F44-A1ACCB902FBD}"/>
              </a:ext>
            </a:extLst>
          </p:cNvPr>
          <p:cNvSpPr>
            <a:spLocks xmlns:a="http://schemas.openxmlformats.org/drawingml/2006/main" noGrp="1"/>
          </p:cNvSpPr>
          <p:nvPr/>
        </p:nvSpPr>
        <p:spPr>
          <a:xfrm xmlns:a="http://schemas.openxmlformats.org/drawingml/2006/main">
            <a:off x="1771650" y="67056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Require proof before a finding is verified</a:t>
            </a:r>
          </a:p>
        </p:txBody>
      </p:sp>
      <p:sp>
        <p:nvSpPr>
          <p:cNvPr id="27" name="">
            <a:extLst xmlns:a="http://schemas.openxmlformats.org/drawingml/2006/main">
              <a:ext uri="{FF2B5EF4-FFF2-40B4-BE49-F238E27FC236}">
                <a16:creationId xmlns:a16="http://schemas.microsoft.com/office/drawing/2014/main" id="{2CF931CC-7DDE-4B33-893F-9A479AB1131C}"/>
              </a:ext>
            </a:extLst>
          </p:cNvPr>
          <p:cNvSpPr>
            <a:spLocks xmlns:a="http://schemas.openxmlformats.org/drawingml/2006/main" noGrp="1"/>
          </p:cNvSpPr>
          <p:nvPr/>
        </p:nvSpPr>
        <p:spPr>
          <a:xfrm xmlns:a="http://schemas.openxmlformats.org/drawingml/2006/main">
            <a:off x="8839200" y="3352800"/>
            <a:ext cx="7810500" cy="4095750"/>
          </a:xfrm>
          <a:prstGeom xmlns:a="http://schemas.openxmlformats.org/drawingml/2006/main" prst="roundRect">
            <a:avLst>
              <a:gd name="adj" fmla="val 1860"/>
            </a:avLst>
          </a:prstGeom>
          <a:solidFill xmlns:a="http://schemas.openxmlformats.org/drawingml/2006/main">
            <a:srgbClr val="F3EADC"/>
          </a:solidFill>
          <a:ln xmlns:a="http://schemas.openxmlformats.org/drawingml/2006/main" w="19050">
            <a:solidFill>
              <a:srgbClr val="D79A32"/>
            </a:solidFill>
          </a:ln>
        </p:spPr>
      </p:sp>
      <p:sp>
        <p:nvSpPr>
          <p:cNvPr id="28" name="">
            <a:extLst xmlns:a="http://schemas.openxmlformats.org/drawingml/2006/main">
              <a:ext uri="{FF2B5EF4-FFF2-40B4-BE49-F238E27FC236}">
                <a16:creationId xmlns:a16="http://schemas.microsoft.com/office/drawing/2014/main" id="{0E3CD6A5-38C1-4291-B584-603516D0AAF3}"/>
              </a:ext>
            </a:extLst>
          </p:cNvPr>
          <p:cNvSpPr>
            <a:spLocks xmlns:a="http://schemas.openxmlformats.org/drawingml/2006/main" noGrp="1"/>
          </p:cNvSpPr>
          <p:nvPr/>
        </p:nvSpPr>
        <p:spPr>
          <a:xfrm xmlns:a="http://schemas.openxmlformats.org/drawingml/2006/main">
            <a:off x="91630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D79A32"/>
                </a:solidFill>
                <a:latin typeface="Arial"/>
                <a:ea typeface="Arial"/>
                <a:cs typeface="Arial"/>
              </a:defRPr>
            </a:pPr>
            <a:r>
              <a:rPr sz="1350" b="1" i="0">
                <a:solidFill>
                  <a:srgbClr val="D79A32"/>
                </a:solidFill>
                <a:latin typeface="Arial"/>
                <a:ea typeface="Arial"/>
                <a:cs typeface="Arial"/>
              </a:rPr>
              <a:t>OPTIONAL</a:t>
            </a:r>
          </a:p>
        </p:txBody>
      </p:sp>
      <p:sp>
        <p:nvSpPr>
          <p:cNvPr id="29" name="">
            <a:extLst xmlns:a="http://schemas.openxmlformats.org/drawingml/2006/main">
              <a:ext uri="{FF2B5EF4-FFF2-40B4-BE49-F238E27FC236}">
                <a16:creationId xmlns:a16="http://schemas.microsoft.com/office/drawing/2014/main" id="{0989A1ED-C5D2-452C-863F-647AF47CBCC5}"/>
              </a:ext>
            </a:extLst>
          </p:cNvPr>
          <p:cNvSpPr>
            <a:spLocks xmlns:a="http://schemas.openxmlformats.org/drawingml/2006/main" noGrp="1"/>
          </p:cNvSpPr>
          <p:nvPr/>
        </p:nvSpPr>
        <p:spPr>
          <a:xfrm xmlns:a="http://schemas.openxmlformats.org/drawingml/2006/main">
            <a:off x="9163050" y="40767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AI-assisted operator reasoning</a:t>
            </a:r>
          </a:p>
        </p:txBody>
      </p:sp>
      <p:sp>
        <p:nvSpPr>
          <p:cNvPr id="30" name="">
            <a:extLst xmlns:a="http://schemas.openxmlformats.org/drawingml/2006/main">
              <a:ext uri="{FF2B5EF4-FFF2-40B4-BE49-F238E27FC236}">
                <a16:creationId xmlns:a16="http://schemas.microsoft.com/office/drawing/2014/main" id="{A50CE8D8-33E4-4F92-8557-BD939786F19D}"/>
              </a:ext>
            </a:extLst>
          </p:cNvPr>
          <p:cNvSpPr>
            <a:spLocks xmlns:a="http://schemas.openxmlformats.org/drawingml/2006/main" noGrp="1"/>
          </p:cNvSpPr>
          <p:nvPr/>
        </p:nvSpPr>
        <p:spPr>
          <a:xfrm xmlns:a="http://schemas.openxmlformats.org/drawingml/2006/main">
            <a:off x="9201150" y="48577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44394759-B8C7-403F-A3FD-3EFCEAFB19DC}"/>
              </a:ext>
            </a:extLst>
          </p:cNvPr>
          <p:cNvSpPr>
            <a:spLocks xmlns:a="http://schemas.openxmlformats.org/drawingml/2006/main" noGrp="1"/>
          </p:cNvSpPr>
          <p:nvPr/>
        </p:nvSpPr>
        <p:spPr>
          <a:xfrm xmlns:a="http://schemas.openxmlformats.org/drawingml/2006/main">
            <a:off x="9734550" y="48387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Interpret ambiguous or conflicting signals</a:t>
            </a:r>
          </a:p>
        </p:txBody>
      </p:sp>
      <p:sp>
        <p:nvSpPr>
          <p:cNvPr id="32" name="">
            <a:extLst xmlns:a="http://schemas.openxmlformats.org/drawingml/2006/main">
              <a:ext uri="{FF2B5EF4-FFF2-40B4-BE49-F238E27FC236}">
                <a16:creationId xmlns:a16="http://schemas.microsoft.com/office/drawing/2014/main" id="{E6601614-8D04-4C70-A6D1-015BDFC3A2C8}"/>
              </a:ext>
            </a:extLst>
          </p:cNvPr>
          <p:cNvSpPr>
            <a:spLocks xmlns:a="http://schemas.openxmlformats.org/drawingml/2006/main" noGrp="1"/>
          </p:cNvSpPr>
          <p:nvPr/>
        </p:nvSpPr>
        <p:spPr>
          <a:xfrm xmlns:a="http://schemas.openxmlformats.org/drawingml/2006/main">
            <a:off x="9201150" y="532447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DE4E7742-46F1-4274-8328-FE5A53BAB7A6}"/>
              </a:ext>
            </a:extLst>
          </p:cNvPr>
          <p:cNvSpPr>
            <a:spLocks xmlns:a="http://schemas.openxmlformats.org/drawingml/2006/main" noGrp="1"/>
          </p:cNvSpPr>
          <p:nvPr/>
        </p:nvSpPr>
        <p:spPr>
          <a:xfrm xmlns:a="http://schemas.openxmlformats.org/drawingml/2006/main">
            <a:off x="9734550" y="5305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Correlate distant assets and observations</a:t>
            </a:r>
          </a:p>
        </p:txBody>
      </p:sp>
      <p:sp>
        <p:nvSpPr>
          <p:cNvPr id="34" name="">
            <a:extLst xmlns:a="http://schemas.openxmlformats.org/drawingml/2006/main">
              <a:ext uri="{FF2B5EF4-FFF2-40B4-BE49-F238E27FC236}">
                <a16:creationId xmlns:a16="http://schemas.microsoft.com/office/drawing/2014/main" id="{F67F4371-707A-4C12-A61C-9929FC5415F3}"/>
              </a:ext>
            </a:extLst>
          </p:cNvPr>
          <p:cNvSpPr>
            <a:spLocks xmlns:a="http://schemas.openxmlformats.org/drawingml/2006/main" noGrp="1"/>
          </p:cNvSpPr>
          <p:nvPr/>
        </p:nvSpPr>
        <p:spPr>
          <a:xfrm xmlns:a="http://schemas.openxmlformats.org/drawingml/2006/main">
            <a:off x="9201150" y="579120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25C01F78-7DE3-49C2-81BC-B5F9282F15C6}"/>
              </a:ext>
            </a:extLst>
          </p:cNvPr>
          <p:cNvSpPr>
            <a:spLocks xmlns:a="http://schemas.openxmlformats.org/drawingml/2006/main" noGrp="1"/>
          </p:cNvSpPr>
          <p:nvPr/>
        </p:nvSpPr>
        <p:spPr>
          <a:xfrm xmlns:a="http://schemas.openxmlformats.org/drawingml/2006/main">
            <a:off x="9734550" y="57721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Choose deeper tests and creative pivots</a:t>
            </a:r>
          </a:p>
        </p:txBody>
      </p:sp>
      <p:sp>
        <p:nvSpPr>
          <p:cNvPr id="36" name="">
            <a:extLst xmlns:a="http://schemas.openxmlformats.org/drawingml/2006/main">
              <a:ext uri="{FF2B5EF4-FFF2-40B4-BE49-F238E27FC236}">
                <a16:creationId xmlns:a16="http://schemas.microsoft.com/office/drawing/2014/main" id="{4AEBBB4F-BDF0-4948-90FB-C0E6D24A5542}"/>
              </a:ext>
            </a:extLst>
          </p:cNvPr>
          <p:cNvSpPr>
            <a:spLocks xmlns:a="http://schemas.openxmlformats.org/drawingml/2006/main" noGrp="1"/>
          </p:cNvSpPr>
          <p:nvPr/>
        </p:nvSpPr>
        <p:spPr>
          <a:xfrm xmlns:a="http://schemas.openxmlformats.org/drawingml/2006/main">
            <a:off x="9201150" y="625792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4867E266-086F-4635-A4F5-3BEA2F05FB5C}"/>
              </a:ext>
            </a:extLst>
          </p:cNvPr>
          <p:cNvSpPr>
            <a:spLocks xmlns:a="http://schemas.openxmlformats.org/drawingml/2006/main" noGrp="1"/>
          </p:cNvSpPr>
          <p:nvPr/>
        </p:nvSpPr>
        <p:spPr>
          <a:xfrm xmlns:a="http://schemas.openxmlformats.org/drawingml/2006/main">
            <a:off x="9734550" y="62388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Analyze business logic and application behavior</a:t>
            </a:r>
          </a:p>
        </p:txBody>
      </p:sp>
      <p:sp>
        <p:nvSpPr>
          <p:cNvPr id="38" name="">
            <a:extLst xmlns:a="http://schemas.openxmlformats.org/drawingml/2006/main">
              <a:ext uri="{FF2B5EF4-FFF2-40B4-BE49-F238E27FC236}">
                <a16:creationId xmlns:a16="http://schemas.microsoft.com/office/drawing/2014/main" id="{AFD76C85-D825-43C2-9B66-CA7A79ADE07B}"/>
              </a:ext>
            </a:extLst>
          </p:cNvPr>
          <p:cNvSpPr>
            <a:spLocks xmlns:a="http://schemas.openxmlformats.org/drawingml/2006/main" noGrp="1"/>
          </p:cNvSpPr>
          <p:nvPr/>
        </p:nvSpPr>
        <p:spPr>
          <a:xfrm xmlns:a="http://schemas.openxmlformats.org/drawingml/2006/main">
            <a:off x="9201150" y="67246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DD3D1B66-B2B1-416B-80B6-BAE832E44876}"/>
              </a:ext>
            </a:extLst>
          </p:cNvPr>
          <p:cNvSpPr>
            <a:spLocks xmlns:a="http://schemas.openxmlformats.org/drawingml/2006/main" noGrp="1"/>
          </p:cNvSpPr>
          <p:nvPr/>
        </p:nvSpPr>
        <p:spPr>
          <a:xfrm xmlns:a="http://schemas.openxmlformats.org/drawingml/2006/main">
            <a:off x="9734550" y="67056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Explain evidence and support the human operator</a:t>
            </a:r>
          </a:p>
        </p:txBody>
      </p:sp>
      <p:sp>
        <p:nvSpPr>
          <p:cNvPr id="40" name="">
            <a:extLst xmlns:a="http://schemas.openxmlformats.org/drawingml/2006/main">
              <a:ext uri="{FF2B5EF4-FFF2-40B4-BE49-F238E27FC236}">
                <a16:creationId xmlns:a16="http://schemas.microsoft.com/office/drawing/2014/main" id="{5504EA1E-98A6-4731-833B-DCA4058DE265}"/>
              </a:ext>
            </a:extLst>
          </p:cNvPr>
          <p:cNvSpPr>
            <a:spLocks xmlns:a="http://schemas.openxmlformats.org/drawingml/2006/main" noGrp="1"/>
          </p:cNvSpPr>
          <p:nvPr/>
        </p:nvSpPr>
        <p:spPr>
          <a:xfrm xmlns:a="http://schemas.openxmlformats.org/drawingml/2006/main">
            <a:off x="876300" y="7867650"/>
            <a:ext cx="15773400" cy="819150"/>
          </a:xfrm>
          <a:prstGeom xmlns:a="http://schemas.openxmlformats.org/drawingml/2006/main" prst="roundRect">
            <a:avLst>
              <a:gd name="adj" fmla="val 9302"/>
            </a:avLst>
          </a:prstGeom>
          <a:solidFill xmlns:a="http://schemas.openxmlformats.org/drawingml/2006/main">
            <a:srgbClr val="123B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259C676-8183-488B-807C-A27CE2BE6D5A}"/>
              </a:ext>
            </a:extLst>
          </p:cNvPr>
          <p:cNvSpPr>
            <a:spLocks xmlns:a="http://schemas.openxmlformats.org/drawingml/2006/main" noGrp="1"/>
          </p:cNvSpPr>
          <p:nvPr/>
        </p:nvSpPr>
        <p:spPr>
          <a:xfrm xmlns:a="http://schemas.openxmlformats.org/drawingml/2006/main">
            <a:off x="1219200" y="8096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Repeatable methodology will operate without an LLM. AI assistance will support cases that require contextual analysis.</a:t>
            </a:r>
          </a:p>
        </p:txBody>
      </p:sp>
    </p:spTree>
    <p:extLst>
      <p:ext uri="{BB962C8B-B14F-4D97-AF65-F5344CB8AC3E}">
        <p14:creationId xmlns:p14="http://schemas.microsoft.com/office/powerpoint/2010/main" val="144084920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62140E-6B6A-4A42-8931-DC7FE66871A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06 / METHODOLOGY</a:t>
            </a:r>
          </a:p>
        </p:txBody>
      </p:sp>
      <p:sp>
        <p:nvSpPr>
          <p:cNvPr id="2" name="">
            <a:extLst xmlns:a="http://schemas.openxmlformats.org/drawingml/2006/main">
              <a:ext uri="{FF2B5EF4-FFF2-40B4-BE49-F238E27FC236}">
                <a16:creationId xmlns:a16="http://schemas.microsoft.com/office/drawing/2014/main" id="{1AEE4082-67E3-4255-9B6A-E473327E2F6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Proposed assessment methodology</a:t>
            </a:r>
          </a:p>
        </p:txBody>
      </p:sp>
      <p:sp>
        <p:nvSpPr>
          <p:cNvPr id="3" name="">
            <a:extLst xmlns:a="http://schemas.openxmlformats.org/drawingml/2006/main">
              <a:ext uri="{FF2B5EF4-FFF2-40B4-BE49-F238E27FC236}">
                <a16:creationId xmlns:a16="http://schemas.microsoft.com/office/drawing/2014/main" id="{19487FE2-96F6-4F48-8563-2F257BFF52C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8BE28C5-5338-4211-BE1A-F8A8C609863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290FE8A-3217-4040-80EF-5DCA6B6A6387}"/>
              </a:ext>
            </a:extLst>
          </p:cNvPr>
          <p:cNvSpPr>
            <a:spLocks xmlns:a="http://schemas.openxmlformats.org/drawingml/2006/main" noGrp="1"/>
          </p:cNvSpPr>
          <p:nvPr/>
        </p:nvSpPr>
        <p:spPr>
          <a:xfrm xmlns:a="http://schemas.openxmlformats.org/drawingml/2006/main">
            <a:off x="87630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F710C48E-4FB2-493F-A883-ECA01F3015ED}"/>
              </a:ext>
            </a:extLst>
          </p:cNvPr>
          <p:cNvSpPr>
            <a:spLocks xmlns:a="http://schemas.openxmlformats.org/drawingml/2006/main" noGrp="1"/>
          </p:cNvSpPr>
          <p:nvPr/>
        </p:nvSpPr>
        <p:spPr>
          <a:xfrm xmlns:a="http://schemas.openxmlformats.org/drawingml/2006/main">
            <a:off x="1104900" y="2933700"/>
            <a:ext cx="457200" cy="419100"/>
          </a:xfrm>
          <a:prstGeom xmlns:a="http://schemas.openxmlformats.org/drawingml/2006/main" prst="roundRect">
            <a:avLst>
              <a:gd name="adj" fmla="val 18182"/>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BAC7621-D9B1-4A4E-BEBF-B11C2BB99939}"/>
              </a:ext>
            </a:extLst>
          </p:cNvPr>
          <p:cNvSpPr>
            <a:spLocks xmlns:a="http://schemas.openxmlformats.org/drawingml/2006/main" noGrp="1"/>
          </p:cNvSpPr>
          <p:nvPr/>
        </p:nvSpPr>
        <p:spPr>
          <a:xfrm xmlns:a="http://schemas.openxmlformats.org/drawingml/2006/main">
            <a:off x="112395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Reconnaissance</a:t>
            </a:r>
          </a:p>
        </p:txBody>
      </p:sp>
      <p:sp>
        <p:nvSpPr>
          <p:cNvPr id="8" name="">
            <a:extLst xmlns:a="http://schemas.openxmlformats.org/drawingml/2006/main">
              <a:ext uri="{FF2B5EF4-FFF2-40B4-BE49-F238E27FC236}">
                <a16:creationId xmlns:a16="http://schemas.microsoft.com/office/drawing/2014/main" id="{EC5C1804-4812-4947-97B9-EB80185A9642}"/>
              </a:ext>
            </a:extLst>
          </p:cNvPr>
          <p:cNvSpPr>
            <a:spLocks xmlns:a="http://schemas.openxmlformats.org/drawingml/2006/main" noGrp="1"/>
          </p:cNvSpPr>
          <p:nvPr/>
        </p:nvSpPr>
        <p:spPr>
          <a:xfrm xmlns:a="http://schemas.openxmlformats.org/drawingml/2006/main">
            <a:off x="120015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Discover domains, hosts, services, technologies and application resources.</a:t>
            </a:r>
          </a:p>
        </p:txBody>
      </p:sp>
      <p:sp>
        <p:nvSpPr>
          <p:cNvPr id="9" name="">
            <a:extLst xmlns:a="http://schemas.openxmlformats.org/drawingml/2006/main">
              <a:ext uri="{FF2B5EF4-FFF2-40B4-BE49-F238E27FC236}">
                <a16:creationId xmlns:a16="http://schemas.microsoft.com/office/drawing/2014/main" id="{E5201049-8B6C-40E2-B3AF-3DBD8EA195E3}"/>
              </a:ext>
            </a:extLst>
          </p:cNvPr>
          <p:cNvSpPr>
            <a:spLocks xmlns:a="http://schemas.openxmlformats.org/drawingml/2006/main" noGrp="1"/>
          </p:cNvSpPr>
          <p:nvPr/>
        </p:nvSpPr>
        <p:spPr>
          <a:xfrm xmlns:a="http://schemas.openxmlformats.org/drawingml/2006/main">
            <a:off x="459105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1780F1-CF6B-49DC-A453-B209D5A3BFEA}"/>
              </a:ext>
            </a:extLst>
          </p:cNvPr>
          <p:cNvSpPr>
            <a:spLocks xmlns:a="http://schemas.openxmlformats.org/drawingml/2006/main" noGrp="1"/>
          </p:cNvSpPr>
          <p:nvPr/>
        </p:nvSpPr>
        <p:spPr>
          <a:xfrm xmlns:a="http://schemas.openxmlformats.org/drawingml/2006/main">
            <a:off x="481965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75E61727-D725-46CE-A652-C72C3D2FD521}"/>
              </a:ext>
            </a:extLst>
          </p:cNvPr>
          <p:cNvSpPr>
            <a:spLocks xmlns:a="http://schemas.openxmlformats.org/drawingml/2006/main" noGrp="1"/>
          </p:cNvSpPr>
          <p:nvPr/>
        </p:nvSpPr>
        <p:spPr>
          <a:xfrm xmlns:a="http://schemas.openxmlformats.org/drawingml/2006/main">
            <a:off x="5048250" y="2933700"/>
            <a:ext cx="457200" cy="419100"/>
          </a:xfrm>
          <a:prstGeom xmlns:a="http://schemas.openxmlformats.org/drawingml/2006/main" prst="roundRect">
            <a:avLst>
              <a:gd name="adj" fmla="val 18182"/>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74087819-D74C-4AD0-9F18-1864FF6F0FC4}"/>
              </a:ext>
            </a:extLst>
          </p:cNvPr>
          <p:cNvSpPr>
            <a:spLocks xmlns:a="http://schemas.openxmlformats.org/drawingml/2006/main" noGrp="1"/>
          </p:cNvSpPr>
          <p:nvPr/>
        </p:nvSpPr>
        <p:spPr>
          <a:xfrm xmlns:a="http://schemas.openxmlformats.org/drawingml/2006/main">
            <a:off x="506730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Vulnerability assessment</a:t>
            </a:r>
          </a:p>
        </p:txBody>
      </p:sp>
      <p:sp>
        <p:nvSpPr>
          <p:cNvPr id="13" name="">
            <a:extLst xmlns:a="http://schemas.openxmlformats.org/drawingml/2006/main">
              <a:ext uri="{FF2B5EF4-FFF2-40B4-BE49-F238E27FC236}">
                <a16:creationId xmlns:a16="http://schemas.microsoft.com/office/drawing/2014/main" id="{5CF5C9FC-3652-4098-B0F4-11657E5FBA6E}"/>
              </a:ext>
            </a:extLst>
          </p:cNvPr>
          <p:cNvSpPr>
            <a:spLocks xmlns:a="http://schemas.openxmlformats.org/drawingml/2006/main" noGrp="1"/>
          </p:cNvSpPr>
          <p:nvPr/>
        </p:nvSpPr>
        <p:spPr>
          <a:xfrm xmlns:a="http://schemas.openxmlformats.org/drawingml/2006/main">
            <a:off x="514350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Run established network and web checks against the discovered surface.</a:t>
            </a:r>
          </a:p>
        </p:txBody>
      </p:sp>
      <p:sp>
        <p:nvSpPr>
          <p:cNvPr id="14" name="">
            <a:extLst xmlns:a="http://schemas.openxmlformats.org/drawingml/2006/main">
              <a:ext uri="{FF2B5EF4-FFF2-40B4-BE49-F238E27FC236}">
                <a16:creationId xmlns:a16="http://schemas.microsoft.com/office/drawing/2014/main" id="{D8A4DCF1-8A39-4F5D-8BFC-611222900A3C}"/>
              </a:ext>
            </a:extLst>
          </p:cNvPr>
          <p:cNvSpPr>
            <a:spLocks xmlns:a="http://schemas.openxmlformats.org/drawingml/2006/main" noGrp="1"/>
          </p:cNvSpPr>
          <p:nvPr/>
        </p:nvSpPr>
        <p:spPr>
          <a:xfrm xmlns:a="http://schemas.openxmlformats.org/drawingml/2006/main">
            <a:off x="853440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621602-5BB5-4431-BE6E-F3E6825135B3}"/>
              </a:ext>
            </a:extLst>
          </p:cNvPr>
          <p:cNvSpPr>
            <a:spLocks xmlns:a="http://schemas.openxmlformats.org/drawingml/2006/main" noGrp="1"/>
          </p:cNvSpPr>
          <p:nvPr/>
        </p:nvSpPr>
        <p:spPr>
          <a:xfrm xmlns:a="http://schemas.openxmlformats.org/drawingml/2006/main">
            <a:off x="876300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B8EEBDC5-B221-4396-8FCC-22424D91DBBA}"/>
              </a:ext>
            </a:extLst>
          </p:cNvPr>
          <p:cNvSpPr>
            <a:spLocks xmlns:a="http://schemas.openxmlformats.org/drawingml/2006/main" noGrp="1"/>
          </p:cNvSpPr>
          <p:nvPr/>
        </p:nvSpPr>
        <p:spPr>
          <a:xfrm xmlns:a="http://schemas.openxmlformats.org/drawingml/2006/main">
            <a:off x="8991600" y="2933700"/>
            <a:ext cx="457200" cy="419100"/>
          </a:xfrm>
          <a:prstGeom xmlns:a="http://schemas.openxmlformats.org/drawingml/2006/main" prst="roundRect">
            <a:avLst>
              <a:gd name="adj" fmla="val 18182"/>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5E51BB7D-F1CF-4B44-A513-DAE834137B5C}"/>
              </a:ext>
            </a:extLst>
          </p:cNvPr>
          <p:cNvSpPr>
            <a:spLocks xmlns:a="http://schemas.openxmlformats.org/drawingml/2006/main" noGrp="1"/>
          </p:cNvSpPr>
          <p:nvPr/>
        </p:nvSpPr>
        <p:spPr>
          <a:xfrm xmlns:a="http://schemas.openxmlformats.org/drawingml/2006/main">
            <a:off x="901065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Evidence validation</a:t>
            </a:r>
          </a:p>
        </p:txBody>
      </p:sp>
      <p:sp>
        <p:nvSpPr>
          <p:cNvPr id="18" name="">
            <a:extLst xmlns:a="http://schemas.openxmlformats.org/drawingml/2006/main">
              <a:ext uri="{FF2B5EF4-FFF2-40B4-BE49-F238E27FC236}">
                <a16:creationId xmlns:a16="http://schemas.microsoft.com/office/drawing/2014/main" id="{CA643861-9CCA-4F17-B441-492F02413358}"/>
              </a:ext>
            </a:extLst>
          </p:cNvPr>
          <p:cNvSpPr>
            <a:spLocks xmlns:a="http://schemas.openxmlformats.org/drawingml/2006/main" noGrp="1"/>
          </p:cNvSpPr>
          <p:nvPr/>
        </p:nvSpPr>
        <p:spPr>
          <a:xfrm xmlns:a="http://schemas.openxmlformats.org/drawingml/2006/main">
            <a:off x="908685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Separate scanner leads from findings supported by reproducible evidence.</a:t>
            </a:r>
          </a:p>
        </p:txBody>
      </p:sp>
      <p:sp>
        <p:nvSpPr>
          <p:cNvPr id="19" name="">
            <a:extLst xmlns:a="http://schemas.openxmlformats.org/drawingml/2006/main">
              <a:ext uri="{FF2B5EF4-FFF2-40B4-BE49-F238E27FC236}">
                <a16:creationId xmlns:a16="http://schemas.microsoft.com/office/drawing/2014/main" id="{A8307A42-CD48-49DB-A4BB-5E4EDA9DAC30}"/>
              </a:ext>
            </a:extLst>
          </p:cNvPr>
          <p:cNvSpPr>
            <a:spLocks xmlns:a="http://schemas.openxmlformats.org/drawingml/2006/main" noGrp="1"/>
          </p:cNvSpPr>
          <p:nvPr/>
        </p:nvSpPr>
        <p:spPr>
          <a:xfrm xmlns:a="http://schemas.openxmlformats.org/drawingml/2006/main">
            <a:off x="1247775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E97C30A-2EED-4C75-9A88-480E0475727B}"/>
              </a:ext>
            </a:extLst>
          </p:cNvPr>
          <p:cNvSpPr>
            <a:spLocks xmlns:a="http://schemas.openxmlformats.org/drawingml/2006/main" noGrp="1"/>
          </p:cNvSpPr>
          <p:nvPr/>
        </p:nvSpPr>
        <p:spPr>
          <a:xfrm xmlns:a="http://schemas.openxmlformats.org/drawingml/2006/main">
            <a:off x="1270635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21" name="">
            <a:extLst xmlns:a="http://schemas.openxmlformats.org/drawingml/2006/main">
              <a:ext uri="{FF2B5EF4-FFF2-40B4-BE49-F238E27FC236}">
                <a16:creationId xmlns:a16="http://schemas.microsoft.com/office/drawing/2014/main" id="{8CCF51CB-5D81-478C-83B7-2FCA9C2AD18B}"/>
              </a:ext>
            </a:extLst>
          </p:cNvPr>
          <p:cNvSpPr>
            <a:spLocks xmlns:a="http://schemas.openxmlformats.org/drawingml/2006/main" noGrp="1"/>
          </p:cNvSpPr>
          <p:nvPr/>
        </p:nvSpPr>
        <p:spPr>
          <a:xfrm xmlns:a="http://schemas.openxmlformats.org/drawingml/2006/main">
            <a:off x="12934950" y="2933700"/>
            <a:ext cx="457200" cy="419100"/>
          </a:xfrm>
          <a:prstGeom xmlns:a="http://schemas.openxmlformats.org/drawingml/2006/main" prst="roundRect">
            <a:avLst>
              <a:gd name="adj" fmla="val 18182"/>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1227F4A8-E0F9-429F-B71D-3C4157B316C4}"/>
              </a:ext>
            </a:extLst>
          </p:cNvPr>
          <p:cNvSpPr>
            <a:spLocks xmlns:a="http://schemas.openxmlformats.org/drawingml/2006/main" noGrp="1"/>
          </p:cNvSpPr>
          <p:nvPr/>
        </p:nvSpPr>
        <p:spPr>
          <a:xfrm xmlns:a="http://schemas.openxmlformats.org/drawingml/2006/main">
            <a:off x="1295400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Reporting</a:t>
            </a:r>
          </a:p>
        </p:txBody>
      </p:sp>
      <p:sp>
        <p:nvSpPr>
          <p:cNvPr id="23" name="">
            <a:extLst xmlns:a="http://schemas.openxmlformats.org/drawingml/2006/main">
              <a:ext uri="{FF2B5EF4-FFF2-40B4-BE49-F238E27FC236}">
                <a16:creationId xmlns:a16="http://schemas.microsoft.com/office/drawing/2014/main" id="{6EC4AC44-6585-451E-BEB1-019141CBFF43}"/>
              </a:ext>
            </a:extLst>
          </p:cNvPr>
          <p:cNvSpPr>
            <a:spLocks xmlns:a="http://schemas.openxmlformats.org/drawingml/2006/main" noGrp="1"/>
          </p:cNvSpPr>
          <p:nvPr/>
        </p:nvSpPr>
        <p:spPr>
          <a:xfrm xmlns:a="http://schemas.openxmlformats.org/drawingml/2006/main">
            <a:off x="1303020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Connect each finding to the affected asset, evidence and recommended action.</a:t>
            </a:r>
          </a:p>
        </p:txBody>
      </p:sp>
      <p:sp>
        <p:nvSpPr>
          <p:cNvPr id="24" name="">
            <a:extLst xmlns:a="http://schemas.openxmlformats.org/drawingml/2006/main">
              <a:ext uri="{FF2B5EF4-FFF2-40B4-BE49-F238E27FC236}">
                <a16:creationId xmlns:a16="http://schemas.microsoft.com/office/drawing/2014/main" id="{7579224A-ACF7-4E9A-9777-6F9549D8D992}"/>
              </a:ext>
            </a:extLst>
          </p:cNvPr>
          <p:cNvSpPr>
            <a:spLocks xmlns:a="http://schemas.openxmlformats.org/drawingml/2006/main" noGrp="1"/>
          </p:cNvSpPr>
          <p:nvPr/>
        </p:nvSpPr>
        <p:spPr>
          <a:xfrm xmlns:a="http://schemas.openxmlformats.org/drawingml/2006/main">
            <a:off x="876300" y="6534150"/>
            <a:ext cx="15773400" cy="1676400"/>
          </a:xfrm>
          <a:prstGeom xmlns:a="http://schemas.openxmlformats.org/drawingml/2006/main" prst="roundRect">
            <a:avLst>
              <a:gd name="adj" fmla="val 4545"/>
            </a:avLst>
          </a:prstGeom>
          <a:solidFill xmlns:a="http://schemas.openxmlformats.org/drawingml/2006/main">
            <a:srgbClr val="E8EFF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321A6C-0B02-4604-A2C4-622A08E3C9B5}"/>
              </a:ext>
            </a:extLst>
          </p:cNvPr>
          <p:cNvSpPr>
            <a:spLocks xmlns:a="http://schemas.openxmlformats.org/drawingml/2006/main" noGrp="1"/>
          </p:cNvSpPr>
          <p:nvPr/>
        </p:nvSpPr>
        <p:spPr>
          <a:xfrm xmlns:a="http://schemas.openxmlformats.org/drawingml/2006/main">
            <a:off x="1219200" y="68580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Methodology control</a:t>
            </a:r>
          </a:p>
        </p:txBody>
      </p:sp>
      <p:sp>
        <p:nvSpPr>
          <p:cNvPr id="26" name="">
            <a:extLst xmlns:a="http://schemas.openxmlformats.org/drawingml/2006/main">
              <a:ext uri="{FF2B5EF4-FFF2-40B4-BE49-F238E27FC236}">
                <a16:creationId xmlns:a16="http://schemas.microsoft.com/office/drawing/2014/main" id="{D50EA7A9-E7C7-4E4E-A9AF-B114F7A75469}"/>
              </a:ext>
            </a:extLst>
          </p:cNvPr>
          <p:cNvSpPr>
            <a:spLocks xmlns:a="http://schemas.openxmlformats.org/drawingml/2006/main" noGrp="1"/>
          </p:cNvSpPr>
          <p:nvPr/>
        </p:nvSpPr>
        <p:spPr>
          <a:xfrm xmlns:a="http://schemas.openxmlformats.org/drawingml/2006/main">
            <a:off x="1219200" y="7372350"/>
            <a:ext cx="1466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0" i="0">
                <a:solidFill>
                  <a:srgbClr val="18334B"/>
                </a:solidFill>
                <a:latin typeface="Arial"/>
                <a:ea typeface="Arial"/>
                <a:cs typeface="Arial"/>
              </a:defRPr>
            </a:pPr>
            <a:r>
              <a:rPr sz="1950" b="0" i="0">
                <a:solidFill>
                  <a:srgbClr val="18334B"/>
                </a:solidFill>
                <a:latin typeface="Arial"/>
                <a:ea typeface="Arial"/>
                <a:cs typeface="Arial"/>
              </a:rPr>
              <a:t>A deterministic engine will execute the repeatable methodology. AI assistance will add contextual reasoning when needed. Human approval will remain mandatory before impactful actions.</a:t>
            </a:r>
          </a:p>
        </p:txBody>
      </p:sp>
    </p:spTree>
    <p:extLst>
      <p:ext uri="{BB962C8B-B14F-4D97-AF65-F5344CB8AC3E}">
        <p14:creationId xmlns:p14="http://schemas.microsoft.com/office/powerpoint/2010/main" val="55197149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E32B51EC-FBC4-409A-B400-24DEC7E062C0}"/>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07 / NON-LLM INTELLIGENCE</a:t>
            </a:r>
          </a:p>
        </p:txBody>
      </p:sp>
      <p:sp>
        <p:nvSpPr>
          <p:cNvPr id="2" name="">
            <a:extLst xmlns:a="http://schemas.openxmlformats.org/drawingml/2006/main">
              <a:ext uri="{FF2B5EF4-FFF2-40B4-BE49-F238E27FC236}">
                <a16:creationId xmlns:a16="http://schemas.microsoft.com/office/drawing/2014/main" id="{439993F1-33AD-4E58-85D1-32976D72178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Evidence-responsive deterministic testing workflow</a:t>
            </a:r>
          </a:p>
        </p:txBody>
      </p:sp>
      <p:sp>
        <p:nvSpPr>
          <p:cNvPr id="3" name="">
            <a:extLst xmlns:a="http://schemas.openxmlformats.org/drawingml/2006/main">
              <a:ext uri="{FF2B5EF4-FFF2-40B4-BE49-F238E27FC236}">
                <a16:creationId xmlns:a16="http://schemas.microsoft.com/office/drawing/2014/main" id="{6A3A22A7-6E4B-476B-B984-81898DFA8E5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0D38B1E-594E-4DF2-9A95-138500FC988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00D2F19-D2DB-4F54-B0EE-EFD5A3F58FB2}"/>
              </a:ext>
            </a:extLst>
          </p:cNvPr>
          <p:cNvSpPr>
            <a:spLocks xmlns:a="http://schemas.openxmlformats.org/drawingml/2006/main" noGrp="1"/>
          </p:cNvSpPr>
          <p:nvPr/>
        </p:nvSpPr>
        <p:spPr>
          <a:xfrm xmlns:a="http://schemas.openxmlformats.org/drawingml/2006/main">
            <a:off x="876300" y="2095500"/>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Evidence-responsive methodology loop</a:t>
            </a:r>
          </a:p>
        </p:txBody>
      </p:sp>
      <p:sp>
        <p:nvSpPr>
          <p:cNvPr id="6" name="">
            <a:extLst xmlns:a="http://schemas.openxmlformats.org/drawingml/2006/main">
              <a:ext uri="{FF2B5EF4-FFF2-40B4-BE49-F238E27FC236}">
                <a16:creationId xmlns:a16="http://schemas.microsoft.com/office/drawing/2014/main" id="{B656F464-2BF2-4B12-A855-CC14B658591C}"/>
              </a:ext>
            </a:extLst>
          </p:cNvPr>
          <p:cNvSpPr>
            <a:spLocks xmlns:a="http://schemas.openxmlformats.org/drawingml/2006/main" noGrp="1"/>
          </p:cNvSpPr>
          <p:nvPr/>
        </p:nvSpPr>
        <p:spPr>
          <a:xfrm xmlns:a="http://schemas.openxmlformats.org/drawingml/2006/main">
            <a:off x="8763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BF5D592E-1FDC-4D74-8B01-A4E2B8AE7127}"/>
              </a:ext>
            </a:extLst>
          </p:cNvPr>
          <p:cNvSpPr>
            <a:spLocks xmlns:a="http://schemas.openxmlformats.org/drawingml/2006/main" noGrp="1"/>
          </p:cNvSpPr>
          <p:nvPr/>
        </p:nvSpPr>
        <p:spPr>
          <a:xfrm xmlns:a="http://schemas.openxmlformats.org/drawingml/2006/main">
            <a:off x="10477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0DD2EB3-9F0D-42F0-8E51-0762AAFC0331}"/>
              </a:ext>
            </a:extLst>
          </p:cNvPr>
          <p:cNvSpPr>
            <a:spLocks xmlns:a="http://schemas.openxmlformats.org/drawingml/2006/main" noGrp="1"/>
          </p:cNvSpPr>
          <p:nvPr/>
        </p:nvSpPr>
        <p:spPr>
          <a:xfrm xmlns:a="http://schemas.openxmlformats.org/drawingml/2006/main">
            <a:off x="10668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Widen</a:t>
            </a:r>
          </a:p>
        </p:txBody>
      </p:sp>
      <p:sp>
        <p:nvSpPr>
          <p:cNvPr id="9" name="">
            <a:extLst xmlns:a="http://schemas.openxmlformats.org/drawingml/2006/main">
              <a:ext uri="{FF2B5EF4-FFF2-40B4-BE49-F238E27FC236}">
                <a16:creationId xmlns:a16="http://schemas.microsoft.com/office/drawing/2014/main" id="{E15F2B39-588C-43F1-A63B-42CDC39E7BDC}"/>
              </a:ext>
            </a:extLst>
          </p:cNvPr>
          <p:cNvSpPr>
            <a:spLocks xmlns:a="http://schemas.openxmlformats.org/drawingml/2006/main" noGrp="1"/>
          </p:cNvSpPr>
          <p:nvPr/>
        </p:nvSpPr>
        <p:spPr>
          <a:xfrm xmlns:a="http://schemas.openxmlformats.org/drawingml/2006/main">
            <a:off x="10668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sisters · subdomains · OSINT</a:t>
            </a:r>
          </a:p>
        </p:txBody>
      </p:sp>
      <p:sp>
        <p:nvSpPr>
          <p:cNvPr id="10" name="">
            <a:extLst xmlns:a="http://schemas.openxmlformats.org/drawingml/2006/main">
              <a:ext uri="{FF2B5EF4-FFF2-40B4-BE49-F238E27FC236}">
                <a16:creationId xmlns:a16="http://schemas.microsoft.com/office/drawing/2014/main" id="{D16F2148-B0AA-47C6-AA7D-9EB6A226F73A}"/>
              </a:ext>
            </a:extLst>
          </p:cNvPr>
          <p:cNvSpPr>
            <a:spLocks xmlns:a="http://schemas.openxmlformats.org/drawingml/2006/main" noGrp="1"/>
          </p:cNvSpPr>
          <p:nvPr/>
        </p:nvSpPr>
        <p:spPr>
          <a:xfrm xmlns:a="http://schemas.openxmlformats.org/drawingml/2006/main">
            <a:off x="29718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A248CD-D13F-44E3-84A5-C52A20DE401F}"/>
              </a:ext>
            </a:extLst>
          </p:cNvPr>
          <p:cNvSpPr>
            <a:spLocks xmlns:a="http://schemas.openxmlformats.org/drawingml/2006/main" noGrp="1"/>
          </p:cNvSpPr>
          <p:nvPr/>
        </p:nvSpPr>
        <p:spPr>
          <a:xfrm xmlns:a="http://schemas.openxmlformats.org/drawingml/2006/main">
            <a:off x="31432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78717169-8833-4E41-A56F-EFA301833F5D}"/>
              </a:ext>
            </a:extLst>
          </p:cNvPr>
          <p:cNvSpPr>
            <a:spLocks xmlns:a="http://schemas.openxmlformats.org/drawingml/2006/main" noGrp="1"/>
          </p:cNvSpPr>
          <p:nvPr/>
        </p:nvSpPr>
        <p:spPr>
          <a:xfrm xmlns:a="http://schemas.openxmlformats.org/drawingml/2006/main">
            <a:off x="33147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AF3D6F9-C39A-4817-8644-39533884F6E3}"/>
              </a:ext>
            </a:extLst>
          </p:cNvPr>
          <p:cNvSpPr>
            <a:spLocks xmlns:a="http://schemas.openxmlformats.org/drawingml/2006/main" noGrp="1"/>
          </p:cNvSpPr>
          <p:nvPr/>
        </p:nvSpPr>
        <p:spPr>
          <a:xfrm xmlns:a="http://schemas.openxmlformats.org/drawingml/2006/main">
            <a:off x="33337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Verify</a:t>
            </a:r>
          </a:p>
        </p:txBody>
      </p:sp>
      <p:sp>
        <p:nvSpPr>
          <p:cNvPr id="14" name="">
            <a:extLst xmlns:a="http://schemas.openxmlformats.org/drawingml/2006/main">
              <a:ext uri="{FF2B5EF4-FFF2-40B4-BE49-F238E27FC236}">
                <a16:creationId xmlns:a16="http://schemas.microsoft.com/office/drawing/2014/main" id="{2D22E6FF-F1A1-4A6D-919C-42B347C4FEFE}"/>
              </a:ext>
            </a:extLst>
          </p:cNvPr>
          <p:cNvSpPr>
            <a:spLocks xmlns:a="http://schemas.openxmlformats.org/drawingml/2006/main" noGrp="1"/>
          </p:cNvSpPr>
          <p:nvPr/>
        </p:nvSpPr>
        <p:spPr>
          <a:xfrm xmlns:a="http://schemas.openxmlformats.org/drawingml/2006/main">
            <a:off x="33337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DNS · HTTP · TLS · live assets</a:t>
            </a:r>
          </a:p>
        </p:txBody>
      </p:sp>
      <p:sp>
        <p:nvSpPr>
          <p:cNvPr id="15" name="">
            <a:extLst xmlns:a="http://schemas.openxmlformats.org/drawingml/2006/main">
              <a:ext uri="{FF2B5EF4-FFF2-40B4-BE49-F238E27FC236}">
                <a16:creationId xmlns:a16="http://schemas.microsoft.com/office/drawing/2014/main" id="{AE93EE0B-D789-4B04-AFA7-7DF691F99CEA}"/>
              </a:ext>
            </a:extLst>
          </p:cNvPr>
          <p:cNvSpPr>
            <a:spLocks xmlns:a="http://schemas.openxmlformats.org/drawingml/2006/main" noGrp="1"/>
          </p:cNvSpPr>
          <p:nvPr/>
        </p:nvSpPr>
        <p:spPr>
          <a:xfrm xmlns:a="http://schemas.openxmlformats.org/drawingml/2006/main">
            <a:off x="52387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20731C-1386-442D-88BB-3992A1418396}"/>
              </a:ext>
            </a:extLst>
          </p:cNvPr>
          <p:cNvSpPr>
            <a:spLocks xmlns:a="http://schemas.openxmlformats.org/drawingml/2006/main" noGrp="1"/>
          </p:cNvSpPr>
          <p:nvPr/>
        </p:nvSpPr>
        <p:spPr>
          <a:xfrm xmlns:a="http://schemas.openxmlformats.org/drawingml/2006/main">
            <a:off x="54102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07D7D4CB-785A-443A-881F-134BCBE756D4}"/>
              </a:ext>
            </a:extLst>
          </p:cNvPr>
          <p:cNvSpPr>
            <a:spLocks xmlns:a="http://schemas.openxmlformats.org/drawingml/2006/main" noGrp="1"/>
          </p:cNvSpPr>
          <p:nvPr/>
        </p:nvSpPr>
        <p:spPr>
          <a:xfrm xmlns:a="http://schemas.openxmlformats.org/drawingml/2006/main">
            <a:off x="55816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EC47456C-CDA3-4066-A6CD-CCB96F7ABCCB}"/>
              </a:ext>
            </a:extLst>
          </p:cNvPr>
          <p:cNvSpPr>
            <a:spLocks xmlns:a="http://schemas.openxmlformats.org/drawingml/2006/main" noGrp="1"/>
          </p:cNvSpPr>
          <p:nvPr/>
        </p:nvSpPr>
        <p:spPr>
          <a:xfrm xmlns:a="http://schemas.openxmlformats.org/drawingml/2006/main">
            <a:off x="56007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Map</a:t>
            </a:r>
          </a:p>
        </p:txBody>
      </p:sp>
      <p:sp>
        <p:nvSpPr>
          <p:cNvPr id="19" name="">
            <a:extLst xmlns:a="http://schemas.openxmlformats.org/drawingml/2006/main">
              <a:ext uri="{FF2B5EF4-FFF2-40B4-BE49-F238E27FC236}">
                <a16:creationId xmlns:a16="http://schemas.microsoft.com/office/drawing/2014/main" id="{B987041B-C6D7-4CF7-AE8A-A5D3569C2F4C}"/>
              </a:ext>
            </a:extLst>
          </p:cNvPr>
          <p:cNvSpPr>
            <a:spLocks xmlns:a="http://schemas.openxmlformats.org/drawingml/2006/main" noGrp="1"/>
          </p:cNvSpPr>
          <p:nvPr/>
        </p:nvSpPr>
        <p:spPr>
          <a:xfrm xmlns:a="http://schemas.openxmlformats.org/drawingml/2006/main">
            <a:off x="56007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IPs · CDN/origin · ports</a:t>
            </a:r>
          </a:p>
        </p:txBody>
      </p:sp>
      <p:sp>
        <p:nvSpPr>
          <p:cNvPr id="20" name="">
            <a:extLst xmlns:a="http://schemas.openxmlformats.org/drawingml/2006/main">
              <a:ext uri="{FF2B5EF4-FFF2-40B4-BE49-F238E27FC236}">
                <a16:creationId xmlns:a16="http://schemas.microsoft.com/office/drawing/2014/main" id="{03A548D3-D2C1-48A6-8F8C-B18BC89CE907}"/>
              </a:ext>
            </a:extLst>
          </p:cNvPr>
          <p:cNvSpPr>
            <a:spLocks xmlns:a="http://schemas.openxmlformats.org/drawingml/2006/main" noGrp="1"/>
          </p:cNvSpPr>
          <p:nvPr/>
        </p:nvSpPr>
        <p:spPr>
          <a:xfrm xmlns:a="http://schemas.openxmlformats.org/drawingml/2006/main">
            <a:off x="75057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9CDBF04-D194-4187-AF1B-B207D25D5ABC}"/>
              </a:ext>
            </a:extLst>
          </p:cNvPr>
          <p:cNvSpPr>
            <a:spLocks xmlns:a="http://schemas.openxmlformats.org/drawingml/2006/main" noGrp="1"/>
          </p:cNvSpPr>
          <p:nvPr/>
        </p:nvSpPr>
        <p:spPr>
          <a:xfrm xmlns:a="http://schemas.openxmlformats.org/drawingml/2006/main">
            <a:off x="76771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F18642BF-9535-4E3A-89D9-3EBF02235CBD}"/>
              </a:ext>
            </a:extLst>
          </p:cNvPr>
          <p:cNvSpPr>
            <a:spLocks xmlns:a="http://schemas.openxmlformats.org/drawingml/2006/main" noGrp="1"/>
          </p:cNvSpPr>
          <p:nvPr/>
        </p:nvSpPr>
        <p:spPr>
          <a:xfrm xmlns:a="http://schemas.openxmlformats.org/drawingml/2006/main">
            <a:off x="78486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C3A430DC-96A7-4259-8588-DF683FE14F5D}"/>
              </a:ext>
            </a:extLst>
          </p:cNvPr>
          <p:cNvSpPr>
            <a:spLocks xmlns:a="http://schemas.openxmlformats.org/drawingml/2006/main" noGrp="1"/>
          </p:cNvSpPr>
          <p:nvPr/>
        </p:nvSpPr>
        <p:spPr>
          <a:xfrm xmlns:a="http://schemas.openxmlformats.org/drawingml/2006/main">
            <a:off x="78676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Profile</a:t>
            </a:r>
          </a:p>
        </p:txBody>
      </p:sp>
      <p:sp>
        <p:nvSpPr>
          <p:cNvPr id="24" name="">
            <a:extLst xmlns:a="http://schemas.openxmlformats.org/drawingml/2006/main">
              <a:ext uri="{FF2B5EF4-FFF2-40B4-BE49-F238E27FC236}">
                <a16:creationId xmlns:a16="http://schemas.microsoft.com/office/drawing/2014/main" id="{497CB6A3-AEEE-4444-938B-8867325C4EF2}"/>
              </a:ext>
            </a:extLst>
          </p:cNvPr>
          <p:cNvSpPr>
            <a:spLocks xmlns:a="http://schemas.openxmlformats.org/drawingml/2006/main" noGrp="1"/>
          </p:cNvSpPr>
          <p:nvPr/>
        </p:nvSpPr>
        <p:spPr>
          <a:xfrm xmlns:a="http://schemas.openxmlformats.org/drawingml/2006/main">
            <a:off x="78676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services · versions · tech</a:t>
            </a:r>
          </a:p>
        </p:txBody>
      </p:sp>
      <p:sp>
        <p:nvSpPr>
          <p:cNvPr id="25" name="">
            <a:extLst xmlns:a="http://schemas.openxmlformats.org/drawingml/2006/main">
              <a:ext uri="{FF2B5EF4-FFF2-40B4-BE49-F238E27FC236}">
                <a16:creationId xmlns:a16="http://schemas.microsoft.com/office/drawing/2014/main" id="{6C4EFBB9-8679-451D-9337-A96FEB382085}"/>
              </a:ext>
            </a:extLst>
          </p:cNvPr>
          <p:cNvSpPr>
            <a:spLocks xmlns:a="http://schemas.openxmlformats.org/drawingml/2006/main" noGrp="1"/>
          </p:cNvSpPr>
          <p:nvPr/>
        </p:nvSpPr>
        <p:spPr>
          <a:xfrm xmlns:a="http://schemas.openxmlformats.org/drawingml/2006/main">
            <a:off x="97726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7C231DB-577D-4DEA-891F-9CD9761B2CFE}"/>
              </a:ext>
            </a:extLst>
          </p:cNvPr>
          <p:cNvSpPr>
            <a:spLocks xmlns:a="http://schemas.openxmlformats.org/drawingml/2006/main" noGrp="1"/>
          </p:cNvSpPr>
          <p:nvPr/>
        </p:nvSpPr>
        <p:spPr>
          <a:xfrm xmlns:a="http://schemas.openxmlformats.org/drawingml/2006/main">
            <a:off x="99441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15EF5C68-E347-4481-AD30-AF7BD9A0B51A}"/>
              </a:ext>
            </a:extLst>
          </p:cNvPr>
          <p:cNvSpPr>
            <a:spLocks xmlns:a="http://schemas.openxmlformats.org/drawingml/2006/main" noGrp="1"/>
          </p:cNvSpPr>
          <p:nvPr/>
        </p:nvSpPr>
        <p:spPr>
          <a:xfrm xmlns:a="http://schemas.openxmlformats.org/drawingml/2006/main">
            <a:off x="101155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3F85924D-3397-4B26-9313-C98A78E1E58A}"/>
              </a:ext>
            </a:extLst>
          </p:cNvPr>
          <p:cNvSpPr>
            <a:spLocks xmlns:a="http://schemas.openxmlformats.org/drawingml/2006/main" noGrp="1"/>
          </p:cNvSpPr>
          <p:nvPr/>
        </p:nvSpPr>
        <p:spPr>
          <a:xfrm xmlns:a="http://schemas.openxmlformats.org/drawingml/2006/main">
            <a:off x="101346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Discover</a:t>
            </a:r>
          </a:p>
        </p:txBody>
      </p:sp>
      <p:sp>
        <p:nvSpPr>
          <p:cNvPr id="29" name="">
            <a:extLst xmlns:a="http://schemas.openxmlformats.org/drawingml/2006/main">
              <a:ext uri="{FF2B5EF4-FFF2-40B4-BE49-F238E27FC236}">
                <a16:creationId xmlns:a16="http://schemas.microsoft.com/office/drawing/2014/main" id="{D8B0F77E-4CEF-457C-9D7F-6EBDCF104389}"/>
              </a:ext>
            </a:extLst>
          </p:cNvPr>
          <p:cNvSpPr>
            <a:spLocks xmlns:a="http://schemas.openxmlformats.org/drawingml/2006/main" noGrp="1"/>
          </p:cNvSpPr>
          <p:nvPr/>
        </p:nvSpPr>
        <p:spPr>
          <a:xfrm xmlns:a="http://schemas.openxmlformats.org/drawingml/2006/main">
            <a:off x="101346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paths · endpoints · parameters</a:t>
            </a:r>
          </a:p>
        </p:txBody>
      </p:sp>
      <p:sp>
        <p:nvSpPr>
          <p:cNvPr id="30" name="">
            <a:extLst xmlns:a="http://schemas.openxmlformats.org/drawingml/2006/main">
              <a:ext uri="{FF2B5EF4-FFF2-40B4-BE49-F238E27FC236}">
                <a16:creationId xmlns:a16="http://schemas.microsoft.com/office/drawing/2014/main" id="{DA105C68-0921-472C-9399-354CFC30289D}"/>
              </a:ext>
            </a:extLst>
          </p:cNvPr>
          <p:cNvSpPr>
            <a:spLocks xmlns:a="http://schemas.openxmlformats.org/drawingml/2006/main" noGrp="1"/>
          </p:cNvSpPr>
          <p:nvPr/>
        </p:nvSpPr>
        <p:spPr>
          <a:xfrm xmlns:a="http://schemas.openxmlformats.org/drawingml/2006/main">
            <a:off x="120396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2BE4ECE-A15C-4CE5-AE27-61DEABF1EBF5}"/>
              </a:ext>
            </a:extLst>
          </p:cNvPr>
          <p:cNvSpPr>
            <a:spLocks xmlns:a="http://schemas.openxmlformats.org/drawingml/2006/main" noGrp="1"/>
          </p:cNvSpPr>
          <p:nvPr/>
        </p:nvSpPr>
        <p:spPr>
          <a:xfrm xmlns:a="http://schemas.openxmlformats.org/drawingml/2006/main">
            <a:off x="122110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D05D3B16-CE36-4399-B20B-E83CB9BEC091}"/>
              </a:ext>
            </a:extLst>
          </p:cNvPr>
          <p:cNvSpPr>
            <a:spLocks xmlns:a="http://schemas.openxmlformats.org/drawingml/2006/main" noGrp="1"/>
          </p:cNvSpPr>
          <p:nvPr/>
        </p:nvSpPr>
        <p:spPr>
          <a:xfrm xmlns:a="http://schemas.openxmlformats.org/drawingml/2006/main">
            <a:off x="1238250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33" name="">
            <a:extLst xmlns:a="http://schemas.openxmlformats.org/drawingml/2006/main">
              <a:ext uri="{FF2B5EF4-FFF2-40B4-BE49-F238E27FC236}">
                <a16:creationId xmlns:a16="http://schemas.microsoft.com/office/drawing/2014/main" id="{8E8EC48B-27CE-4D97-83B0-7E8E7EBA401D}"/>
              </a:ext>
            </a:extLst>
          </p:cNvPr>
          <p:cNvSpPr>
            <a:spLocks xmlns:a="http://schemas.openxmlformats.org/drawingml/2006/main" noGrp="1"/>
          </p:cNvSpPr>
          <p:nvPr/>
        </p:nvSpPr>
        <p:spPr>
          <a:xfrm xmlns:a="http://schemas.openxmlformats.org/drawingml/2006/main">
            <a:off x="124015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Scan</a:t>
            </a:r>
          </a:p>
        </p:txBody>
      </p:sp>
      <p:sp>
        <p:nvSpPr>
          <p:cNvPr id="34" name="">
            <a:extLst xmlns:a="http://schemas.openxmlformats.org/drawingml/2006/main">
              <a:ext uri="{FF2B5EF4-FFF2-40B4-BE49-F238E27FC236}">
                <a16:creationId xmlns:a16="http://schemas.microsoft.com/office/drawing/2014/main" id="{F9831587-DB31-48E6-A21D-18B7C83EE007}"/>
              </a:ext>
            </a:extLst>
          </p:cNvPr>
          <p:cNvSpPr>
            <a:spLocks xmlns:a="http://schemas.openxmlformats.org/drawingml/2006/main" noGrp="1"/>
          </p:cNvSpPr>
          <p:nvPr/>
        </p:nvSpPr>
        <p:spPr>
          <a:xfrm xmlns:a="http://schemas.openxmlformats.org/drawingml/2006/main">
            <a:off x="124015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Nuclei · SQLmap · specialist checks</a:t>
            </a:r>
          </a:p>
        </p:txBody>
      </p:sp>
      <p:sp>
        <p:nvSpPr>
          <p:cNvPr id="35" name="">
            <a:extLst xmlns:a="http://schemas.openxmlformats.org/drawingml/2006/main">
              <a:ext uri="{FF2B5EF4-FFF2-40B4-BE49-F238E27FC236}">
                <a16:creationId xmlns:a16="http://schemas.microsoft.com/office/drawing/2014/main" id="{9D847C9D-6A3F-4CF8-9163-3641616ABBAC}"/>
              </a:ext>
            </a:extLst>
          </p:cNvPr>
          <p:cNvSpPr>
            <a:spLocks xmlns:a="http://schemas.openxmlformats.org/drawingml/2006/main" noGrp="1"/>
          </p:cNvSpPr>
          <p:nvPr/>
        </p:nvSpPr>
        <p:spPr>
          <a:xfrm xmlns:a="http://schemas.openxmlformats.org/drawingml/2006/main">
            <a:off x="143065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93F6329-EF16-4341-9826-20EAE3A33D80}"/>
              </a:ext>
            </a:extLst>
          </p:cNvPr>
          <p:cNvSpPr>
            <a:spLocks xmlns:a="http://schemas.openxmlformats.org/drawingml/2006/main" noGrp="1"/>
          </p:cNvSpPr>
          <p:nvPr/>
        </p:nvSpPr>
        <p:spPr>
          <a:xfrm xmlns:a="http://schemas.openxmlformats.org/drawingml/2006/main">
            <a:off x="144780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7" name="">
            <a:extLst xmlns:a="http://schemas.openxmlformats.org/drawingml/2006/main">
              <a:ext uri="{FF2B5EF4-FFF2-40B4-BE49-F238E27FC236}">
                <a16:creationId xmlns:a16="http://schemas.microsoft.com/office/drawing/2014/main" id="{DCD1A3B5-7CA7-4EC5-B4CC-B209D0E7F125}"/>
              </a:ext>
            </a:extLst>
          </p:cNvPr>
          <p:cNvSpPr>
            <a:spLocks xmlns:a="http://schemas.openxmlformats.org/drawingml/2006/main" noGrp="1"/>
          </p:cNvSpPr>
          <p:nvPr/>
        </p:nvSpPr>
        <p:spPr>
          <a:xfrm xmlns:a="http://schemas.openxmlformats.org/drawingml/2006/main">
            <a:off x="146494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7</a:t>
            </a:r>
          </a:p>
        </p:txBody>
      </p:sp>
      <p:sp>
        <p:nvSpPr>
          <p:cNvPr id="38" name="">
            <a:extLst xmlns:a="http://schemas.openxmlformats.org/drawingml/2006/main">
              <a:ext uri="{FF2B5EF4-FFF2-40B4-BE49-F238E27FC236}">
                <a16:creationId xmlns:a16="http://schemas.microsoft.com/office/drawing/2014/main" id="{B47CCE11-1D71-46FA-9237-0AAD58A0E0CA}"/>
              </a:ext>
            </a:extLst>
          </p:cNvPr>
          <p:cNvSpPr>
            <a:spLocks xmlns:a="http://schemas.openxmlformats.org/drawingml/2006/main" noGrp="1"/>
          </p:cNvSpPr>
          <p:nvPr/>
        </p:nvSpPr>
        <p:spPr>
          <a:xfrm xmlns:a="http://schemas.openxmlformats.org/drawingml/2006/main">
            <a:off x="146685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Confirm</a:t>
            </a:r>
          </a:p>
        </p:txBody>
      </p:sp>
      <p:sp>
        <p:nvSpPr>
          <p:cNvPr id="39" name="">
            <a:extLst xmlns:a="http://schemas.openxmlformats.org/drawingml/2006/main">
              <a:ext uri="{FF2B5EF4-FFF2-40B4-BE49-F238E27FC236}">
                <a16:creationId xmlns:a16="http://schemas.microsoft.com/office/drawing/2014/main" id="{8E2AC7F9-C4E5-41CB-8CCF-A678F7B4AD7C}"/>
              </a:ext>
            </a:extLst>
          </p:cNvPr>
          <p:cNvSpPr>
            <a:spLocks xmlns:a="http://schemas.openxmlformats.org/drawingml/2006/main" noGrp="1"/>
          </p:cNvSpPr>
          <p:nvPr/>
        </p:nvSpPr>
        <p:spPr>
          <a:xfrm xmlns:a="http://schemas.openxmlformats.org/drawingml/2006/main">
            <a:off x="146685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reproduce · cite evidence · report</a:t>
            </a:r>
          </a:p>
        </p:txBody>
      </p:sp>
      <p:sp>
        <p:nvSpPr>
          <p:cNvPr id="40" name="">
            <a:extLst xmlns:a="http://schemas.openxmlformats.org/drawingml/2006/main">
              <a:ext uri="{FF2B5EF4-FFF2-40B4-BE49-F238E27FC236}">
                <a16:creationId xmlns:a16="http://schemas.microsoft.com/office/drawing/2014/main" id="{35171E6D-7D99-4963-9B38-26FC5F809454}"/>
              </a:ext>
            </a:extLst>
          </p:cNvPr>
          <p:cNvSpPr>
            <a:spLocks xmlns:a="http://schemas.openxmlformats.org/drawingml/2006/main" noGrp="1"/>
          </p:cNvSpPr>
          <p:nvPr/>
        </p:nvSpPr>
        <p:spPr>
          <a:xfrm xmlns:a="http://schemas.openxmlformats.org/drawingml/2006/main">
            <a:off x="876300" y="5181600"/>
            <a:ext cx="15773400" cy="857250"/>
          </a:xfrm>
          <a:prstGeom xmlns:a="http://schemas.openxmlformats.org/drawingml/2006/main" prst="roundRect">
            <a:avLst>
              <a:gd name="adj" fmla="val 8889"/>
            </a:avLst>
          </a:prstGeom>
          <a:solidFill xmlns:a="http://schemas.openxmlformats.org/drawingml/2006/main">
            <a:srgbClr val="DDEEE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17C57B2-FD18-46A5-9660-79619CA0FE63}"/>
              </a:ext>
            </a:extLst>
          </p:cNvPr>
          <p:cNvSpPr>
            <a:spLocks xmlns:a="http://schemas.openxmlformats.org/drawingml/2006/main" noGrp="1"/>
          </p:cNvSpPr>
          <p:nvPr/>
        </p:nvSpPr>
        <p:spPr>
          <a:xfrm xmlns:a="http://schemas.openxmlformats.org/drawingml/2006/main">
            <a:off x="1200150" y="5429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206"/>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A new host, service, endpoint, credential or vulnerability re-opens only the relevant earlier work—without restarting the engagement.</a:t>
            </a:r>
          </a:p>
        </p:txBody>
      </p:sp>
      <p:sp>
        <p:nvSpPr>
          <p:cNvPr id="42" name="">
            <a:extLst xmlns:a="http://schemas.openxmlformats.org/drawingml/2006/main">
              <a:ext uri="{FF2B5EF4-FFF2-40B4-BE49-F238E27FC236}">
                <a16:creationId xmlns:a16="http://schemas.microsoft.com/office/drawing/2014/main" id="{EBCDABCF-E17D-40B2-9BBA-8D11D80F48A8}"/>
              </a:ext>
            </a:extLst>
          </p:cNvPr>
          <p:cNvSpPr>
            <a:spLocks xmlns:a="http://schemas.openxmlformats.org/drawingml/2006/main" noGrp="1"/>
          </p:cNvSpPr>
          <p:nvPr/>
        </p:nvSpPr>
        <p:spPr>
          <a:xfrm xmlns:a="http://schemas.openxmlformats.org/drawingml/2006/main">
            <a:off x="876300" y="65913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What makes this intelligent without an LLM</a:t>
            </a:r>
          </a:p>
        </p:txBody>
      </p:sp>
      <p:sp>
        <p:nvSpPr>
          <p:cNvPr id="43" name="">
            <a:extLst xmlns:a="http://schemas.openxmlformats.org/drawingml/2006/main">
              <a:ext uri="{FF2B5EF4-FFF2-40B4-BE49-F238E27FC236}">
                <a16:creationId xmlns:a16="http://schemas.microsoft.com/office/drawing/2014/main" id="{5A08A1E4-B0F6-43D3-99BC-6F523A385DA0}"/>
              </a:ext>
            </a:extLst>
          </p:cNvPr>
          <p:cNvSpPr>
            <a:spLocks xmlns:a="http://schemas.openxmlformats.org/drawingml/2006/main" noGrp="1"/>
          </p:cNvSpPr>
          <p:nvPr/>
        </p:nvSpPr>
        <p:spPr>
          <a:xfrm xmlns:a="http://schemas.openxmlformats.org/drawingml/2006/main">
            <a:off x="8763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4" name="">
            <a:extLst xmlns:a="http://schemas.openxmlformats.org/drawingml/2006/main">
              <a:ext uri="{FF2B5EF4-FFF2-40B4-BE49-F238E27FC236}">
                <a16:creationId xmlns:a16="http://schemas.microsoft.com/office/drawing/2014/main" id="{AF3B1822-F170-497E-B4DF-6BE059E03D1C}"/>
              </a:ext>
            </a:extLst>
          </p:cNvPr>
          <p:cNvSpPr>
            <a:spLocks xmlns:a="http://schemas.openxmlformats.org/drawingml/2006/main" noGrp="1"/>
          </p:cNvSpPr>
          <p:nvPr/>
        </p:nvSpPr>
        <p:spPr>
          <a:xfrm xmlns:a="http://schemas.openxmlformats.org/drawingml/2006/main">
            <a:off x="8763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2BFF79C-A42B-4752-A234-73167623D768}"/>
              </a:ext>
            </a:extLst>
          </p:cNvPr>
          <p:cNvSpPr>
            <a:spLocks xmlns:a="http://schemas.openxmlformats.org/drawingml/2006/main" noGrp="1"/>
          </p:cNvSpPr>
          <p:nvPr/>
        </p:nvSpPr>
        <p:spPr>
          <a:xfrm xmlns:a="http://schemas.openxmlformats.org/drawingml/2006/main">
            <a:off x="11430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Evidence unlocks work</a:t>
            </a:r>
          </a:p>
        </p:txBody>
      </p:sp>
      <p:sp>
        <p:nvSpPr>
          <p:cNvPr id="46" name="">
            <a:extLst xmlns:a="http://schemas.openxmlformats.org/drawingml/2006/main">
              <a:ext uri="{FF2B5EF4-FFF2-40B4-BE49-F238E27FC236}">
                <a16:creationId xmlns:a16="http://schemas.microsoft.com/office/drawing/2014/main" id="{FCDA5BBD-E6E3-4D6B-B23B-7557C9E9BBCC}"/>
              </a:ext>
            </a:extLst>
          </p:cNvPr>
          <p:cNvSpPr>
            <a:spLocks xmlns:a="http://schemas.openxmlformats.org/drawingml/2006/main" noGrp="1"/>
          </p:cNvSpPr>
          <p:nvPr/>
        </p:nvSpPr>
        <p:spPr>
          <a:xfrm xmlns:a="http://schemas.openxmlformats.org/drawingml/2006/main">
            <a:off x="11430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real live host or service creates new test opportunities.</a:t>
            </a:r>
          </a:p>
        </p:txBody>
      </p:sp>
      <p:sp>
        <p:nvSpPr>
          <p:cNvPr id="47" name="">
            <a:extLst xmlns:a="http://schemas.openxmlformats.org/drawingml/2006/main">
              <a:ext uri="{FF2B5EF4-FFF2-40B4-BE49-F238E27FC236}">
                <a16:creationId xmlns:a16="http://schemas.microsoft.com/office/drawing/2014/main" id="{8AA29F5A-DADB-4BDD-AB91-3CD1969348E5}"/>
              </a:ext>
            </a:extLst>
          </p:cNvPr>
          <p:cNvSpPr>
            <a:spLocks xmlns:a="http://schemas.openxmlformats.org/drawingml/2006/main" noGrp="1"/>
          </p:cNvSpPr>
          <p:nvPr/>
        </p:nvSpPr>
        <p:spPr>
          <a:xfrm xmlns:a="http://schemas.openxmlformats.org/drawingml/2006/main">
            <a:off x="48196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8" name="">
            <a:extLst xmlns:a="http://schemas.openxmlformats.org/drawingml/2006/main">
              <a:ext uri="{FF2B5EF4-FFF2-40B4-BE49-F238E27FC236}">
                <a16:creationId xmlns:a16="http://schemas.microsoft.com/office/drawing/2014/main" id="{4DE32226-6893-492A-8B96-0A33013DD9E4}"/>
              </a:ext>
            </a:extLst>
          </p:cNvPr>
          <p:cNvSpPr>
            <a:spLocks xmlns:a="http://schemas.openxmlformats.org/drawingml/2006/main" noGrp="1"/>
          </p:cNvSpPr>
          <p:nvPr/>
        </p:nvSpPr>
        <p:spPr>
          <a:xfrm xmlns:a="http://schemas.openxmlformats.org/drawingml/2006/main">
            <a:off x="48196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97FF31C-DA87-4455-9A10-A0E952C3DF9C}"/>
              </a:ext>
            </a:extLst>
          </p:cNvPr>
          <p:cNvSpPr>
            <a:spLocks xmlns:a="http://schemas.openxmlformats.org/drawingml/2006/main" noGrp="1"/>
          </p:cNvSpPr>
          <p:nvPr/>
        </p:nvSpPr>
        <p:spPr>
          <a:xfrm xmlns:a="http://schemas.openxmlformats.org/drawingml/2006/main">
            <a:off x="50863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Coverage is per asset</a:t>
            </a:r>
          </a:p>
        </p:txBody>
      </p:sp>
      <p:sp>
        <p:nvSpPr>
          <p:cNvPr id="50" name="">
            <a:extLst xmlns:a="http://schemas.openxmlformats.org/drawingml/2006/main">
              <a:ext uri="{FF2B5EF4-FFF2-40B4-BE49-F238E27FC236}">
                <a16:creationId xmlns:a16="http://schemas.microsoft.com/office/drawing/2014/main" id="{53F2C1DB-AD0C-4130-B27D-AA38C3800293}"/>
              </a:ext>
            </a:extLst>
          </p:cNvPr>
          <p:cNvSpPr>
            <a:spLocks xmlns:a="http://schemas.openxmlformats.org/drawingml/2006/main" noGrp="1"/>
          </p:cNvSpPr>
          <p:nvPr/>
        </p:nvSpPr>
        <p:spPr>
          <a:xfrm xmlns:a="http://schemas.openxmlformats.org/drawingml/2006/main">
            <a:off x="50863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Each host and application is tracked individually, even on shared infrastructure.</a:t>
            </a:r>
          </a:p>
        </p:txBody>
      </p:sp>
      <p:sp>
        <p:nvSpPr>
          <p:cNvPr id="51" name="">
            <a:extLst xmlns:a="http://schemas.openxmlformats.org/drawingml/2006/main">
              <a:ext uri="{FF2B5EF4-FFF2-40B4-BE49-F238E27FC236}">
                <a16:creationId xmlns:a16="http://schemas.microsoft.com/office/drawing/2014/main" id="{0823958C-E655-475B-9F46-82D00AB6AD1B}"/>
              </a:ext>
            </a:extLst>
          </p:cNvPr>
          <p:cNvSpPr>
            <a:spLocks xmlns:a="http://schemas.openxmlformats.org/drawingml/2006/main" noGrp="1"/>
          </p:cNvSpPr>
          <p:nvPr/>
        </p:nvSpPr>
        <p:spPr>
          <a:xfrm xmlns:a="http://schemas.openxmlformats.org/drawingml/2006/main">
            <a:off x="87630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2" name="">
            <a:extLst xmlns:a="http://schemas.openxmlformats.org/drawingml/2006/main">
              <a:ext uri="{FF2B5EF4-FFF2-40B4-BE49-F238E27FC236}">
                <a16:creationId xmlns:a16="http://schemas.microsoft.com/office/drawing/2014/main" id="{2BFF6344-2746-400A-A010-800C15BE1205}"/>
              </a:ext>
            </a:extLst>
          </p:cNvPr>
          <p:cNvSpPr>
            <a:spLocks xmlns:a="http://schemas.openxmlformats.org/drawingml/2006/main" noGrp="1"/>
          </p:cNvSpPr>
          <p:nvPr/>
        </p:nvSpPr>
        <p:spPr>
          <a:xfrm xmlns:a="http://schemas.openxmlformats.org/drawingml/2006/main">
            <a:off x="87630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6F3B45C-9C5A-44E5-9A38-0D481B3813AB}"/>
              </a:ext>
            </a:extLst>
          </p:cNvPr>
          <p:cNvSpPr>
            <a:spLocks xmlns:a="http://schemas.openxmlformats.org/drawingml/2006/main" noGrp="1"/>
          </p:cNvSpPr>
          <p:nvPr/>
        </p:nvSpPr>
        <p:spPr>
          <a:xfrm xmlns:a="http://schemas.openxmlformats.org/drawingml/2006/main">
            <a:off x="90297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Priority follows signals</a:t>
            </a:r>
          </a:p>
        </p:txBody>
      </p:sp>
      <p:sp>
        <p:nvSpPr>
          <p:cNvPr id="54" name="">
            <a:extLst xmlns:a="http://schemas.openxmlformats.org/drawingml/2006/main">
              <a:ext uri="{FF2B5EF4-FFF2-40B4-BE49-F238E27FC236}">
                <a16:creationId xmlns:a16="http://schemas.microsoft.com/office/drawing/2014/main" id="{A77D6584-3D7B-4F17-BC88-9890527BA137}"/>
              </a:ext>
            </a:extLst>
          </p:cNvPr>
          <p:cNvSpPr>
            <a:spLocks xmlns:a="http://schemas.openxmlformats.org/drawingml/2006/main" noGrp="1"/>
          </p:cNvSpPr>
          <p:nvPr/>
        </p:nvSpPr>
        <p:spPr>
          <a:xfrm xmlns:a="http://schemas.openxmlformats.org/drawingml/2006/main">
            <a:off x="90297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Observed technologies, exposure and proof reorder the queue.</a:t>
            </a:r>
          </a:p>
        </p:txBody>
      </p:sp>
      <p:sp>
        <p:nvSpPr>
          <p:cNvPr id="55" name="">
            <a:extLst xmlns:a="http://schemas.openxmlformats.org/drawingml/2006/main">
              <a:ext uri="{FF2B5EF4-FFF2-40B4-BE49-F238E27FC236}">
                <a16:creationId xmlns:a16="http://schemas.microsoft.com/office/drawing/2014/main" id="{4D89F4D5-959C-4B88-B70A-F57471959047}"/>
              </a:ext>
            </a:extLst>
          </p:cNvPr>
          <p:cNvSpPr>
            <a:spLocks xmlns:a="http://schemas.openxmlformats.org/drawingml/2006/main" noGrp="1"/>
          </p:cNvSpPr>
          <p:nvPr/>
        </p:nvSpPr>
        <p:spPr>
          <a:xfrm xmlns:a="http://schemas.openxmlformats.org/drawingml/2006/main">
            <a:off x="127063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6" name="">
            <a:extLst xmlns:a="http://schemas.openxmlformats.org/drawingml/2006/main">
              <a:ext uri="{FF2B5EF4-FFF2-40B4-BE49-F238E27FC236}">
                <a16:creationId xmlns:a16="http://schemas.microsoft.com/office/drawing/2014/main" id="{A81E0B42-44DD-4FE8-9DB6-D20529B1D02C}"/>
              </a:ext>
            </a:extLst>
          </p:cNvPr>
          <p:cNvSpPr>
            <a:spLocks xmlns:a="http://schemas.openxmlformats.org/drawingml/2006/main" noGrp="1"/>
          </p:cNvSpPr>
          <p:nvPr/>
        </p:nvSpPr>
        <p:spPr>
          <a:xfrm xmlns:a="http://schemas.openxmlformats.org/drawingml/2006/main">
            <a:off x="127063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EE8A48B-8120-40B2-8B03-2DBB6084AD53}"/>
              </a:ext>
            </a:extLst>
          </p:cNvPr>
          <p:cNvSpPr>
            <a:spLocks xmlns:a="http://schemas.openxmlformats.org/drawingml/2006/main" noGrp="1"/>
          </p:cNvSpPr>
          <p:nvPr/>
        </p:nvSpPr>
        <p:spPr>
          <a:xfrm xmlns:a="http://schemas.openxmlformats.org/drawingml/2006/main">
            <a:off x="129730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Methodology is configurable</a:t>
            </a:r>
          </a:p>
        </p:txBody>
      </p:sp>
      <p:sp>
        <p:nvSpPr>
          <p:cNvPr id="58" name="">
            <a:extLst xmlns:a="http://schemas.openxmlformats.org/drawingml/2006/main">
              <a:ext uri="{FF2B5EF4-FFF2-40B4-BE49-F238E27FC236}">
                <a16:creationId xmlns:a16="http://schemas.microsoft.com/office/drawing/2014/main" id="{6567158F-2A70-4053-86B9-D0D31A7173E8}"/>
              </a:ext>
            </a:extLst>
          </p:cNvPr>
          <p:cNvSpPr>
            <a:spLocks xmlns:a="http://schemas.openxmlformats.org/drawingml/2006/main" noGrp="1"/>
          </p:cNvSpPr>
          <p:nvPr/>
        </p:nvSpPr>
        <p:spPr>
          <a:xfrm xmlns:a="http://schemas.openxmlformats.org/drawingml/2006/main">
            <a:off x="129730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Teams can change policy and coverage without rewriting the engine.</a:t>
            </a:r>
          </a:p>
        </p:txBody>
      </p:sp>
    </p:spTree>
    <p:extLst>
      <p:ext uri="{BB962C8B-B14F-4D97-AF65-F5344CB8AC3E}">
        <p14:creationId xmlns:p14="http://schemas.microsoft.com/office/powerpoint/2010/main" val="118090096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C344C2C7-F099-433B-A803-4E0DE1A7F77B}"/>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08 / TRUSTWORTHY MEMORY</a:t>
            </a:r>
          </a:p>
        </p:txBody>
      </p:sp>
      <p:sp>
        <p:nvSpPr>
          <p:cNvPr id="2" name="">
            <a:extLst xmlns:a="http://schemas.openxmlformats.org/drawingml/2006/main">
              <a:ext uri="{FF2B5EF4-FFF2-40B4-BE49-F238E27FC236}">
                <a16:creationId xmlns:a16="http://schemas.microsoft.com/office/drawing/2014/main" id="{80003F44-F8CF-4256-81C2-DB1E31A1CF2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One evidence model will prevent false positives and lost context</a:t>
            </a:r>
          </a:p>
        </p:txBody>
      </p:sp>
      <p:sp>
        <p:nvSpPr>
          <p:cNvPr id="3" name="">
            <a:extLst xmlns:a="http://schemas.openxmlformats.org/drawingml/2006/main">
              <a:ext uri="{FF2B5EF4-FFF2-40B4-BE49-F238E27FC236}">
                <a16:creationId xmlns:a16="http://schemas.microsoft.com/office/drawing/2014/main" id="{FF5E3777-3503-4879-B221-7D06BB77399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93B6E5B0-2306-4EE9-B65E-75C104809FE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0DEE5DD-BD97-4BBB-8099-DEE8DC70C089}"/>
              </a:ext>
            </a:extLst>
          </p:cNvPr>
          <p:cNvSpPr>
            <a:spLocks xmlns:a="http://schemas.openxmlformats.org/drawingml/2006/main" noGrp="1"/>
          </p:cNvSpPr>
          <p:nvPr/>
        </p:nvSpPr>
        <p:spPr>
          <a:xfrm xmlns:a="http://schemas.openxmlformats.org/drawingml/2006/main">
            <a:off x="876300"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4F569B-1183-41D4-9F6E-D38F224D85AC}"/>
              </a:ext>
            </a:extLst>
          </p:cNvPr>
          <p:cNvSpPr>
            <a:spLocks xmlns:a="http://schemas.openxmlformats.org/drawingml/2006/main" noGrp="1"/>
          </p:cNvSpPr>
          <p:nvPr/>
        </p:nvSpPr>
        <p:spPr>
          <a:xfrm xmlns:a="http://schemas.openxmlformats.org/drawingml/2006/main">
            <a:off x="10477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Target</a:t>
            </a:r>
          </a:p>
        </p:txBody>
      </p:sp>
      <p:sp>
        <p:nvSpPr>
          <p:cNvPr id="7" name="">
            <a:extLst xmlns:a="http://schemas.openxmlformats.org/drawingml/2006/main">
              <a:ext uri="{FF2B5EF4-FFF2-40B4-BE49-F238E27FC236}">
                <a16:creationId xmlns:a16="http://schemas.microsoft.com/office/drawing/2014/main" id="{A8654A8F-92FB-45F1-8DE3-EA9E514FF743}"/>
              </a:ext>
            </a:extLst>
          </p:cNvPr>
          <p:cNvSpPr>
            <a:spLocks xmlns:a="http://schemas.openxmlformats.org/drawingml/2006/main" noGrp="1"/>
          </p:cNvSpPr>
          <p:nvPr/>
        </p:nvSpPr>
        <p:spPr>
          <a:xfrm xmlns:a="http://schemas.openxmlformats.org/drawingml/2006/main">
            <a:off x="10477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authorized scope</a:t>
            </a:r>
          </a:p>
        </p:txBody>
      </p:sp>
      <p:sp>
        <p:nvSpPr>
          <p:cNvPr id="8" name="">
            <a:extLst xmlns:a="http://schemas.openxmlformats.org/drawingml/2006/main">
              <a:ext uri="{FF2B5EF4-FFF2-40B4-BE49-F238E27FC236}">
                <a16:creationId xmlns:a16="http://schemas.microsoft.com/office/drawing/2014/main" id="{588199F8-E35D-4E72-B5D1-49DF78E02B78}"/>
              </a:ext>
            </a:extLst>
          </p:cNvPr>
          <p:cNvSpPr>
            <a:spLocks xmlns:a="http://schemas.openxmlformats.org/drawingml/2006/main" noGrp="1"/>
          </p:cNvSpPr>
          <p:nvPr/>
        </p:nvSpPr>
        <p:spPr>
          <a:xfrm xmlns:a="http://schemas.openxmlformats.org/drawingml/2006/main">
            <a:off x="31623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2B22B3-838E-4D66-BA0F-AFA478506997}"/>
              </a:ext>
            </a:extLst>
          </p:cNvPr>
          <p:cNvSpPr>
            <a:spLocks xmlns:a="http://schemas.openxmlformats.org/drawingml/2006/main" noGrp="1"/>
          </p:cNvSpPr>
          <p:nvPr/>
        </p:nvSpPr>
        <p:spPr>
          <a:xfrm xmlns:a="http://schemas.openxmlformats.org/drawingml/2006/main">
            <a:off x="3533775" y="2476500"/>
            <a:ext cx="2247900" cy="1428750"/>
          </a:xfrm>
          <a:prstGeom xmlns:a="http://schemas.openxmlformats.org/drawingml/2006/main" prst="roundRect">
            <a:avLst>
              <a:gd name="adj" fmla="val 5333"/>
            </a:avLst>
          </a:prstGeom>
          <a:solidFill xmlns:a="http://schemas.openxmlformats.org/drawingml/2006/main">
            <a:srgbClr val="2C669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81F5F6-EE75-47D0-AF1E-3E142E5AE71E}"/>
              </a:ext>
            </a:extLst>
          </p:cNvPr>
          <p:cNvSpPr>
            <a:spLocks xmlns:a="http://schemas.openxmlformats.org/drawingml/2006/main" noGrp="1"/>
          </p:cNvSpPr>
          <p:nvPr/>
        </p:nvSpPr>
        <p:spPr>
          <a:xfrm xmlns:a="http://schemas.openxmlformats.org/drawingml/2006/main">
            <a:off x="37052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Asset</a:t>
            </a:r>
          </a:p>
        </p:txBody>
      </p:sp>
      <p:sp>
        <p:nvSpPr>
          <p:cNvPr id="11" name="">
            <a:extLst xmlns:a="http://schemas.openxmlformats.org/drawingml/2006/main">
              <a:ext uri="{FF2B5EF4-FFF2-40B4-BE49-F238E27FC236}">
                <a16:creationId xmlns:a16="http://schemas.microsoft.com/office/drawing/2014/main" id="{058FE6E1-FF1B-4E9D-BE1B-DB8627554235}"/>
              </a:ext>
            </a:extLst>
          </p:cNvPr>
          <p:cNvSpPr>
            <a:spLocks xmlns:a="http://schemas.openxmlformats.org/drawingml/2006/main" noGrp="1"/>
          </p:cNvSpPr>
          <p:nvPr/>
        </p:nvSpPr>
        <p:spPr>
          <a:xfrm xmlns:a="http://schemas.openxmlformats.org/drawingml/2006/main">
            <a:off x="37052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domain · IP · service</a:t>
            </a:r>
          </a:p>
        </p:txBody>
      </p:sp>
      <p:sp>
        <p:nvSpPr>
          <p:cNvPr id="12" name="">
            <a:extLst xmlns:a="http://schemas.openxmlformats.org/drawingml/2006/main">
              <a:ext uri="{FF2B5EF4-FFF2-40B4-BE49-F238E27FC236}">
                <a16:creationId xmlns:a16="http://schemas.microsoft.com/office/drawing/2014/main" id="{BCA3598D-798F-4F9E-AACB-9332C7C0BD64}"/>
              </a:ext>
            </a:extLst>
          </p:cNvPr>
          <p:cNvSpPr>
            <a:spLocks xmlns:a="http://schemas.openxmlformats.org/drawingml/2006/main" noGrp="1"/>
          </p:cNvSpPr>
          <p:nvPr/>
        </p:nvSpPr>
        <p:spPr>
          <a:xfrm xmlns:a="http://schemas.openxmlformats.org/drawingml/2006/main">
            <a:off x="581977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4B7E0F-0CB4-4BAA-AC61-68CE6082A94B}"/>
              </a:ext>
            </a:extLst>
          </p:cNvPr>
          <p:cNvSpPr>
            <a:spLocks xmlns:a="http://schemas.openxmlformats.org/drawingml/2006/main" noGrp="1"/>
          </p:cNvSpPr>
          <p:nvPr/>
        </p:nvSpPr>
        <p:spPr>
          <a:xfrm xmlns:a="http://schemas.openxmlformats.org/drawingml/2006/main">
            <a:off x="6191250" y="2476500"/>
            <a:ext cx="2247900" cy="1428750"/>
          </a:xfrm>
          <a:prstGeom xmlns:a="http://schemas.openxmlformats.org/drawingml/2006/main" prst="roundRect">
            <a:avLst>
              <a:gd name="adj" fmla="val 5333"/>
            </a:avLst>
          </a:prstGeom>
          <a:solidFill xmlns:a="http://schemas.openxmlformats.org/drawingml/2006/main">
            <a:srgbClr val="2D8B8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E3FFAB-0DDF-4E7C-9B45-043C983CE78F}"/>
              </a:ext>
            </a:extLst>
          </p:cNvPr>
          <p:cNvSpPr>
            <a:spLocks xmlns:a="http://schemas.openxmlformats.org/drawingml/2006/main" noGrp="1"/>
          </p:cNvSpPr>
          <p:nvPr/>
        </p:nvSpPr>
        <p:spPr>
          <a:xfrm xmlns:a="http://schemas.openxmlformats.org/drawingml/2006/main">
            <a:off x="636270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Observation</a:t>
            </a:r>
          </a:p>
        </p:txBody>
      </p:sp>
      <p:sp>
        <p:nvSpPr>
          <p:cNvPr id="15" name="">
            <a:extLst xmlns:a="http://schemas.openxmlformats.org/drawingml/2006/main">
              <a:ext uri="{FF2B5EF4-FFF2-40B4-BE49-F238E27FC236}">
                <a16:creationId xmlns:a16="http://schemas.microsoft.com/office/drawing/2014/main" id="{D9B28315-8D7C-4FA3-ACB9-4ADE28A75823}"/>
              </a:ext>
            </a:extLst>
          </p:cNvPr>
          <p:cNvSpPr>
            <a:spLocks xmlns:a="http://schemas.openxmlformats.org/drawingml/2006/main" noGrp="1"/>
          </p:cNvSpPr>
          <p:nvPr/>
        </p:nvSpPr>
        <p:spPr>
          <a:xfrm xmlns:a="http://schemas.openxmlformats.org/drawingml/2006/main">
            <a:off x="636270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recorded tool output</a:t>
            </a:r>
          </a:p>
        </p:txBody>
      </p:sp>
      <p:sp>
        <p:nvSpPr>
          <p:cNvPr id="16" name="">
            <a:extLst xmlns:a="http://schemas.openxmlformats.org/drawingml/2006/main">
              <a:ext uri="{FF2B5EF4-FFF2-40B4-BE49-F238E27FC236}">
                <a16:creationId xmlns:a16="http://schemas.microsoft.com/office/drawing/2014/main" id="{630F0608-2B9C-4254-90CD-1A92CA997DA2}"/>
              </a:ext>
            </a:extLst>
          </p:cNvPr>
          <p:cNvSpPr>
            <a:spLocks xmlns:a="http://schemas.openxmlformats.org/drawingml/2006/main" noGrp="1"/>
          </p:cNvSpPr>
          <p:nvPr/>
        </p:nvSpPr>
        <p:spPr>
          <a:xfrm xmlns:a="http://schemas.openxmlformats.org/drawingml/2006/main">
            <a:off x="847725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DE94F4A-EEFA-4E24-9EA2-9CFAA8554B53}"/>
              </a:ext>
            </a:extLst>
          </p:cNvPr>
          <p:cNvSpPr>
            <a:spLocks xmlns:a="http://schemas.openxmlformats.org/drawingml/2006/main" noGrp="1"/>
          </p:cNvSpPr>
          <p:nvPr/>
        </p:nvSpPr>
        <p:spPr>
          <a:xfrm xmlns:a="http://schemas.openxmlformats.org/drawingml/2006/main">
            <a:off x="8848725" y="2476500"/>
            <a:ext cx="2247900" cy="1428750"/>
          </a:xfrm>
          <a:prstGeom xmlns:a="http://schemas.openxmlformats.org/drawingml/2006/main" prst="roundRect">
            <a:avLst>
              <a:gd name="adj" fmla="val 5333"/>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56890C-0E89-4CD9-A15E-10B5FC68E3E8}"/>
              </a:ext>
            </a:extLst>
          </p:cNvPr>
          <p:cNvSpPr>
            <a:spLocks xmlns:a="http://schemas.openxmlformats.org/drawingml/2006/main" noGrp="1"/>
          </p:cNvSpPr>
          <p:nvPr/>
        </p:nvSpPr>
        <p:spPr>
          <a:xfrm xmlns:a="http://schemas.openxmlformats.org/drawingml/2006/main">
            <a:off x="902017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Candidate</a:t>
            </a:r>
          </a:p>
        </p:txBody>
      </p:sp>
      <p:sp>
        <p:nvSpPr>
          <p:cNvPr id="19" name="">
            <a:extLst xmlns:a="http://schemas.openxmlformats.org/drawingml/2006/main">
              <a:ext uri="{FF2B5EF4-FFF2-40B4-BE49-F238E27FC236}">
                <a16:creationId xmlns:a16="http://schemas.microsoft.com/office/drawing/2014/main" id="{8B02244A-395B-4101-9DAC-6525A9BB1D1B}"/>
              </a:ext>
            </a:extLst>
          </p:cNvPr>
          <p:cNvSpPr>
            <a:spLocks xmlns:a="http://schemas.openxmlformats.org/drawingml/2006/main" noGrp="1"/>
          </p:cNvSpPr>
          <p:nvPr/>
        </p:nvSpPr>
        <p:spPr>
          <a:xfrm xmlns:a="http://schemas.openxmlformats.org/drawingml/2006/main">
            <a:off x="902017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lead requiring proof</a:t>
            </a:r>
          </a:p>
        </p:txBody>
      </p:sp>
      <p:sp>
        <p:nvSpPr>
          <p:cNvPr id="20" name="">
            <a:extLst xmlns:a="http://schemas.openxmlformats.org/drawingml/2006/main">
              <a:ext uri="{FF2B5EF4-FFF2-40B4-BE49-F238E27FC236}">
                <a16:creationId xmlns:a16="http://schemas.microsoft.com/office/drawing/2014/main" id="{5C6B2826-2A14-445A-A5F7-5FA6210BB6D8}"/>
              </a:ext>
            </a:extLst>
          </p:cNvPr>
          <p:cNvSpPr>
            <a:spLocks xmlns:a="http://schemas.openxmlformats.org/drawingml/2006/main" noGrp="1"/>
          </p:cNvSpPr>
          <p:nvPr/>
        </p:nvSpPr>
        <p:spPr>
          <a:xfrm xmlns:a="http://schemas.openxmlformats.org/drawingml/2006/main">
            <a:off x="1113472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6429131-31DD-48A6-B929-06042666F7D9}"/>
              </a:ext>
            </a:extLst>
          </p:cNvPr>
          <p:cNvSpPr>
            <a:spLocks xmlns:a="http://schemas.openxmlformats.org/drawingml/2006/main" noGrp="1"/>
          </p:cNvSpPr>
          <p:nvPr/>
        </p:nvSpPr>
        <p:spPr>
          <a:xfrm xmlns:a="http://schemas.openxmlformats.org/drawingml/2006/main">
            <a:off x="11506200" y="2476500"/>
            <a:ext cx="2247900" cy="1428750"/>
          </a:xfrm>
          <a:prstGeom xmlns:a="http://schemas.openxmlformats.org/drawingml/2006/main" prst="roundRect">
            <a:avLst>
              <a:gd name="adj" fmla="val 5333"/>
            </a:avLst>
          </a:prstGeom>
          <a:solidFill xmlns:a="http://schemas.openxmlformats.org/drawingml/2006/main">
            <a:srgbClr val="4F8B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B6FB0C4-4C3B-421D-B113-31B4E422FAD1}"/>
              </a:ext>
            </a:extLst>
          </p:cNvPr>
          <p:cNvSpPr>
            <a:spLocks xmlns:a="http://schemas.openxmlformats.org/drawingml/2006/main" noGrp="1"/>
          </p:cNvSpPr>
          <p:nvPr/>
        </p:nvSpPr>
        <p:spPr>
          <a:xfrm xmlns:a="http://schemas.openxmlformats.org/drawingml/2006/main">
            <a:off x="116776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Verified finding</a:t>
            </a:r>
          </a:p>
        </p:txBody>
      </p:sp>
      <p:sp>
        <p:nvSpPr>
          <p:cNvPr id="23" name="">
            <a:extLst xmlns:a="http://schemas.openxmlformats.org/drawingml/2006/main">
              <a:ext uri="{FF2B5EF4-FFF2-40B4-BE49-F238E27FC236}">
                <a16:creationId xmlns:a16="http://schemas.microsoft.com/office/drawing/2014/main" id="{CBC37AEC-8F54-42A2-A444-246DB7B59202}"/>
              </a:ext>
            </a:extLst>
          </p:cNvPr>
          <p:cNvSpPr>
            <a:spLocks xmlns:a="http://schemas.openxmlformats.org/drawingml/2006/main" noGrp="1"/>
          </p:cNvSpPr>
          <p:nvPr/>
        </p:nvSpPr>
        <p:spPr>
          <a:xfrm xmlns:a="http://schemas.openxmlformats.org/drawingml/2006/main">
            <a:off x="116776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claim + cited evidence</a:t>
            </a:r>
          </a:p>
        </p:txBody>
      </p:sp>
      <p:sp>
        <p:nvSpPr>
          <p:cNvPr id="24" name="">
            <a:extLst xmlns:a="http://schemas.openxmlformats.org/drawingml/2006/main">
              <a:ext uri="{FF2B5EF4-FFF2-40B4-BE49-F238E27FC236}">
                <a16:creationId xmlns:a16="http://schemas.microsoft.com/office/drawing/2014/main" id="{BDC7CF02-ADE8-47C9-BB0C-60F5AB04DCC4}"/>
              </a:ext>
            </a:extLst>
          </p:cNvPr>
          <p:cNvSpPr>
            <a:spLocks xmlns:a="http://schemas.openxmlformats.org/drawingml/2006/main" noGrp="1"/>
          </p:cNvSpPr>
          <p:nvPr/>
        </p:nvSpPr>
        <p:spPr>
          <a:xfrm xmlns:a="http://schemas.openxmlformats.org/drawingml/2006/main">
            <a:off x="137922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AF7EBA9-C0A5-43BA-9C34-6651269CC76C}"/>
              </a:ext>
            </a:extLst>
          </p:cNvPr>
          <p:cNvSpPr>
            <a:spLocks xmlns:a="http://schemas.openxmlformats.org/drawingml/2006/main" noGrp="1"/>
          </p:cNvSpPr>
          <p:nvPr/>
        </p:nvSpPr>
        <p:spPr>
          <a:xfrm xmlns:a="http://schemas.openxmlformats.org/drawingml/2006/main">
            <a:off x="14163675"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AB24ACE-8CEA-4BBD-8A10-26623DDAAED5}"/>
              </a:ext>
            </a:extLst>
          </p:cNvPr>
          <p:cNvSpPr>
            <a:spLocks xmlns:a="http://schemas.openxmlformats.org/drawingml/2006/main" noGrp="1"/>
          </p:cNvSpPr>
          <p:nvPr/>
        </p:nvSpPr>
        <p:spPr>
          <a:xfrm xmlns:a="http://schemas.openxmlformats.org/drawingml/2006/main">
            <a:off x="143351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Report</a:t>
            </a:r>
          </a:p>
        </p:txBody>
      </p:sp>
      <p:sp>
        <p:nvSpPr>
          <p:cNvPr id="27" name="">
            <a:extLst xmlns:a="http://schemas.openxmlformats.org/drawingml/2006/main">
              <a:ext uri="{FF2B5EF4-FFF2-40B4-BE49-F238E27FC236}">
                <a16:creationId xmlns:a16="http://schemas.microsoft.com/office/drawing/2014/main" id="{62B2996F-8F65-43BF-85D5-ACB2571D10D8}"/>
              </a:ext>
            </a:extLst>
          </p:cNvPr>
          <p:cNvSpPr>
            <a:spLocks xmlns:a="http://schemas.openxmlformats.org/drawingml/2006/main" noGrp="1"/>
          </p:cNvSpPr>
          <p:nvPr/>
        </p:nvSpPr>
        <p:spPr>
          <a:xfrm xmlns:a="http://schemas.openxmlformats.org/drawingml/2006/main">
            <a:off x="143351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human-reviewable result</a:t>
            </a:r>
          </a:p>
        </p:txBody>
      </p:sp>
      <p:sp>
        <p:nvSpPr>
          <p:cNvPr id="28" name="">
            <a:extLst xmlns:a="http://schemas.openxmlformats.org/drawingml/2006/main">
              <a:ext uri="{FF2B5EF4-FFF2-40B4-BE49-F238E27FC236}">
                <a16:creationId xmlns:a16="http://schemas.microsoft.com/office/drawing/2014/main" id="{D0DEB1E2-0DA4-437A-98B5-75220D61D8A1}"/>
              </a:ext>
            </a:extLst>
          </p:cNvPr>
          <p:cNvSpPr>
            <a:spLocks xmlns:a="http://schemas.openxmlformats.org/drawingml/2006/main" noGrp="1"/>
          </p:cNvSpPr>
          <p:nvPr/>
        </p:nvSpPr>
        <p:spPr>
          <a:xfrm xmlns:a="http://schemas.openxmlformats.org/drawingml/2006/main">
            <a:off x="876300" y="4495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Storage rules</a:t>
            </a:r>
          </a:p>
        </p:txBody>
      </p:sp>
      <p:sp>
        <p:nvSpPr>
          <p:cNvPr id="29" name="">
            <a:extLst xmlns:a="http://schemas.openxmlformats.org/drawingml/2006/main">
              <a:ext uri="{FF2B5EF4-FFF2-40B4-BE49-F238E27FC236}">
                <a16:creationId xmlns:a16="http://schemas.microsoft.com/office/drawing/2014/main" id="{30E9CB01-BB01-48D8-A6AA-0991586B3384}"/>
              </a:ext>
            </a:extLst>
          </p:cNvPr>
          <p:cNvSpPr>
            <a:spLocks xmlns:a="http://schemas.openxmlformats.org/drawingml/2006/main" noGrp="1"/>
          </p:cNvSpPr>
          <p:nvPr/>
        </p:nvSpPr>
        <p:spPr>
          <a:xfrm xmlns:a="http://schemas.openxmlformats.org/drawingml/2006/main">
            <a:off x="8763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0" name="">
            <a:extLst xmlns:a="http://schemas.openxmlformats.org/drawingml/2006/main">
              <a:ext uri="{FF2B5EF4-FFF2-40B4-BE49-F238E27FC236}">
                <a16:creationId xmlns:a16="http://schemas.microsoft.com/office/drawing/2014/main" id="{5B7AEB6F-DE2F-414C-AF9F-44B2D9481B5A}"/>
              </a:ext>
            </a:extLst>
          </p:cNvPr>
          <p:cNvSpPr>
            <a:spLocks xmlns:a="http://schemas.openxmlformats.org/drawingml/2006/main" noGrp="1"/>
          </p:cNvSpPr>
          <p:nvPr/>
        </p:nvSpPr>
        <p:spPr>
          <a:xfrm xmlns:a="http://schemas.openxmlformats.org/drawingml/2006/main">
            <a:off x="876300" y="50482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CB94AD6-2BCF-47C7-87EC-9454B09C33CE}"/>
              </a:ext>
            </a:extLst>
          </p:cNvPr>
          <p:cNvSpPr>
            <a:spLocks xmlns:a="http://schemas.openxmlformats.org/drawingml/2006/main" noGrp="1"/>
          </p:cNvSpPr>
          <p:nvPr/>
        </p:nvSpPr>
        <p:spPr>
          <a:xfrm xmlns:a="http://schemas.openxmlformats.org/drawingml/2006/main">
            <a:off x="11430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Raw evidence remains intact</a:t>
            </a:r>
          </a:p>
        </p:txBody>
      </p:sp>
      <p:sp>
        <p:nvSpPr>
          <p:cNvPr id="32" name="">
            <a:extLst xmlns:a="http://schemas.openxmlformats.org/drawingml/2006/main">
              <a:ext uri="{FF2B5EF4-FFF2-40B4-BE49-F238E27FC236}">
                <a16:creationId xmlns:a16="http://schemas.microsoft.com/office/drawing/2014/main" id="{1E0BDC42-E348-40DF-B51F-93500683D263}"/>
              </a:ext>
            </a:extLst>
          </p:cNvPr>
          <p:cNvSpPr>
            <a:spLocks xmlns:a="http://schemas.openxmlformats.org/drawingml/2006/main" noGrp="1"/>
          </p:cNvSpPr>
          <p:nvPr/>
        </p:nvSpPr>
        <p:spPr>
          <a:xfrm xmlns:a="http://schemas.openxmlformats.org/drawingml/2006/main">
            <a:off x="11430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Artifacts preserve what the tool actually returned.</a:t>
            </a:r>
          </a:p>
        </p:txBody>
      </p:sp>
      <p:sp>
        <p:nvSpPr>
          <p:cNvPr id="33" name="">
            <a:extLst xmlns:a="http://schemas.openxmlformats.org/drawingml/2006/main">
              <a:ext uri="{FF2B5EF4-FFF2-40B4-BE49-F238E27FC236}">
                <a16:creationId xmlns:a16="http://schemas.microsoft.com/office/drawing/2014/main" id="{67BB5112-6503-47E2-B8DC-B2C939C6952E}"/>
              </a:ext>
            </a:extLst>
          </p:cNvPr>
          <p:cNvSpPr>
            <a:spLocks xmlns:a="http://schemas.openxmlformats.org/drawingml/2006/main" noGrp="1"/>
          </p:cNvSpPr>
          <p:nvPr/>
        </p:nvSpPr>
        <p:spPr>
          <a:xfrm xmlns:a="http://schemas.openxmlformats.org/drawingml/2006/main">
            <a:off x="61341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9B51512F-11F7-41D5-91A9-1880D3B37189}"/>
              </a:ext>
            </a:extLst>
          </p:cNvPr>
          <p:cNvSpPr>
            <a:spLocks xmlns:a="http://schemas.openxmlformats.org/drawingml/2006/main" noGrp="1"/>
          </p:cNvSpPr>
          <p:nvPr/>
        </p:nvSpPr>
        <p:spPr>
          <a:xfrm xmlns:a="http://schemas.openxmlformats.org/drawingml/2006/main">
            <a:off x="6134100" y="50482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AA8B8D6-1C1A-4A56-B4CB-9270A8D0FC92}"/>
              </a:ext>
            </a:extLst>
          </p:cNvPr>
          <p:cNvSpPr>
            <a:spLocks xmlns:a="http://schemas.openxmlformats.org/drawingml/2006/main" noGrp="1"/>
          </p:cNvSpPr>
          <p:nvPr/>
        </p:nvSpPr>
        <p:spPr>
          <a:xfrm xmlns:a="http://schemas.openxmlformats.org/drawingml/2006/main">
            <a:off x="64008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Observations are not vulnerabilities</a:t>
            </a:r>
          </a:p>
        </p:txBody>
      </p:sp>
      <p:sp>
        <p:nvSpPr>
          <p:cNvPr id="36" name="">
            <a:extLst xmlns:a="http://schemas.openxmlformats.org/drawingml/2006/main">
              <a:ext uri="{FF2B5EF4-FFF2-40B4-BE49-F238E27FC236}">
                <a16:creationId xmlns:a16="http://schemas.microsoft.com/office/drawing/2014/main" id="{20DC1C21-E08C-403F-B396-12AF2E88094F}"/>
              </a:ext>
            </a:extLst>
          </p:cNvPr>
          <p:cNvSpPr>
            <a:spLocks xmlns:a="http://schemas.openxmlformats.org/drawingml/2006/main" noGrp="1"/>
          </p:cNvSpPr>
          <p:nvPr/>
        </p:nvSpPr>
        <p:spPr>
          <a:xfrm xmlns:a="http://schemas.openxmlformats.org/drawingml/2006/main">
            <a:off x="64008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banner, port or scanner title cannot silently become a confirmed finding.</a:t>
            </a:r>
          </a:p>
        </p:txBody>
      </p:sp>
      <p:sp>
        <p:nvSpPr>
          <p:cNvPr id="37" name="">
            <a:extLst xmlns:a="http://schemas.openxmlformats.org/drawingml/2006/main">
              <a:ext uri="{FF2B5EF4-FFF2-40B4-BE49-F238E27FC236}">
                <a16:creationId xmlns:a16="http://schemas.microsoft.com/office/drawing/2014/main" id="{97951045-C9A4-4D2C-A385-7CE5BA4F3B1D}"/>
              </a:ext>
            </a:extLst>
          </p:cNvPr>
          <p:cNvSpPr>
            <a:spLocks xmlns:a="http://schemas.openxmlformats.org/drawingml/2006/main" noGrp="1"/>
          </p:cNvSpPr>
          <p:nvPr/>
        </p:nvSpPr>
        <p:spPr>
          <a:xfrm xmlns:a="http://schemas.openxmlformats.org/drawingml/2006/main">
            <a:off x="113919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F1D21D5D-6ED3-42FE-9F13-AF03C148F354}"/>
              </a:ext>
            </a:extLst>
          </p:cNvPr>
          <p:cNvSpPr>
            <a:spLocks xmlns:a="http://schemas.openxmlformats.org/drawingml/2006/main" noGrp="1"/>
          </p:cNvSpPr>
          <p:nvPr/>
        </p:nvSpPr>
        <p:spPr>
          <a:xfrm xmlns:a="http://schemas.openxmlformats.org/drawingml/2006/main">
            <a:off x="11391900" y="50482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052759A-AB29-466F-B630-6464E0A2C2EF}"/>
              </a:ext>
            </a:extLst>
          </p:cNvPr>
          <p:cNvSpPr>
            <a:spLocks xmlns:a="http://schemas.openxmlformats.org/drawingml/2006/main" noGrp="1"/>
          </p:cNvSpPr>
          <p:nvPr/>
        </p:nvSpPr>
        <p:spPr>
          <a:xfrm xmlns:a="http://schemas.openxmlformats.org/drawingml/2006/main">
            <a:off x="116586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Hypotheses stay separate</a:t>
            </a:r>
          </a:p>
        </p:txBody>
      </p:sp>
      <p:sp>
        <p:nvSpPr>
          <p:cNvPr id="40" name="">
            <a:extLst xmlns:a="http://schemas.openxmlformats.org/drawingml/2006/main">
              <a:ext uri="{FF2B5EF4-FFF2-40B4-BE49-F238E27FC236}">
                <a16:creationId xmlns:a16="http://schemas.microsoft.com/office/drawing/2014/main" id="{6B03A267-F227-4162-B5C5-11743CC30C17}"/>
              </a:ext>
            </a:extLst>
          </p:cNvPr>
          <p:cNvSpPr>
            <a:spLocks xmlns:a="http://schemas.openxmlformats.org/drawingml/2006/main" noGrp="1"/>
          </p:cNvSpPr>
          <p:nvPr/>
        </p:nvSpPr>
        <p:spPr>
          <a:xfrm xmlns:a="http://schemas.openxmlformats.org/drawingml/2006/main">
            <a:off x="116586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AI interpretations and candidate leads remain provisional until verified.</a:t>
            </a:r>
          </a:p>
        </p:txBody>
      </p:sp>
      <p:sp>
        <p:nvSpPr>
          <p:cNvPr id="41" name="">
            <a:extLst xmlns:a="http://schemas.openxmlformats.org/drawingml/2006/main">
              <a:ext uri="{FF2B5EF4-FFF2-40B4-BE49-F238E27FC236}">
                <a16:creationId xmlns:a16="http://schemas.microsoft.com/office/drawing/2014/main" id="{897E1BD8-808F-41FC-8BF1-30BA1891FEB8}"/>
              </a:ext>
            </a:extLst>
          </p:cNvPr>
          <p:cNvSpPr>
            <a:spLocks xmlns:a="http://schemas.openxmlformats.org/drawingml/2006/main" noGrp="1"/>
          </p:cNvSpPr>
          <p:nvPr/>
        </p:nvSpPr>
        <p:spPr>
          <a:xfrm xmlns:a="http://schemas.openxmlformats.org/drawingml/2006/main">
            <a:off x="8763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E7DA26DB-5362-4B49-B6C9-50EF3B4F221D}"/>
              </a:ext>
            </a:extLst>
          </p:cNvPr>
          <p:cNvSpPr>
            <a:spLocks xmlns:a="http://schemas.openxmlformats.org/drawingml/2006/main" noGrp="1"/>
          </p:cNvSpPr>
          <p:nvPr/>
        </p:nvSpPr>
        <p:spPr>
          <a:xfrm xmlns:a="http://schemas.openxmlformats.org/drawingml/2006/main">
            <a:off x="876300" y="69151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F977FFB-BCAD-4588-96D5-01E25AD6CD12}"/>
              </a:ext>
            </a:extLst>
          </p:cNvPr>
          <p:cNvSpPr>
            <a:spLocks xmlns:a="http://schemas.openxmlformats.org/drawingml/2006/main" noGrp="1"/>
          </p:cNvSpPr>
          <p:nvPr/>
        </p:nvSpPr>
        <p:spPr>
          <a:xfrm xmlns:a="http://schemas.openxmlformats.org/drawingml/2006/main">
            <a:off x="11430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Findings cite exact proof</a:t>
            </a:r>
          </a:p>
        </p:txBody>
      </p:sp>
      <p:sp>
        <p:nvSpPr>
          <p:cNvPr id="44" name="">
            <a:extLst xmlns:a="http://schemas.openxmlformats.org/drawingml/2006/main">
              <a:ext uri="{FF2B5EF4-FFF2-40B4-BE49-F238E27FC236}">
                <a16:creationId xmlns:a16="http://schemas.microsoft.com/office/drawing/2014/main" id="{0C588E26-27BB-4F3B-A0BC-19DAF2AE8CBE}"/>
              </a:ext>
            </a:extLst>
          </p:cNvPr>
          <p:cNvSpPr>
            <a:spLocks xmlns:a="http://schemas.openxmlformats.org/drawingml/2006/main" noGrp="1"/>
          </p:cNvSpPr>
          <p:nvPr/>
        </p:nvSpPr>
        <p:spPr>
          <a:xfrm xmlns:a="http://schemas.openxmlformats.org/drawingml/2006/main">
            <a:off x="11430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Every high-impact claim points back to recorded, reproducible evidence.</a:t>
            </a:r>
          </a:p>
        </p:txBody>
      </p:sp>
      <p:sp>
        <p:nvSpPr>
          <p:cNvPr id="45" name="">
            <a:extLst xmlns:a="http://schemas.openxmlformats.org/drawingml/2006/main">
              <a:ext uri="{FF2B5EF4-FFF2-40B4-BE49-F238E27FC236}">
                <a16:creationId xmlns:a16="http://schemas.microsoft.com/office/drawing/2014/main" id="{F86D4D1C-B6C9-42C7-BF18-E722228F68AA}"/>
              </a:ext>
            </a:extLst>
          </p:cNvPr>
          <p:cNvSpPr>
            <a:spLocks xmlns:a="http://schemas.openxmlformats.org/drawingml/2006/main" noGrp="1"/>
          </p:cNvSpPr>
          <p:nvPr/>
        </p:nvSpPr>
        <p:spPr>
          <a:xfrm xmlns:a="http://schemas.openxmlformats.org/drawingml/2006/main">
            <a:off x="61341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6" name="">
            <a:extLst xmlns:a="http://schemas.openxmlformats.org/drawingml/2006/main">
              <a:ext uri="{FF2B5EF4-FFF2-40B4-BE49-F238E27FC236}">
                <a16:creationId xmlns:a16="http://schemas.microsoft.com/office/drawing/2014/main" id="{C0AC85CE-5B98-4046-BE4D-6BBC9F253CED}"/>
              </a:ext>
            </a:extLst>
          </p:cNvPr>
          <p:cNvSpPr>
            <a:spLocks xmlns:a="http://schemas.openxmlformats.org/drawingml/2006/main" noGrp="1"/>
          </p:cNvSpPr>
          <p:nvPr/>
        </p:nvSpPr>
        <p:spPr>
          <a:xfrm xmlns:a="http://schemas.openxmlformats.org/drawingml/2006/main">
            <a:off x="6134100" y="69151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6DDB77F-F5B9-43D6-B8D2-790445531692}"/>
              </a:ext>
            </a:extLst>
          </p:cNvPr>
          <p:cNvSpPr>
            <a:spLocks xmlns:a="http://schemas.openxmlformats.org/drawingml/2006/main" noGrp="1"/>
          </p:cNvSpPr>
          <p:nvPr/>
        </p:nvSpPr>
        <p:spPr>
          <a:xfrm xmlns:a="http://schemas.openxmlformats.org/drawingml/2006/main">
            <a:off x="64008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 is not severity</a:t>
            </a:r>
          </a:p>
        </p:txBody>
      </p:sp>
      <p:sp>
        <p:nvSpPr>
          <p:cNvPr id="48" name="">
            <a:extLst xmlns:a="http://schemas.openxmlformats.org/drawingml/2006/main">
              <a:ext uri="{FF2B5EF4-FFF2-40B4-BE49-F238E27FC236}">
                <a16:creationId xmlns:a16="http://schemas.microsoft.com/office/drawing/2014/main" id="{B9C7D968-0957-4566-AB1A-8A54CF47A7FA}"/>
              </a:ext>
            </a:extLst>
          </p:cNvPr>
          <p:cNvSpPr>
            <a:spLocks xmlns:a="http://schemas.openxmlformats.org/drawingml/2006/main" noGrp="1"/>
          </p:cNvSpPr>
          <p:nvPr/>
        </p:nvSpPr>
        <p:spPr>
          <a:xfrm xmlns:a="http://schemas.openxmlformats.org/drawingml/2006/main">
            <a:off x="64008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What has been tested is tracked separately from how dangerous a finding is.</a:t>
            </a:r>
          </a:p>
        </p:txBody>
      </p:sp>
      <p:sp>
        <p:nvSpPr>
          <p:cNvPr id="49" name="">
            <a:extLst xmlns:a="http://schemas.openxmlformats.org/drawingml/2006/main">
              <a:ext uri="{FF2B5EF4-FFF2-40B4-BE49-F238E27FC236}">
                <a16:creationId xmlns:a16="http://schemas.microsoft.com/office/drawing/2014/main" id="{C061AB21-2772-444F-AF8C-E69ED4C303B6}"/>
              </a:ext>
            </a:extLst>
          </p:cNvPr>
          <p:cNvSpPr>
            <a:spLocks xmlns:a="http://schemas.openxmlformats.org/drawingml/2006/main" noGrp="1"/>
          </p:cNvSpPr>
          <p:nvPr/>
        </p:nvSpPr>
        <p:spPr>
          <a:xfrm xmlns:a="http://schemas.openxmlformats.org/drawingml/2006/main">
            <a:off x="113919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50" name="">
            <a:extLst xmlns:a="http://schemas.openxmlformats.org/drawingml/2006/main">
              <a:ext uri="{FF2B5EF4-FFF2-40B4-BE49-F238E27FC236}">
                <a16:creationId xmlns:a16="http://schemas.microsoft.com/office/drawing/2014/main" id="{D20807FA-BBC7-40D8-8F43-E7AEE442F544}"/>
              </a:ext>
            </a:extLst>
          </p:cNvPr>
          <p:cNvSpPr>
            <a:spLocks xmlns:a="http://schemas.openxmlformats.org/drawingml/2006/main" noGrp="1"/>
          </p:cNvSpPr>
          <p:nvPr/>
        </p:nvSpPr>
        <p:spPr>
          <a:xfrm xmlns:a="http://schemas.openxmlformats.org/drawingml/2006/main">
            <a:off x="11391900" y="69151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9728595-1FA2-4C86-95A2-39829A51184E}"/>
              </a:ext>
            </a:extLst>
          </p:cNvPr>
          <p:cNvSpPr>
            <a:spLocks xmlns:a="http://schemas.openxmlformats.org/drawingml/2006/main" noGrp="1"/>
          </p:cNvSpPr>
          <p:nvPr/>
        </p:nvSpPr>
        <p:spPr>
          <a:xfrm xmlns:a="http://schemas.openxmlformats.org/drawingml/2006/main">
            <a:off x="116586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One shared graph</a:t>
            </a:r>
          </a:p>
        </p:txBody>
      </p:sp>
      <p:sp>
        <p:nvSpPr>
          <p:cNvPr id="52" name="">
            <a:extLst xmlns:a="http://schemas.openxmlformats.org/drawingml/2006/main">
              <a:ext uri="{FF2B5EF4-FFF2-40B4-BE49-F238E27FC236}">
                <a16:creationId xmlns:a16="http://schemas.microsoft.com/office/drawing/2014/main" id="{AF4A92AC-1CCC-4E69-A912-858AAC5E520C}"/>
              </a:ext>
            </a:extLst>
          </p:cNvPr>
          <p:cNvSpPr>
            <a:spLocks xmlns:a="http://schemas.openxmlformats.org/drawingml/2006/main" noGrp="1"/>
          </p:cNvSpPr>
          <p:nvPr/>
        </p:nvSpPr>
        <p:spPr>
          <a:xfrm xmlns:a="http://schemas.openxmlformats.org/drawingml/2006/main">
            <a:off x="116586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CLI, deterministic engine and AI operate on the same connected state.</a:t>
            </a:r>
          </a:p>
        </p:txBody>
      </p:sp>
    </p:spTree>
    <p:extLst>
      <p:ext uri="{BB962C8B-B14F-4D97-AF65-F5344CB8AC3E}">
        <p14:creationId xmlns:p14="http://schemas.microsoft.com/office/powerpoint/2010/main" val="131498785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1037852-2405-466F-AA6C-40E38BCE25F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3CD35977-2469-4472-977C-989F2BD03DC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00275470-EB57-42D4-81F3-41F2E84C089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1CAC7A4-CE6E-4B78-AF23-9180D1D475F0}"/>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2158E7B-8D27-4C27-B47B-F34A8A8D5C12}"/>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14838A57-4F7A-4570-B7BF-34BD71AE3392}"/>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D7983024-DCC9-49C5-8589-AC2D4FEC4D45}"/>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B0CEE1C3-DDB4-402C-94D6-E00E77D56969}"/>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4BD127EC-475D-4CFC-8111-A2E2B6BD36D2}"/>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Planning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79833D48-D0AD-47D0-92AE-0212B31FF66A}"/>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1AE47E0A-8E8B-4353-B734-3E23299C0E7B}"/>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216A37FF-C19B-4845-9A58-4D04A8FADC31}"/>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967DE33A-02A9-491E-B0DE-2F6A804CB2E6}"/>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B7A0C6A8-A265-4886-8DEC-9A445E90B2AE}"/>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AE08F17E-F0D3-45F9-9D72-0317F259A0B8}"/>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Network &amp; web</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0916F7F6-CF3E-45EA-B754-B32CB2062BCB}"/>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D24A95E3-BD7A-402A-825B-7517F6371B13}"/>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0292BB08-5EA1-4499-9002-66069D434FC1}"/>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Integration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45A81416-433B-4332-A625-14E76AF357F3}"/>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AFD4539A-15F8-4E5F-B200-0F3165EF72EF}"/>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29978A08-F5AD-442D-BBF4-16E7C4E252FD}"/>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Business logic</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0933ABA5-B3C3-4325-9FC5-499B5C2B01A1}"/>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574432A6-CF5F-40C1-A8BF-8DDE7A23E411}"/>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84953EC0-8C86-4EE4-B670-EDC79A0EE15B}"/>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Dual-mode</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F8BDC457-C5C1-43ED-AEED-189A46576967}"/>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784E400B-35B6-4F9A-BA00-0BBC6BEBC7CC}"/>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629A79B5-40EB-4159-9508-A83E90F31847}"/>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Testing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F85F56DC-4F22-4D28-919D-4F8AB02E1FEF}"/>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366CDC95-C41E-4A43-877C-5897730B2EF5}"/>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E9B69C0F-99D8-4B29-A449-C58326F3F6BE}"/>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Evaluation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D3BABB0B-63F3-4E67-A6AD-E7E9C5B4A39A}"/>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7118D9C-1AF3-49F6-B7B8-2A40B9462623}"/>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4992FCC1-D023-4E08-8BFE-8403F96FFD94}"/>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FCD706ED-B505-48DE-BFA1-0C8064D3D5E4}"/>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31A2B80-EA7A-4791-8D13-4E1307247E0C}"/>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71E025A4-01FD-4640-AA22-69B4C94AD266}"/>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593A196A-863F-4D8B-99AE-1BBEDDFF99DF}"/>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A5B69E3D-0BE3-4AF3-81F4-7191C06824E3}"/>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28DC8EA-E23A-4F73-AC81-871922BA7F46}"/>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CDB623DE-B649-46E9-89FC-680F087F34F1}"/>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5F302EFF-6597-4262-8585-1FD05F4F7F35}"/>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CB48682E-F361-4E04-A3F6-BF138A725334}"/>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A488AD3-382F-4A46-AA63-A7F56AC69945}"/>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4374C84B-DB1F-454A-BBF3-381267BB56C7}"/>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483432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43436C6-C28D-4D39-9E53-11ABEC018ACD}"/>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838F6EA8-96E0-44A0-BE55-C24725FA9B57}"/>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05E3A809-ABD6-49D6-B342-31028910150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50B0FD1-DC41-4652-977D-C5484424517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E7143EC-B3EE-4645-A076-3D1E2DC37856}"/>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1221EA37-BDFB-465D-886D-5F9948500A2F}"/>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E41CD8-5908-44C5-AFBC-91690176E54D}"/>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6CE6E8E3-C088-48CA-B2C9-5789EC086AFC}"/>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System architecture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AI orchestration</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EC2918BD-A2FC-4FA5-B0A9-65C2454C8888}"/>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BC24D69A-E97C-442F-B15A-72CCC96196F0}"/>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85E51A-612B-4A34-8316-C9B9D9011169}"/>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D2EF1101-849F-48DA-8EA3-E4F8F536D43E}"/>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Reconnaissance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Security assessment</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1E64E482-2956-4114-936F-D9A4F4ABBDAF}"/>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34BC5F2E-28B9-4621-BCB7-E0EAA2312E46}"/>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3F8B6E-25D1-4665-922C-13810059FA68}"/>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2A220F7A-8255-4E3C-9DD1-80422A3C26DA}"/>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Platform and interface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Reporting</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A10D58B1-F9A1-4762-8E7A-4BB4A434EACE}"/>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0DAC1A-0318-4F39-BECD-FF24CF3BDD2C}"/>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9A9C8"/>
                </a:solidFill>
                <a:latin typeface="Arial"/>
                <a:ea typeface="Arial"/>
                <a:cs typeface="Arial"/>
              </a:defRPr>
            </a:pPr>
            <a:r>
              <a:rPr sz="1875"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66A01A11-F1CE-4FDE-A908-C44CE25666E9}"/>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C1663240-AF9E-48A1-BB33-D3242348FCD5}"/>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B2622140-0656-426B-B991-BF89AD5B6CEF}"/>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8FF39B6B-39D5-4B36-8989-B15B51D6FFA7}"/>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AB6905F4-05FE-4564-95B1-012B925E6311}"/>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7793B870-606B-4E26-823D-781F5CFD9C46}"/>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425" b="1">
                <a:solidFill>
                  <a:srgbClr val="123B63"/>
                </a:solidFill>
                <a:latin typeface="Arial"/>
                <a:ea typeface="Arial"/>
                <a:cs typeface="Arial"/>
              </a:defRPr>
            </a:pPr>
            <a:r>
              <a:rPr sz="1425" b="1">
                <a:solidFill>
                  <a:srgbClr val="123B63"/>
                </a:solidFill>
                <a:latin typeface="Arial"/>
                <a:ea typeface="Arial"/>
                <a:cs typeface="Arial"/>
              </a:rPr>
              <a:t>Documentation</a:t>
            </a:r>
          </a:p>
        </p:txBody>
      </p:sp>
    </p:spTree>
    <p:extLst>
      <p:ext uri="{BB962C8B-B14F-4D97-AF65-F5344CB8AC3E}">
        <p14:creationId xmlns:p14="http://schemas.microsoft.com/office/powerpoint/2010/main" val="214144829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34BCF5A-B23D-4FE3-9850-36AD0673178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B39FA0B6-CA8D-4CBD-9A8C-7FC0D74DD579}"/>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287F5AFA-4AA7-41CF-966F-3E4BBDF59A0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7B17D79-A923-4554-A033-BD6A623E747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34CEE9D-1074-4AD6-B7CB-B1407E324D2B}"/>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785CEF8C-83D9-41DA-87E0-F1448E962D7A}"/>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8EE916-8C2E-4D99-A71A-F07DD98588BC}"/>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49A91589-7827-47AC-8C4B-1FA38457BC15}"/>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9B517829-CA9C-453A-A722-F44749F246B9}"/>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46A875A3-ABDC-429A-AC2D-16347DA47482}"/>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B27F3A-AF66-4B55-83C6-E809B90C1BFC}"/>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93FE53CD-58F5-4E3F-AE7B-FA57A958A25B}"/>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7091D45B-1AB8-4DD9-8992-29FF9C0EAD64}"/>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A2410E6D-FB85-4D58-9FA4-01527BD937A9}"/>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D21BB2-4F55-4B8C-9C01-A2696F04556B}"/>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9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F3F5F7B8-AEF6-40A1-BDA1-EACD1CF0B738}"/>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537AD0B4-9D3E-4077-9870-48A29D3D152C}"/>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744DE0FD-FBBF-4BEE-B063-79068B099814}"/>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4FDD74-4AA7-4BA5-B5C2-9F65072EB4CD}"/>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C2E918FD-EF26-4208-B3CB-9F0AD644EDBA}"/>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428C521B-491C-4621-BC4B-92ECDAF6B5AB}"/>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667E605A-874D-4C7C-B81C-5F95B5FB823F}"/>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2E89A8C4-73D7-42A8-B50E-288C578A6929}"/>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36A1372-05C5-4B8E-8A74-D539495D9410}"/>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C64D8CB6-8775-450C-B574-86D948E01979}"/>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5CF46231-4078-4EAC-B12E-92AD7E31ED87}"/>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C6D59C55-3DDA-40E6-9886-A5D1DF2FBD12}"/>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348D0B5-41D5-41FC-9ECA-B0D909F9F19B}"/>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804B9098-458A-4B6C-9FCB-E7C2AE41D2E7}"/>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7FDD932C-FB89-4003-B86B-CC1ACC13CEEA}"/>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249990E4-0655-40BD-B008-D7C5F06EF1B8}"/>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F063FAF-DE08-4CCF-922B-EC13FB0C398F}"/>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7E5E8DC9-C24D-47DA-9529-F7188C04D1CA}"/>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418135501"/>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FE0C6F6-5E64-43EB-A491-1067F0BD27A9}"/>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350" b="1">
                <a:solidFill>
                  <a:srgbClr val="2D8B84"/>
                </a:solidFill>
                <a:latin typeface="Arial"/>
                <a:ea typeface="Arial"/>
                <a:cs typeface="Arial"/>
              </a:defRPr>
            </a:pPr>
            <a:r>
              <a:rPr sz="135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7B6572E0-DCB9-4DBD-8B98-E517DE05E065}"/>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CF03D3C4-D723-43D8-B8E6-54776726D34C}"/>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5F7180"/>
                </a:solidFill>
                <a:latin typeface="Arial"/>
                <a:ea typeface="Arial"/>
                <a:cs typeface="Arial"/>
              </a:defRPr>
            </a:pPr>
            <a:r>
              <a:rPr sz="2550" b="0" i="0">
                <a:solidFill>
                  <a:srgbClr val="5F7180"/>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95CF50BC-3055-477C-AE08-58813D2B74C5}"/>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45E20700-62DD-4745-A9F0-81B51E4C680B}"/>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8334B"/>
                </a:solidFill>
                <a:latin typeface="Arial"/>
                <a:ea typeface="Arial"/>
                <a:cs typeface="Arial"/>
              </a:defRPr>
            </a:pPr>
            <a:r>
              <a:rPr sz="1800" b="1" i="0">
                <a:solidFill>
                  <a:srgbClr val="18334B"/>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77145152-2CF7-4EB3-91B2-88ECFE083985}"/>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F43A87D4-A9F3-41FB-AB64-9E6CF539A593}"/>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6AD62D-DBF7-4F2E-B30E-130C3DC64661}"/>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79A9C8"/>
                </a:solidFill>
                <a:latin typeface="Arial"/>
                <a:ea typeface="Arial"/>
                <a:cs typeface="Arial"/>
              </a:defRPr>
            </a:pPr>
            <a:r>
              <a:rPr sz="150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6B6089B2-1DA2-4B34-B7CC-B3D80C8F2A93}"/>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FF114347-D2E2-4206-B36F-6BC440F27E5D}"/>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2D8B84"/>
                </a:solidFill>
                <a:latin typeface="Arial"/>
                <a:ea typeface="Arial"/>
                <a:cs typeface="Arial"/>
              </a:defRPr>
            </a:pPr>
            <a:r>
              <a:rPr sz="150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C8F6E38E-F99E-41E1-B4D0-5FB78A3AE4CC}"/>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123B63"/>
                </a:solidFill>
                <a:latin typeface="Arial"/>
                <a:ea typeface="Arial"/>
                <a:cs typeface="Arial"/>
              </a:defRPr>
            </a:pPr>
            <a:r>
              <a:rPr sz="150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AFD49FC5-F0B3-4609-9C61-3BDB2AC5C27C}"/>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defRPr sz="1500" b="1">
                <a:solidFill>
                  <a:srgbClr val="D79A32"/>
                </a:solidFill>
                <a:latin typeface="Arial"/>
                <a:ea typeface="Arial"/>
                <a:cs typeface="Arial"/>
              </a:defRPr>
            </a:pPr>
            <a:r>
              <a:rPr sz="150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199E65BA-7C0B-44B8-9861-B726D161D953}"/>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DCE8F0"/>
                </a:solidFill>
                <a:latin typeface="Arial"/>
                <a:ea typeface="Arial"/>
                <a:cs typeface="Arial"/>
              </a:defRPr>
            </a:pPr>
            <a:r>
              <a:rPr sz="135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3888560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2026-10-01T15:08:49.5150000Z</dcterms:created>
  <dcterms:modified xsi:type="dcterms:W3CDTF">2026-10-01T15:08:49.5150000Z</dcterms:modified>
</coreProperties>
</file>