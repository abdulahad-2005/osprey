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77302320374425" /><Relationship Type="http://schemas.openxmlformats.org/officeDocument/2006/relationships/extended-properties" Target="/docProps/app.xml" Id="Rcdf006264bb34b2c" /><Relationship Type="http://schemas.openxmlformats.org/officeDocument/2006/relationships/officeDocument" Target="/ppt/presentation.xml" Id="R74c23d2b116a434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61f506b363f455f"/>
  </p:sldMasterIdLst>
  <p:notesMasterIdLst>
    <p:notesMasterId xmlns:r="http://schemas.openxmlformats.org/officeDocument/2006/relationships" r:id="R7b11eef2b3b84104"/>
  </p:notesMasterIdLst>
  <p:sldIdLst>
    <p:sldId xmlns:r="http://schemas.openxmlformats.org/officeDocument/2006/relationships" id="256" r:id="Ref4d2251c88645a1"/>
    <p:sldId xmlns:r="http://schemas.openxmlformats.org/officeDocument/2006/relationships" id="257" r:id="R91df5299edcd4317"/>
    <p:sldId xmlns:r="http://schemas.openxmlformats.org/officeDocument/2006/relationships" id="258" r:id="R9d21d48634c5482e"/>
    <p:sldId xmlns:r="http://schemas.openxmlformats.org/officeDocument/2006/relationships" id="259" r:id="R0bbeb3cbabf64d9f"/>
    <p:sldId xmlns:r="http://schemas.openxmlformats.org/officeDocument/2006/relationships" id="260" r:id="R0bb74ab8414a4454"/>
    <p:sldId xmlns:r="http://schemas.openxmlformats.org/officeDocument/2006/relationships" id="261" r:id="R235d9f7988cd40f6"/>
    <p:sldId xmlns:r="http://schemas.openxmlformats.org/officeDocument/2006/relationships" id="262" r:id="Rd2bc4e13ca184131"/>
    <p:sldId xmlns:r="http://schemas.openxmlformats.org/officeDocument/2006/relationships" id="263" r:id="R3e6514b0ac264bc3"/>
    <p:sldId xmlns:r="http://schemas.openxmlformats.org/officeDocument/2006/relationships" id="264" r:id="Rc4bcb507ab4843a9"/>
    <p:sldId xmlns:r="http://schemas.openxmlformats.org/officeDocument/2006/relationships" id="265" r:id="R2a2c00ba6a3f40dc"/>
    <p:sldId xmlns:r="http://schemas.openxmlformats.org/officeDocument/2006/relationships" id="266" r:id="R1330d3efda2b43c5"/>
    <p:sldId xmlns:r="http://schemas.openxmlformats.org/officeDocument/2006/relationships" id="267" r:id="R92794f42d90a4d26"/>
    <p:sldId xmlns:r="http://schemas.openxmlformats.org/officeDocument/2006/relationships" id="268" r:id="R23f601b8135c4afc"/>
    <p:sldId xmlns:r="http://schemas.openxmlformats.org/officeDocument/2006/relationships" id="269" r:id="R8417aaef188c4cdc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442701da6e4307" /><Relationship Type="http://schemas.openxmlformats.org/officeDocument/2006/relationships/slideMaster" Target="/ppt/slideMasters/slideMaster1.xml" Id="Re61f506b363f455f" /><Relationship Type="http://schemas.openxmlformats.org/officeDocument/2006/relationships/notesMaster" Target="/ppt/notesMasters/notesMaster1.xml" Id="R7b11eef2b3b84104" /><Relationship Type="http://schemas.openxmlformats.org/officeDocument/2006/relationships/presProps" Target="/ppt/presProps.xml" Id="R872fc55bd05c417a" /><Relationship Type="http://schemas.openxmlformats.org/officeDocument/2006/relationships/viewProps" Target="/ppt/viewProps.xml" Id="Rce2901e39d50449d" /><Relationship Type="http://schemas.openxmlformats.org/officeDocument/2006/relationships/tableStyles" Target="/ppt/tableStyles.xml" Id="Rbac2cd13416143b8" /><Relationship Type="http://schemas.openxmlformats.org/officeDocument/2006/relationships/slide" Target="/ppt/slides/slide1.xml" Id="Ref4d2251c88645a1" /><Relationship Type="http://schemas.openxmlformats.org/officeDocument/2006/relationships/slide" Target="/ppt/slides/slide2.xml" Id="R91df5299edcd4317" /><Relationship Type="http://schemas.openxmlformats.org/officeDocument/2006/relationships/slide" Target="/ppt/slides/slide3.xml" Id="R9d21d48634c5482e" /><Relationship Type="http://schemas.openxmlformats.org/officeDocument/2006/relationships/slide" Target="/ppt/slides/slide4.xml" Id="R0bbeb3cbabf64d9f" /><Relationship Type="http://schemas.openxmlformats.org/officeDocument/2006/relationships/slide" Target="/ppt/slides/slide5.xml" Id="R0bb74ab8414a4454" /><Relationship Type="http://schemas.openxmlformats.org/officeDocument/2006/relationships/slide" Target="/ppt/slides/slide6.xml" Id="R235d9f7988cd40f6" /><Relationship Type="http://schemas.openxmlformats.org/officeDocument/2006/relationships/slide" Target="/ppt/slides/slide7.xml" Id="Rd2bc4e13ca184131" /><Relationship Type="http://schemas.openxmlformats.org/officeDocument/2006/relationships/slide" Target="/ppt/slides/slide8.xml" Id="R3e6514b0ac264bc3" /><Relationship Type="http://schemas.openxmlformats.org/officeDocument/2006/relationships/slide" Target="/ppt/slides/slide9.xml" Id="Rc4bcb507ab4843a9" /><Relationship Type="http://schemas.openxmlformats.org/officeDocument/2006/relationships/slide" Target="/ppt/slides/slide10.xml" Id="R2a2c00ba6a3f40dc" /><Relationship Type="http://schemas.openxmlformats.org/officeDocument/2006/relationships/slide" Target="/ppt/slides/slide11.xml" Id="R1330d3efda2b43c5" /><Relationship Type="http://schemas.openxmlformats.org/officeDocument/2006/relationships/slide" Target="/ppt/slides/slide12.xml" Id="R92794f42d90a4d26" /><Relationship Type="http://schemas.openxmlformats.org/officeDocument/2006/relationships/slide" Target="/ppt/slides/slide13.xml" Id="R23f601b8135c4afc" /><Relationship Type="http://schemas.openxmlformats.org/officeDocument/2006/relationships/slide" Target="/ppt/slides/slide14.xml" Id="R8417aaef188c4c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4cc938e4184e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c915c9ea174701" /><Relationship Type="http://schemas.openxmlformats.org/officeDocument/2006/relationships/notesMaster" Target="/ppt/notesMasters/notesMaster1.xml" Id="R9a8fc355a35740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b1333411279414c" /><Relationship Type="http://schemas.openxmlformats.org/officeDocument/2006/relationships/notesMaster" Target="/ppt/notesMasters/notesMaster1.xml" Id="R2da08e9a13ce4fa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cec750dcd824470" /><Relationship Type="http://schemas.openxmlformats.org/officeDocument/2006/relationships/notesMaster" Target="/ppt/notesMasters/notesMaster1.xml" Id="R1b1ece396b6444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924d3ec41544312" /><Relationship Type="http://schemas.openxmlformats.org/officeDocument/2006/relationships/notesMaster" Target="/ppt/notesMasters/notesMaster1.xml" Id="R1980b23a54ec46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0d19fb441fe4637" /><Relationship Type="http://schemas.openxmlformats.org/officeDocument/2006/relationships/notesMaster" Target="/ppt/notesMasters/notesMaster1.xml" Id="R03f05bbb09dc49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10b8d63535474d" /><Relationship Type="http://schemas.openxmlformats.org/officeDocument/2006/relationships/notesMaster" Target="/ppt/notesMasters/notesMaster1.xml" Id="R14d4dc93edbf491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e2ed386eb44f40" /><Relationship Type="http://schemas.openxmlformats.org/officeDocument/2006/relationships/notesMaster" Target="/ppt/notesMasters/notesMaster1.xml" Id="Ref57710d838144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1871eba9354119" /><Relationship Type="http://schemas.openxmlformats.org/officeDocument/2006/relationships/notesMaster" Target="/ppt/notesMasters/notesMaster1.xml" Id="R6fc3695373cc460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bb3607e34845d3" /><Relationship Type="http://schemas.openxmlformats.org/officeDocument/2006/relationships/notesMaster" Target="/ppt/notesMasters/notesMaster1.xml" Id="Re9ec15d65352451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ea2aa8faa684bf1" /><Relationship Type="http://schemas.openxmlformats.org/officeDocument/2006/relationships/notesMaster" Target="/ppt/notesMasters/notesMaster1.xml" Id="R9fd018f9378c463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08f49355384d7b" /><Relationship Type="http://schemas.openxmlformats.org/officeDocument/2006/relationships/notesMaster" Target="/ppt/notesMasters/notesMaster1.xml" Id="R92e05c88831c4af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6420e855df14bf5" /><Relationship Type="http://schemas.openxmlformats.org/officeDocument/2006/relationships/notesMaster" Target="/ppt/notesMasters/notesMaster1.xml" Id="R919dab9dd6fb47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eb7e10b8cc4108" /><Relationship Type="http://schemas.openxmlformats.org/officeDocument/2006/relationships/notesMaster" Target="/ppt/notesMasters/notesMaster1.xml" Id="R1813d09af3da4d9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34de9e206b4b95" /><Relationship Type="http://schemas.openxmlformats.org/officeDocument/2006/relationships/notesMaster" Target="/ppt/notesMasters/notesMaster1.xml" Id="Rb0bc321dc40d476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a621875874426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7d69e4997649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899c02317747c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10a96375cc45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20d8d9436f4a4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1e955a4643446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6ca48fb344b9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8630f729f488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28c0c1d0a8475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aae5afba0d46e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53fcc1b8ae47a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9F3547A-03EE-41A0-81FF-69E1A252D74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0E45390F-3F28-4A44-B7A2-F71906E6B19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81ACE0D-BEED-46F3-92A3-1B2DC7A1F3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D931BD1-1A8D-4216-98F3-58BF05C3DFC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5EB29B9-ECE6-4B81-BF37-C01A4BA119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FC102C-8EF3-4C2D-A388-748CAFE9F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F7E2C55-4D8E-4085-BE5F-CC1EDE24214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E59BAE3-0481-4422-BD59-37EBEF55DA3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9F299D9-7ED3-4840-8439-C6D68696C4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4E0F46-C5D8-4289-A91A-94353D747E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C66DCF2-1351-44A3-A2A0-6FD876281C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EE9D94F-10AF-4D6B-B1D3-F766A855BC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901FBA1-D8E1-40B2-A5E1-2BA7B3A743F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1917530-6F0D-42CE-87AD-068621C04E5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CF22358-50C3-4611-8689-2FFCF3FB806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9B2FE25-985C-4B1E-AAF9-6515DA46E1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F1E1F94-E406-4824-AE39-8DC0A730064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A2C7CFE-7F32-4588-BA60-66833850DC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78F639A-568D-4417-9A10-2519B36D3D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B088CBF-02C0-46C4-8BC6-A6D1541C60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F889AEE-92EC-400A-BC60-9AE200F6B11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4C057CA-3F6D-46F3-A4AA-3964E5F42F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522FAD9-621C-4DC0-97A4-BD832666F4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E97B6E5-0B50-40C4-B345-93566DB6E15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863C3CD-E2AB-4708-B7E6-217C7B39E33E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B2160B7-8CEE-417B-8FF0-29103C65E5B6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A12011D3-F064-4780-A621-475D6B81767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17657079-4C4E-4544-A8F3-4DCFFBABE95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5B6E16-548D-41AC-B780-8ACF9C7C2B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3EFDD3D-2A36-4BD1-9CAD-3E72316B0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1272743-7473-4617-9002-C40E96E2FC9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79CA1D4-BAD6-4EA0-981D-0309C3D5E0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8092AA04-AAA3-4AE2-A5D3-C552CFF9C8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D0C630DF-3431-4BA9-8400-8B67DBFB89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AE27A6E9-55F8-4571-A59D-BF64458518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10137E59-F190-47A6-8AE9-A1DBC7012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6A535EF-D4B8-4111-B03B-861361D73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DB53808-466A-4BB1-BC67-88B44AAAC21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FFC8793-0E41-49F9-8461-C2CFF031DDB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49B7CAA1-2FAB-4583-A31C-B02BB69C26F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08C9180-1756-4EBA-83AD-CF307550DA1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91551D-9A49-4FF3-B9F5-92679F838D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A026A0-D5A0-46F1-AF6C-6264D6C10C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981DED2-254A-4816-A06D-6265700C5EF1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0C3D7F7-79D2-48CE-A9AF-04D963A43C9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66F6084-F165-4DF4-B34A-F421E463745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BB4636F-BBBF-4C4D-A836-05CFEC3E5D2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ECFE989-0F38-4CB8-9EAF-6AE063377F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A55DC7-304C-45BD-B525-B64210BDC6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1CCF0DC-62C3-49C8-BE17-3BA38D0361E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D9A0BE-5728-45F0-BAA7-2DE740BF0B6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5A6904A-B208-4EB7-9EE7-3455E205B7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46CDBB3-5473-42AB-A355-6EC11E3308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6EBC5361-C106-4936-B280-A978A26D8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FF664D9-851D-4820-AC2E-C326ACC46B4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00DEC5A-C87B-4270-B030-6F11B577D6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1049027-8244-4E2B-BEA0-5A94122152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5EAD1F9-2DA9-4A31-8447-59DA54009E7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19fbe07e5074b32" /><Relationship Type="http://schemas.openxmlformats.org/officeDocument/2006/relationships/slideLayout" Target="/ppt/slideLayouts/slideLayout1.xml" Id="R8da8ea6078404cce" /><Relationship Type="http://schemas.openxmlformats.org/officeDocument/2006/relationships/slideLayout" Target="/ppt/slideLayouts/slideLayout2.xml" Id="R460f8ebd3464498c" /><Relationship Type="http://schemas.openxmlformats.org/officeDocument/2006/relationships/slideLayout" Target="/ppt/slideLayouts/slideLayout3.xml" Id="Rc623466de93641ea" /><Relationship Type="http://schemas.openxmlformats.org/officeDocument/2006/relationships/slideLayout" Target="/ppt/slideLayouts/slideLayout4.xml" Id="R3613392198b34cfb" /><Relationship Type="http://schemas.openxmlformats.org/officeDocument/2006/relationships/slideLayout" Target="/ppt/slideLayouts/slideLayout5.xml" Id="R8601f047794f4108" /><Relationship Type="http://schemas.openxmlformats.org/officeDocument/2006/relationships/slideLayout" Target="/ppt/slideLayouts/slideLayout6.xml" Id="Re939ac03f8ee4f46" /><Relationship Type="http://schemas.openxmlformats.org/officeDocument/2006/relationships/slideLayout" Target="/ppt/slideLayouts/slideLayout7.xml" Id="Rbfa5c7cf232543ff" /><Relationship Type="http://schemas.openxmlformats.org/officeDocument/2006/relationships/slideLayout" Target="/ppt/slideLayouts/slideLayout8.xml" Id="R5532673819164ef3" /><Relationship Type="http://schemas.openxmlformats.org/officeDocument/2006/relationships/slideLayout" Target="/ppt/slideLayouts/slideLayout9.xml" Id="R9d2a53542d094224" /><Relationship Type="http://schemas.openxmlformats.org/officeDocument/2006/relationships/slideLayout" Target="/ppt/slideLayouts/slideLayout10.xml" Id="Ra8ac5b82192b4740" /><Relationship Type="http://schemas.openxmlformats.org/officeDocument/2006/relationships/slideLayout" Target="/ppt/slideLayouts/slideLayout11.xml" Id="R16bd328f27ea45b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0F74D8E-B542-48B8-B87B-2C98F0189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41B15F-201C-425B-90F0-BF4477D3489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270A6B9-3DF7-4C08-B1C1-35CDF64F085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1D8BD707-D9CF-40AE-B4C6-C98DA3205C09}" type="datetimeFigureOut">
              <a:t>10/1/2026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10A0E83-B18C-40CA-8134-1F4A310BECC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F53C209-4746-47D9-9A00-E1A5F6CC8D9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a8ea6078404cce"/>
    <p:sldLayoutId xmlns:r="http://schemas.openxmlformats.org/officeDocument/2006/relationships" id="2147483650" r:id="R460f8ebd3464498c"/>
    <p:sldLayoutId xmlns:r="http://schemas.openxmlformats.org/officeDocument/2006/relationships" id="2147483651" r:id="Rc623466de93641ea"/>
    <p:sldLayoutId xmlns:r="http://schemas.openxmlformats.org/officeDocument/2006/relationships" id="2147483652" r:id="R3613392198b34cfb"/>
    <p:sldLayoutId xmlns:r="http://schemas.openxmlformats.org/officeDocument/2006/relationships" id="2147483653" r:id="R8601f047794f4108"/>
    <p:sldLayoutId xmlns:r="http://schemas.openxmlformats.org/officeDocument/2006/relationships" id="2147483654" r:id="Re939ac03f8ee4f46"/>
    <p:sldLayoutId xmlns:r="http://schemas.openxmlformats.org/officeDocument/2006/relationships" id="2147483655" r:id="Rbfa5c7cf232543ff"/>
    <p:sldLayoutId xmlns:r="http://schemas.openxmlformats.org/officeDocument/2006/relationships" id="2147483656" r:id="R5532673819164ef3"/>
    <p:sldLayoutId xmlns:r="http://schemas.openxmlformats.org/officeDocument/2006/relationships" id="2147483657" r:id="R9d2a53542d094224"/>
    <p:sldLayoutId xmlns:r="http://schemas.openxmlformats.org/officeDocument/2006/relationships" id="2147483658" r:id="Ra8ac5b82192b4740"/>
    <p:sldLayoutId xmlns:r="http://schemas.openxmlformats.org/officeDocument/2006/relationships" id="2147483659" r:id="R16bd328f27ea45bd"/>
  </p:sldLayoutIdLst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b95b4e3165142b0" /><Relationship Type="http://schemas.openxmlformats.org/officeDocument/2006/relationships/notesSlide" Target="/ppt/notesSlides/notesSlide1.xml" Id="R87a93477c56d49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3f51fd5d0704610" /><Relationship Type="http://schemas.openxmlformats.org/officeDocument/2006/relationships/notesSlide" Target="/ppt/notesSlides/notesSlide2.xml" Id="R70d246983dce4c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e85674d3e5d44d5" /><Relationship Type="http://schemas.openxmlformats.org/officeDocument/2006/relationships/notesSlide" Target="/ppt/notesSlides/notesSlide3.xml" Id="R8364107dbd684a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4327c13ded2456f" /><Relationship Type="http://schemas.openxmlformats.org/officeDocument/2006/relationships/notesSlide" Target="/ppt/notesSlides/notesSlide4.xml" Id="R06fedfe3b413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da246cbaaf94971" /><Relationship Type="http://schemas.openxmlformats.org/officeDocument/2006/relationships/notesSlide" Target="/ppt/notesSlides/notesSlide5.xml" Id="Rbed10200b3e64b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894cbaf2334448d" /><Relationship Type="http://schemas.openxmlformats.org/officeDocument/2006/relationships/image" Target="/ppt/media/image.png" Id="R79ae38fe1dfa4eb7" /><Relationship Type="http://schemas.openxmlformats.org/officeDocument/2006/relationships/hyperlink" Target="/ppt/slides/slide7.xml" Id="Rdd3c566e85be4eba" /><Relationship Type="http://schemas.openxmlformats.org/officeDocument/2006/relationships/hyperlink" Target="/ppt/slides/slide8.xml" Id="Rb00deb63daba475a" /><Relationship Type="http://schemas.openxmlformats.org/officeDocument/2006/relationships/hyperlink" Target="/ppt/slides/slide9.xml" Id="R1418c0ea8b4c46d5" /><Relationship Type="http://schemas.openxmlformats.org/officeDocument/2006/relationships/notesSlide" Target="/ppt/notesSlides/notesSlide6.xml" Id="R791fb2fef236484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76b159c7debe41b4" /><Relationship Type="http://schemas.openxmlformats.org/officeDocument/2006/relationships/hyperlink" Target="/ppt/slides/slide6.xml" Id="R905dbe69652d4934" /><Relationship Type="http://schemas.openxmlformats.org/officeDocument/2006/relationships/notesSlide" Target="/ppt/notesSlides/notesSlide7.xml" Id="R99fb3d675a574f7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e90340d819324024" /><Relationship Type="http://schemas.openxmlformats.org/officeDocument/2006/relationships/image" Target="/ppt/media/image2.png" Id="Rd018a51b9fdd4c26" /><Relationship Type="http://schemas.openxmlformats.org/officeDocument/2006/relationships/hyperlink" Target="/ppt/slides/slide6.xml" Id="Re61da5b8ed7c45f9" /><Relationship Type="http://schemas.openxmlformats.org/officeDocument/2006/relationships/notesSlide" Target="/ppt/notesSlides/notesSlide8.xml" Id="R3b602115045847d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ccb0e4d56d64be0" /><Relationship Type="http://schemas.openxmlformats.org/officeDocument/2006/relationships/image" Target="/ppt/media/image3.png" Id="Rd5380c9f777f471a" /><Relationship Type="http://schemas.openxmlformats.org/officeDocument/2006/relationships/hyperlink" Target="/ppt/slides/slide6.xml" Id="Re3adc46363104ad4" /><Relationship Type="http://schemas.openxmlformats.org/officeDocument/2006/relationships/notesSlide" Target="/ppt/notesSlides/notesSlide9.xml" Id="R39927600b41f4be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6257862b3a4604" /><Relationship Type="http://schemas.openxmlformats.org/officeDocument/2006/relationships/image" Target="/ppt/media/image4.png" Id="R018834fbb91c4d0a" /><Relationship Type="http://schemas.openxmlformats.org/officeDocument/2006/relationships/image" Target="/ppt/media/image.svg" Id="R9e557aa83fae4480" /><Relationship Type="http://schemas.openxmlformats.org/officeDocument/2006/relationships/image" Target="/ppt/media/image5.png" Id="R325eab3aa23249c7" /><Relationship Type="http://schemas.openxmlformats.org/officeDocument/2006/relationships/image" Target="/ppt/media/image2.svg" Id="R482f45c114be4c69" /><Relationship Type="http://schemas.openxmlformats.org/officeDocument/2006/relationships/image" Target="/ppt/media/image6.png" Id="R57f8509d05c24c35" /><Relationship Type="http://schemas.openxmlformats.org/officeDocument/2006/relationships/image" Target="/ppt/media/image3.svg" Id="Rbdbe78ad693a4950" /><Relationship Type="http://schemas.openxmlformats.org/officeDocument/2006/relationships/image" Target="/ppt/media/image7.png" Id="Rf9ebca10df3d4e53" /><Relationship Type="http://schemas.openxmlformats.org/officeDocument/2006/relationships/image" Target="/ppt/media/image4.svg" Id="R3b6f1d5e7582424d" /><Relationship Type="http://schemas.openxmlformats.org/officeDocument/2006/relationships/image" Target="/ppt/media/image8.png" Id="R2cd35bf298fb4ed4" /><Relationship Type="http://schemas.openxmlformats.org/officeDocument/2006/relationships/image" Target="/ppt/media/image5.svg" Id="R9f520f27e96340b5" /><Relationship Type="http://schemas.openxmlformats.org/officeDocument/2006/relationships/image" Target="/ppt/media/image9.png" Id="Rc3f1af786c08449b" /><Relationship Type="http://schemas.openxmlformats.org/officeDocument/2006/relationships/image" Target="/ppt/media/image6.svg" Id="Rf79e74696ba7483e" /><Relationship Type="http://schemas.openxmlformats.org/officeDocument/2006/relationships/image" Target="/ppt/media/image10.png" Id="Rab3e2739c4ab4142" /><Relationship Type="http://schemas.openxmlformats.org/officeDocument/2006/relationships/image" Target="/ppt/media/image7.svg" Id="Rfbd03926980c42b1" /><Relationship Type="http://schemas.openxmlformats.org/officeDocument/2006/relationships/image" Target="/ppt/media/image11.png" Id="Rbd75df4b76c14fed" /><Relationship Type="http://schemas.openxmlformats.org/officeDocument/2006/relationships/image" Target="/ppt/media/image8.svg" Id="R22087e6687da48a8" /><Relationship Type="http://schemas.openxmlformats.org/officeDocument/2006/relationships/notesSlide" Target="/ppt/notesSlides/notesSlide10.xml" Id="Rf288b6d995834e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ae1593f9f24efe" /><Relationship Type="http://schemas.openxmlformats.org/officeDocument/2006/relationships/notesSlide" Target="/ppt/notesSlides/notesSlide11.xml" Id="Rbb2ac4a5f2b4417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f1985a55be44d4a" /><Relationship Type="http://schemas.openxmlformats.org/officeDocument/2006/relationships/notesSlide" Target="/ppt/notesSlides/notesSlide12.xml" Id="Ra6386a8b2f1f491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1f03e1b52d94331" /><Relationship Type="http://schemas.openxmlformats.org/officeDocument/2006/relationships/notesSlide" Target="/ppt/notesSlides/notesSlide13.xml" Id="R5aa965275547464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c727a7d6b4ef5" /><Relationship Type="http://schemas.openxmlformats.org/officeDocument/2006/relationships/notesSlide" Target="/ppt/notesSlides/notesSlide14.xml" Id="Rf8678a7304dd4b0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4886C630-67FA-4AD5-81B7-40225543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04850"/>
            <a:ext cx="40957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 fontScale="943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FYP PROPOSAL DEFENSE · WORKING TITLE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3D8C4D6-0809-4D38-8BD8-3027188B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8763000" cy="1885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Autonomous Web Security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Assessment Framework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2BBC779-8DD1-45C9-986F-2D9BC0BA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8286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 proposed dual-mode pentesting harness for broad, evidence-driven testing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DFB9DC13-50C3-4E81-BD36-026ABB238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687C7F1-DCB5-445C-9116-F2E7146E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866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Muhammad Usman Hamed  ·  Abdul Ahad  ·  Obaid Ishtiaq Satti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283C59C-BBD1-40D0-A59B-AF52FBD2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38800"/>
            <a:ext cx="866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Advisor: Dr. Madiha Khalid    Co-Advisor: Dr. Mehdi Hussain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AD60CF-4C98-4B09-9405-929068433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172200"/>
            <a:ext cx="866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School of Electrical Engineering and Computer Science · NUST</a:t>
            </a:r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DB59D9-3386-413A-828A-F5EFF661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143000"/>
            <a:ext cx="7048500" cy="7334250"/>
          </a:xfrm>
          <a:prstGeom xmlns:a="http://schemas.openxmlformats.org/drawingml/2006/main" prst="roundRect">
            <a:avLst>
              <a:gd name="adj" fmla="val 108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E3DEFE6-AE99-4101-A187-95AFA1FA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156210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AUTHORIZED TARGET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48ECD0D5-42CA-4881-B8E3-46D629D1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038350"/>
            <a:ext cx="3238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domain / IP / scope</a:t>
            </a:r>
          </a:p>
        </p:txBody>
      </p:sp>
      <p:sp>
        <p:nvSpPr>
          <p:cNvPr id="11" name="Arrow: Right 10">
            <a:extLst xmlns:a="http://schemas.openxmlformats.org/drawingml/2006/main">
              <a:ext uri="{FF2B5EF4-FFF2-40B4-BE49-F238E27FC236}">
                <a16:creationId xmlns:a16="http://schemas.microsoft.com/office/drawing/2014/main" id="{70895E1B-3A45-4F41-8448-043EE1D2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800350"/>
            <a:ext cx="419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3F659ED-DCB7-4A23-9018-681458E0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467100"/>
            <a:ext cx="4572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57D1DB-9101-4A88-9427-9FEAFAC3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790950"/>
            <a:ext cx="3810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UNIFIED HARNESS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C7E0DD7-8774-44C3-A9C5-2613063C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436245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AF2"/>
                </a:solidFill>
                <a:latin typeface="Arial"/>
                <a:ea typeface="Arial"/>
                <a:cs typeface="Arial"/>
              </a:rPr>
              <a:t>Deterministic methodology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800" b="0" i="0">
                <a:solidFill>
                  <a:srgbClr val="DDEAF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DDEAF2"/>
                </a:solidFill>
                <a:latin typeface="Arial"/>
                <a:ea typeface="Arial"/>
                <a:cs typeface="Arial"/>
              </a:rPr>
              <a:t>+ optional AI reasoning</a:t>
            </a:r>
          </a:p>
        </p:txBody>
      </p:sp>
      <p:sp>
        <p:nvSpPr>
          <p:cNvPr id="15" name="Arrow: Right 14">
            <a:extLst xmlns:a="http://schemas.openxmlformats.org/drawingml/2006/main">
              <a:ext uri="{FF2B5EF4-FFF2-40B4-BE49-F238E27FC236}">
                <a16:creationId xmlns:a16="http://schemas.microsoft.com/office/drawing/2014/main" id="{7FD750BF-B0C7-4B04-94FC-69CC55E0F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5562600"/>
            <a:ext cx="41910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E4B5C33A-6181-49F3-A7DC-5E1D8C7D5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Attack-surface map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52AF3D69-82DB-4503-90CD-D26EB4DE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11125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Verified evidence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E83C9A58-93CC-498F-BF49-7AA51AB7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6457950"/>
            <a:ext cx="2000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Structured report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A711D9E-C5D7-4E95-B960-5917B4CB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77152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1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endParaRPr sz="1575" b="0" i="1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1695857"/>
      </p:ext>
    </p:extLst>
  </p:cSld>
  <p:transition spd="med" advClick="1">
    <p:fade/>
  </p:transition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2C546F84-4303-4EB9-B4C6-7386B6B8F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01 / WHY THIS MATTERS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9C6A36C-ADB1-424B-BFFC-7A6B7970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Web security protects the entire exposed application surface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20233358-92C6-4786-8A8E-2F07AA78A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FC47FAB-F07A-42EE-8EF8-831305D1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63AF8F8A-A9FB-461D-9148-315686AA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6667500" cy="29337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C5F3B03-E264-40CB-8FDA-B956D38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90800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WEB SECURITY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B77B99C-84D9-4E1F-A984-D984D2F7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43250"/>
            <a:ext cx="581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6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7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Find, validate and reduce weaknesses before attackers exploit them.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A5D5709-8697-44E0-8775-FFA2AA56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62450"/>
            <a:ext cx="581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3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The surface includes domains, services, applications, APIs, identities, third-party components and the data connecting them.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4147F78-B7CE-48DE-9814-8A073089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C55B48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C55B48"/>
                </a:solidFill>
                <a:latin typeface="Arial"/>
                <a:ea typeface="Arial"/>
                <a:cs typeface="Arial"/>
              </a:rPr>
              <a:t>CASE STUDY · EQUIFAX, 2017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DD05E8C-5B9F-4B56-AF6C-CEB2DEDB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813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6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 known web vulnerability became a large-scale breach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560EFAC9-7D02-48EB-9FFE-20F94495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26AFA2A-948E-4D46-88F8-71138718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61F1006-F354-47D7-B98F-D134583A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Known flaw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1D4FD788-35A3-418B-A4E3-EA660ACA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 critical Apache Struts vulnerability had a patch available.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0A9E089C-5B16-443D-BE12-7EEDEAC54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2F51A51-937B-4A4F-845D-D908F1E6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A4E0B8C-0B66-4890-A1C7-FD787789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Coverage failure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6378010-8072-4C88-BAAF-DEF5ACA4C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2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public dispute portal remained unpatched and verification did not catch it.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3460317-B34A-4D0E-90B6-49E5F64C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00450"/>
            <a:ext cx="26670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0D9B6DD-9896-4AEE-AE0D-5EFA8915D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2700" y="3600450"/>
            <a:ext cx="85725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63F5F052-CF1E-4EFD-987B-6423C1BE6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3810000"/>
            <a:ext cx="2171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583BC12-5789-4957-9B08-9584912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9400" y="4343400"/>
            <a:ext cx="21717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Personal information of about 147 million people was exposed.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F86419C-8A34-4CE6-AF9B-CD65EF68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15773400" cy="1962150"/>
          </a:xfrm>
          <a:prstGeom xmlns:a="http://schemas.openxmlformats.org/drawingml/2006/main" prst="roundRect">
            <a:avLst>
              <a:gd name="adj" fmla="val 3883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4CE5148-239E-4E31-BB77-47CFF5C4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532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The lesson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C57F58-0177-43A5-8E41-F0AF3D08C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067550"/>
            <a:ext cx="14763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 single missed internet-facing asset can defeat security across a very large organisation. Effective testing must discover the full surface, verify coverage, and preserve evidence across every step.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4C266FCA-F8E7-42B0-9130-AF9E5C7F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1390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Sources: U.S. House Oversight Committee report (2018); U.S. Federal Trade Commission (2019).</a:t>
            </a:r>
          </a:p>
        </p:txBody>
      </p:sp>
    </p:spTree>
    <p:extLst>
      <p:ext uri="{BB962C8B-B14F-4D97-AF65-F5344CB8AC3E}">
        <p14:creationId xmlns:p14="http://schemas.microsoft.com/office/powerpoint/2010/main" val="270622259"/>
      </p:ext>
    </p:extLst>
  </p:cSld>
  <p:transition spd="med" advClick="1">
    <p:fade/>
  </p:transition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A8BD695-6D66-400D-8EC6-1AE7DF90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02 / CURRENT PRACTICE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13200C-CDC5-47B4-94C5-7E03795D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Existing tools and technologies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4564E2CB-EB3B-4BC5-9F08-4CBA8D567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453FED9-8877-452C-94D0-0DC7AFB65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589E194-B948-4FED-8D91-AD36D3BAC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Typical pentesting workflow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435E5C3-459D-45A5-848D-24E5A87D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Discover</a:t>
            </a:r>
          </a:p>
        </p:txBody>
      </p:sp>
      <p:sp>
        <p:nvSpPr>
          <p:cNvPr id="7" name="Arrow: Right 6">
            <a:extLst xmlns:a="http://schemas.openxmlformats.org/drawingml/2006/main">
              <a:ext uri="{FF2B5EF4-FFF2-40B4-BE49-F238E27FC236}">
                <a16:creationId xmlns:a16="http://schemas.microsoft.com/office/drawing/2014/main" id="{F926BA8A-3528-49AD-967A-BC2C3E21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626EDF7C-C2A9-4F12-9973-615C7B42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DDEEE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Resolve and probe</a:t>
            </a:r>
          </a:p>
        </p:txBody>
      </p:sp>
      <p:sp>
        <p:nvSpPr>
          <p:cNvPr id="9" name="Arrow: Right 8">
            <a:extLst xmlns:a="http://schemas.openxmlformats.org/drawingml/2006/main">
              <a:ext uri="{FF2B5EF4-FFF2-40B4-BE49-F238E27FC236}">
                <a16:creationId xmlns:a16="http://schemas.microsoft.com/office/drawing/2014/main" id="{CF57439F-E43D-434C-9C4E-1F4F3ABB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4D8DAF0A-3CE2-44AD-B333-31658162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Map services</a:t>
            </a:r>
          </a:p>
        </p:txBody>
      </p:sp>
      <p:sp>
        <p:nvSpPr>
          <p:cNvPr id="11" name="Arrow: Right 10">
            <a:extLst xmlns:a="http://schemas.openxmlformats.org/drawingml/2006/main">
              <a:ext uri="{FF2B5EF4-FFF2-40B4-BE49-F238E27FC236}">
                <a16:creationId xmlns:a16="http://schemas.microsoft.com/office/drawing/2014/main" id="{86D160C8-5EEF-4B7F-8F32-61C3DF81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189E141-D944-4D1D-89A4-A77B7E94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Test applications</a:t>
            </a:r>
          </a:p>
        </p:txBody>
      </p:sp>
      <p:sp>
        <p:nvSpPr>
          <p:cNvPr id="13" name="Arrow: Right 12">
            <a:extLst xmlns:a="http://schemas.openxmlformats.org/drawingml/2006/main">
              <a:ext uri="{FF2B5EF4-FFF2-40B4-BE49-F238E27FC236}">
                <a16:creationId xmlns:a16="http://schemas.microsoft.com/office/drawing/2014/main" id="{3BF18A7B-F3B2-402B-A38F-81037FCDE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7850" y="2724150"/>
            <a:ext cx="3238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B04357AF-8492-4128-990C-1BB51BF2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2571750"/>
            <a:ext cx="2762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Validate and report</a:t>
            </a:r>
          </a:p>
        </p:txBody>
      </p:sp>
      <p:graphicFrame>
        <p:nvGraphicFramePr>
          <p:cNvPr id="33" name="Table 30"/>
          <p:cNvGraphicFramePr/>
          <p:nvPr/>
        </p:nvGraphicFramePr>
        <p:xfrm>
          <a:off xmlns:a="http://schemas.openxmlformats.org/drawingml/2006/main" x="876300" y="3524250"/>
          <a:ext xmlns:a="http://schemas.openxmlformats.org/drawingml/2006/main" cx="15773400" cy="4495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4953000"/>
                <a:gridCol w="3429000"/>
                <a:gridCol w="4533900"/>
              </a:tblGrid>
              <a:tr h="6096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Category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Examples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Strength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Limitation</a:t>
                      </a:r>
                    </a:p>
                  </a:txBody>
                  <a:tcPr marL="91440" marR="91440" marT="45720" marB="45720" anchor="ctr">
                    <a:solidFill>
                      <a:srgbClr val="123B63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Conventional security tools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Subfinder, Amass, Nmap, Nuclei, SQLmap, ZAP, Metasploit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Mature, specialized and repeatable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Require manual coordination. Outputs remain disconnected and provide limited contextual reasoning.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  <a:tr h="14859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AI pentesting agents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PentestGPT, HackSynth, PentestAgent, AutoPentester, AutoAttacker, PentAGI, DarkMoon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Adaptive planning and interpretation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Depend on LLMs. Many evaluations use bounded tasks and provide limited broad reconnaissance coverage.</a:t>
                      </a:r>
                    </a:p>
                  </a:txBody>
                  <a:tcPr marL="91440" marR="91440" marT="45720" marB="45720" anchor="ctr">
                    <a:solidFill>
                      <a:srgbClr val="EDF3F5"/>
                    </a:solidFill>
                  </a:tcPr>
                </a:tc>
              </a:tr>
              <a:tr h="120015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AI security frameworks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HexStrike AI, pentestMCP, Shannon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Centralized tool access and automation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02B44"/>
                          </a:solidFill>
                          <a:latin typeface="Arial"/>
                          <a:ea typeface="Arial"/>
                          <a:cs typeface="Arial"/>
                        </a:rPr>
                        <a:t>Tool access alone does not provide a complete workflow or persistent correlation across testing stages.</a:t>
                      </a:r>
                    </a:p>
                  </a:txBody>
                  <a:tcPr marL="91440" marR="91440" marT="45720" marB="45720" anchor="ctr">
                    <a:solidFill>
                      <a:srgbClr val="FFFDF9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5B31763-9B04-4C1D-B7A5-C63A414C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572500"/>
            <a:ext cx="1314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07094413"/>
      </p:ext>
    </p:extLst>
  </p:cSld>
  <p:transition spd="med" advClick="1">
    <p:fade/>
  </p:transition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723AAA0-36ED-47E4-8A41-431B6B6A6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03 / THE GAP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59BA5A-713B-4CB4-A376-05CE26D7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operational security gap is orchestration at scale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2AF9E89A-588E-4D76-81D5-971CC61F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88635D5-7FE8-4E7B-ACC6-AC7586489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CA2019A-DAE3-47A7-A3ED-F68BF05C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1504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Practical limitations prevent current tools from covering large infrastructures as one connected assessment.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20673431-CAA7-4176-9A8B-537484EA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4876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F8325715-965E-473E-9156-9678504B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398D4B8-61C4-46B7-975B-83BA73E2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Fragmented workflow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22124A-EF09-4B9D-92BD-F994BE79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24250"/>
            <a:ext cx="4381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Specialized tools emit isolated outputs.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Humans repeatedly copy, filter, correlate and decide what to run next.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Assets, services, endpoints and evidence are easily disconnected.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5DAF04B-CD23-456E-A1D7-A72696F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48768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1C2B8D-1107-464B-A0CB-916435B83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C481775-957F-4CAB-8814-76C7C3FA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Reconnaissance scale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91D9DD8-41CF-4D05-B31B-4463B7D7F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43815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039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Real infrastructures are wider than bounded CTF tasks.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Each new domain, host, port or endpoint creates more work.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Many AI systems are not optimized for continuous, broad reconnaissance coverage.</a:t>
            </a:r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74262BF6-7AF6-4225-B63E-A72F16DE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81300"/>
            <a:ext cx="552450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A309292-DA5B-4639-9EDF-53F6785A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781300"/>
            <a:ext cx="85725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35912B0-45D2-4C6C-A706-DFFCE3A2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99085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External LLM dependency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9F9A532-97B2-4A17-8A98-4D3EBCBBF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524250"/>
            <a:ext cx="50292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API cost, rate limits, connectivity and model behavior can interrupt assessments.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Known pentesting steps do not require expensive reasoning every time.</a:t>
            </a:r>
          </a:p>
          <a:p xmlns:a="http://schemas.openxmlformats.org/drawingml/2006/main">
            <a:endParaRPr sz="180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When the model stops, the core workflow should not stop.</a:t>
            </a:r>
          </a:p>
        </p:txBody>
      </p:sp>
      <p:sp>
        <p:nvSpPr>
          <p:cNvPr id="18" name="Rectangle: Rounded Corners 17">
            <a:extLst xmlns:a="http://schemas.openxmlformats.org/drawingml/2006/main">
              <a:ext uri="{FF2B5EF4-FFF2-40B4-BE49-F238E27FC236}">
                <a16:creationId xmlns:a16="http://schemas.microsoft.com/office/drawing/2014/main" id="{FB85C9DE-A967-4E24-A2B5-681EC188A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67500"/>
            <a:ext cx="15773400" cy="1466850"/>
          </a:xfrm>
          <a:prstGeom xmlns:a="http://schemas.openxmlformats.org/drawingml/2006/main" prst="roundRect">
            <a:avLst>
              <a:gd name="adj" fmla="val 5195"/>
            </a:avLst>
          </a:prstGeom>
          <a:solidFill xmlns:a="http://schemas.openxmlformats.org/drawingml/2006/main">
            <a:srgbClr val="F1E8DC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2564C25-F415-471E-9EFF-6B7BEAAD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6953250"/>
            <a:ext cx="666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C55B4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C55B48"/>
                </a:solidFill>
                <a:latin typeface="Arial"/>
                <a:ea typeface="Arial"/>
                <a:cs typeface="Arial"/>
              </a:rPr>
              <a:t>Trust and control must span the entire workflow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E82D948-87BC-47B2-852E-BA27D1C20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5438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Scope enforcement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2497CE-AED8-4735-A758-B03F13D2E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75438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Evidence-based findings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1CDBD97-0E13-43B9-BE0E-3C9C48263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7543800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Human approval before impactful actions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84732853-F84B-462D-A1C0-053D6068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5632556"/>
      </p:ext>
    </p:extLst>
  </p:cSld>
  <p:transition spd="med" advClick="1">
    <p:fade/>
  </p:transition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A6CDAFE-696E-4B64-B789-D69ABCD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04 / PROJECT OBJECTIVES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ADD5C40-6FC6-4B5E-9163-51A8728BF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Objectives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CFD0AF98-DF0F-4E3B-9234-3032F61BC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3219769-BEC3-406C-B8AB-BF27D91D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15E468A6-2E36-4E44-982C-3D3084D5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876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894189F-11E0-4E5C-9182-79260FEC5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CB37082-5B1C-436B-AE0E-12B16F6AB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Integrated security assessment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C83DDA-517E-4A79-9B68-AA3902AF8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381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Develop one unified harness covering reconnaissance, progressive attack-surface discovery, scanning, vulnerability identification, business-logic analysis, correlation and reporting.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54EC6A-91AC-4469-9902-5FA51B98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48768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0438BD9-BE82-41B5-A509-E8F8110EF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39A691A-42D5-4A51-9E05-3828AC217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Dual-mode orchestration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175F2D9-4D85-430E-9241-36435AD20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3815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Use LLM reasoning when available while maintaining a deterministic rule-based mode with no mandatory LLM dependency.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14D140D-8A4C-41F6-8F46-5D05B9CF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5524500" cy="4286250"/>
          </a:xfrm>
          <a:prstGeom xmlns:a="http://schemas.openxmlformats.org/drawingml/2006/main" prst="roundRect">
            <a:avLst>
              <a:gd name="adj" fmla="val 17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DC6AD7-79F9-40CA-9B29-41B58DBB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85725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3882AE8-1992-401A-9E53-436AD052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7432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Safe and controlled testing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2F8A1A74-78EB-4EC7-AECD-77F8941C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276600"/>
            <a:ext cx="502920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Enforce the authorized scope, validate findings with evidence and require human approval before potentially impactful actions.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6336EAD0-1751-49C5-B152-4DC3EFDA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334250"/>
            <a:ext cx="157734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DD57CDD-B977-40EB-B90D-E53CEED89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7620000"/>
            <a:ext cx="15011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proposed framework combines one unified harness, reliable non-LLM operation and controlled AI assistance.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2895082-0547-42B0-A280-A653E9B5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743950"/>
            <a:ext cx="952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endParaRPr sz="1350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5915971"/>
      </p:ext>
    </p:extLst>
  </p:cSld>
  <p:transition spd="med" advClick="1">
    <p:fade/>
  </p:transition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FF0682C-7812-4EED-BB44-54661980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05 / PROPOSED ARCHITECTURE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FD12C96-F528-4C5F-93AF-98FFD7CA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9200" y="225875"/>
            <a:ext cx="4267058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6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WORLD MODEL FOR PENTESTING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3BAD03EC-DB8F-4C77-9B82-988146A1F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A60A47-08B7-4D0F-AFE4-B9CD582E6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8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e38fe1dfa4eb7"/>
          <a:stretch xmlns:a="http://schemas.openxmlformats.org/drawingml/2006/main"/>
        </p:blipFill>
        <p:spPr>
          <a:xfrm xmlns:a="http://schemas.openxmlformats.org/drawingml/2006/main">
            <a:off x="0" y="140070"/>
            <a:ext cx="18015803" cy="9537638"/>
          </a:xfrm>
          <a:prstGeom xmlns:a="http://schemas.openxmlformats.org/drawingml/2006/main" prst="rect">
            <a:avLst/>
          </a:prstGeom>
        </p:spPr>
      </p:pic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4DEA556-5E2E-4537-88F4-7CC2A10E7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937" y="2961662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EXPLORE THE MODEL</a:t>
            </a:r>
          </a:p>
        </p:txBody>
      </p:sp>
      <p:sp>
        <p:nvSpPr>
          <p:cNvPr id="8" name="Rectangle: Rounded Corners 7">
            <a:hlinkClick xmlns:r="http://schemas.openxmlformats.org/officeDocument/2006/relationships" xmlns:a="http://schemas.openxmlformats.org/drawingml/2006/main" r:id="Rdd3c566e85be4eba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11A412A4-ED7F-4F26-91C7-72CD5417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11625"/>
            <a:ext cx="3048000" cy="113174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</a:t>
            </a: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World model?</a:t>
            </a:r>
          </a:p>
        </p:txBody>
      </p:sp>
      <p:sp>
        <p:nvSpPr>
          <p:cNvPr id="9" name="Rectangle: Rounded Corners 8">
            <a:hlinkClick xmlns:r="http://schemas.openxmlformats.org/officeDocument/2006/relationships" xmlns:a="http://schemas.openxmlformats.org/drawingml/2006/main" r:id="Rb00deb63daba475a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BCE3019-A0A9-4CDD-958E-561524770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93808" y="3181350"/>
            <a:ext cx="2188083" cy="1704975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</a:t>
            </a: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Phase agents?</a:t>
            </a:r>
          </a:p>
        </p:txBody>
      </p:sp>
      <p:sp>
        <p:nvSpPr>
          <p:cNvPr id="10" name="Rectangle: Rounded Corners 9">
            <a:hlinkClick xmlns:r="http://schemas.openxmlformats.org/officeDocument/2006/relationships" xmlns:a="http://schemas.openxmlformats.org/drawingml/2006/main" r:id="R1418c0ea8b4c46d5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A35C1400-8A8A-4331-85E7-B008FB1F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0" y="6023429"/>
            <a:ext cx="2197100" cy="1577521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</a:t>
            </a: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will it all work?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AB16DE3-CADC-4564-85D4-89B22B10E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0" y="7105650"/>
            <a:ext cx="2933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endParaRPr sz="1575" b="0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42661855"/>
      </p:ext>
    </p:extLst>
  </p:cSld>
  <p:transition spd="med" advClick="1">
    <p:fade/>
  </p:transition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CFBABEF-1763-4E57-B315-5E86AB81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06 / WORLD MODEL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2C3A447-E974-415F-974F-5F785CC3E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How a real pentester works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00A7146-0130-4861-B8DE-2E60AF1F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AAC1C0-E40E-4614-A5A4-DB5A08C8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D0ED21-F3E8-4133-AA08-2E7CC1295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628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THE WORLD MODEL FOR PENTESTING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A4C47E6A-426B-428D-B51F-FE59944D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D23828-D31F-4CF9-9F16-D7B76FE44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DCA4C5A-91E3-45DE-A385-F33A48A9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Observe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B5727D0-5643-4244-B74E-826FAAE3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Collect signals from tools, targets and prior evidence.</a:t>
            </a:r>
          </a:p>
        </p:txBody>
      </p:sp>
      <p:sp>
        <p:nvSpPr>
          <p:cNvPr id="10" name="Arrow: Right 9">
            <a:extLst xmlns:a="http://schemas.openxmlformats.org/drawingml/2006/main">
              <a:ext uri="{FF2B5EF4-FFF2-40B4-BE49-F238E27FC236}">
                <a16:creationId xmlns:a16="http://schemas.microsoft.com/office/drawing/2014/main" id="{C24E9D51-8BF7-40BF-B559-DDF7A3037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6B189625-ACF4-4BA9-8447-BADB3868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AB47409-FD6C-4F75-9FF6-A801A801E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1B076E-E30E-4BE4-94FF-4DE45AFB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Store in memory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6B2293C-A970-4623-AE19-9AA5AE5B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Preserve assets, observations, relationships and source evidence.</a:t>
            </a:r>
          </a:p>
        </p:txBody>
      </p:sp>
      <p:sp>
        <p:nvSpPr>
          <p:cNvPr id="15" name="Arrow: Right 14">
            <a:extLst xmlns:a="http://schemas.openxmlformats.org/drawingml/2006/main">
              <a:ext uri="{FF2B5EF4-FFF2-40B4-BE49-F238E27FC236}">
                <a16:creationId xmlns:a16="http://schemas.microsoft.com/office/drawing/2014/main" id="{0FD41D44-1E56-43E8-AC6D-A4F76A1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A0FA3480-8DF6-4C8C-8E93-3668E55D1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96ED1CA1-A769-40FC-9CBF-6223850F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47E865C-70C0-41D5-A8B8-E38D68066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3 · Form a hypothesis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0A16912-85D8-4E45-AB92-4E6E64BCF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Explain what the evidence may mean and what could be vulnerable.</a:t>
            </a:r>
          </a:p>
        </p:txBody>
      </p:sp>
      <p:sp>
        <p:nvSpPr>
          <p:cNvPr id="20" name="Arrow: Right 19">
            <a:extLst xmlns:a="http://schemas.openxmlformats.org/drawingml/2006/main">
              <a:ext uri="{FF2B5EF4-FFF2-40B4-BE49-F238E27FC236}">
                <a16:creationId xmlns:a16="http://schemas.microsoft.com/office/drawing/2014/main" id="{68E944AB-F28D-4BDB-B4FC-CD45F3B6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790950"/>
            <a:ext cx="2667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6E20CD42-FB6A-4027-B715-4E86FB6F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819400"/>
            <a:ext cx="356235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D0367912-3364-43FF-AEB7-F24C85F16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819400"/>
            <a:ext cx="857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E679D908-D323-4227-BA66-9BFCBF26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028950"/>
            <a:ext cx="3067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4 · Test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73A73E7-EBEC-4635-848B-D7766EA2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562350"/>
            <a:ext cx="30670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Choose the next useful probe and run the appropriate security tool.</a:t>
            </a:r>
          </a:p>
        </p:txBody>
      </p:sp>
      <p:sp>
        <p:nvSpPr>
          <p:cNvPr id="25" name="Arrow: Down 24">
            <a:extLst xmlns:a="http://schemas.openxmlformats.org/drawingml/2006/main">
              <a:ext uri="{FF2B5EF4-FFF2-40B4-BE49-F238E27FC236}">
                <a16:creationId xmlns:a16="http://schemas.microsoft.com/office/drawing/2014/main" id="{70193B6D-1A8C-4C56-A19D-BAB54231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5276850"/>
            <a:ext cx="323850" cy="609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A15968A1-BF38-485A-BAAE-84F3C7D40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91250"/>
            <a:ext cx="464820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68F0153D-B4CF-41B5-AD06-BE2BBFC59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0" y="6191250"/>
            <a:ext cx="85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807BD01-776B-439C-892E-771EC85D0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400800"/>
            <a:ext cx="415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5 · Validate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3204C3F-211A-4259-9F70-C8FE7E26A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934200"/>
            <a:ext cx="4152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Compare outcomes, reproduce the result and separate a lead from verified evidence.</a:t>
            </a:r>
          </a:p>
        </p:txBody>
      </p:sp>
      <p:sp>
        <p:nvSpPr>
          <p:cNvPr id="30" name="Arrow: Left 29">
            <a:extLst xmlns:a="http://schemas.openxmlformats.org/drawingml/2006/main">
              <a:ext uri="{FF2B5EF4-FFF2-40B4-BE49-F238E27FC236}">
                <a16:creationId xmlns:a16="http://schemas.microsoft.com/office/drawing/2014/main" id="{F61B9F26-5E3F-4A29-BDA5-E785F727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819900"/>
            <a:ext cx="723900" cy="3429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FC10438D-70A9-4617-AD50-511BAB74D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91250"/>
            <a:ext cx="48577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EFF74FCA-482A-4684-A4C2-6E501FCE3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191250"/>
            <a:ext cx="85725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687ED8E-E9DB-4D64-8324-0CABB6F7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400800"/>
            <a:ext cx="436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6 · Update memory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1290D798-9A24-4E30-BC44-27885A23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934200"/>
            <a:ext cx="43624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Record what changed, connect the evidence and revise what should be tested next.</a:t>
            </a:r>
          </a:p>
        </p:txBody>
      </p:sp>
      <p:sp>
        <p:nvSpPr>
          <p:cNvPr id="35" name="Arrow: Left 34">
            <a:extLst xmlns:a="http://schemas.openxmlformats.org/drawingml/2006/main">
              <a:ext uri="{FF2B5EF4-FFF2-40B4-BE49-F238E27FC236}">
                <a16:creationId xmlns:a16="http://schemas.microsoft.com/office/drawing/2014/main" id="{617DC921-5CBF-45CD-8B08-4B7AAB11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6819900"/>
            <a:ext cx="742950" cy="3429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: Rounded Corners 35">
            <a:extLst xmlns:a="http://schemas.openxmlformats.org/drawingml/2006/main">
              <a:ext uri="{FF2B5EF4-FFF2-40B4-BE49-F238E27FC236}">
                <a16:creationId xmlns:a16="http://schemas.microsoft.com/office/drawing/2014/main" id="{5185F586-91A3-4677-8C62-B9845992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91250"/>
            <a:ext cx="3943350" cy="1771650"/>
          </a:xfrm>
          <a:prstGeom xmlns:a="http://schemas.openxmlformats.org/drawingml/2006/main" prst="roundRect">
            <a:avLst>
              <a:gd name="adj" fmla="val 430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6ADE7E27-F555-4C7A-AADE-01E8149C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6515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3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Repeat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A235B24-EE13-4308-860C-3CDD71A4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7067550"/>
            <a:ext cx="333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Updated memory changes what the tester observes and tests next.</a:t>
            </a:r>
          </a:p>
        </p:txBody>
      </p:sp>
      <p:sp>
        <p:nvSpPr>
          <p:cNvPr id="39" name="Arrow: Up 38">
            <a:extLst xmlns:a="http://schemas.openxmlformats.org/drawingml/2006/main">
              <a:ext uri="{FF2B5EF4-FFF2-40B4-BE49-F238E27FC236}">
                <a16:creationId xmlns:a16="http://schemas.microsoft.com/office/drawing/2014/main" id="{BCD6B975-E833-4AAC-AE74-CED2E659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353050"/>
            <a:ext cx="323850" cy="609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2DB7070-3660-4416-AC61-B8633502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553450"/>
            <a:ext cx="1409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The assessment is a continuous evidence loop—not a one-time scanner run.</a:t>
            </a:r>
          </a:p>
        </p:txBody>
      </p:sp>
      <p:sp>
        <p:nvSpPr>
          <p:cNvPr id="41" name="Rectangle: Rounded Corners 40">
            <a:hlinkClick xmlns:r="http://schemas.openxmlformats.org/officeDocument/2006/relationships" xmlns:a="http://schemas.openxmlformats.org/drawingml/2006/main" r:id="R905dbe69652d493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98C7110D-E087-4B4D-AE2D-0687EC23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4391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92540729"/>
      </p:ext>
    </p:extLst>
  </p:cSld>
  <p:transition spd="med" advClick="1">
    <p:fade/>
  </p:transition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04E1C24-BC3B-4F18-970C-4803F8DA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07 / PHASE AGENTS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749BC0-A8BB-442E-8B48-994754FC9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Specialized agents for each testing phase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E74AE672-9046-4DB3-BEA1-1EE6C2A97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9F2D7E3-85CB-4609-BF8B-E143A5C3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351A10-B4C4-4AF7-9946-ADE890A0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16287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1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Standard pentest methodology is divided among specialized agents.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A29A44F7-A324-4115-BEC3-7B1D2F43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71800"/>
            <a:ext cx="15278100" cy="2876550"/>
          </a:xfrm>
          <a:prstGeom xmlns:a="http://schemas.openxmlformats.org/drawingml/2006/main" prst="roundRect">
            <a:avLst>
              <a:gd name="adj" fmla="val 26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30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18a51b9fdd4c26"/>
          <a:stretch xmlns:a="http://schemas.openxmlformats.org/drawingml/2006/main"/>
        </p:blipFill>
        <p:spPr>
          <a:xfrm xmlns:a="http://schemas.openxmlformats.org/drawingml/2006/main">
            <a:off x="1543050" y="3333750"/>
            <a:ext cx="14439900" cy="2095500"/>
          </a:xfrm>
          <a:prstGeom xmlns:a="http://schemas.openxmlformats.org/drawingml/2006/main" prst="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E0EBF89-3D35-4001-9EF6-E549517D4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D6C424B-C33E-4E63-B481-17D55A3D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3FCEAE8-CDB5-4751-A40D-DD3A1B59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Reconnaissance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B97A900-AB34-47A7-9CEA-7BB7DCD0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Maps the attack surface using discovery, DNS, probing and service-enumeration tools.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F37B9C-5121-450A-9BDF-2BEA8467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F4FB230-6DAD-4C09-AA1E-8BC9B41B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364C66C-FBCF-4FAD-841C-8F0CD1A63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Vulnerability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F8EF1FF-3D52-4270-873E-A9B4A45F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Tests the mapped surface with network, web and vulnerability-analysis tools.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C2AC00D-4F9E-4F06-9A42-3109FCEC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77000"/>
            <a:ext cx="4972050" cy="1847850"/>
          </a:xfrm>
          <a:prstGeom xmlns:a="http://schemas.openxmlformats.org/drawingml/2006/main" prst="roundRect">
            <a:avLst>
              <a:gd name="adj" fmla="val 412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6DA3218-9FC3-48E3-9193-66EF9F83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477000"/>
            <a:ext cx="85725" cy="1847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66D67EF-58C0-4A25-A8EF-9A3245FE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66865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F194CDE-13F8-48EE-9351-AD761E4C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58600" y="721995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Confirms evidence and separates reproducible findings from scanner leads.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4DA74D3-F06D-4D9B-A7FE-25B9661A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058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Each agent has its own tools and skill files, but all agents operate on the same shared memory.</a:t>
            </a:r>
          </a:p>
        </p:txBody>
      </p:sp>
      <p:sp>
        <p:nvSpPr>
          <p:cNvPr id="21" name="Rectangle: Rounded Corners 20">
            <a:hlinkClick xmlns:r="http://schemas.openxmlformats.org/officeDocument/2006/relationships" xmlns:a="http://schemas.openxmlformats.org/drawingml/2006/main" r:id="Re61da5b8ed7c45f9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501248FF-A868-4151-90E6-A5D02F55D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5534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1135754223"/>
      </p:ext>
    </p:extLst>
  </p:cSld>
  <p:transition spd="med" advClick="1">
    <p:fade/>
  </p:transition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C037C46-2E83-4C48-B945-52209E36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08 / DUAL-MODE EXECUTION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67EC944-8FA0-4DD9-A778-1BEF6F2A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How will it all work?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45561C58-3B7D-44DC-A2D4-48F26019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1104DB8-FA26-430B-8ED6-1C9A2427B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86553417-8735-4744-A4A6-ADEF2768D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152781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4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80c9f777f471a"/>
          <a:stretch xmlns:a="http://schemas.openxmlformats.org/drawingml/2006/main"/>
        </p:blipFill>
        <p:spPr>
          <a:xfrm xmlns:a="http://schemas.openxmlformats.org/drawingml/2006/main">
            <a:off x="2763887" y="2419350"/>
            <a:ext cx="11998226" cy="3295650"/>
          </a:xfrm>
          <a:prstGeom xmlns:a="http://schemas.openxmlformats.org/drawingml/2006/main" prst="rect">
            <a:avLst/>
          </a:prstGeom>
        </p:spPr>
      </p:pic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5427FC4-1FDC-419F-8D4C-AB855F47A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76200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D9FB573-E688-4FC4-90E3-B634F2D3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770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6804660-7982-43F3-A216-16B4A42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686550"/>
            <a:ext cx="71247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1 · Deterministic methodology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048DAFB-3096-42AF-A6B3-5BB01237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19950"/>
            <a:ext cx="712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battle-tested pentesting methodology runs through repeatable rules and tools without requiring an LLM.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1111ADDB-B589-469D-BBF0-7C079E0B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77000"/>
            <a:ext cx="7810500" cy="1866900"/>
          </a:xfrm>
          <a:prstGeom xmlns:a="http://schemas.openxmlformats.org/drawingml/2006/main" prst="roundRect">
            <a:avLst>
              <a:gd name="adj" fmla="val 4082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928FDAB-D320-4011-AC1E-EC5D26E5F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6477000"/>
            <a:ext cx="85725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B83E372-08F9-471B-94FA-CBDA4EB97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6686550"/>
            <a:ext cx="7315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2 · LLM oversight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92A5218-E453-4BEC-803C-7DB09C8B9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7219950"/>
            <a:ext cx="7315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The LLM oversees the assessment, performs contextual analysis and decides where deeper reasoning is useful.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E442B8D-CF7C-4C90-AA66-036C73064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705850"/>
            <a:ext cx="1304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Skill files form the knowledge base for tools, techniques and phase-specific procedures.</a:t>
            </a:r>
          </a:p>
        </p:txBody>
      </p:sp>
      <p:sp>
        <p:nvSpPr>
          <p:cNvPr id="16" name="Rectangle: Rounded Corners 15">
            <a:hlinkClick xmlns:r="http://schemas.openxmlformats.org/officeDocument/2006/relationships" xmlns:a="http://schemas.openxmlformats.org/drawingml/2006/main" r:id="Re3adc46363104ad4" action="ppaction://hlinksldjump"/>
            <a:extLst xmlns:a="http://schemas.openxmlformats.org/drawingml/2006/main">
              <a:ext uri="{FF2B5EF4-FFF2-40B4-BE49-F238E27FC236}">
                <a16:creationId xmlns:a16="http://schemas.microsoft.com/office/drawing/2014/main" id="{4A7396D2-E99F-4D11-9AA1-DBA1380F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0" y="8553450"/>
            <a:ext cx="27432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52400" tIns="76200" rIns="152400" bIns="76200" anchor="ctr">
            <a:normAutofit fontScale="9230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← Back to architecture</a:t>
            </a:r>
          </a:p>
        </p:txBody>
      </p:sp>
    </p:spTree>
    <p:extLst>
      <p:ext uri="{BB962C8B-B14F-4D97-AF65-F5344CB8AC3E}">
        <p14:creationId xmlns:p14="http://schemas.microsoft.com/office/powerpoint/2010/main" val="2006675810"/>
      </p:ext>
    </p:extLst>
  </p:cSld>
  <p:transition spd="med" advClick="1">
    <p:fade/>
  </p:transition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B38C522-6BD0-4CE1-A2C0-052E683A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09 / IMPLEMENTATION STACK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83ECD-D9B9-4FCB-A6DC-E52A18F8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Tools and technologies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1F0A3D-25BD-4864-BD78-72F776026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0F903A-A03C-40C0-A32E-492F4B075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1143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Technologies verified from the current Osprey repository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6317E9-1761-403E-94B9-34483DB47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CORE PLATFORM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6F65F-0E4B-47FE-9700-8072D406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19750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EXECUTION AND DELIVERY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F773F0-1C67-44FF-9000-7DC98C22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8834fbb91c4d0a">
            <a:extLst>
              <a:ext uri="{96DAC541-7B7A-43D3-8B79-37D633B846F1}">
                <asvg:svgBlip xmlns:asvg="http://schemas.microsoft.com/office/drawing/2016/SVG/main" r:embed="R9e557aa83fae44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7DC1A-DFE3-4B5B-8EA1-016F67E5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Python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0B525A-86B6-4E09-B62A-76F4BCC5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Core language. Rich and Prompt Toolkit power the operator CLI.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CCFDB5-D869-4542-8AE2-D2A02DFF9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8FC546-E5FE-4641-B18F-572A0CEA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5eab3aa23249c7">
            <a:extLst>
              <a:ext uri="{96DAC541-7B7A-43D3-8B79-37D633B846F1}">
                <asvg:svgBlip xmlns:asvg="http://schemas.microsoft.com/office/drawing/2016/SVG/main" r:embed="R482f45c114be4c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9E7DEB-293D-4675-ADDB-78B71A6E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FastAPI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805316-20D5-4447-B204-373B8425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Backend API with live progress streaming to the CLI.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F537D-AD8C-4E24-A49F-7B0138D0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98F62-4845-4854-AC46-2B383D5B3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8509d05c24c35">
            <a:extLst>
              <a:ext uri="{96DAC541-7B7A-43D3-8B79-37D633B846F1}">
                <asvg:svgBlip xmlns:asvg="http://schemas.microsoft.com/office/drawing/2016/SVG/main" r:embed="Rbdbe78ad693a49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36EA40-4ACD-4724-A8A1-6C0FD975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PostgreSQL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DAE2A16-D2A5-41B3-A934-DC10E8B31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Durable storage for engagements, evidence and world-model state.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308EA-3859-41D1-B308-2D228D9DC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F2545A-FB60-47F9-A260-00D25C31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5529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ebca10df3d4e53">
            <a:extLst>
              <a:ext uri="{96DAC541-7B7A-43D3-8B79-37D633B846F1}">
                <asvg:svgBlip xmlns:asvg="http://schemas.microsoft.com/office/drawing/2016/SVG/main" r:embed="R3b6f1d5e7582424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0" y="32385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75B6344-D081-43E2-B050-E94001EAE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2004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Docker Compose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650F1A-23D9-428A-862A-6FCC58E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36576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Runs the backend, database and optional Kali toolbox.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900AA8-6608-4142-BB07-C321D802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44958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C9EC88-4E18-4705-8F7D-F9947A89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d35bf298fb4ed4">
            <a:extLst>
              <a:ext uri="{96DAC541-7B7A-43D3-8B79-37D633B846F1}">
                <asvg:svgBlip xmlns:asvg="http://schemas.microsoft.com/office/drawing/2016/SVG/main" r:embed="R9f520f27e96340b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46601C-54E8-40AF-AA30-E90C1ED17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Kali Linux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71D7F3-89AD-4C4F-A200-36794F31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75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Execution environment for Nmap, Nuclei, SQLmap and other security tools.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C4F594-DE57-4187-846D-DA8A27CA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BC97635-E7D6-4469-B7FD-1BE7CE656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8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f1af786c08449b">
            <a:extLst>
              <a:ext uri="{96DAC541-7B7A-43D3-8B79-37D633B846F1}">
                <asvg:svgBlip xmlns:asvg="http://schemas.microsoft.com/office/drawing/2016/SVG/main" r:embed="Rf79e74696ba7483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8768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390BD-627E-4BEF-993D-837F93BD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MCP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0BA3B19-7537-4D2A-ADFE-1459C9FC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Typed contract connecting the harness with each security tool.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E7F783-1C31-4A7D-8B8E-C69AAF6E1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B44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1466D7D-9953-4C84-A3EB-C4F97A5AD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3e2739c4ab4142">
            <a:extLst>
              <a:ext uri="{96DAC541-7B7A-43D3-8B79-37D633B846F1}">
                <asvg:svgBlip xmlns:asvg="http://schemas.microsoft.com/office/drawing/2016/SVG/main" r:embed="Rfbd03926980c42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773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214C90-950E-4922-8A61-D444B6BC1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GitHub Actions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0D2C6A-3438-43CB-A410-D87AD17A7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Builds and publishes the reproducible Kali tool image.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6F37EE-9A22-43F3-B315-3F9D4919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9A9C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BF13A7-F2C3-4A62-840C-DC3B84187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5247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</p:sp>
      <p:pic>
        <p:nvPicPr>
          <p:cNvPr id="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75df4b76c14fed">
            <a:extLst>
              <a:ext uri="{96DAC541-7B7A-43D3-8B79-37D633B846F1}">
                <asvg:svgBlip xmlns:asvg="http://schemas.microsoft.com/office/drawing/2016/SVG/main" r:embed="R22087e6687da48a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877800" y="6210300"/>
            <a:ext cx="781050" cy="78105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19C1E20-AB18-488B-AA77-41B2BD6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172200"/>
            <a:ext cx="2400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Shell automation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C4E470E-F668-445B-930D-038713554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6629400"/>
            <a:ext cx="2400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354F63"/>
                </a:solidFill>
                <a:latin typeface="Arial"/>
                <a:ea typeface="Arial"/>
                <a:cs typeface="Arial"/>
              </a:rPr>
              <a:t>Bash and PowerShell support setup and one-off execution.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C2B772-567A-48A4-AA0F-E7B3998B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77800" y="7467600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D1B6480-2FBD-4220-A367-A4C5E2E9A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248650"/>
            <a:ext cx="157734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5F7FFB3-1191-490D-AB28-AA1A4742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8448675"/>
            <a:ext cx="15087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Optional AI connectivity uses LiteLLM so the harness can work with multiple model providers.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06B9F17-38B0-4AB5-8A4F-9869FB97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9A9C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8788100"/>
      </p:ext>
    </p:extLst>
  </p:cSld>
  <p:transition spd="med" advClick="1">
    <p:fade/>
  </p:transition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FE722DBB-3BF6-4EBB-9474-453546907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10 / DELIVERY PLAN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7EE3FD4-4CE4-49FC-827A-194FAE2A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Planned timeline and milestones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A21CAFD6-02F8-463A-B96C-65ED5440C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42DE43-FB40-454C-8CE7-DD3D9CEAC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1DC9336-2A20-4B65-BD5F-D97B834CA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574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September 2026 → April 2027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EF9470E8-8A3B-4725-8FFB-3DC2F67F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171950"/>
            <a:ext cx="1438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85EEA9-5892-4A33-8A3F-7FA66746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081780-D336-4ED4-9414-BC26C13B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SEP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9D9B25-6AAB-47A8-A789-E2B5DB58F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Planning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98B653CE-C996-4E21-AC0A-83BA66C99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12FBBC61-8E8B-4262-862D-675A85C6C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OCT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68EBE70-4E0B-40B0-844A-F3E7B138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Recon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73A0FBE1-1DE3-462C-AB21-49B2D5D7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B806D132-93CE-4D5C-BE8A-3E8D7D8C7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NOV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2B618EE-75F4-41C3-9C22-31B36E0D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Network &amp; web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assessment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9AF2940F-1217-4145-8C5F-C0CBA210D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2C24BB0B-D3ED-450D-988E-07BA9A25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DEC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989317F4-3727-426C-9080-AAAD9EA9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Integration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correlation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EF66A6BC-69B1-4BB4-9071-1CF87925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28AA4758-A9F8-4EE3-92F0-941FFC97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55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JAN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C4616C9-7493-48F1-BFCF-082342BB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Business logic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&amp; safety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363562A1-30CB-473E-AD90-5213A0B40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3467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81E30FAE-C2D7-4CB5-B6CC-C2664BC3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FEB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29BB933-36F1-4404-84B7-C8315A7BD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Dual-mode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orchestration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CB194F49-1251-4BFC-8CA6-9C1FD18A0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64305A3A-F317-48D3-B6D5-E1C3B118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92100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MAR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AC08E8CE-58ED-42D8-AAE4-F09885E47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0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Testing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refinement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8BE3EB95-F9FB-465C-A05B-E8E1484E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8025" y="3067050"/>
            <a:ext cx="1657350" cy="209550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9C43D0D0-3001-4EDB-B0AD-5EBC18A09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63775" y="3295650"/>
            <a:ext cx="10858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APR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73193B71-B6C5-4B18-BFA6-2478DB9B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3275" y="4057650"/>
            <a:ext cx="1466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Evaluation &amp;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575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defense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1F7BF59F-2F18-42E0-93E3-95F36A1A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67400"/>
            <a:ext cx="15773400" cy="2247900"/>
          </a:xfrm>
          <a:prstGeom xmlns:a="http://schemas.openxmlformats.org/drawingml/2006/main" prst="roundRect">
            <a:avLst>
              <a:gd name="adj" fmla="val 3390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9EBFB830-A670-4AE7-AC16-AB64B84E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191250"/>
            <a:ext cx="323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Evaluation focus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D111E198-0143-4BAE-B411-C46F49E2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225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DA5E006-FA82-4109-B279-6807FF03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18F1464E-286B-46D8-9DA4-02FF9E09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7818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7FBD1D89-95AB-4271-B381-5D47B4C55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73152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4424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Attack-surface discovery and vulnerability coverage.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096D3CF-5D74-4435-9179-9BA10BA4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572250"/>
            <a:ext cx="4476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5B4EEC06-A7DE-4D2B-9C54-E884CEA53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8B09EA3F-EF10-420B-A0A3-58BE346F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6781800"/>
            <a:ext cx="3981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Reliability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B3A4A00-0B8C-497F-93E9-C2BEA8C61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7315200"/>
            <a:ext cx="3981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478" lnSpcReduction="1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Comparable operation with and without an LLM.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55605E8-1EA5-418F-9132-0B61D83A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72250"/>
            <a:ext cx="56197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6B2F089-E266-4DEC-88C1-A731B012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72250"/>
            <a:ext cx="85725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E200C938-ADC0-4F71-A5E7-790D7C4D2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781800"/>
            <a:ext cx="5124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Safety and efficiency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A55D3DC1-941C-4EEF-A56B-E41F022D4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7315200"/>
            <a:ext cx="512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Zero scope violations and measurable time improvement.</a:t>
            </a:r>
          </a:p>
        </p:txBody>
      </p:sp>
    </p:spTree>
    <p:extLst>
      <p:ext uri="{BB962C8B-B14F-4D97-AF65-F5344CB8AC3E}">
        <p14:creationId xmlns:p14="http://schemas.microsoft.com/office/powerpoint/2010/main" val="1387701885"/>
      </p:ext>
    </p:extLst>
  </p:cSld>
  <p:transition spd="med" advClick="1">
    <p:fade/>
  </p:transition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82E0CA5-9197-4EE0-92AF-18FA6C607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11 / TEAM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A0BF3C9-B5D8-406D-BD8F-6EBEFC7E0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Team responsibilities and shared ownership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FF4AB53-912E-46CF-9904-FAED8161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CEB35A4-0EC7-4A57-AB52-FA017AFF0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A7F42B4C-5E7A-429C-9D2F-CC6EBEBB3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4876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14104C5-B2BF-4E92-87D6-B4CFB723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71D4E5-A6A4-4616-A42F-CBA250310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Abdul Ahad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B3BE330-BFC8-4A1F-8E4E-F8775D1D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4381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endParaRPr sz="1875" b="1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Unified Harness</a:t>
            </a:r>
            <a:br/>
            <a:r>
              <a:rPr sz="1875" b="1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LLM and workflow management</a:t>
            </a:r>
            <a:br/>
            <a:endParaRPr sz="1875" b="1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01B7E18-ED86-4FDA-AFF1-6BD451768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48768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31B55EA-0B92-4249-8F79-3BA6C31E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8DEDAF7-D465-40FB-B173-F2F7E086E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432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2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Muhammad Usman Hamed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E266BF7-BAAE-40DA-A4B8-A780B8B4D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3815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b="1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r>
              <a:rPr b="1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Improve the Security Testing Workflow of the Harness</a:t>
            </a:r>
            <a:endParaRPr b="1" i="0">
              <a:solidFill>
                <a:srgbClr val="354F6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DF5B45D-012C-4801-8F25-E7B6EE7B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5524500" cy="3314700"/>
          </a:xfrm>
          <a:prstGeom xmlns:a="http://schemas.openxmlformats.org/drawingml/2006/main" prst="roundRect">
            <a:avLst>
              <a:gd name="adj" fmla="val 229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7EDB70E-2C14-4669-B25F-15A4EF71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33650"/>
            <a:ext cx="85725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57B484C-EE61-465E-980F-E25BAF7B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27432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3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Obaid Ishtiaq Satti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0A36C66-5A08-4122-AE4F-EA4752EC5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3276600"/>
            <a:ext cx="5029200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b="1" i="0">
                <a:latin typeface="Arial"/>
                <a:ea typeface="Arial"/>
                <a:cs typeface="Arial"/>
              </a:rPr>
              <a:t>Primary responsibility</a:t>
            </a:r>
          </a:p>
          <a:p xmlns:a="http://schemas.openxmlformats.org/drawingml/2006/main">
            <a:r>
              <a:rPr b="1" i="0">
                <a:latin typeface="Arial"/>
                <a:ea typeface="Arial"/>
                <a:cs typeface="Arial"/>
              </a:rPr>
              <a:t>Aid in LLM and workflow management with individual tool response improvement</a:t>
            </a:r>
            <a:endParaRPr b="1" i="0">
              <a:latin typeface="Arial"/>
              <a:ea typeface="Arial"/>
              <a:cs typeface="Arial"/>
            </a:endParaRP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2CAE2DCE-3052-41F7-A863-FBF2AE9FE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362700"/>
            <a:ext cx="15773400" cy="2038350"/>
          </a:xfrm>
          <a:prstGeom xmlns:a="http://schemas.openxmlformats.org/drawingml/2006/main" prst="roundRect">
            <a:avLst>
              <a:gd name="adj" fmla="val 3738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34BB496D-FFEA-47EC-A880-FD6B1812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6705600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Shared across the team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05A65A0-0330-4564-93F8-5AEC37F9B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Integration</a:t>
            </a:r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A8C4B11F-14C8-4F99-961C-7B5E92D28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Testing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698D63D2-64E2-4A78-B766-9F0BA07CA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3342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Validation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67D9D56E-3F12-434A-AC9F-BF288C1B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Debugging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557D06D2-6356-43B6-8229-0AD0CFD2E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Performance evaluation</a:t>
            </a:r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EEE61C20-EA5E-4D7F-89A4-944367C86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7905750"/>
            <a:ext cx="41910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EF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Documentation</a:t>
            </a:r>
          </a:p>
        </p:txBody>
      </p:sp>
    </p:spTree>
    <p:extLst>
      <p:ext uri="{BB962C8B-B14F-4D97-AF65-F5344CB8AC3E}">
        <p14:creationId xmlns:p14="http://schemas.microsoft.com/office/powerpoint/2010/main" val="343396025"/>
      </p:ext>
    </p:extLst>
  </p:cSld>
  <p:transition spd="med" advClick="1">
    <p:fade/>
  </p:transition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929D131B-7A3A-4C95-AF3D-E7E65905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12 / IMPACT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0D6C9C-015A-4744-A080-CFB5E97F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838200"/>
            <a:ext cx="16287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40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Who will use the proposed system?</a:t>
            </a:r>
          </a:p>
        </p:txBody>
      </p:sp>
      <p:sp>
        <p:nvSpPr>
          <p:cNvPr id="3" name="Straight Connector 2">
            <a:extLst xmlns:a="http://schemas.openxmlformats.org/drawingml/2006/main">
              <a:ext uri="{FF2B5EF4-FFF2-40B4-BE49-F238E27FC236}">
                <a16:creationId xmlns:a16="http://schemas.microsoft.com/office/drawing/2014/main" id="{13C63740-6D89-4366-A88F-61F294CAA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1653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A87B535-3038-430C-BA58-E61D9F80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9525000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575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AF7181BE-6025-4CBA-8BEB-FC2D6481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6E0353B-7A8E-4006-A257-0B4B2EF9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09AB85A-2FEB-4AB0-8008-C222C03AD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Penetration testing firms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8B66EB6-5198-4691-ABCA-B16D915D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Repeatable external assessments across wide client surfaces.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7CE71FF-1A36-4676-8CEC-2A4AA0A8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1CACF9C-7086-4677-BF30-FC5E331E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2ED770-A063-4D7A-9FE4-102D65852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Internal security teams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FFDAF58-36FF-49CE-8DC3-F10B1935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Continuous visibility and evidence across changing infrastructure.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2AD6927A-8CE4-4850-832A-50F08D34A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42E929-DA87-4211-809F-286514F9C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D8198726-ACD4-4518-8377-EF7C177E2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63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Managed security providers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FE6CDC8E-08F7-40DB-B860-6E509D1C7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Standardized multi-engagement execution and reporting.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B94F5C0-AD6F-4063-8C9B-CD60BEE9C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476500"/>
            <a:ext cx="3695700" cy="2724150"/>
          </a:xfrm>
          <a:prstGeom xmlns:a="http://schemas.openxmlformats.org/drawingml/2006/main" prst="roundRect">
            <a:avLst>
              <a:gd name="adj" fmla="val 279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35B8CF8-8D64-4E90-8C78-3756B6B7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6350" y="2476500"/>
            <a:ext cx="85725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8B6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90A9534-AFE7-4F96-8755-3F9C35E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2686050"/>
            <a:ext cx="320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DevSecOps teams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BC680BF-479E-40D6-8C8E-62EC3D99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73050" y="3219450"/>
            <a:ext cx="32004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Security assessment integrated into engineering workflows.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B4201CC4-4BF3-434B-B505-F7FB5F27D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48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D8B84"/>
                </a:solidFill>
                <a:latin typeface="Arial"/>
                <a:ea typeface="Arial"/>
                <a:cs typeface="Arial"/>
              </a:rPr>
              <a:t>UN Sustainable Development Goal alignment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FE789C8-AA88-4616-A892-531F24AB9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605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A063D8D6-7808-44F3-B52D-8889C10D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69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EE7DF8-AF9D-4E3F-8F14-D0D5E4B4D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705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9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20595E6-1A7D-4B8E-BBA4-444C5938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72390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Industry, innovation and resilient infrastructure.</a:t>
            </a:r>
          </a:p>
        </p:txBody>
      </p:sp>
      <p:sp>
        <p:nvSpPr>
          <p:cNvPr id="26" name="Rectangle: Rounded Corners 25">
            <a:extLst xmlns:a="http://schemas.openxmlformats.org/drawingml/2006/main">
              <a:ext uri="{FF2B5EF4-FFF2-40B4-BE49-F238E27FC236}">
                <a16:creationId xmlns:a16="http://schemas.microsoft.com/office/drawing/2014/main" id="{735DE08D-B22F-4CF0-ACC1-E277485B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96050"/>
            <a:ext cx="48768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587A8AF4-00E5-4B53-A72C-0E17879C1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8B84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DA02CCD0-7342-4CBF-9A0F-96FD146EC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6705600"/>
            <a:ext cx="4381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16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D6DEE329-8E83-43A0-A20B-61CBEF73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7239000"/>
            <a:ext cx="4381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Stronger institutions through improved cyber resilience.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A62AF0CC-700C-4527-9576-8AF7B0C5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5524500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8028E1-3B7C-42C5-B814-2A616097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96050"/>
            <a:ext cx="85725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A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B9BF9CF5-FEA6-4CE1-AF96-BDA5A4D0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6705600"/>
            <a:ext cx="5029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75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SDG 17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8A03F3F-6B46-43A1-B85E-17D0AAF3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7239000"/>
            <a:ext cx="5029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Partnerships through interoperable, open security tooling.</a:t>
            </a:r>
          </a:p>
        </p:txBody>
      </p:sp>
    </p:spTree>
    <p:extLst>
      <p:ext uri="{BB962C8B-B14F-4D97-AF65-F5344CB8AC3E}">
        <p14:creationId xmlns:p14="http://schemas.microsoft.com/office/powerpoint/2010/main" val="527185843"/>
      </p:ext>
    </p:extLst>
  </p:cSld>
  <p:transition spd="med" advClick="1">
    <p:fade/>
  </p:transition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: Rounded Corners 13">
            <a:extLst xmlns:a="http://schemas.openxmlformats.org/drawingml/2006/main">
              <a:ext uri="{FF2B5EF4-FFF2-40B4-BE49-F238E27FC236}">
                <a16:creationId xmlns:a16="http://schemas.microsoft.com/office/drawing/2014/main" id="{B2A27E5C-6AB0-47F1-A8C5-DB945EA4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23900"/>
            <a:ext cx="2724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FYP PROPOSAL DEFENSE</a:t>
            </a:r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4030079-8076-4180-9DBB-F868F3B70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857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5850" b="1" i="0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123B63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D6055F-615E-4AE2-8DCD-B9CC09A31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242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550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Questions and discussion</a:t>
            </a:r>
          </a:p>
        </p:txBody>
      </p:sp>
      <p:sp>
        <p:nvSpPr>
          <p:cNvPr id="4" name="Straight Connector 3">
            <a:extLst xmlns:a="http://schemas.openxmlformats.org/drawingml/2006/main">
              <a:ext uri="{FF2B5EF4-FFF2-40B4-BE49-F238E27FC236}">
                <a16:creationId xmlns:a16="http://schemas.microsoft.com/office/drawing/2014/main" id="{FF9154CA-6296-4286-8CBE-E740C5DE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62400"/>
            <a:ext cx="781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AD6DE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AFD804A-A1EE-448D-A330-88E03F03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2435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950" b="1" i="0">
                <a:solidFill>
                  <a:srgbClr val="102B44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02B44"/>
                </a:solidFill>
                <a:latin typeface="Arial"/>
                <a:ea typeface="Arial"/>
                <a:cs typeface="Arial"/>
              </a:rPr>
              <a:t>Proposed autonomous web security assessment framework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5F47FE6-92A4-44D4-BD4A-D9AA2DC3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14900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725" b="0" i="0">
                <a:solidFill>
                  <a:srgbClr val="354F63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354F63"/>
                </a:solidFill>
                <a:latin typeface="Arial"/>
                <a:ea typeface="Arial"/>
                <a:cs typeface="Arial"/>
              </a:rPr>
              <a:t>Working title · proposed architecture · planned evaluation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74AD962-E810-4B56-B964-FF4FFBA5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352550"/>
            <a:ext cx="6191250" cy="6572250"/>
          </a:xfrm>
          <a:prstGeom xmlns:a="http://schemas.openxmlformats.org/drawingml/2006/main" prst="roundRect">
            <a:avLst>
              <a:gd name="adj" fmla="val 1231"/>
            </a:avLst>
          </a:prstGeom>
          <a:solidFill xmlns:a="http://schemas.openxmlformats.org/drawingml/2006/main">
            <a:srgbClr val="123B63"/>
          </a:solidFill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F82D286-289D-4A93-84BF-52167C7BB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924050"/>
            <a:ext cx="504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 i="0">
                <a:solidFill>
                  <a:srgbClr val="79A9C8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79A9C8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E11CB0-3880-4FC1-91C3-3AA13EE4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667000"/>
            <a:ext cx="4857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How can a pentesting harness remain useful when AI is unavailable?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328419E9-E051-42EC-9462-6D6A3FF9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8958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5F0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D8B8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D8B84"/>
                </a:solidFill>
                <a:latin typeface="Arial"/>
                <a:ea typeface="Arial"/>
                <a:cs typeface="Arial"/>
              </a:rPr>
              <a:t>Methodology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4706CBF-7A24-4346-8C20-02230FF82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0" y="48958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6EEF3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23B6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23B63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70D74A1-E22F-4D47-9FED-6CFE2012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91200"/>
            <a:ext cx="4667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E8D0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76200" tIns="38100" rIns="76200" bIns="3810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D79A3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D79A32"/>
                </a:solidFill>
                <a:latin typeface="Arial"/>
                <a:ea typeface="Arial"/>
                <a:cs typeface="Arial"/>
              </a:rPr>
              <a:t>Human control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59F6254-7B3E-480E-B13F-022109C5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7162800"/>
            <a:ext cx="581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500" b="0" i="0">
                <a:solidFill>
                  <a:srgbClr val="DCE8F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DCE8F0"/>
                </a:solidFill>
                <a:latin typeface="Arial"/>
                <a:ea typeface="Arial"/>
                <a:cs typeface="Arial"/>
              </a:rPr>
              <a:t>Muhammad Usman Hamed · Abdul Ahad · Obaid Ishtiaq Satti</a:t>
            </a:r>
          </a:p>
        </p:txBody>
      </p:sp>
    </p:spTree>
    <p:extLst>
      <p:ext uri="{BB962C8B-B14F-4D97-AF65-F5344CB8AC3E}">
        <p14:creationId xmlns:p14="http://schemas.microsoft.com/office/powerpoint/2010/main" val="1297824907"/>
      </p:ext>
    </p:extLst>
  </p:cSld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2026-10-02T03:06:00.8050000Z</dcterms:created>
  <dcterms:modified xsi:type="dcterms:W3CDTF">2026-10-02T03:06:00.8050000Z</dcterms:modified>
</coreProperties>
</file>