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3325ad4c924105" /><Relationship Type="http://schemas.openxmlformats.org/officeDocument/2006/relationships/extended-properties" Target="/docProps/app.xml" Id="R0bd8b122dc3a4506" /><Relationship Type="http://schemas.openxmlformats.org/officeDocument/2006/relationships/officeDocument" Target="/ppt/presentation.xml" Id="R6b0d3a137ead4ad8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e23efc3ea2584070"/>
  </p:sldMasterIdLst>
  <p:notesMasterIdLst>
    <p:notesMasterId xmlns:r="http://schemas.openxmlformats.org/officeDocument/2006/relationships" r:id="R24fb79676e1a4a08"/>
  </p:notesMasterIdLst>
  <p:sldIdLst>
    <p:sldId xmlns:r="http://schemas.openxmlformats.org/officeDocument/2006/relationships" id="256" r:id="R22e8a77052f24d95"/>
    <p:sldId xmlns:r="http://schemas.openxmlformats.org/officeDocument/2006/relationships" id="257" r:id="R97f0190edd94438e"/>
    <p:sldId xmlns:r="http://schemas.openxmlformats.org/officeDocument/2006/relationships" id="258" r:id="R58d8aa1afc0643ef"/>
    <p:sldId xmlns:r="http://schemas.openxmlformats.org/officeDocument/2006/relationships" id="259" r:id="Re576a680195345af"/>
    <p:sldId xmlns:r="http://schemas.openxmlformats.org/officeDocument/2006/relationships" id="260" r:id="R475f6e7f1c0443c6"/>
    <p:sldId xmlns:r="http://schemas.openxmlformats.org/officeDocument/2006/relationships" id="261" r:id="R18ced59c9c53486c"/>
    <p:sldId xmlns:r="http://schemas.openxmlformats.org/officeDocument/2006/relationships" id="262" r:id="Rd1f84490ee1a419f"/>
    <p:sldId xmlns:r="http://schemas.openxmlformats.org/officeDocument/2006/relationships" id="263" r:id="R60bd68e173484eea"/>
    <p:sldId xmlns:r="http://schemas.openxmlformats.org/officeDocument/2006/relationships" id="264" r:id="R7eeb0bd89dd34823"/>
    <p:sldId xmlns:r="http://schemas.openxmlformats.org/officeDocument/2006/relationships" id="265" r:id="Rac6dd3b02a784c33"/>
    <p:sldId xmlns:r="http://schemas.openxmlformats.org/officeDocument/2006/relationships" id="266" r:id="Ra8ce7d5f7b934020"/>
    <p:sldId xmlns:r="http://schemas.openxmlformats.org/officeDocument/2006/relationships" id="267" r:id="R0226a3e4ef934fb1"/>
    <p:sldId xmlns:r="http://schemas.openxmlformats.org/officeDocument/2006/relationships" id="268" r:id="Rdf5cc19030344e22"/>
    <p:sldId xmlns:r="http://schemas.openxmlformats.org/officeDocument/2006/relationships" id="269" r:id="R3697dfde6bfa4303"/>
  </p:sldIdLst>
  <p:sldSz cx="18288000" cy="10287000"/>
  <p:notesSz cx="6858000" cy="9144000"/>
  <p:embeddedFontLst>
    <p:embeddedFont>
      <p:font typeface="Anton"/>
      <p:regular xmlns:r="http://schemas.openxmlformats.org/officeDocument/2006/relationships" r:id="R171fa8f1be834596"/>
    </p:embeddedFont>
    <p:embeddedFont>
      <p:font typeface="Canva Sans"/>
      <p:regular xmlns:r="http://schemas.openxmlformats.org/officeDocument/2006/relationships" r:id="R53d62a565d5f4c7a"/>
    </p:embeddedFont>
    <p:embeddedFont>
      <p:font typeface="Canva Sans Bold"/>
      <p:regular xmlns:r="http://schemas.openxmlformats.org/officeDocument/2006/relationships" r:id="Rce4ed64dc51943a4"/>
    </p:embeddedFont>
    <p:embeddedFont>
      <p:font typeface="Glacial Indifference"/>
      <p:regular xmlns:r="http://schemas.openxmlformats.org/officeDocument/2006/relationships" r:id="R5ec74092ab20425f"/>
    </p:embeddedFont>
    <p:embeddedFont>
      <p:font typeface="Glacial Indifference Bold"/>
      <p:regular xmlns:r="http://schemas.openxmlformats.org/officeDocument/2006/relationships" r:id="Rfa42c30f9e42470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1e9f2c33894942" /><Relationship Type="http://schemas.openxmlformats.org/officeDocument/2006/relationships/slideMaster" Target="/ppt/slideMasters/slideMaster1.xml" Id="Re23efc3ea2584070" /><Relationship Type="http://schemas.openxmlformats.org/officeDocument/2006/relationships/notesMaster" Target="/ppt/notesMasters/notesMaster1.xml" Id="R24fb79676e1a4a08" /><Relationship Type="http://schemas.openxmlformats.org/officeDocument/2006/relationships/presProps" Target="/ppt/presProps.xml" Id="R755c26b76cc24196" /><Relationship Type="http://schemas.openxmlformats.org/officeDocument/2006/relationships/viewProps" Target="/ppt/viewProps.xml" Id="R0bc3b06fb1e04030" /><Relationship Type="http://schemas.openxmlformats.org/officeDocument/2006/relationships/tableStyles" Target="/ppt/tableStyles.xml" Id="Rc96f8092637c4328" /><Relationship Type="http://schemas.openxmlformats.org/officeDocument/2006/relationships/font" Target="/ppt/fonts/font.dat" Id="R171fa8f1be834596" /><Relationship Type="http://schemas.openxmlformats.org/officeDocument/2006/relationships/font" Target="/ppt/fonts/font2.dat" Id="R53d62a565d5f4c7a" /><Relationship Type="http://schemas.openxmlformats.org/officeDocument/2006/relationships/font" Target="/ppt/fonts/font3.dat" Id="Rce4ed64dc51943a4" /><Relationship Type="http://schemas.openxmlformats.org/officeDocument/2006/relationships/font" Target="/ppt/fonts/font4.dat" Id="R5ec74092ab20425f" /><Relationship Type="http://schemas.openxmlformats.org/officeDocument/2006/relationships/font" Target="/ppt/fonts/font5.dat" Id="Rfa42c30f9e42470e" /><Relationship Type="http://schemas.openxmlformats.org/officeDocument/2006/relationships/slide" Target="/ppt/slides/slide1.xml" Id="R22e8a77052f24d95" /><Relationship Type="http://schemas.openxmlformats.org/officeDocument/2006/relationships/slide" Target="/ppt/slides/slide2.xml" Id="R97f0190edd94438e" /><Relationship Type="http://schemas.openxmlformats.org/officeDocument/2006/relationships/slide" Target="/ppt/slides/slide3.xml" Id="R58d8aa1afc0643ef" /><Relationship Type="http://schemas.openxmlformats.org/officeDocument/2006/relationships/slide" Target="/ppt/slides/slide4.xml" Id="Re576a680195345af" /><Relationship Type="http://schemas.openxmlformats.org/officeDocument/2006/relationships/slide" Target="/ppt/slides/slide5.xml" Id="R475f6e7f1c0443c6" /><Relationship Type="http://schemas.openxmlformats.org/officeDocument/2006/relationships/slide" Target="/ppt/slides/slide6.xml" Id="R18ced59c9c53486c" /><Relationship Type="http://schemas.openxmlformats.org/officeDocument/2006/relationships/slide" Target="/ppt/slides/slide7.xml" Id="Rd1f84490ee1a419f" /><Relationship Type="http://schemas.openxmlformats.org/officeDocument/2006/relationships/slide" Target="/ppt/slides/slide8.xml" Id="R60bd68e173484eea" /><Relationship Type="http://schemas.openxmlformats.org/officeDocument/2006/relationships/slide" Target="/ppt/slides/slide9.xml" Id="R7eeb0bd89dd34823" /><Relationship Type="http://schemas.openxmlformats.org/officeDocument/2006/relationships/slide" Target="/ppt/slides/slide10.xml" Id="Rac6dd3b02a784c33" /><Relationship Type="http://schemas.openxmlformats.org/officeDocument/2006/relationships/slide" Target="/ppt/slides/slide11.xml" Id="Ra8ce7d5f7b934020" /><Relationship Type="http://schemas.openxmlformats.org/officeDocument/2006/relationships/slide" Target="/ppt/slides/slide12.xml" Id="R0226a3e4ef934fb1" /><Relationship Type="http://schemas.openxmlformats.org/officeDocument/2006/relationships/slide" Target="/ppt/slides/slide13.xml" Id="Rdf5cc19030344e22" /><Relationship Type="http://schemas.openxmlformats.org/officeDocument/2006/relationships/slide" Target="/ppt/slides/slide14.xml" Id="R3697dfde6bfa43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315a1d8f3f4b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53319865de4598" /><Relationship Type="http://schemas.openxmlformats.org/officeDocument/2006/relationships/notesMaster" Target="/ppt/notesMasters/notesMaster1.xml" Id="R8130b75afde645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00c956c1374a3b" /><Relationship Type="http://schemas.openxmlformats.org/officeDocument/2006/relationships/notesMaster" Target="/ppt/notesMasters/notesMaster1.xml" Id="R0a28ac06209646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989796993d46b8" /><Relationship Type="http://schemas.openxmlformats.org/officeDocument/2006/relationships/notesMaster" Target="/ppt/notesMasters/notesMaster1.xml" Id="R9ff385af428348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c86683baee4d29" /><Relationship Type="http://schemas.openxmlformats.org/officeDocument/2006/relationships/notesMaster" Target="/ppt/notesMasters/notesMaster1.xml" Id="Rf8c31a7a7fe04a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d8afaed9244d95" /><Relationship Type="http://schemas.openxmlformats.org/officeDocument/2006/relationships/notesMaster" Target="/ppt/notesMasters/notesMaster1.xml" Id="Rcbf3c9b983464f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c51ba0b15648e0" /><Relationship Type="http://schemas.openxmlformats.org/officeDocument/2006/relationships/notesMaster" Target="/ppt/notesMasters/notesMaster1.xml" Id="R0fb4efc95bf148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0008a3a9f24412" /><Relationship Type="http://schemas.openxmlformats.org/officeDocument/2006/relationships/notesMaster" Target="/ppt/notesMasters/notesMaster1.xml" Id="R7b9099c6b11b40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9534ea00434758" /><Relationship Type="http://schemas.openxmlformats.org/officeDocument/2006/relationships/notesMaster" Target="/ppt/notesMasters/notesMaster1.xml" Id="R275538ea30b34f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76cfd608064f02" /><Relationship Type="http://schemas.openxmlformats.org/officeDocument/2006/relationships/notesMaster" Target="/ppt/notesMasters/notesMaster1.xml" Id="R98cdf83654414a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46f18a45674294" /><Relationship Type="http://schemas.openxmlformats.org/officeDocument/2006/relationships/notesMaster" Target="/ppt/notesMasters/notesMaster1.xml" Id="R9b123a3391a842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982a0f3f05470d" /><Relationship Type="http://schemas.openxmlformats.org/officeDocument/2006/relationships/notesMaster" Target="/ppt/notesMasters/notesMaster1.xml" Id="R41e84d64d58c46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8ab77757ce4a7c" /><Relationship Type="http://schemas.openxmlformats.org/officeDocument/2006/relationships/notesMaster" Target="/ppt/notesMasters/notesMaster1.xml" Id="R9442791e76564c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c972d26a5848e3" /><Relationship Type="http://schemas.openxmlformats.org/officeDocument/2006/relationships/notesMaster" Target="/ppt/notesMasters/notesMaster1.xml" Id="Rce7be2ec972c4e3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84b499eebe4e27" /><Relationship Type="http://schemas.openxmlformats.org/officeDocument/2006/relationships/notesMaster" Target="/ppt/notesMasters/notesMaster1.xml" Id="R1df7377f37074a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a05ad539a44b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819bc8a5e245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27df767df94f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3ae67a2f9147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8b334e756a49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08d6a02335442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70dc5db1f942d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ebfbad67ff420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ec6da052643b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28cffec3b544a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663b304d80494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2A9586-3845-49FC-9823-F1096F1D663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01C0A34-01CE-42E2-AB9D-D3C1BD21A2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A4A7C4E-E0BF-481C-93C2-95D0357B52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9A256AF-C2B2-423E-9A62-62518046A5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0FE8A9-5CC3-4D1C-B49D-3DB1735E1D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2FFA32-F2DF-4444-85C6-930EDB23B3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D63969-7B24-44B3-84DA-3935E14E76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BB7850-DE36-4D25-A9D4-6784BF1F6C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61B330-07CA-4CF1-9CC2-51F4AD9D1D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F5891E-89E2-4B61-8862-28DD842CFE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530306C-16A6-4BCA-8584-7E84AD6B7E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1DFFDAC-9669-4B21-950F-A397797AEF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3D2CE0-A7CE-423E-B343-A62532BBC6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278EFC-75CC-48AF-AA39-A6486E6AA6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C1A688-274E-4A95-93EC-FFA4A5E089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D17AEC2-CA7C-4DE5-A54B-9E910506A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5D9A093-156E-41D1-BD2F-14857163C5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63940FF-531D-43A1-BFB1-6AC5396C96E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DAEEDDD-27F5-402E-A7CF-D91878569A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D3AA06A-4E49-4A84-9007-BA1605C0B0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440E324-DEA9-4CAE-8F2D-AE5F5A78B1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541B7A-40F3-49A5-9C62-68A835BB6A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BB16C01-9181-4B6F-8C4B-C91F7C3D69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98C9D98-85A7-4FD2-A91B-52B57B56A90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67D473C-7937-447D-9039-FF00796AB51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F1395AF-D958-4EB1-8BD5-A16AFFEF00D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A4F0717-1485-4A7C-91DB-19E564896A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5B499BC-3558-438E-B882-E5E24B43DD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912CCC6-4C12-4FF5-9976-4EF5B5F9C0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2F8A25-6178-471C-80C9-00BC1DA889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3AA6904-7183-4239-9F5F-8B68ABFFC0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3EEEAE8-4B99-4519-947D-1F6C729D18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EF55206-4FE9-4471-B58A-F41A007016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9C72A1A-04F1-4207-96CF-288655C2D9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0D2680E-1760-448E-97C7-1FF4738EC5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A9CA9BD-5011-4FA6-9F2F-93A4455C90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BAD933-F9F8-42AB-8514-F8563244D7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86C6F7B-6339-42D7-885F-2981023783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A8CCFEF-7E10-480C-8983-10F2E44C20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E0D2910-2EE9-4E6D-8F2F-0F361D4E6A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0F681AB-B463-4FDF-88F0-55911C2C3C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BEE16E1-79BD-415D-B0F3-6A5B7CD03D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2CE076-7A6D-4A62-B10F-6BC1B2FBE2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302EDAE-96EF-4861-865D-73782A6B075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668EE1B-B8C4-4299-906B-E1993E9A3F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C73F66A-B041-4E34-8B35-8B508BE5C7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028CF30-042A-44C7-BE94-2D912CC0E3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3C36411-4AD1-4473-821A-2DBFB4ACF8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C2ACFA-E45D-4A53-BD21-33CE09B906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304C84C-307E-456E-98CE-6522512671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C2A73F6-FF7F-4DF8-A907-DBDDE1A826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94996A8-4019-486D-99CA-2090ACC9C4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9C2C2A-A37D-49CC-ADD8-BDD5C83709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DF227B7-7C1B-4FB9-80FB-EFE3382FE3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2C55C7A-1534-4FB1-B551-8D7642C7D1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F99466-A9A8-42CA-BBC9-237DB581AE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82218A8-8503-4B9F-86F5-9AF40E0471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901B7B-42F5-40BB-A349-9E2CAD1402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083e2e7e1a407c" /><Relationship Type="http://schemas.openxmlformats.org/officeDocument/2006/relationships/slideLayout" Target="/ppt/slideLayouts/slideLayout1.xml" Id="Refd71582202a415f" /><Relationship Type="http://schemas.openxmlformats.org/officeDocument/2006/relationships/slideLayout" Target="/ppt/slideLayouts/slideLayout2.xml" Id="R3c6da934b0084c42" /><Relationship Type="http://schemas.openxmlformats.org/officeDocument/2006/relationships/slideLayout" Target="/ppt/slideLayouts/slideLayout3.xml" Id="R9090acfb3a0741e2" /><Relationship Type="http://schemas.openxmlformats.org/officeDocument/2006/relationships/slideLayout" Target="/ppt/slideLayouts/slideLayout4.xml" Id="R7fefca48ad624280" /><Relationship Type="http://schemas.openxmlformats.org/officeDocument/2006/relationships/slideLayout" Target="/ppt/slideLayouts/slideLayout5.xml" Id="R368ae732ecbf41f3" /><Relationship Type="http://schemas.openxmlformats.org/officeDocument/2006/relationships/slideLayout" Target="/ppt/slideLayouts/slideLayout6.xml" Id="Ra4c599e99ed749be" /><Relationship Type="http://schemas.openxmlformats.org/officeDocument/2006/relationships/slideLayout" Target="/ppt/slideLayouts/slideLayout7.xml" Id="Ra78d777270674f23" /><Relationship Type="http://schemas.openxmlformats.org/officeDocument/2006/relationships/slideLayout" Target="/ppt/slideLayouts/slideLayout8.xml" Id="R507cb10b9de743a6" /><Relationship Type="http://schemas.openxmlformats.org/officeDocument/2006/relationships/slideLayout" Target="/ppt/slideLayouts/slideLayout9.xml" Id="R8df3629ed5a54cc0" /><Relationship Type="http://schemas.openxmlformats.org/officeDocument/2006/relationships/slideLayout" Target="/ppt/slideLayouts/slideLayout10.xml" Id="R75079deed5ca4e0d" /><Relationship Type="http://schemas.openxmlformats.org/officeDocument/2006/relationships/slideLayout" Target="/ppt/slideLayouts/slideLayout11.xml" Id="Rf37fa9bb46cb45d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23E87E8-65C8-4603-99E0-AF5180B2F2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D21BB57-B13B-4E5A-9D93-E351B7985F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CEAB0C-5072-4E45-AF7C-1955ECD04DB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3167298-7679-4CCB-8DB1-2C70289D169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E05946-10A3-4A87-83FD-1BE717E8060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d71582202a415f"/>
    <p:sldLayoutId xmlns:r="http://schemas.openxmlformats.org/officeDocument/2006/relationships" id="2147483650" r:id="R3c6da934b0084c42"/>
    <p:sldLayoutId xmlns:r="http://schemas.openxmlformats.org/officeDocument/2006/relationships" id="2147483651" r:id="R9090acfb3a0741e2"/>
    <p:sldLayoutId xmlns:r="http://schemas.openxmlformats.org/officeDocument/2006/relationships" id="2147483652" r:id="R7fefca48ad624280"/>
    <p:sldLayoutId xmlns:r="http://schemas.openxmlformats.org/officeDocument/2006/relationships" id="2147483653" r:id="R368ae732ecbf41f3"/>
    <p:sldLayoutId xmlns:r="http://schemas.openxmlformats.org/officeDocument/2006/relationships" id="2147483654" r:id="Ra4c599e99ed749be"/>
    <p:sldLayoutId xmlns:r="http://schemas.openxmlformats.org/officeDocument/2006/relationships" id="2147483655" r:id="Ra78d777270674f23"/>
    <p:sldLayoutId xmlns:r="http://schemas.openxmlformats.org/officeDocument/2006/relationships" id="2147483656" r:id="R507cb10b9de743a6"/>
    <p:sldLayoutId xmlns:r="http://schemas.openxmlformats.org/officeDocument/2006/relationships" id="2147483657" r:id="R8df3629ed5a54cc0"/>
    <p:sldLayoutId xmlns:r="http://schemas.openxmlformats.org/officeDocument/2006/relationships" id="2147483658" r:id="R75079deed5ca4e0d"/>
    <p:sldLayoutId xmlns:r="http://schemas.openxmlformats.org/officeDocument/2006/relationships" id="2147483659" r:id="Rf37fa9bb46cb45dd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1711bbbfbbc4f5d" /><Relationship Type="http://schemas.openxmlformats.org/officeDocument/2006/relationships/notesSlide" Target="/ppt/notesSlides/notesSlide1.xml" Id="R52a7b3566f6f4e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192c8ef3b644ba" /><Relationship Type="http://schemas.openxmlformats.org/officeDocument/2006/relationships/notesSlide" Target="/ppt/notesSlides/notesSlide2.xml" Id="Rfda24ff28f064a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acb972fb52483c" /><Relationship Type="http://schemas.openxmlformats.org/officeDocument/2006/relationships/notesSlide" Target="/ppt/notesSlides/notesSlide3.xml" Id="R25f3c2cdbc3748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73491721354fe1" /><Relationship Type="http://schemas.openxmlformats.org/officeDocument/2006/relationships/notesSlide" Target="/ppt/notesSlides/notesSlide4.xml" Id="R8452745ecd9540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1d0e5b9f4e4b3d" /><Relationship Type="http://schemas.openxmlformats.org/officeDocument/2006/relationships/notesSlide" Target="/ppt/notesSlides/notesSlide5.xml" Id="R26f7174fcf2e43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4e90c10b3d4934" /><Relationship Type="http://schemas.openxmlformats.org/officeDocument/2006/relationships/image" Target="/ppt/media/image.png" Id="R578b748e5d1c4706" /><Relationship Type="http://schemas.openxmlformats.org/officeDocument/2006/relationships/slide" Target="../slides/slide7.xml" Id="R80607777d9d741c8" /><Relationship Type="http://schemas.openxmlformats.org/officeDocument/2006/relationships/slide" Target="../slides/slide8.xml" Id="R040d52963f90418c" /><Relationship Type="http://schemas.openxmlformats.org/officeDocument/2006/relationships/slide" Target="../slides/slide9.xml" Id="Ra5217ffbe7244794" /><Relationship Type="http://schemas.openxmlformats.org/officeDocument/2006/relationships/notesSlide" Target="/ppt/notesSlides/notesSlide6.xml" Id="R4345db46cd7d45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280cc9e3654ac5" /><Relationship Type="http://schemas.openxmlformats.org/officeDocument/2006/relationships/slide" Target="../slides/slide6.xml" Id="R6ee2722df5464f96" /><Relationship Type="http://schemas.openxmlformats.org/officeDocument/2006/relationships/notesSlide" Target="/ppt/notesSlides/notesSlide7.xml" Id="Re543e66dde8b4f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ce452170ea4118" /><Relationship Type="http://schemas.openxmlformats.org/officeDocument/2006/relationships/image" Target="/ppt/media/image2.png" Id="R4f5cbd21042b4bd8" /><Relationship Type="http://schemas.openxmlformats.org/officeDocument/2006/relationships/slide" Target="../slides/slide6.xml" Id="R3be13a4d4628495c" /><Relationship Type="http://schemas.openxmlformats.org/officeDocument/2006/relationships/notesSlide" Target="/ppt/notesSlides/notesSlide8.xml" Id="R028d9c9553cf44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00260f47ab4fbe" /><Relationship Type="http://schemas.openxmlformats.org/officeDocument/2006/relationships/image" Target="/ppt/media/image3.png" Id="R4e38e3b3548541c3" /><Relationship Type="http://schemas.openxmlformats.org/officeDocument/2006/relationships/slide" Target="../slides/slide6.xml" Id="R49e56b4308b04b13" /><Relationship Type="http://schemas.openxmlformats.org/officeDocument/2006/relationships/notesSlide" Target="/ppt/notesSlides/notesSlide9.xml" Id="Rf5780c14f54f43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d2c7ef28254f0f" /><Relationship Type="http://schemas.openxmlformats.org/officeDocument/2006/relationships/image" Target="/ppt/media/image4.png" Id="R684bbbfb659f4366" /><Relationship Type="http://schemas.openxmlformats.org/officeDocument/2006/relationships/image" Target="/ppt/media/image.svg" Id="Re461d542fdb74bb2" /><Relationship Type="http://schemas.openxmlformats.org/officeDocument/2006/relationships/image" Target="/ppt/media/image5.png" Id="Ra445ef01f7d44b65" /><Relationship Type="http://schemas.openxmlformats.org/officeDocument/2006/relationships/image" Target="/ppt/media/image2.svg" Id="Rafe41fd39789472b" /><Relationship Type="http://schemas.openxmlformats.org/officeDocument/2006/relationships/image" Target="/ppt/media/image6.png" Id="R347bfa04b80342d9" /><Relationship Type="http://schemas.openxmlformats.org/officeDocument/2006/relationships/image" Target="/ppt/media/image3.svg" Id="Rf5de1ca76d914eb4" /><Relationship Type="http://schemas.openxmlformats.org/officeDocument/2006/relationships/image" Target="/ppt/media/image7.png" Id="R93dfe3bcb44a413e" /><Relationship Type="http://schemas.openxmlformats.org/officeDocument/2006/relationships/image" Target="/ppt/media/image4.svg" Id="R47583ae0e15647e7" /><Relationship Type="http://schemas.openxmlformats.org/officeDocument/2006/relationships/image" Target="/ppt/media/image8.png" Id="R9d592c2742cf44ff" /><Relationship Type="http://schemas.openxmlformats.org/officeDocument/2006/relationships/image" Target="/ppt/media/image5.svg" Id="R459cacfed0f64a04" /><Relationship Type="http://schemas.openxmlformats.org/officeDocument/2006/relationships/image" Target="/ppt/media/image9.png" Id="R153094209e5649b5" /><Relationship Type="http://schemas.openxmlformats.org/officeDocument/2006/relationships/image" Target="/ppt/media/image6.svg" Id="Raac84d16d0a54af6" /><Relationship Type="http://schemas.openxmlformats.org/officeDocument/2006/relationships/image" Target="/ppt/media/image10.png" Id="R2cf1142b4eb64252" /><Relationship Type="http://schemas.openxmlformats.org/officeDocument/2006/relationships/image" Target="/ppt/media/image7.svg" Id="R6b5806958ed84189" /><Relationship Type="http://schemas.openxmlformats.org/officeDocument/2006/relationships/image" Target="/ppt/media/image11.png" Id="R01e4bfb7d1824c87" /><Relationship Type="http://schemas.openxmlformats.org/officeDocument/2006/relationships/image" Target="/ppt/media/image8.svg" Id="Rac7187fa75d04137" /><Relationship Type="http://schemas.openxmlformats.org/officeDocument/2006/relationships/notesSlide" Target="/ppt/notesSlides/notesSlide10.xml" Id="R761b76aee5c041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a28654e6d54c91" /><Relationship Type="http://schemas.openxmlformats.org/officeDocument/2006/relationships/notesSlide" Target="/ppt/notesSlides/notesSlide11.xml" Id="R1e771fb5c6984a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02c3e319e44f44" /><Relationship Type="http://schemas.openxmlformats.org/officeDocument/2006/relationships/notesSlide" Target="/ppt/notesSlides/notesSlide12.xml" Id="Raf6129ac346144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9937c1a7f49b8" /><Relationship Type="http://schemas.openxmlformats.org/officeDocument/2006/relationships/notesSlide" Target="/ppt/notesSlides/notesSlide13.xml" Id="R9c79d8c6a16040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42a6e0c8b463d" /><Relationship Type="http://schemas.openxmlformats.org/officeDocument/2006/relationships/notesSlide" Target="/ppt/notesSlides/notesSlide14.xml" Id="R058874fbd9ad41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7D0150-2114-4A2E-9AC4-B3A4437E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4095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943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8B84"/>
                </a:solidFill>
                <a:latin typeface="Arial"/>
                <a:ea typeface="Arial"/>
                <a:cs typeface="Arial"/>
              </a:rPr>
              <a:t>FYP PROPOSAL DEFENSE · WORKING TITLE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93198-3E06-4B30-816E-6C80712B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8763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9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Autonomous Web Security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9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Assessment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57031-1A04-485F-929C-FAB8B8C5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828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A proposed dual-mode pentesting harness for broad, evidence-driven testing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10F7D-8B08-4C18-9758-0DF4946A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AA4F0-B0D3-4424-BE03-D753A2B4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Muhammad Usman Hamed  ·  Abdul Ahad  ·  Obaid Ishtiaq Satti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425D4-0558-4C1F-B032-D3056615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Advisor: Dr. Madiha Khalid    Co-Advisor: Dr. Mehdi Hussain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7C6DA-8725-447E-9A47-8E6AB466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72200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School of Electrical Engineering and Computer Science · NUST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074F1-2FE4-4075-9988-DF526A84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143000"/>
            <a:ext cx="7048500" cy="7334250"/>
          </a:xfrm>
          <a:prstGeom xmlns:a="http://schemas.openxmlformats.org/drawingml/2006/main" prst="roundRect">
            <a:avLst>
              <a:gd name="adj" fmla="val 108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9BC71-B42A-482B-BEA5-8B027887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15621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AUTHORIZED 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AEF5F-2A36-49E9-9657-A25F8291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038350"/>
            <a:ext cx="3238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domain / IP /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CC9E3-4FF5-4296-870E-445F1537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00350"/>
            <a:ext cx="4191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47D52-5548-4146-B5F4-8E82AC45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467100"/>
            <a:ext cx="4572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F2F56-785E-48CF-9EC9-0552B09B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909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UNIFIED HARNESS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7D44C3-8153-4443-B8B7-292FBC27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3624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DDEAF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DEAF2"/>
                </a:solidFill>
                <a:latin typeface="Arial"/>
                <a:ea typeface="Arial"/>
                <a:cs typeface="Arial"/>
              </a:rPr>
              <a:t>Deterministic methodology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DDEAF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DEAF2"/>
                </a:solidFill>
                <a:latin typeface="Arial"/>
                <a:ea typeface="Arial"/>
                <a:cs typeface="Arial"/>
              </a:rPr>
              <a:t>+ optional AI reasoning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53E89-B83B-42C6-B617-C0AB25C4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5562600"/>
            <a:ext cx="4191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B911D-A524-4CA6-B3B5-0C7ED84F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57950"/>
            <a:ext cx="2000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Attack-surface 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1FF8A1-8F8F-4700-9128-F8DC78C9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6457950"/>
            <a:ext cx="2000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DEE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8B84"/>
                </a:solidFill>
                <a:latin typeface="Arial"/>
                <a:ea typeface="Arial"/>
                <a:cs typeface="Arial"/>
              </a:rPr>
              <a:t>Verified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7DE61-1666-4AE6-BE3D-C05DBEAC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6457950"/>
            <a:ext cx="2000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8D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79A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79A32"/>
                </a:solidFill>
                <a:latin typeface="Arial"/>
                <a:ea typeface="Arial"/>
                <a:cs typeface="Arial"/>
              </a:rPr>
              <a:t>Structured 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3A999-CD0D-49B7-AD59-DD349A49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77152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 i="1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354F63"/>
                </a:solidFill>
                <a:latin typeface="Arial"/>
                <a:ea typeface="Arial"/>
                <a:cs typeface="Arial"/>
              </a:rPr>
              <a:t>Proposed system — not a completed product</a:t>
            </a:r>
          </a:p>
        </p:txBody>
      </p:sp>
    </p:spTree>
    <p:extLst>
      <p:ext uri="{BB962C8B-B14F-4D97-AF65-F5344CB8AC3E}">
        <p14:creationId xmlns:p14="http://schemas.microsoft.com/office/powerpoint/2010/main" val="959296708"/>
      </p:ext>
    </p:extLst>
  </p:cSld>
  <p:transition spd="med" advClick="1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2EEF1F-5C7C-43C7-B6DD-BD8BD252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01 / WHY THIS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21960-E351-4D1B-A12B-C78F2B30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628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Web security protects the entire exposed application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6AB0B-059A-4698-8988-FBBE55CF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6E746-F5C7-4726-841C-068165DD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CAE7B-965E-4BAB-A23C-554B689A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66675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F75EB-C99D-444F-9370-D144C3E0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WEB SECURITY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C3D98-7372-47F1-98FB-29C73F9F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0"/>
            <a:ext cx="581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6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Find, validate and reduce weaknesses before attackers exploit them.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89A7C-DB91-44E8-9286-9A83CA7E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3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DCE8F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CE8F0"/>
                </a:solidFill>
                <a:latin typeface="Arial"/>
                <a:ea typeface="Arial"/>
                <a:cs typeface="Arial"/>
              </a:rPr>
              <a:t>The surface includes domains, services, applications, APIs, identities, third-party components and the data connecting them.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4FC93-B6E6-447B-A7B8-FBF86393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C55B4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55B48"/>
                </a:solidFill>
                <a:latin typeface="Arial"/>
                <a:ea typeface="Arial"/>
                <a:cs typeface="Arial"/>
              </a:rPr>
              <a:t>CASE STUDY · EQUIFAX, 2017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44DCD-C693-47B6-9A7C-EF5846E5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6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A known web vulnerability became a large-scale breach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192BD-E131-4AFD-95BE-5619F266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26670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30CC5-2587-462E-BE44-BE274CB8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857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B4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C843E-E536-43A0-904D-3C7059B1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1000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Known flaw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F4D53-752F-4EA3-96ED-BBEA97FF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2171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A critical Apache Struts vulnerability had a patch available.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EBD7D-A98C-4949-8DA0-A6F53EEB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00450"/>
            <a:ext cx="26670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6EF62-0862-4E4F-993E-FED68D7B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00450"/>
            <a:ext cx="857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6C367-CED4-4784-AAD8-1ED18B92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81000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Coverage failure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5CE8A8-CF25-41A2-ADF0-8105ADE9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343400"/>
            <a:ext cx="2171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7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The public dispute portal remained unpatched and verification did not catch 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133CE-0B98-467E-AD3E-8051357A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600450"/>
            <a:ext cx="26670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5E8A3D-4109-4A41-9A1B-4AD8538E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600450"/>
            <a:ext cx="857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B4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7AB6D9-1519-44D8-90BD-4B77E601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381000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F28AAD-DE6D-420C-B54A-7D6AA154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4343400"/>
            <a:ext cx="2171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Personal information of about 147 million people was exposed.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07B8E7-1D95-4589-876F-5A1610DE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29350"/>
            <a:ext cx="157734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8EFF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CB1B59-6FEB-49DC-BFFD-71B23572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532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The lesson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97E2E9-CD01-450B-9AD4-75582D52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067550"/>
            <a:ext cx="1476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A single missed internet-facing asset can defeat security across a very large organisation. Effective testing must discover the full surface, verify coverage, and preserve evidence across every step.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C380DA-8EB2-44D7-8F5C-CFF38431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43950"/>
            <a:ext cx="1390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Sources: U.S. House Oversight Committee report (2018); U.S. Federal Trade Commission (2019).</a:t>
            </a:r>
          </a:p>
        </p:txBody>
      </p:sp>
    </p:spTree>
    <p:extLst>
      <p:ext uri="{BB962C8B-B14F-4D97-AF65-F5344CB8AC3E}">
        <p14:creationId xmlns:p14="http://schemas.microsoft.com/office/powerpoint/2010/main" val="2054667324"/>
      </p:ext>
    </p:extLst>
  </p:cSld>
  <p:transition spd="med" advClick="1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70648A-AD3B-4807-BED1-DEAB94EB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02 / CURRENT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4D013-B9B1-4EC2-AA72-15007994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628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Existing tools and technologies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91F72-92E5-4F1E-BB79-407870EF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30487-A6D3-45A1-8271-1A43C260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914AE-4CB3-40E7-A331-B386C891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Typical pentesting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CBCE6-090C-4B80-B01B-993BBC2D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76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DEE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D8B84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F0BF1-C7E1-4461-838F-7961658F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41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24F18-3310-4EF6-B83A-3EF146EA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71750"/>
            <a:ext cx="276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DEE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D8B84"/>
                </a:solidFill>
                <a:latin typeface="Arial"/>
                <a:ea typeface="Arial"/>
                <a:cs typeface="Arial"/>
              </a:rPr>
              <a:t>Resolve and probe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A18A3-DD1F-43C3-9D19-CF57F802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241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67313-86F2-46F2-BFEE-ECD79D4D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276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Map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C7763-253B-4884-B66B-CE9AD435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241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C6208-9DC8-4EF9-98EB-4D98D928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571750"/>
            <a:ext cx="276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Test applications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DF97E-D98A-468D-99FE-2BB4D75F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27241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C2687-3DC9-4DDB-80F0-0939D9F1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2571750"/>
            <a:ext cx="276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4E8D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79A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79A32"/>
                </a:solidFill>
                <a:latin typeface="Arial"/>
                <a:ea typeface="Arial"/>
                <a:cs typeface="Arial"/>
              </a:rPr>
              <a:t>Validate and report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876300" y="3524250"/>
          <a:ext xmlns:a="http://schemas.openxmlformats.org/drawingml/2006/main" cx="1577340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953000"/>
                <a:gridCol w="3429000"/>
                <a:gridCol w="4533900"/>
              </a:tblGrid>
              <a:tr h="609600"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Category</a:t>
                      </a:r>
                    </a:p>
                  </a:txBody>
                  <a:tcPr marL="91440" marR="91440" marT="45720" marB="45720" anchor="ctr">
                    <a:solidFill>
                      <a:srgbClr val="123B63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Examples</a:t>
                      </a:r>
                    </a:p>
                  </a:txBody>
                  <a:tcPr marL="91440" marR="91440" marT="45720" marB="45720" anchor="ctr">
                    <a:solidFill>
                      <a:srgbClr val="123B63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Strength</a:t>
                      </a:r>
                    </a:p>
                  </a:txBody>
                  <a:tcPr marL="91440" marR="91440" marT="45720" marB="45720" anchor="ctr">
                    <a:solidFill>
                      <a:srgbClr val="123B63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Limitation</a:t>
                      </a:r>
                    </a:p>
                  </a:txBody>
                  <a:tcPr marL="91440" marR="91440" marT="45720" marB="45720" anchor="ctr">
                    <a:solidFill>
                      <a:srgbClr val="123B63"/>
                    </a:solidFill>
                  </a:tcPr>
                </a:tc>
              </a:tr>
              <a:tr h="1200150"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650" b="1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Conventional security tools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Subfinder, Amass, Nmap, Nuclei, SQLmap, ZAP, Metasploit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Mature, specialized and repeatable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Require manual coordination. Outputs remain disconnected and provide limited contextual reasoning.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1485900"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650" b="1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AI pentesting agents</a:t>
                      </a:r>
                    </a:p>
                  </a:txBody>
                  <a:tcPr marL="91440" marR="91440" marT="45720" marB="45720" anchor="ctr">
                    <a:solidFill>
                      <a:srgbClr val="EDF3F5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PentestGPT, HackSynth, PentestAgent, AutoPentester, AutoAttacker, PentAGI, DarkMoon</a:t>
                      </a:r>
                    </a:p>
                  </a:txBody>
                  <a:tcPr marL="91440" marR="91440" marT="45720" marB="45720" anchor="ctr">
                    <a:solidFill>
                      <a:srgbClr val="EDF3F5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Adaptive planning and interpretation</a:t>
                      </a:r>
                    </a:p>
                  </a:txBody>
                  <a:tcPr marL="91440" marR="91440" marT="45720" marB="45720" anchor="ctr">
                    <a:solidFill>
                      <a:srgbClr val="EDF3F5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Depend on LLMs. Many evaluations use bounded tasks and provide limited broad reconnaissance coverage.</a:t>
                      </a:r>
                    </a:p>
                  </a:txBody>
                  <a:tcPr marL="91440" marR="91440" marT="45720" marB="45720" anchor="ctr">
                    <a:solidFill>
                      <a:srgbClr val="EDF3F5"/>
                    </a:solidFill>
                  </a:tcPr>
                </a:tc>
              </a:tr>
              <a:tr h="1200150"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650" b="1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AI security frameworks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HexStrike AI, pentestMCP, Shannon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Centralized tool access and automation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Tool access alone does not provide a complete workflow or persistent correlation across testing stages.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D5FFC-46C2-4EBE-B721-D5A6AB4F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572500"/>
            <a:ext cx="1314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Source: FYP defense report, literature review and comparison table, pp. 5–10.</a:t>
            </a:r>
          </a:p>
        </p:txBody>
      </p:sp>
    </p:spTree>
    <p:extLst>
      <p:ext uri="{BB962C8B-B14F-4D97-AF65-F5344CB8AC3E}">
        <p14:creationId xmlns:p14="http://schemas.microsoft.com/office/powerpoint/2010/main" val="230238877"/>
      </p:ext>
    </p:extLst>
  </p:cSld>
  <p:transition spd="med" advClick="1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498596-B328-46DD-B997-3CE814BF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03 / THE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45EB4-0AB8-4C1E-99B3-F008259E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628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The operational security gap is orchestration at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0E5F4-AD01-4CE2-AC1D-D8010D60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FAD90-1183-4D6B-90D3-8397C68B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A7218-38DD-4F91-B9F5-1307C8D6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Practical limitations prevent current tools from covering large infrastructures as one connected assessment.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5FC8A-FC68-4C65-9E31-E60167FD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48768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95550-F94F-4DA2-9BBB-8389D413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857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64B1B-7CA3-40DE-967B-367D92B1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1 · Fragmented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C8CAF-7273-410C-8132-ED0E53B3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4381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Specialized tools emit isolated outputs.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Humans repeatedly copy, filter, correlate and decide what to run next.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Assets, services, endpoints and evidence are easily disconnected.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EB653-DD71-4F1A-AB2F-22363706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48768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9D8CB-A98A-4635-BDDF-517CE30E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857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5FA66-D0A7-46DC-99CC-92E0CC85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908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2 · Reconnaissance scale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A0CE6-6E92-4A80-9911-8DBF69E8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381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Real infrastructures are wider than bounded CTF tasks.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Each new domain, host, port or endpoint creates more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Many AI systems are not optimized for continuous, broad reconnaissance coverage.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06534-07E5-4EF0-A8FF-8706D752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781300"/>
            <a:ext cx="5524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B1BC5-74BF-450C-A766-99CD1E4F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781300"/>
            <a:ext cx="857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F5198-A595-4AFD-9154-80E6B79E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990850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3 · External LLM dependency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93F0D6-C745-4BB6-8726-93772047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524250"/>
            <a:ext cx="50292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API cost, rate limits, connectivity and model behavior can interrupt assessments.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Known pentesting steps do not require expensive reasoning every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When the model stops, the core workflow should not stop.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9B0847-6B13-40EA-A5F5-3064D9FE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0"/>
            <a:ext cx="157734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1E8D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0BDD3-ACD8-4DD3-91F1-FF20012D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9532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C55B4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C55B48"/>
                </a:solidFill>
                <a:latin typeface="Arial"/>
                <a:ea typeface="Arial"/>
                <a:cs typeface="Arial"/>
              </a:rPr>
              <a:t>Trust and control must span the entire 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7B3DF-DE3A-4D32-8AC6-CCAA13B6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543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Scope enforcement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0C5DD1-BE56-477A-91E7-76EBF4A8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5438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Evidence-based findings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33156A-4A8E-4D1B-9F5A-641AB15A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5438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Human approval before impactful actions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FA911E-86D4-416D-9EB1-01C5EDB5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43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Source: FYP defense report, pp. 10–12.</a:t>
            </a:r>
          </a:p>
        </p:txBody>
      </p:sp>
    </p:spTree>
    <p:extLst>
      <p:ext uri="{BB962C8B-B14F-4D97-AF65-F5344CB8AC3E}">
        <p14:creationId xmlns:p14="http://schemas.microsoft.com/office/powerpoint/2010/main" val="1183209570"/>
      </p:ext>
    </p:extLst>
  </p:cSld>
  <p:transition spd="med" advClick="1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E2DE0-2BBA-4616-880E-163EF182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04 / PROJECT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4E47A-A95B-4C79-AD17-252A7B92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628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29700-4736-4B86-B745-A6FB88B5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F3D38-0A4A-4FED-93EA-5E070699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2CD93-551F-4332-BD35-F1A8AA91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8768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92AAD-0850-4828-BB39-33BBFC88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8572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D2BC8-4D8A-499B-9B2C-E9FBC222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1 · Integrated security assessment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EBA70-4C7D-42DD-B8E6-617B764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43815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Develop one unified harness covering reconnaissance, progressive attack-surface discovery, scanning, vulnerability identification, business-logic analysis, correlation and reporting.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B5CC6-57D8-4919-8249-22BCE9E0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33650"/>
            <a:ext cx="48768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3B3BC-C8A6-48A9-9F9F-2E5CDE0C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33650"/>
            <a:ext cx="8572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185ED-CCC1-457C-B99D-07EE6AF9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432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2 · Dual-mode orchestration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4EA2E-D47D-4F01-A0E4-AFDA670E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76600"/>
            <a:ext cx="43815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Use LLM reasoning when available while maintaining a deterministic rule-based mode with no mandatory LLM dependency.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8BAFA-087D-4C49-A0AD-D0CCF510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33650"/>
            <a:ext cx="55245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575F4-063A-4016-8559-1E18536B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33650"/>
            <a:ext cx="8572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B4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98A68-B9FD-4A38-A6B8-1BAEACF0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743200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3 · Safe and controlled testing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68A785-681E-4E8F-8AFF-D8A98EF8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276600"/>
            <a:ext cx="50292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Enforce the authorized scope, validate findings with evidence and require human approval before potentially impactful actions.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DC729-37D6-4F5E-B365-45F59393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334250"/>
            <a:ext cx="15773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8EFF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F39FF-071F-4975-BED7-F702E048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620000"/>
            <a:ext cx="1501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The proposed framework combines one unified harness, reliable non-LLM operation and controlled AI assistance.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9C97E2-A63D-40E3-9C82-ED97B4F1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43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Source: FYP defense report, Objectives, p. 14.</a:t>
            </a:r>
          </a:p>
        </p:txBody>
      </p:sp>
    </p:spTree>
    <p:extLst>
      <p:ext uri="{BB962C8B-B14F-4D97-AF65-F5344CB8AC3E}">
        <p14:creationId xmlns:p14="http://schemas.microsoft.com/office/powerpoint/2010/main" val="651015899"/>
      </p:ext>
    </p:extLst>
  </p:cSld>
  <p:transition spd="med" advClick="1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B4C43-D943-4335-8AE8-EFA00257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05 / PROPOSED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14672-C3F4-40E2-9F3F-F32492EC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628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THE WORLD MODEL FOR PENTESTING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B3B3A-1446-4243-BE35-F7831B0C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28064-7B33-4983-A7CA-69ED5098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B1A9B-CFD3-4228-8FC7-B3585A7A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3049250" cy="7029450"/>
          </a:xfrm>
          <a:prstGeom xmlns:a="http://schemas.openxmlformats.org/drawingml/2006/main" prst="roundRect">
            <a:avLst>
              <a:gd name="adj" fmla="val 10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E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8b748e5d1c4706"/>
          <a:stretch xmlns:a="http://schemas.openxmlformats.org/drawingml/2006/main"/>
        </p:blipFill>
        <p:spPr>
          <a:xfrm xmlns:a="http://schemas.openxmlformats.org/drawingml/2006/main">
            <a:off x="1967715" y="2228850"/>
            <a:ext cx="10485421" cy="6724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958C3-18FF-46AD-8E2F-5FBCBA15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2438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EXPLORE THE MODEL</a:t>
            </a:r>
          </a:p>
        </p:txBody>
      </p:sp>
      <p:sp>
        <p:nvSpPr>
          <p:cNvPr id="8" name="">
            <a:hlinkClick xmlns:a="http://schemas.openxmlformats.org/drawingml/2006/main" xmlns:r="http://schemas.openxmlformats.org/officeDocument/2006/relationships" r:id="R80607777d9d741c8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01F2B027-7EE3-4BA3-A320-227EA648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3086100"/>
            <a:ext cx="3048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World model?</a:t>
            </a:r>
          </a:p>
        </p:txBody>
      </p:sp>
      <p:sp>
        <p:nvSpPr>
          <p:cNvPr id="9" name="">
            <a:hlinkClick xmlns:a="http://schemas.openxmlformats.org/drawingml/2006/main" xmlns:r="http://schemas.openxmlformats.org/officeDocument/2006/relationships" r:id="R040d52963f90418c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4736E126-829D-4106-AB85-E1554913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362450"/>
            <a:ext cx="3048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agents?</a:t>
            </a:r>
          </a:p>
        </p:txBody>
      </p:sp>
      <p:sp>
        <p:nvSpPr>
          <p:cNvPr id="10" name="">
            <a:hlinkClick xmlns:a="http://schemas.openxmlformats.org/drawingml/2006/main" xmlns:r="http://schemas.openxmlformats.org/officeDocument/2006/relationships" r:id="Ra5217ffbe7244794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C63069FA-1F8C-4AAA-9F26-D310A4C9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5638800"/>
            <a:ext cx="304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will it all work?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47025-06EE-42FB-8A1E-7E48D89B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105650"/>
            <a:ext cx="2933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Select a question during the presentation to open its explanation.</a:t>
            </a:r>
          </a:p>
        </p:txBody>
      </p:sp>
    </p:spTree>
    <p:extLst>
      <p:ext uri="{BB962C8B-B14F-4D97-AF65-F5344CB8AC3E}">
        <p14:creationId xmlns:p14="http://schemas.microsoft.com/office/powerpoint/2010/main" val="608827783"/>
      </p:ext>
    </p:extLst>
  </p:cSld>
  <p:transition spd="med" advClick="1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AF6533-022D-43F9-B2EA-CC21E5AA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06 / WORLD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751F9-58F5-4CB7-849C-02144EC8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628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How a real pentester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DE089-D4F2-4D8A-B8C6-4478A81C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5A671-579D-46A9-BF74-6E16346B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7276E-6CD4-4CF2-9474-743443EB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628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THE WORLD MODEL FOR PENTESTING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5A377-C2C6-411F-BF5A-D12776A5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35623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AF2EE-72F6-452E-B416-A2D6DB9C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857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C9F04-16F6-4307-A7F4-8C835805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1 · Observe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5B987-3378-4A2D-ACC9-3F8C7B43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3067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Collect signals from tools, targets and prior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981DB-7B1F-4F6D-BED8-77A13006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909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F1C3E-E4CE-464A-9A06-6396B3C5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19400"/>
            <a:ext cx="35623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B14E8-5D84-4EA5-A1D7-86538F37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19400"/>
            <a:ext cx="857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E7C3FF-0E66-4843-BEDF-2215C85D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289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2 · Store in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60D997-2C40-441D-BC3B-093E474A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62350"/>
            <a:ext cx="3067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Preserve assets, observations, relationships and source evidence.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94046-E3FC-4E6B-88D4-782FC9C2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909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B52EA-7B4A-4D22-A001-D2D18F84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19400"/>
            <a:ext cx="35623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2A386-AA55-4022-A082-19B11CAD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19400"/>
            <a:ext cx="857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83698-D581-480E-85E9-D97B78DE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3 · Form a hypothesis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8F2C6D-EF79-4151-9CBD-E4627CBE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62350"/>
            <a:ext cx="3067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Explain what the evidence may mean and what could be vulnerable.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3A8BBC-91C3-41F9-AF70-5028D48A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7909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E6806-5F2C-4E54-856C-4E07A0D2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819400"/>
            <a:ext cx="35623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B3AE24-4667-4BAD-BF0D-98A2912D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819400"/>
            <a:ext cx="857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B4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2E5C83-2868-47FD-960B-CFA5A5C6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0289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4 ·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2F6CF7-7847-4945-89B9-174CD30B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562350"/>
            <a:ext cx="3067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Choose the next useful probe and run the appropriate security tool.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BC64AD-68A7-4018-A939-FDA87CA8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5276850"/>
            <a:ext cx="323850" cy="609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2671FA-30A6-4A96-940C-85EC8A26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191250"/>
            <a:ext cx="46482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C8C2BB-E17F-4D18-A095-AB9C5A27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191250"/>
            <a:ext cx="857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B6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29820B-4169-4E18-8C69-6683C5D3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400800"/>
            <a:ext cx="415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5 · Validate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7F8109-24F4-4E3B-8D6B-87376EA9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934200"/>
            <a:ext cx="4152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Compare outcomes, reproduce the result and separate a lead from verified evidence.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4DDF1E-3CFE-4204-9C0F-8FA3A7DA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819900"/>
            <a:ext cx="723900" cy="3429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5BCB5F-6202-46C2-83EF-6D021FA8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191250"/>
            <a:ext cx="48577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4C518E-0B59-4BC7-879C-1F925A0A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191250"/>
            <a:ext cx="857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15C475-ACA6-4388-84F1-925D685D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400800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6 · Update memory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7049AA-61E5-46FF-B9EC-80939731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934200"/>
            <a:ext cx="4362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Record what changed, connect the evidence and revise what should be tested next.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42BFC5-FF5A-4681-A5FA-2DD7AC1B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819900"/>
            <a:ext cx="742950" cy="3429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8377C1-1A75-47A5-B903-BFF1FFB4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91250"/>
            <a:ext cx="39433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7E89CE-A48F-4C82-8373-28A29832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5151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Repeat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09A045-396B-4525-A865-2205E7B2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0675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DCE8F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CE8F0"/>
                </a:solidFill>
                <a:latin typeface="Arial"/>
                <a:ea typeface="Arial"/>
                <a:cs typeface="Arial"/>
              </a:rPr>
              <a:t>Updated memory changes what the tester observes and tests next.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E2909F-A2FE-4223-B03E-C3553090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23850" cy="6096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86FB29-0F38-4EBA-8E0F-8C3591A0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553450"/>
            <a:ext cx="1409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The assessment is a continuous evidence loop—not a one-time scanner run.</a:t>
            </a:r>
          </a:p>
        </p:txBody>
      </p:sp>
      <p:sp>
        <p:nvSpPr>
          <p:cNvPr id="41" name="">
            <a:hlinkClick xmlns:a="http://schemas.openxmlformats.org/drawingml/2006/main" xmlns:r="http://schemas.openxmlformats.org/officeDocument/2006/relationships" r:id="R6ee2722df5464f96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069DFA84-003B-443D-8A68-07475867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439150"/>
            <a:ext cx="2743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rmAutofit fontScale="9230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← Back to architecture</a:t>
            </a:r>
          </a:p>
        </p:txBody>
      </p:sp>
    </p:spTree>
    <p:extLst>
      <p:ext uri="{BB962C8B-B14F-4D97-AF65-F5344CB8AC3E}">
        <p14:creationId xmlns:p14="http://schemas.microsoft.com/office/powerpoint/2010/main" val="1463529898"/>
      </p:ext>
    </p:extLst>
  </p:cSld>
  <p:transition spd="med" advClick="1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D5A05-E00F-4A64-8793-507DDC43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07 / PHASE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07BBF-A295-4A84-9635-9F7DCC0E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628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Specialized agents for each testing phase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5CF51-3278-4E9A-88C4-487D1669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7BF61-02DE-4972-AFF4-C4383A18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D4180-B2FD-46CF-B73C-89BAF082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1628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Standard pentest methodology is divided among specialized agents.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8F6D6-ED9A-4B75-82F3-F02D3A7F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71800"/>
            <a:ext cx="152781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E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cbd21042b4bd8"/>
          <a:stretch xmlns:a="http://schemas.openxmlformats.org/drawingml/2006/main"/>
        </p:blipFill>
        <p:spPr>
          <a:xfrm xmlns:a="http://schemas.openxmlformats.org/drawingml/2006/main">
            <a:off x="1543050" y="3333750"/>
            <a:ext cx="14439900" cy="2095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B6121-B52D-43E2-AC3B-A966CA13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0"/>
            <a:ext cx="49720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35629-4F94-49AE-81EA-855EB93E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0"/>
            <a:ext cx="857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4F6FF-0E5B-48B7-B058-5C91C9A9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865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Reconnaissance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E87E3-21FA-4FC4-8BD9-B7D8E54D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219950"/>
            <a:ext cx="4476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Maps the attack surface using discovery, DNS, probing and service-enumeration tools.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6CBBD-8FD1-478F-8799-B1F11B61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77000"/>
            <a:ext cx="49720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C44B68-323E-41BA-ADC7-9717D995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77000"/>
            <a:ext cx="857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279EE-904B-4AB1-9CFE-509E796C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6865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Vulnerability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8654F-2702-469D-9CEA-76557FD1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7219950"/>
            <a:ext cx="4476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Tests the mapped surface with network, web and vulnerability-analysis tools.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E04CC-500E-4207-91B4-F6EBF04F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77000"/>
            <a:ext cx="49720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9040F-52D4-461B-946C-60D2AD5F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77000"/>
            <a:ext cx="857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B6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50876-48D8-4C54-9396-36ED47EF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6865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FED629-2FA4-4298-BB24-B7D0163C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7219950"/>
            <a:ext cx="4476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Confirms evidence and separates reproducible findings from scanner leads.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9AC21A-26FB-4D38-B685-B5784952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058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Each agent has its own tools and skill files, but all agents operate on the same shared memory.</a:t>
            </a:r>
          </a:p>
        </p:txBody>
      </p:sp>
      <p:sp>
        <p:nvSpPr>
          <p:cNvPr id="21" name="">
            <a:hlinkClick xmlns:a="http://schemas.openxmlformats.org/drawingml/2006/main" xmlns:r="http://schemas.openxmlformats.org/officeDocument/2006/relationships" r:id="R3be13a4d4628495c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83CA678A-0A7D-4D4A-899C-994CB224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553450"/>
            <a:ext cx="2743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rmAutofit fontScale="9230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← Back to architecture</a:t>
            </a:r>
          </a:p>
        </p:txBody>
      </p:sp>
    </p:spTree>
    <p:extLst>
      <p:ext uri="{BB962C8B-B14F-4D97-AF65-F5344CB8AC3E}">
        <p14:creationId xmlns:p14="http://schemas.microsoft.com/office/powerpoint/2010/main" val="150191350"/>
      </p:ext>
    </p:extLst>
  </p:cSld>
  <p:transition spd="med" advClick="1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CD603-4F31-408F-B944-DC3BA8F9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08 / DUAL-MODE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A1AD6-CEE5-43B7-B988-B53550E5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628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How will it all work?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ABCF2-C27B-49D3-9EB5-FCFACFDB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4C03A-F7C9-4700-842F-89BDA698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E1922-658D-4CBC-A68B-B8926137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152781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E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8e3b3548541c3"/>
          <a:stretch xmlns:a="http://schemas.openxmlformats.org/drawingml/2006/main"/>
        </p:blipFill>
        <p:spPr>
          <a:xfrm xmlns:a="http://schemas.openxmlformats.org/drawingml/2006/main">
            <a:off x="2763887" y="2419350"/>
            <a:ext cx="11998226" cy="3295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CB02F-61B6-4CC0-80B3-4C275CD1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0"/>
            <a:ext cx="76200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BDE32-872D-4D3A-A366-B5F6E4BD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0"/>
            <a:ext cx="8572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86979-4256-4DEF-B901-4F22BD5F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86550"/>
            <a:ext cx="712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1 · Deterministic methodology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F024A-9627-4B80-ACD9-FD4BA7C0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219950"/>
            <a:ext cx="712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The battle-tested pentesting methodology runs through repeatable rules and tools without requiring an LLM.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B5F5C-C7F9-4DB8-8C43-F1553B4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477000"/>
            <a:ext cx="78105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3161C-A8A7-464C-B93B-B00B7C76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477000"/>
            <a:ext cx="8572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6FEC2-6E79-4021-9EEA-A7A44819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686550"/>
            <a:ext cx="731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2 · LLM oversight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29402F-583A-47BE-9AA7-2295D2B4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7219950"/>
            <a:ext cx="731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The LLM oversees the assessment, performs contextual analysis and decides where deeper reasoning is useful.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56D574-4B29-4782-A842-0E1E09F0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058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Skill files form the knowledge base for tools, techniques and phase-specific procedures.</a:t>
            </a:r>
          </a:p>
        </p:txBody>
      </p:sp>
      <p:sp>
        <p:nvSpPr>
          <p:cNvPr id="16" name="">
            <a:hlinkClick xmlns:a="http://schemas.openxmlformats.org/drawingml/2006/main" xmlns:r="http://schemas.openxmlformats.org/officeDocument/2006/relationships" r:id="R49e56b4308b04b13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B3372D23-EED1-4C9C-B0CD-C0FC988D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553450"/>
            <a:ext cx="2743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rmAutofit fontScale="9230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← Back to architecture</a:t>
            </a:r>
          </a:p>
        </p:txBody>
      </p:sp>
    </p:spTree>
    <p:extLst>
      <p:ext uri="{BB962C8B-B14F-4D97-AF65-F5344CB8AC3E}">
        <p14:creationId xmlns:p14="http://schemas.microsoft.com/office/powerpoint/2010/main" val="1647872379"/>
      </p:ext>
    </p:extLst>
  </p:cSld>
  <p:transition spd="med" advClick="1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809B1A-0238-410D-B7DB-4627987D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09 / IMPLEMENTATION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8826C-2E53-4810-A603-AE4B5DD2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628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Tools and technologies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CAD6D-3D59-4760-A8CF-46406010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B4A4F-0A66-4666-814B-4D8C0ADF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CFF68-0936-475A-806D-E7B654F7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143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Technologies verified from the current Osprey repository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A2B39-0336-4EF0-8E37-8FEC57EF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CORE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5F9D9-EA32-457A-B6EB-42AB0A78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EXECUTION AND DELIVERY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61DE6-F3BC-4A12-97B2-ACC0BC0E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bbbfb659f4366">
            <a:extLst>
              <a:ext uri="{96DAC541-7B7A-43D3-8B79-37D633B846F1}">
                <asvg:svgBlip xmlns:asvg="http://schemas.microsoft.com/office/drawing/2016/SVG/main" r:embed="Re461d542fdb74bb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32385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45936-BFC7-4A16-AEB9-5623F8A5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004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B52BE-B722-4418-8237-977E7AC2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57600"/>
            <a:ext cx="2400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Core language. Rich and Prompt Toolkit power the operator CLI.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8B3EC-81CD-40EA-9DB4-2D7E31EF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17B4C-1A9D-423A-9ECD-531BEF31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529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5ef01f7d44b65">
            <a:extLst>
              <a:ext uri="{96DAC541-7B7A-43D3-8B79-37D633B846F1}">
                <asvg:svgBlip xmlns:asvg="http://schemas.microsoft.com/office/drawing/2016/SVG/main" r:embed="Rafe41fd3978947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76800" y="32385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53B27-0C76-40FA-9FEA-C58AF5C8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004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7DE5F-E9A2-4CA7-8261-EC0C6A7C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57600"/>
            <a:ext cx="2400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Backend API with live progress streaming to the CLI.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C05E38-C798-441B-8EB4-4C7C2551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958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7E2EA9-AF92-4370-9381-02412F2F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529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bfa04b80342d9">
            <a:extLst>
              <a:ext uri="{96DAC541-7B7A-43D3-8B79-37D633B846F1}">
                <asvg:svgBlip xmlns:asvg="http://schemas.microsoft.com/office/drawing/2016/SVG/main" r:embed="Rf5de1ca76d914e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77300" y="32385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D8D6DA-F6B6-4960-83C3-EECA48D5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004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3B48D7-5165-4233-A145-4CDB46FF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57600"/>
            <a:ext cx="2400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Durable storage for engagements, evidence and world-model state.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965FF0-2D25-4F4E-90FB-4AC2AEE3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958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7CBF6D-68BE-4FCF-A400-75B9A9E8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5529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fe3bcb44a413e">
            <a:extLst>
              <a:ext uri="{96DAC541-7B7A-43D3-8B79-37D633B846F1}">
                <asvg:svgBlip xmlns:asvg="http://schemas.microsoft.com/office/drawing/2016/SVG/main" r:embed="R47583ae0e15647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877800" y="32385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D09727-7404-4ECA-BD12-EAD83135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32004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Docker Compose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A9EAF6-FBAC-48AE-A271-2E006728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3657600"/>
            <a:ext cx="2400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Runs the backend, database and optional Kali toolbox.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743F9A-E505-4E6B-ABEF-0DD8E696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4958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F07C1B-1A96-4F68-BB68-EA2F7880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5247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92c2742cf44ff">
            <a:extLst>
              <a:ext uri="{96DAC541-7B7A-43D3-8B79-37D633B846F1}">
                <asvg:svgBlip xmlns:asvg="http://schemas.microsoft.com/office/drawing/2016/SVG/main" r:embed="R459cacfed0f64a0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6210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16EC5A-81D5-4C98-BC5C-4AE14939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1722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Kali Linux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76AF1D-7851-46DA-991A-74DD19BA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629400"/>
            <a:ext cx="2400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7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Execution environment for Nmap, Nuclei, SQLmap and other security tools.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F73559-3C1E-40A3-B606-595B3D2B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67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DC7079-AC7B-4226-9CF3-19664CE2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5247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3094209e5649b5">
            <a:extLst>
              <a:ext uri="{96DAC541-7B7A-43D3-8B79-37D633B846F1}">
                <asvg:svgBlip xmlns:asvg="http://schemas.microsoft.com/office/drawing/2016/SVG/main" r:embed="Raac84d16d0a54a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76800" y="6210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2513B3-39DC-4EF3-AB7B-667C8C12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1722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MCP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0AAA91-A65F-4D85-B63A-1580F1FD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629400"/>
            <a:ext cx="2400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Typed contract connecting the harness with each security tool.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B62068-D078-41D5-9393-7B61C9F7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467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4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4E8FFA-54F6-4872-9164-E38A7B71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75247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1142b4eb64252">
            <a:extLst>
              <a:ext uri="{96DAC541-7B7A-43D3-8B79-37D633B846F1}">
                <asvg:svgBlip xmlns:asvg="http://schemas.microsoft.com/office/drawing/2016/SVG/main" r:embed="R6b5806958ed8418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77300" y="6210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3EB4B2-5194-4BBD-BDB4-70A3C810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722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GitHub Actions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AB61E8-1A81-4DFC-B47A-906EEFEA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29400"/>
            <a:ext cx="2400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Builds and publishes the reproducible Kali tool image.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7E755F-D149-47F4-997A-C5F495AF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7467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FDEDBE-344F-4CE3-861D-286ABFC5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5247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4bfb7d1824c87">
            <a:extLst>
              <a:ext uri="{96DAC541-7B7A-43D3-8B79-37D633B846F1}">
                <asvg:svgBlip xmlns:asvg="http://schemas.microsoft.com/office/drawing/2016/SVG/main" r:embed="Rac7187fa75d041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877800" y="6210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285B5F-D3CA-46DF-B53A-B3C847D2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1722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Shell automation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741C59-3FE5-4DFD-8834-2778CAF8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629400"/>
            <a:ext cx="2400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Bash and PowerShell support setup and one-off execution.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5BFF70-AE6B-4C6D-BA0D-4B39FC94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467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B64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8C9898-4C8D-4327-AB1C-1A7E69B0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248650"/>
            <a:ext cx="15773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5743BC-E685-4135-A451-4D601AA8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448675"/>
            <a:ext cx="1508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Optional AI connectivity uses LiteLLM so the harness can work with multiple model providers.</a:t>
            </a:r>
          </a:p>
        </p:txBody>
      </p:sp>
    </p:spTree>
    <p:extLst>
      <p:ext uri="{BB962C8B-B14F-4D97-AF65-F5344CB8AC3E}">
        <p14:creationId xmlns:p14="http://schemas.microsoft.com/office/powerpoint/2010/main" val="480048436"/>
      </p:ext>
    </p:extLst>
  </p:cSld>
  <p:transition spd="med" advClick="1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49EB7E-FF1B-4629-AD40-1530CFD8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10 / DELIVERY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D8290-1293-463F-91C3-AE3BB1E1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628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Planned timeline and milestones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04CED-F268-4F6D-B992-318467F3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800E0-4527-4F8C-ADB9-0E0DC2CE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B5A59-FB91-4D57-88A8-7F19F379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September 2026 → April 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3B253-3788-44D9-A4D5-3C1AFE79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1438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CAD6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C7F68-568D-4569-B2BB-F6D1965E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657350" cy="20955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62D13-D000-42AB-89D5-F9D6BE1F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95650"/>
            <a:ext cx="108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EF3F4-7A40-4F38-B609-2C6215F9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1466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Planning &amp;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19CD7-FB15-41A5-B65E-769BCC7D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67050"/>
            <a:ext cx="1657350" cy="20955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A5550-8638-4917-9937-3AC596F4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295650"/>
            <a:ext cx="108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E18E3-50FF-4DEC-8619-B3BF1192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057650"/>
            <a:ext cx="1466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Recon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95027-A95F-4F47-8621-C608A06E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67050"/>
            <a:ext cx="1657350" cy="20955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5E718-4EE3-4802-97EA-3D6BF94D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95650"/>
            <a:ext cx="108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C409D-36DB-4D6E-B657-1D916600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57650"/>
            <a:ext cx="1466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Network &amp; web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F97CC-65CC-40A6-80E2-97EACDF3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067050"/>
            <a:ext cx="1657350" cy="20955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BFC42-AC61-4313-8536-846709FE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295650"/>
            <a:ext cx="108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F8B6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FA2E9F-5AB1-43B1-9BB5-D7FC5F95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57650"/>
            <a:ext cx="1466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Integration &amp;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correlation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B13EF8-8887-4305-9D22-0B971D84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67050"/>
            <a:ext cx="1657350" cy="20955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AEAE7D-22A6-4A0F-BA65-0FAEF49E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95650"/>
            <a:ext cx="108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55B4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8F9C4B-6994-4754-8C07-53AA0E98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57650"/>
            <a:ext cx="1466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Business logic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&amp; safety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F39435-501F-45B2-81CB-B12526DC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067050"/>
            <a:ext cx="1657350" cy="20955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052D40-8388-4BC5-8B72-6BCE529F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295650"/>
            <a:ext cx="108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79A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0F15F1-834C-45B2-AEA7-07389B26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4057650"/>
            <a:ext cx="1466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Dual-mode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orchestration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E022CC-ED44-495C-BCDF-B689638E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3067050"/>
            <a:ext cx="1657350" cy="20955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FB07D1-88C0-413F-9DD9-F1D875A7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3295650"/>
            <a:ext cx="108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573A43-EC47-43CB-9BA3-090AADEB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057650"/>
            <a:ext cx="1466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Testing &amp;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refinement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325489-731C-4963-B03A-02ED7C3D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025" y="3067050"/>
            <a:ext cx="1657350" cy="20955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D0EE48-284B-462E-AACC-AE873D6A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775" y="3295650"/>
            <a:ext cx="108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E11F6C-E558-4700-85FF-8FB14B7E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3275" y="4057650"/>
            <a:ext cx="1466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Evaluation &amp;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defense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222DEC-9AF6-4F85-8479-0BF47E0E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67400"/>
            <a:ext cx="157734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E8EFF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8AB5C2-344B-4F65-B6CB-D5A560C5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191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Evaluation focus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9999A5-8F65-4382-9C32-745F39F7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72250"/>
            <a:ext cx="4476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B7B236-B7B8-48A9-984F-272ACCF3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72250"/>
            <a:ext cx="857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EEF0C1-79F0-4F9C-B59D-AAA0E103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7818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8CA9A7-1A14-4960-B088-EEDB47A2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315200"/>
            <a:ext cx="3981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9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Attack-surface discovery and vulnerability coverage.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C5E427-C4BC-44D1-AB88-9745D426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572250"/>
            <a:ext cx="4476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1C5BCC-2424-47AB-BC51-ED4E9F9A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572250"/>
            <a:ext cx="857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3B6E9B-78CA-491A-9EE3-DB804636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7818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5D85C6-792B-41B4-892F-75466AB6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7315200"/>
            <a:ext cx="3981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4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Comparable operation with and without an LLM.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E93CDA-950E-4B7F-BAF9-A83C60C1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72250"/>
            <a:ext cx="5619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573ED6-DC2E-484D-9762-FB3569A5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72250"/>
            <a:ext cx="857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2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6FAEFE-7AC2-4C54-9826-3B8FE329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781800"/>
            <a:ext cx="512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Safety and efficiency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0E5614-727E-46AD-8D6B-55EBAD53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7315200"/>
            <a:ext cx="512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Zero scope violations and measurable time improvement.</a:t>
            </a:r>
          </a:p>
        </p:txBody>
      </p:sp>
    </p:spTree>
    <p:extLst>
      <p:ext uri="{BB962C8B-B14F-4D97-AF65-F5344CB8AC3E}">
        <p14:creationId xmlns:p14="http://schemas.microsoft.com/office/powerpoint/2010/main" val="454871749"/>
      </p:ext>
    </p:extLst>
  </p:cSld>
  <p:transition spd="med" advClick="1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772672-371A-4F38-9DC3-87BE9B75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11 /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473D0-874E-4E75-A4C5-96C3C62F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628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Team responsibilities and shared ownership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67402-FF2E-4F46-A717-46FEFEF0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79DD4-6703-4CB9-90CD-8C0DCC13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993A4-2719-4180-9639-D0824372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87680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CACB9-3E6E-42AD-9047-2354FEE1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85725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D31E8-8912-4EBA-966B-2C31A59D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Abdul Ahad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D8EDF-A3B6-4C50-ADD3-B2806B76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43815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Primary responsibility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System architecture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AI orchestration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Methodology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7FFB8-D6D0-4C1B-9A6B-339EF9FC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33650"/>
            <a:ext cx="487680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51A7E-FCD0-4239-A79F-191746E5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33650"/>
            <a:ext cx="85725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84480-2D3B-4AC6-B3D9-CB24C582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432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Muhammad Usman Hamed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BA36C-D895-457A-876C-8793182C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76600"/>
            <a:ext cx="43815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Primary responsibility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Reconnaissance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Security assessment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Tool evaluation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9897F-F85A-4D07-8957-1C6DB369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33650"/>
            <a:ext cx="552450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AD74F-038D-4E0F-8D80-128CCB17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33650"/>
            <a:ext cx="85725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14DFD8-5312-4A6E-83DC-A12C0E58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743200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Obaid Ishtiaq Satti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5DB915-7B07-40FA-9B06-F954EE7C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276600"/>
            <a:ext cx="50292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Primary responsibility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Platform and interface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Reporting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Deployment support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03ED63-866B-4DE0-AC99-B9573F7C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62700"/>
            <a:ext cx="157734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EF9CA4-CA64-4E80-81AC-CCD8422C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7056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Shared across the team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02D40E-E362-471A-B9D6-14D0EFEE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334250"/>
            <a:ext cx="4191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EF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EE623B-D1EB-4EE2-B151-4367001F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7334250"/>
            <a:ext cx="4191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EF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Testing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39EE7-F200-4568-996A-93809970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334250"/>
            <a:ext cx="4191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EF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E3564-CAC6-4DE3-8F19-E5ADF257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905750"/>
            <a:ext cx="4191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EF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Debugging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E2B953-E61A-4B21-875D-65A62A84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7905750"/>
            <a:ext cx="4191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EF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Performance evaluation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29E69D-138F-4DFF-A517-E4C2246E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905750"/>
            <a:ext cx="4191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EF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Documentation</a:t>
            </a:r>
          </a:p>
        </p:txBody>
      </p:sp>
    </p:spTree>
    <p:extLst>
      <p:ext uri="{BB962C8B-B14F-4D97-AF65-F5344CB8AC3E}">
        <p14:creationId xmlns:p14="http://schemas.microsoft.com/office/powerpoint/2010/main" val="1535112377"/>
      </p:ext>
    </p:extLst>
  </p:cSld>
  <p:transition spd="med" advClick="1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2F38A4-A3C1-4A51-B40C-232A2D3A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12 /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0644E-9413-4406-9E3B-EFB4DF61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628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Who will use the proposed system?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E05FF-4AE9-4948-8C6B-6A57122D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E2473-DC8C-4669-9672-FA1AA12D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69003-7167-46F6-AE2C-54C43CC9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3695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060CF-4EC0-47D2-9E2C-79A35DAC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857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F2C1E-48FB-490A-90FC-5DB5CC11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Penetration testing firms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6EA2D-7AE8-4E87-BE6B-7F1ADB45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320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Repeatable external assessments across wide client surfaces.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06CBE-0CAF-4979-8FE6-F6E64CBC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76500"/>
            <a:ext cx="3695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EBAFA-31D8-49A5-AC1C-3EA25D4B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76500"/>
            <a:ext cx="857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B703F-3314-4262-B619-5940E18A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8605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Internal security teams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34BBB-61CF-48F4-B810-8D8519A0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19450"/>
            <a:ext cx="320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Continuous visibility and evidence across changing infrastructure.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22522-4572-456A-8DF3-22181C74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3695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0C442-0E14-4FF9-BCC1-D09C93AE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857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0F3EF-0558-40AE-85B6-B3D46F64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8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Managed security providers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57EBB-1B45-49FA-9D8C-32DEB140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19450"/>
            <a:ext cx="320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Standardized multi-engagement execution and reporting.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386DEC-5146-4DF5-B2B8-148DE63F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476500"/>
            <a:ext cx="3695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33F24F-4BC6-437A-91BE-FDEE9EBD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476500"/>
            <a:ext cx="857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B6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1A3D5C-4012-48D5-BC03-F5FB9968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268605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DevSecOps teams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36A9B4-AD75-4278-BB1B-34583C64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219450"/>
            <a:ext cx="320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Security assessment integrated into engineering workflows.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1E91D7-3651-4059-A7AD-46A5775E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483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UN Sustainable Development Goal alignment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CB69AD-3B95-46D4-9594-F8258FD0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96050"/>
            <a:ext cx="4876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596395-BB3C-4CCC-84D2-C1238467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96050"/>
            <a:ext cx="857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C34391-AEA4-4D07-B95D-1AF49C5D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05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SDG 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4DA410-B2A6-4086-8F37-A50F4BE6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239000"/>
            <a:ext cx="438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Industry, innovation and resilient infrastructure.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79E254-95D3-489E-8A7C-C90E78C1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496050"/>
            <a:ext cx="4876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E9B5D6-109F-4EBD-AF3F-077F768A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496050"/>
            <a:ext cx="857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89C5B9-4118-42CE-8647-5A47CE99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705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SDG 16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CCBE7C-7564-4971-B3C0-DF08DC26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7239000"/>
            <a:ext cx="438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Stronger institutions through improved cyber resilience.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8FB042-2C3C-48D4-AA7D-223EFF46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82749C-D38F-4BE3-97DE-0205E437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857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1EA342-DE39-41E8-8949-744EE8C7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705600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SDG 17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C97A48-35A5-409F-A7AE-2AAC5778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7239000"/>
            <a:ext cx="5029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Partnerships through interoperable, open security tooling.</a:t>
            </a:r>
          </a:p>
        </p:txBody>
      </p:sp>
    </p:spTree>
    <p:extLst>
      <p:ext uri="{BB962C8B-B14F-4D97-AF65-F5344CB8AC3E}">
        <p14:creationId xmlns:p14="http://schemas.microsoft.com/office/powerpoint/2010/main" val="121255566"/>
      </p:ext>
    </p:extLst>
  </p:cSld>
  <p:transition spd="med" advClick="1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13819-5440-49D4-AA1A-3E48EE24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"/>
            <a:ext cx="2724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8B84"/>
                </a:solidFill>
                <a:latin typeface="Arial"/>
                <a:ea typeface="Arial"/>
                <a:cs typeface="Arial"/>
              </a:rPr>
              <a:t>FYP PROPOSAL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E7399-9669-4F73-BB6A-5C0F27B0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8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06688-EA41-4D10-82E5-F8E323AE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D7C60-B842-4441-AC70-0848EAA0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A64AE-1459-4057-BFBF-A7DB20DE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Proposed autonomous web security assessment framework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B1876-9D75-4246-9740-D4BE2FFF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Working title · proposed architecture · planned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F5270-24C7-4211-855C-3E7933BE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52550"/>
            <a:ext cx="6191250" cy="6572250"/>
          </a:xfrm>
          <a:prstGeom xmlns:a="http://schemas.openxmlformats.org/drawingml/2006/main" prst="roundRect">
            <a:avLst>
              <a:gd name="adj" fmla="val 1231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1D07A-09D1-4FFA-A308-0CE76F5D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92405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6BE4F-9DF5-4369-AA92-0443A159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can a pentesting harness remain useful when AI is unavailable?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34D23-BB2E-4B84-8C51-3A04BEB9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8958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5F0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D8B84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01EFE-9858-4F55-AEC1-ECAA6E0F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8958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05345-0F5A-44DF-9686-C6013429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91200"/>
            <a:ext cx="4667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E8D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9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9A32"/>
                </a:solidFill>
                <a:latin typeface="Arial"/>
                <a:ea typeface="Arial"/>
                <a:cs typeface="Arial"/>
              </a:rPr>
              <a:t>Human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3EBBE-602D-4F18-83D4-1D8ECCA8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1628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DCE8F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CE8F0"/>
                </a:solidFill>
                <a:latin typeface="Arial"/>
                <a:ea typeface="Arial"/>
                <a:cs typeface="Arial"/>
              </a:rPr>
              <a:t>Muhammad Usman Hamed · Abdul Ahad · Obaid Ishtiaq Satti</a:t>
            </a:r>
          </a:p>
        </p:txBody>
      </p:sp>
    </p:spTree>
    <p:extLst>
      <p:ext uri="{BB962C8B-B14F-4D97-AF65-F5344CB8AC3E}">
        <p14:creationId xmlns:p14="http://schemas.microsoft.com/office/powerpoint/2010/main" val="495701891"/>
      </p:ext>
    </p:extLst>
  </p:cSld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2026-10-02T02:51:43.4290000Z</dcterms:created>
  <dcterms:modified xsi:type="dcterms:W3CDTF">2026-10-02T02:51:43.4290000Z</dcterms:modified>
</coreProperties>
</file>