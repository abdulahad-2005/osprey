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7da64e91454b79" /><Relationship Type="http://schemas.openxmlformats.org/officeDocument/2006/relationships/extended-properties" Target="/docProps/app.xml" Id="R5d604e1a0e664272" /><Relationship Type="http://schemas.openxmlformats.org/officeDocument/2006/relationships/officeDocument" Target="/ppt/presentation.xml" Id="Re18cde64bc1b434d"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8ae2a98422214e37"/>
  </p:sldMasterIdLst>
  <p:notesMasterIdLst>
    <p:notesMasterId xmlns:r="http://schemas.openxmlformats.org/officeDocument/2006/relationships" r:id="R1b266b99b3134861"/>
  </p:notesMasterIdLst>
  <p:sldIdLst>
    <p:sldId xmlns:r="http://schemas.openxmlformats.org/officeDocument/2006/relationships" id="256" r:id="Ra106bac6c3ba4f3c"/>
    <p:sldId xmlns:r="http://schemas.openxmlformats.org/officeDocument/2006/relationships" id="257" r:id="Re529faa566c14587"/>
    <p:sldId xmlns:r="http://schemas.openxmlformats.org/officeDocument/2006/relationships" id="258" r:id="R7f1ee9158c304004"/>
    <p:sldId xmlns:r="http://schemas.openxmlformats.org/officeDocument/2006/relationships" id="259" r:id="Rfe6107149a824bea"/>
    <p:sldId xmlns:r="http://schemas.openxmlformats.org/officeDocument/2006/relationships" id="260" r:id="R882ea72213754589"/>
    <p:sldId xmlns:r="http://schemas.openxmlformats.org/officeDocument/2006/relationships" id="261" r:id="R3caa3911b3e949ee"/>
    <p:sldId xmlns:r="http://schemas.openxmlformats.org/officeDocument/2006/relationships" id="262" r:id="R4ec343c3973d4459"/>
    <p:sldId xmlns:r="http://schemas.openxmlformats.org/officeDocument/2006/relationships" id="263" r:id="Rf401d6a722be4341"/>
    <p:sldId xmlns:r="http://schemas.openxmlformats.org/officeDocument/2006/relationships" id="264" r:id="R8bdb7fc7ad7a4dc6"/>
    <p:sldId xmlns:r="http://schemas.openxmlformats.org/officeDocument/2006/relationships" id="265" r:id="R44172af79fac4eef"/>
    <p:sldId xmlns:r="http://schemas.openxmlformats.org/officeDocument/2006/relationships" id="266" r:id="R16e6dd09e2dd4221"/>
    <p:sldId xmlns:r="http://schemas.openxmlformats.org/officeDocument/2006/relationships" id="267" r:id="Re9e0adf1610d4b62"/>
    <p:sldId xmlns:r="http://schemas.openxmlformats.org/officeDocument/2006/relationships" id="268" r:id="R9f7d19c3fd314c5e"/>
  </p:sldIdLst>
  <p:sldSz cx="18288000" cy="10287000"/>
  <p:notesSz cx="6858000" cy="9144000"/>
  <p:embeddedFontLst>
    <p:embeddedFont>
      <p:font typeface="Anton"/>
      <p:regular xmlns:r="http://schemas.openxmlformats.org/officeDocument/2006/relationships" r:id="R42f5330144494233"/>
    </p:embeddedFont>
    <p:embeddedFont>
      <p:font typeface="Canva Sans"/>
      <p:regular xmlns:r="http://schemas.openxmlformats.org/officeDocument/2006/relationships" r:id="Rfeef24b78fbd4bc5"/>
    </p:embeddedFont>
    <p:embeddedFont>
      <p:font typeface="Canva Sans Bold"/>
      <p:regular xmlns:r="http://schemas.openxmlformats.org/officeDocument/2006/relationships" r:id="Rb1f887c0b2e24edc"/>
    </p:embeddedFont>
    <p:embeddedFont>
      <p:font typeface="Glacial Indifference"/>
      <p:regular xmlns:r="http://schemas.openxmlformats.org/officeDocument/2006/relationships" r:id="R1dfee2c2afec4e3e"/>
    </p:embeddedFont>
    <p:embeddedFont>
      <p:font typeface="Glacial Indifference Bold"/>
      <p:regular xmlns:r="http://schemas.openxmlformats.org/officeDocument/2006/relationships" r:id="R23181eaa20f240a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2f4f0a391e34cd6" /><Relationship Type="http://schemas.openxmlformats.org/officeDocument/2006/relationships/slideMaster" Target="/ppt/slideMasters/slideMaster1.xml" Id="R8ae2a98422214e37" /><Relationship Type="http://schemas.openxmlformats.org/officeDocument/2006/relationships/notesMaster" Target="/ppt/notesMasters/notesMaster1.xml" Id="R1b266b99b3134861" /><Relationship Type="http://schemas.openxmlformats.org/officeDocument/2006/relationships/presProps" Target="/ppt/presProps.xml" Id="R308ba9daadf34c45" /><Relationship Type="http://schemas.openxmlformats.org/officeDocument/2006/relationships/viewProps" Target="/ppt/viewProps.xml" Id="Rd37311e0b824463c" /><Relationship Type="http://schemas.openxmlformats.org/officeDocument/2006/relationships/tableStyles" Target="/ppt/tableStyles.xml" Id="R2b9d59888cde480e" /><Relationship Type="http://schemas.openxmlformats.org/officeDocument/2006/relationships/font" Target="/ppt/fonts/font.dat" Id="R42f5330144494233" /><Relationship Type="http://schemas.openxmlformats.org/officeDocument/2006/relationships/font" Target="/ppt/fonts/font2.dat" Id="Rfeef24b78fbd4bc5" /><Relationship Type="http://schemas.openxmlformats.org/officeDocument/2006/relationships/font" Target="/ppt/fonts/font3.dat" Id="Rb1f887c0b2e24edc" /><Relationship Type="http://schemas.openxmlformats.org/officeDocument/2006/relationships/font" Target="/ppt/fonts/font4.dat" Id="R1dfee2c2afec4e3e" /><Relationship Type="http://schemas.openxmlformats.org/officeDocument/2006/relationships/font" Target="/ppt/fonts/font5.dat" Id="R23181eaa20f240a3" /><Relationship Type="http://schemas.openxmlformats.org/officeDocument/2006/relationships/slide" Target="/ppt/slides/slide1.xml" Id="Ra106bac6c3ba4f3c" /><Relationship Type="http://schemas.openxmlformats.org/officeDocument/2006/relationships/slide" Target="/ppt/slides/slide2.xml" Id="Re529faa566c14587" /><Relationship Type="http://schemas.openxmlformats.org/officeDocument/2006/relationships/slide" Target="/ppt/slides/slide3.xml" Id="R7f1ee9158c304004" /><Relationship Type="http://schemas.openxmlformats.org/officeDocument/2006/relationships/slide" Target="/ppt/slides/slide4.xml" Id="Rfe6107149a824bea" /><Relationship Type="http://schemas.openxmlformats.org/officeDocument/2006/relationships/slide" Target="/ppt/slides/slide5.xml" Id="R882ea72213754589" /><Relationship Type="http://schemas.openxmlformats.org/officeDocument/2006/relationships/slide" Target="/ppt/slides/slide6.xml" Id="R3caa3911b3e949ee" /><Relationship Type="http://schemas.openxmlformats.org/officeDocument/2006/relationships/slide" Target="/ppt/slides/slide7.xml" Id="R4ec343c3973d4459" /><Relationship Type="http://schemas.openxmlformats.org/officeDocument/2006/relationships/slide" Target="/ppt/slides/slide8.xml" Id="Rf401d6a722be4341" /><Relationship Type="http://schemas.openxmlformats.org/officeDocument/2006/relationships/slide" Target="/ppt/slides/slide9.xml" Id="R8bdb7fc7ad7a4dc6" /><Relationship Type="http://schemas.openxmlformats.org/officeDocument/2006/relationships/slide" Target="/ppt/slides/slide10.xml" Id="R44172af79fac4eef" /><Relationship Type="http://schemas.openxmlformats.org/officeDocument/2006/relationships/slide" Target="/ppt/slides/slide11.xml" Id="R16e6dd09e2dd4221" /><Relationship Type="http://schemas.openxmlformats.org/officeDocument/2006/relationships/slide" Target="/ppt/slides/slide12.xml" Id="Re9e0adf1610d4b62" /><Relationship Type="http://schemas.openxmlformats.org/officeDocument/2006/relationships/slide" Target="/ppt/slides/slide13.xml" Id="R9f7d19c3fd314c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c151b71ec640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6a1fc673b0410b" /><Relationship Type="http://schemas.openxmlformats.org/officeDocument/2006/relationships/notesMaster" Target="/ppt/notesMasters/notesMaster1.xml" Id="R38af89e82a3546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f83bf382684b3f" /><Relationship Type="http://schemas.openxmlformats.org/officeDocument/2006/relationships/notesMaster" Target="/ppt/notesMasters/notesMaster1.xml" Id="Rb70932704ae043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ad3431e17c4764" /><Relationship Type="http://schemas.openxmlformats.org/officeDocument/2006/relationships/notesMaster" Target="/ppt/notesMasters/notesMaster1.xml" Id="R3bab4d5929d140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984687b7f740de" /><Relationship Type="http://schemas.openxmlformats.org/officeDocument/2006/relationships/notesMaster" Target="/ppt/notesMasters/notesMaster1.xml" Id="R294323c6b1a04f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76c493ac2346ef" /><Relationship Type="http://schemas.openxmlformats.org/officeDocument/2006/relationships/notesMaster" Target="/ppt/notesMasters/notesMaster1.xml" Id="Re00683d923584e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d59f5b0e1043a5" /><Relationship Type="http://schemas.openxmlformats.org/officeDocument/2006/relationships/notesMaster" Target="/ppt/notesMasters/notesMaster1.xml" Id="Ra391ea8d869a47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6b735a2c604a6a" /><Relationship Type="http://schemas.openxmlformats.org/officeDocument/2006/relationships/notesMaster" Target="/ppt/notesMasters/notesMaster1.xml" Id="Rcdece579f9fc44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649ab5c3eb40b4" /><Relationship Type="http://schemas.openxmlformats.org/officeDocument/2006/relationships/notesMaster" Target="/ppt/notesMasters/notesMaster1.xml" Id="R21f5d075fb1440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3924fb8fe64151" /><Relationship Type="http://schemas.openxmlformats.org/officeDocument/2006/relationships/notesMaster" Target="/ppt/notesMasters/notesMaster1.xml" Id="Ref2f79fdd53c4b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9b114fb02e4d2c" /><Relationship Type="http://schemas.openxmlformats.org/officeDocument/2006/relationships/notesMaster" Target="/ppt/notesMasters/notesMaster1.xml" Id="R624469c1e10641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e97b3410a647aa" /><Relationship Type="http://schemas.openxmlformats.org/officeDocument/2006/relationships/notesMaster" Target="/ppt/notesMasters/notesMaster1.xml" Id="R1932c332928f43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6367b72edd4add" /><Relationship Type="http://schemas.openxmlformats.org/officeDocument/2006/relationships/notesMaster" Target="/ppt/notesMasters/notesMaster1.xml" Id="R63ae3da8de764f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7c37b91a4d4992" /><Relationship Type="http://schemas.openxmlformats.org/officeDocument/2006/relationships/notesMaster" Target="/ppt/notesMasters/notesMaster1.xml" Id="R36be52cbc2104e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proposal. The project name is still under consideration, so the deck uses a descriptive working title rather than treating Osprey as final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Equifax breach was not caused by a lack of security tools. The organization had a patching process, but a complex legacy environment and failed verification left an internet-facing portal exposed. Official sources: https://oversight.house.gov/report/committee-releases-report-revealing-new-information-on-equifax-data-breach/ and https://www.ftc.gov/news-events/news/press-releases/2019/07/equifax-pay-575-million-part-settlement-ftc-cfpb-states-related-2017-data-breach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at the top shows the steps a tester normally performs. The table compares conventional tools, AI pentesting agents and AI security frameworks. Conventional tools are mature but fragmented. AI systems add reasoning, yet many depend on external models and do not provide broad, continuous reconnaissance or persistent cross-stage correlation.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phrase operational security gap. The central argument is not that the industry lacks scanners; it lacks a dependable harness that can coordinate them over a changing, wide attack surface while keeping evidence and scope intact. Emphasize that LLMs are valuable but should not be mandatory for routine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three formal objectives at a high level. The first objective creates one unified assessment harness. The second keeps the system functional without an external LLM. The third covers scope, evidence and human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solution. One unified harness connects authorized scope, security tools, evidence and reporting. The deterministic engine performs the repeatable methodology. AI assistance adds contextual reasoning when needed. Both modes use the same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presents the methodology at the level expected in a proposal defense. Reconnaissance builds the surface. Vulnerability assessment tests it. Validation prevents scanner output from becoming an unsupported finding. Reporting preserves the evidence chain. The unified harness coordinates all four phases.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 single expansion tool and not a rigid checklist. The engine evaluates opportunities from current evidence, selects the next standard action, and loops when new facts change the surface. Nuclei, SQLmap and other baseline scanners remain part of the methodology; AI is not required to remember to run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why the platform will not rely on promotion calculations or a mixed bucket of findings. Memory will reflect an evidence lifecycle: raw tool facts first, hypotheses and candidates separately, then verified findings only when proof exists. This reduces false positives without adding another complex scoring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planned schedule. The final evaluation will compare coverage, reliability across both modes, safety controls and time efficiency against manual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 primary areas identify ownership, not silos. Integration, testing, validation, debugging, evaluation and documentation remain shared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users are professional security teams. The SDG mapping is supportive context: resilient infrastructure, stronger institutions and interoperable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whether the system already exists, clarify that this defense presents the proposed architecture and planned implementation; the project name is still a working title.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7a2dca16e04d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dbc5d5651048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3ebf35bdad40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bf2e97736042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c8e26fde014b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991444ff6d4a6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03865a98f1e435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b8cd2a14a2c4b8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ff4b64ff87148d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e376498a72e471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59377c2a5f44e2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DB72CB-0C3A-4D7B-B516-B8432E2161A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41A6C2E-B59E-4A8B-87E6-2EFAA344A4D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C42B300E-6AA2-46DA-96DA-D1ECC53C17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4826C0AE-4906-4D96-A3E1-AD6F0CB38B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D85C24F-174D-42A5-99EF-4E78F0F270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EEC3D6-9494-4F46-AC5E-DB6B0CD5AC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07A51A5-EDC4-4354-ADC3-12C4358E67F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6E15809-562A-457B-9023-570F3701F9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0E38C7F0-B363-404A-80AA-F5F1270386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1273040-D85C-4ECA-954F-5902D252BA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385302-C685-49B7-94CF-C3EF0B16C8B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E2ADE70-FE19-4802-AC06-C02957B4FEC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EA1CB95-5115-4B45-AB32-207A88FD34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44119288-2D84-485A-944D-8B3E015363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AC0089-6D9B-4A26-82BB-69CD7028D7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81F03C-5760-4DFD-B805-850BB2D094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8A178D0-BAA6-481A-8A1F-7A98B7CD760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F81BA754-21A3-4800-92E7-0ED5BF0E613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CD0861B4-4003-4137-8229-F448E39446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C2F3F7D8-476C-481D-8231-77CA0D6A9F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57EA59C-2BAE-497A-9763-5F8811DF23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4D0606-98B3-460B-B01C-BC2679B1BC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BD76864-8F3B-4C32-A057-45429831FF07}"/>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EEF2A9B-1A2B-40FE-8170-76E2E627344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6ED6DB4-E352-436B-8DE7-5877C7560F0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34FEDA6-08D3-4733-990E-384F70303399}"/>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266D673B-AA5B-4049-8363-331AD1EC37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8" name="Footer Placeholder 7">
            <a:extLst xmlns:a="http://schemas.openxmlformats.org/drawingml/2006/main">
              <a:ext uri="{FF2B5EF4-FFF2-40B4-BE49-F238E27FC236}">
                <a16:creationId xmlns:a16="http://schemas.microsoft.com/office/drawing/2014/main" id="{9C5426E7-DAD7-4D85-BFCD-88BB6ED032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E38CF0E-1E04-4FC3-88C6-D1E4ACF06A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D760F0-1DFD-478C-ADC3-B312C6632D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9A8E856-26C7-4182-B542-0E0FF77E0B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4" name="Footer Placeholder 3">
            <a:extLst xmlns:a="http://schemas.openxmlformats.org/drawingml/2006/main">
              <a:ext uri="{FF2B5EF4-FFF2-40B4-BE49-F238E27FC236}">
                <a16:creationId xmlns:a16="http://schemas.microsoft.com/office/drawing/2014/main" id="{8FD36122-A975-4FA1-8830-64F64D280D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4DFA473-32ED-4D24-B72E-E2EE5C84BD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71E8E23-60D2-4BE1-A3BD-1A560D4C18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3" name="Footer Placeholder 2">
            <a:extLst xmlns:a="http://schemas.openxmlformats.org/drawingml/2006/main">
              <a:ext uri="{FF2B5EF4-FFF2-40B4-BE49-F238E27FC236}">
                <a16:creationId xmlns:a16="http://schemas.microsoft.com/office/drawing/2014/main" id="{EADAF818-8FA1-4715-BFEB-40C637090B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C4F4290-7A3A-4449-9E23-E9FDEED7CB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D4A760-7FC6-4FAA-A4AA-2F9ECC98F73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EFCACCE-A5F9-433F-B0F8-2E5A079A952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ED64386A-0327-4311-BD1A-0AB341F7A10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F949D27-B4D4-47A5-834D-20C4E25347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FFC1962D-C0E4-481E-B590-5BEA0DD7FF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53D211D-7744-45C1-B7EF-AB7B51F46C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4E4A49-22B4-4E14-BD1E-3C9B5AA7CE2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9585289-5734-4E12-A43C-86E19573FCD0}"/>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7D583E7-8CA6-46D8-9E0D-1220DA2C824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E97B1A7-18FD-4A99-9862-631AFA949D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6" name="Footer Placeholder 5">
            <a:extLst xmlns:a="http://schemas.openxmlformats.org/drawingml/2006/main">
              <a:ext uri="{FF2B5EF4-FFF2-40B4-BE49-F238E27FC236}">
                <a16:creationId xmlns:a16="http://schemas.microsoft.com/office/drawing/2014/main" id="{3D8CC3D9-F115-41FE-A8BA-98696E2BF6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B3644CA-EF8F-4666-BA1F-0A91BD524D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39B901-7BEC-4206-9AD6-F426DE5D12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0D09170-9443-4AB2-86F6-4D2837535C0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C0B5EFD-8CC4-4D3B-981A-2A39973C4B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25721B04-F308-482E-8DF9-299A4855E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7BE44BB-C390-4B68-90DA-71E1119006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4548C0D-18F1-477E-85BB-13C1B9521C10}"/>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9C772E8-E935-418D-8BE9-89546B6D9C92}"/>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021CFD-E968-418A-AA76-23BA17AB66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9868E0AA-759E-44C5-B6F9-1A2D5EFDEC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3890E4-4786-4486-B0F4-01E3A3FF4E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c2f753794448f3" /><Relationship Type="http://schemas.openxmlformats.org/officeDocument/2006/relationships/slideLayout" Target="/ppt/slideLayouts/slideLayout1.xml" Id="R7cbcddc1a0f24cd8" /><Relationship Type="http://schemas.openxmlformats.org/officeDocument/2006/relationships/slideLayout" Target="/ppt/slideLayouts/slideLayout2.xml" Id="R4edb6ed177574819" /><Relationship Type="http://schemas.openxmlformats.org/officeDocument/2006/relationships/slideLayout" Target="/ppt/slideLayouts/slideLayout3.xml" Id="R8eac906d68c34d81" /><Relationship Type="http://schemas.openxmlformats.org/officeDocument/2006/relationships/slideLayout" Target="/ppt/slideLayouts/slideLayout4.xml" Id="R507ef680f5f841e9" /><Relationship Type="http://schemas.openxmlformats.org/officeDocument/2006/relationships/slideLayout" Target="/ppt/slideLayouts/slideLayout5.xml" Id="R2d8d7ed1169c4587" /><Relationship Type="http://schemas.openxmlformats.org/officeDocument/2006/relationships/slideLayout" Target="/ppt/slideLayouts/slideLayout6.xml" Id="R99cf39c1dd5b4275" /><Relationship Type="http://schemas.openxmlformats.org/officeDocument/2006/relationships/slideLayout" Target="/ppt/slideLayouts/slideLayout7.xml" Id="R66bc0c8fbd1649d1" /><Relationship Type="http://schemas.openxmlformats.org/officeDocument/2006/relationships/slideLayout" Target="/ppt/slideLayouts/slideLayout8.xml" Id="R7166ec717bb44bd5" /><Relationship Type="http://schemas.openxmlformats.org/officeDocument/2006/relationships/slideLayout" Target="/ppt/slideLayouts/slideLayout9.xml" Id="R9e0dd7e6ae1344f7" /><Relationship Type="http://schemas.openxmlformats.org/officeDocument/2006/relationships/slideLayout" Target="/ppt/slideLayouts/slideLayout10.xml" Id="R4658e2bf381e41c9" /><Relationship Type="http://schemas.openxmlformats.org/officeDocument/2006/relationships/slideLayout" Target="/ppt/slideLayouts/slideLayout11.xml" Id="R28d52cb7246a489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CDE470F-F41D-4557-9D03-99AB37100A5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131D8B5-FB6D-4A7F-A53F-46868AE7193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DB8A1CE-0D66-4069-B4F3-FBD69E744F3B}"/>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10/1/2026</a:t>
            </a:fld>
            <a:endParaRPr/>
          </a:p>
        </p:txBody>
      </p:sp>
      <p:sp>
        <p:nvSpPr>
          <p:cNvPr id="5" name="Footer Placeholder 4">
            <a:extLst xmlns:a="http://schemas.openxmlformats.org/drawingml/2006/main">
              <a:ext uri="{FF2B5EF4-FFF2-40B4-BE49-F238E27FC236}">
                <a16:creationId xmlns:a16="http://schemas.microsoft.com/office/drawing/2014/main" id="{6B75FB0C-3893-49F6-B6EA-5D0D52591DA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69C7C9E-DE76-4512-8751-CAB1F25544F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bcddc1a0f24cd8"/>
    <p:sldLayoutId xmlns:r="http://schemas.openxmlformats.org/officeDocument/2006/relationships" id="2147483650" r:id="R4edb6ed177574819"/>
    <p:sldLayoutId xmlns:r="http://schemas.openxmlformats.org/officeDocument/2006/relationships" id="2147483651" r:id="R8eac906d68c34d81"/>
    <p:sldLayoutId xmlns:r="http://schemas.openxmlformats.org/officeDocument/2006/relationships" id="2147483652" r:id="R507ef680f5f841e9"/>
    <p:sldLayoutId xmlns:r="http://schemas.openxmlformats.org/officeDocument/2006/relationships" id="2147483653" r:id="R2d8d7ed1169c4587"/>
    <p:sldLayoutId xmlns:r="http://schemas.openxmlformats.org/officeDocument/2006/relationships" id="2147483654" r:id="R99cf39c1dd5b4275"/>
    <p:sldLayoutId xmlns:r="http://schemas.openxmlformats.org/officeDocument/2006/relationships" id="2147483655" r:id="R66bc0c8fbd1649d1"/>
    <p:sldLayoutId xmlns:r="http://schemas.openxmlformats.org/officeDocument/2006/relationships" id="2147483656" r:id="R7166ec717bb44bd5"/>
    <p:sldLayoutId xmlns:r="http://schemas.openxmlformats.org/officeDocument/2006/relationships" id="2147483657" r:id="R9e0dd7e6ae1344f7"/>
    <p:sldLayoutId xmlns:r="http://schemas.openxmlformats.org/officeDocument/2006/relationships" id="2147483658" r:id="R4658e2bf381e41c9"/>
    <p:sldLayoutId xmlns:r="http://schemas.openxmlformats.org/officeDocument/2006/relationships" id="2147483659" r:id="R28d52cb7246a489f"/>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9c6db6a36054307" /><Relationship Type="http://schemas.openxmlformats.org/officeDocument/2006/relationships/notesSlide" Target="/ppt/notesSlides/notesSlide1.xml" Id="R868eb768a9bf47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2da2efc264f4062" /><Relationship Type="http://schemas.openxmlformats.org/officeDocument/2006/relationships/notesSlide" Target="/ppt/notesSlides/notesSlide2.xml" Id="R32d4ff4071a04c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c16d110c3e048b1" /><Relationship Type="http://schemas.openxmlformats.org/officeDocument/2006/relationships/notesSlide" Target="/ppt/notesSlides/notesSlide3.xml" Id="R6c8f463c76904d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5ca719413844907" /><Relationship Type="http://schemas.openxmlformats.org/officeDocument/2006/relationships/notesSlide" Target="/ppt/notesSlides/notesSlide4.xml" Id="Rfde14ef09fce46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01e670455fc4921" /><Relationship Type="http://schemas.openxmlformats.org/officeDocument/2006/relationships/notesSlide" Target="/ppt/notesSlides/notesSlide5.xml" Id="R63bc43c9cdc247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e7a9824a50d4a8c" /><Relationship Type="http://schemas.openxmlformats.org/officeDocument/2006/relationships/notesSlide" Target="/ppt/notesSlides/notesSlide6.xml" Id="R0f62c747963441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6db7f4951250449f" /><Relationship Type="http://schemas.openxmlformats.org/officeDocument/2006/relationships/notesSlide" Target="/ppt/notesSlides/notesSlide7.xml" Id="Ra746114cba2e42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4054ba2c01624e7b" /><Relationship Type="http://schemas.openxmlformats.org/officeDocument/2006/relationships/notesSlide" Target="/ppt/notesSlides/notesSlide8.xml" Id="R0f4e55cdb37b4b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ea1d36791e242b1" /><Relationship Type="http://schemas.openxmlformats.org/officeDocument/2006/relationships/notesSlide" Target="/ppt/notesSlides/notesSlide9.xml" Id="R282a94ee295244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99e450197c94f9b" /><Relationship Type="http://schemas.openxmlformats.org/officeDocument/2006/relationships/notesSlide" Target="/ppt/notesSlides/notesSlide10.xml" Id="R72851342f26c48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a2891fdf654b4138" /><Relationship Type="http://schemas.openxmlformats.org/officeDocument/2006/relationships/notesSlide" Target="/ppt/notesSlides/notesSlide11.xml" Id="R13010394b9644a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cc1ea53a28a348cb" /><Relationship Type="http://schemas.openxmlformats.org/officeDocument/2006/relationships/notesSlide" Target="/ppt/notesSlides/notesSlide12.xml" Id="R9657bd086dc645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8b38c5361f0f47e9" /><Relationship Type="http://schemas.openxmlformats.org/officeDocument/2006/relationships/notesSlide" Target="/ppt/notesSlides/notesSlide13.xml" Id="R8877423a79784438"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E57D011-C43C-467F-B2A0-AC5E2E592B7D}"/>
              </a:ext>
            </a:extLst>
          </p:cNvPr>
          <p:cNvSpPr>
            <a:spLocks xmlns:a="http://schemas.openxmlformats.org/drawingml/2006/main" noGrp="1"/>
          </p:cNvSpPr>
          <p:nvPr/>
        </p:nvSpPr>
        <p:spPr>
          <a:xfrm xmlns:a="http://schemas.openxmlformats.org/drawingml/2006/main">
            <a:off x="876300" y="704850"/>
            <a:ext cx="40957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2D8B84"/>
                </a:solidFill>
                <a:latin typeface="Arial"/>
                <a:ea typeface="Arial"/>
                <a:cs typeface="Arial"/>
              </a:defRPr>
            </a:pPr>
            <a:r>
              <a:rPr sz="1350" b="1">
                <a:solidFill>
                  <a:srgbClr val="2D8B84"/>
                </a:solidFill>
                <a:latin typeface="Arial"/>
                <a:ea typeface="Arial"/>
                <a:cs typeface="Arial"/>
              </a:rPr>
              <a:t>FYP PROPOSAL DEFENSE · WORKING TITLE</a:t>
            </a:r>
          </a:p>
        </p:txBody>
      </p:sp>
      <p:sp>
        <p:nvSpPr>
          <p:cNvPr id="2" name="">
            <a:extLst xmlns:a="http://schemas.openxmlformats.org/drawingml/2006/main">
              <a:ext uri="{FF2B5EF4-FFF2-40B4-BE49-F238E27FC236}">
                <a16:creationId xmlns:a16="http://schemas.microsoft.com/office/drawing/2014/main" id="{702DB130-D020-4905-800D-E27F706A807B}"/>
              </a:ext>
            </a:extLst>
          </p:cNvPr>
          <p:cNvSpPr>
            <a:spLocks xmlns:a="http://schemas.openxmlformats.org/drawingml/2006/main" noGrp="1"/>
          </p:cNvSpPr>
          <p:nvPr/>
        </p:nvSpPr>
        <p:spPr>
          <a:xfrm xmlns:a="http://schemas.openxmlformats.org/drawingml/2006/main">
            <a:off x="876300" y="1504950"/>
            <a:ext cx="8763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Autonomous Web Security</a:t>
            </a:r>
          </a:p>
          <a:p xmlns:a="http://schemas.openxmlformats.org/drawingml/2006/main">
            <a:pPr algn="l">
              <a:lnSpc>
                <a:spcPct val="94000"/>
              </a:lnSpc>
              <a:buNone/>
              <a:defRPr sz="4950" b="1" i="0">
                <a:solidFill>
                  <a:srgbClr val="123B63"/>
                </a:solidFill>
                <a:latin typeface="Arial"/>
                <a:ea typeface="Arial"/>
                <a:cs typeface="Arial"/>
              </a:defRPr>
            </a:pPr>
            <a:r>
              <a:rPr sz="4950" b="1" i="0">
                <a:solidFill>
                  <a:srgbClr val="123B63"/>
                </a:solidFill>
                <a:latin typeface="Arial"/>
                <a:ea typeface="Arial"/>
                <a:cs typeface="Arial"/>
              </a:rPr>
              <a:t>Assessment Framework</a:t>
            </a:r>
          </a:p>
        </p:txBody>
      </p:sp>
      <p:sp>
        <p:nvSpPr>
          <p:cNvPr id="3" name="">
            <a:extLst xmlns:a="http://schemas.openxmlformats.org/drawingml/2006/main">
              <a:ext uri="{FF2B5EF4-FFF2-40B4-BE49-F238E27FC236}">
                <a16:creationId xmlns:a16="http://schemas.microsoft.com/office/drawing/2014/main" id="{555C97BA-AC60-4234-9B2F-F01AC0DFB321}"/>
              </a:ext>
            </a:extLst>
          </p:cNvPr>
          <p:cNvSpPr>
            <a:spLocks xmlns:a="http://schemas.openxmlformats.org/drawingml/2006/main" noGrp="1"/>
          </p:cNvSpPr>
          <p:nvPr/>
        </p:nvSpPr>
        <p:spPr>
          <a:xfrm xmlns:a="http://schemas.openxmlformats.org/drawingml/2006/main">
            <a:off x="914400" y="3676650"/>
            <a:ext cx="8286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0" i="0">
                <a:solidFill>
                  <a:srgbClr val="5F7180"/>
                </a:solidFill>
                <a:latin typeface="Arial"/>
                <a:ea typeface="Arial"/>
                <a:cs typeface="Arial"/>
              </a:defRPr>
            </a:pPr>
            <a:r>
              <a:rPr sz="2100" b="0" i="0">
                <a:solidFill>
                  <a:srgbClr val="5F7180"/>
                </a:solidFill>
                <a:latin typeface="Arial"/>
                <a:ea typeface="Arial"/>
                <a:cs typeface="Arial"/>
              </a:rPr>
              <a:t>A proposed dual-mode pentesting harness for broad, evidence-driven testing</a:t>
            </a:r>
          </a:p>
        </p:txBody>
      </p:sp>
      <p:sp>
        <p:nvSpPr>
          <p:cNvPr id="4" name="">
            <a:extLst xmlns:a="http://schemas.openxmlformats.org/drawingml/2006/main">
              <a:ext uri="{FF2B5EF4-FFF2-40B4-BE49-F238E27FC236}">
                <a16:creationId xmlns:a16="http://schemas.microsoft.com/office/drawing/2014/main" id="{6343F5D5-BDDC-4A14-B3BB-955333ECB7FD}"/>
              </a:ext>
            </a:extLst>
          </p:cNvPr>
          <p:cNvSpPr>
            <a:spLocks xmlns:a="http://schemas.openxmlformats.org/drawingml/2006/main" noGrp="1"/>
          </p:cNvSpPr>
          <p:nvPr/>
        </p:nvSpPr>
        <p:spPr>
          <a:xfrm xmlns:a="http://schemas.openxmlformats.org/drawingml/2006/main">
            <a:off x="914400" y="47625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960A1B61-0ED9-4A27-8992-F0603E2353E5}"/>
              </a:ext>
            </a:extLst>
          </p:cNvPr>
          <p:cNvSpPr>
            <a:spLocks xmlns:a="http://schemas.openxmlformats.org/drawingml/2006/main" noGrp="1"/>
          </p:cNvSpPr>
          <p:nvPr/>
        </p:nvSpPr>
        <p:spPr>
          <a:xfrm xmlns:a="http://schemas.openxmlformats.org/drawingml/2006/main">
            <a:off x="914400" y="5086350"/>
            <a:ext cx="866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Muhammad Usman Hamed  ·  Abdul Ahad  ·  Obaid Ishtiaq Satti</a:t>
            </a:r>
          </a:p>
        </p:txBody>
      </p:sp>
      <p:sp>
        <p:nvSpPr>
          <p:cNvPr id="6" name="">
            <a:extLst xmlns:a="http://schemas.openxmlformats.org/drawingml/2006/main">
              <a:ext uri="{FF2B5EF4-FFF2-40B4-BE49-F238E27FC236}">
                <a16:creationId xmlns:a16="http://schemas.microsoft.com/office/drawing/2014/main" id="{3739C53B-8614-4906-8C14-249DBD4D6879}"/>
              </a:ext>
            </a:extLst>
          </p:cNvPr>
          <p:cNvSpPr>
            <a:spLocks xmlns:a="http://schemas.openxmlformats.org/drawingml/2006/main" noGrp="1"/>
          </p:cNvSpPr>
          <p:nvPr/>
        </p:nvSpPr>
        <p:spPr>
          <a:xfrm xmlns:a="http://schemas.openxmlformats.org/drawingml/2006/main">
            <a:off x="914400" y="5638800"/>
            <a:ext cx="866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5F7180"/>
                </a:solidFill>
                <a:latin typeface="Arial"/>
                <a:ea typeface="Arial"/>
                <a:cs typeface="Arial"/>
              </a:defRPr>
            </a:pPr>
            <a:r>
              <a:rPr sz="1500" b="0" i="0">
                <a:solidFill>
                  <a:srgbClr val="5F7180"/>
                </a:solidFill>
                <a:latin typeface="Arial"/>
                <a:ea typeface="Arial"/>
                <a:cs typeface="Arial"/>
              </a:rPr>
              <a:t>Advisor: Dr. Madiha Khalid    Co-Advisor: Dr. Mehdi Hussain</a:t>
            </a:r>
          </a:p>
        </p:txBody>
      </p:sp>
      <p:sp>
        <p:nvSpPr>
          <p:cNvPr id="7" name="">
            <a:extLst xmlns:a="http://schemas.openxmlformats.org/drawingml/2006/main">
              <a:ext uri="{FF2B5EF4-FFF2-40B4-BE49-F238E27FC236}">
                <a16:creationId xmlns:a16="http://schemas.microsoft.com/office/drawing/2014/main" id="{052FE24F-EEA8-4D31-87B3-0CAC028DE70D}"/>
              </a:ext>
            </a:extLst>
          </p:cNvPr>
          <p:cNvSpPr>
            <a:spLocks xmlns:a="http://schemas.openxmlformats.org/drawingml/2006/main" noGrp="1"/>
          </p:cNvSpPr>
          <p:nvPr/>
        </p:nvSpPr>
        <p:spPr>
          <a:xfrm xmlns:a="http://schemas.openxmlformats.org/drawingml/2006/main">
            <a:off x="914400" y="6172200"/>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School of Electrical Engineering and Computer Science · NUST</a:t>
            </a:r>
          </a:p>
        </p:txBody>
      </p:sp>
      <p:sp>
        <p:nvSpPr>
          <p:cNvPr id="8" name="">
            <a:extLst xmlns:a="http://schemas.openxmlformats.org/drawingml/2006/main">
              <a:ext uri="{FF2B5EF4-FFF2-40B4-BE49-F238E27FC236}">
                <a16:creationId xmlns:a16="http://schemas.microsoft.com/office/drawing/2014/main" id="{5EADC363-4712-4A16-95ED-3DB3C12E5A17}"/>
              </a:ext>
            </a:extLst>
          </p:cNvPr>
          <p:cNvSpPr>
            <a:spLocks xmlns:a="http://schemas.openxmlformats.org/drawingml/2006/main" noGrp="1"/>
          </p:cNvSpPr>
          <p:nvPr/>
        </p:nvSpPr>
        <p:spPr>
          <a:xfrm xmlns:a="http://schemas.openxmlformats.org/drawingml/2006/main">
            <a:off x="10287000" y="1143000"/>
            <a:ext cx="7048500" cy="7334250"/>
          </a:xfrm>
          <a:prstGeom xmlns:a="http://schemas.openxmlformats.org/drawingml/2006/main" prst="roundRect">
            <a:avLst>
              <a:gd name="adj" fmla="val 1081"/>
            </a:avLst>
          </a:prstGeom>
          <a:solidFill xmlns:a="http://schemas.openxmlformats.org/drawingml/2006/main">
            <a:srgbClr val="FFFDF9"/>
          </a:solidFill>
          <a:ln xmlns:a="http://schemas.openxmlformats.org/drawingml/2006/main" w="19050">
            <a:solidFill>
              <a:srgbClr val="CAD6DE"/>
            </a:solidFill>
          </a:ln>
        </p:spPr>
      </p:sp>
      <p:sp>
        <p:nvSpPr>
          <p:cNvPr id="9" name="">
            <a:extLst xmlns:a="http://schemas.openxmlformats.org/drawingml/2006/main">
              <a:ext uri="{FF2B5EF4-FFF2-40B4-BE49-F238E27FC236}">
                <a16:creationId xmlns:a16="http://schemas.microsoft.com/office/drawing/2014/main" id="{511D52F9-7EFB-43EE-89D5-08C2F103F06A}"/>
              </a:ext>
            </a:extLst>
          </p:cNvPr>
          <p:cNvSpPr>
            <a:spLocks xmlns:a="http://schemas.openxmlformats.org/drawingml/2006/main" noGrp="1"/>
          </p:cNvSpPr>
          <p:nvPr/>
        </p:nvSpPr>
        <p:spPr>
          <a:xfrm xmlns:a="http://schemas.openxmlformats.org/drawingml/2006/main">
            <a:off x="12287250" y="1562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AUTHORIZED TARGET</a:t>
            </a:r>
          </a:p>
        </p:txBody>
      </p:sp>
      <p:sp>
        <p:nvSpPr>
          <p:cNvPr id="10" name="">
            <a:extLst xmlns:a="http://schemas.openxmlformats.org/drawingml/2006/main">
              <a:ext uri="{FF2B5EF4-FFF2-40B4-BE49-F238E27FC236}">
                <a16:creationId xmlns:a16="http://schemas.microsoft.com/office/drawing/2014/main" id="{13F2AF18-A29A-4FD8-8EC3-ED964660C8EB}"/>
              </a:ext>
            </a:extLst>
          </p:cNvPr>
          <p:cNvSpPr>
            <a:spLocks xmlns:a="http://schemas.openxmlformats.org/drawingml/2006/main" noGrp="1"/>
          </p:cNvSpPr>
          <p:nvPr/>
        </p:nvSpPr>
        <p:spPr>
          <a:xfrm xmlns:a="http://schemas.openxmlformats.org/drawingml/2006/main">
            <a:off x="12192000" y="2038350"/>
            <a:ext cx="323850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650" b="1">
                <a:solidFill>
                  <a:srgbClr val="123B63"/>
                </a:solidFill>
                <a:latin typeface="Arial"/>
                <a:ea typeface="Arial"/>
                <a:cs typeface="Arial"/>
              </a:defRPr>
            </a:pPr>
            <a:r>
              <a:rPr sz="1650" b="1">
                <a:solidFill>
                  <a:srgbClr val="123B63"/>
                </a:solidFill>
                <a:latin typeface="Arial"/>
                <a:ea typeface="Arial"/>
                <a:cs typeface="Arial"/>
              </a:rPr>
              <a:t>domain / IP / scope</a:t>
            </a:r>
          </a:p>
        </p:txBody>
      </p:sp>
      <p:sp>
        <p:nvSpPr>
          <p:cNvPr id="11" name="">
            <a:extLst xmlns:a="http://schemas.openxmlformats.org/drawingml/2006/main">
              <a:ext uri="{FF2B5EF4-FFF2-40B4-BE49-F238E27FC236}">
                <a16:creationId xmlns:a16="http://schemas.microsoft.com/office/drawing/2014/main" id="{BA0405D3-DAA8-4694-A9DD-1434E18A8F4E}"/>
              </a:ext>
            </a:extLst>
          </p:cNvPr>
          <p:cNvSpPr>
            <a:spLocks xmlns:a="http://schemas.openxmlformats.org/drawingml/2006/main" noGrp="1"/>
          </p:cNvSpPr>
          <p:nvPr/>
        </p:nvSpPr>
        <p:spPr>
          <a:xfrm xmlns:a="http://schemas.openxmlformats.org/drawingml/2006/main">
            <a:off x="13620750" y="280035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138D9A9-E7AF-460B-A47B-8C2260F6FD5E}"/>
              </a:ext>
            </a:extLst>
          </p:cNvPr>
          <p:cNvSpPr>
            <a:spLocks xmlns:a="http://schemas.openxmlformats.org/drawingml/2006/main" noGrp="1"/>
          </p:cNvSpPr>
          <p:nvPr/>
        </p:nvSpPr>
        <p:spPr>
          <a:xfrm xmlns:a="http://schemas.openxmlformats.org/drawingml/2006/main">
            <a:off x="11525250" y="3467100"/>
            <a:ext cx="45720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A683D6F-2188-4B9A-B64B-B85F5793DFC4}"/>
              </a:ext>
            </a:extLst>
          </p:cNvPr>
          <p:cNvSpPr>
            <a:spLocks xmlns:a="http://schemas.openxmlformats.org/drawingml/2006/main" noGrp="1"/>
          </p:cNvSpPr>
          <p:nvPr/>
        </p:nvSpPr>
        <p:spPr>
          <a:xfrm xmlns:a="http://schemas.openxmlformats.org/drawingml/2006/main">
            <a:off x="11906250" y="3790950"/>
            <a:ext cx="381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i="0">
                <a:solidFill>
                  <a:srgbClr val="FFFFFF"/>
                </a:solidFill>
                <a:latin typeface="Arial"/>
                <a:ea typeface="Arial"/>
                <a:cs typeface="Arial"/>
              </a:defRPr>
            </a:pPr>
            <a:r>
              <a:rPr sz="2400" b="1" i="0">
                <a:solidFill>
                  <a:srgbClr val="FFFFFF"/>
                </a:solidFill>
                <a:latin typeface="Arial"/>
                <a:ea typeface="Arial"/>
                <a:cs typeface="Arial"/>
              </a:rPr>
              <a:t>UNIFIED HARNESS</a:t>
            </a:r>
          </a:p>
        </p:txBody>
      </p:sp>
      <p:sp>
        <p:nvSpPr>
          <p:cNvPr id="14" name="">
            <a:extLst xmlns:a="http://schemas.openxmlformats.org/drawingml/2006/main">
              <a:ext uri="{FF2B5EF4-FFF2-40B4-BE49-F238E27FC236}">
                <a16:creationId xmlns:a16="http://schemas.microsoft.com/office/drawing/2014/main" id="{0ADB0B88-08FF-4B9E-A640-908074387D4F}"/>
              </a:ext>
            </a:extLst>
          </p:cNvPr>
          <p:cNvSpPr>
            <a:spLocks xmlns:a="http://schemas.openxmlformats.org/drawingml/2006/main" noGrp="1"/>
          </p:cNvSpPr>
          <p:nvPr/>
        </p:nvSpPr>
        <p:spPr>
          <a:xfrm xmlns:a="http://schemas.openxmlformats.org/drawingml/2006/main">
            <a:off x="12001500" y="43624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i="0">
                <a:solidFill>
                  <a:srgbClr val="DDEAF2"/>
                </a:solidFill>
                <a:latin typeface="Arial"/>
                <a:ea typeface="Arial"/>
                <a:cs typeface="Arial"/>
              </a:defRPr>
            </a:pPr>
            <a:r>
              <a:rPr sz="1650" b="0" i="0">
                <a:solidFill>
                  <a:srgbClr val="DDEAF2"/>
                </a:solidFill>
                <a:latin typeface="Arial"/>
                <a:ea typeface="Arial"/>
                <a:cs typeface="Arial"/>
              </a:rPr>
              <a:t>Deterministic methodology</a:t>
            </a:r>
          </a:p>
          <a:p xmlns:a="http://schemas.openxmlformats.org/drawingml/2006/main">
            <a:pPr algn="ctr">
              <a:lnSpc>
                <a:spcPct val="100000"/>
              </a:lnSpc>
              <a:buNone/>
              <a:defRPr sz="1650" b="0" i="0">
                <a:solidFill>
                  <a:srgbClr val="DDEAF2"/>
                </a:solidFill>
                <a:latin typeface="Arial"/>
                <a:ea typeface="Arial"/>
                <a:cs typeface="Arial"/>
              </a:defRPr>
            </a:pPr>
            <a:r>
              <a:rPr sz="1650" b="0" i="0">
                <a:solidFill>
                  <a:srgbClr val="DDEAF2"/>
                </a:solidFill>
                <a:latin typeface="Arial"/>
                <a:ea typeface="Arial"/>
                <a:cs typeface="Arial"/>
              </a:rPr>
              <a:t>+ optional AI reasoning</a:t>
            </a:r>
          </a:p>
        </p:txBody>
      </p:sp>
      <p:sp>
        <p:nvSpPr>
          <p:cNvPr id="15" name="">
            <a:extLst xmlns:a="http://schemas.openxmlformats.org/drawingml/2006/main">
              <a:ext uri="{FF2B5EF4-FFF2-40B4-BE49-F238E27FC236}">
                <a16:creationId xmlns:a16="http://schemas.microsoft.com/office/drawing/2014/main" id="{795F9E0F-3A40-4168-8FFD-1247BC495568}"/>
              </a:ext>
            </a:extLst>
          </p:cNvPr>
          <p:cNvSpPr>
            <a:spLocks xmlns:a="http://schemas.openxmlformats.org/drawingml/2006/main" noGrp="1"/>
          </p:cNvSpPr>
          <p:nvPr/>
        </p:nvSpPr>
        <p:spPr>
          <a:xfrm xmlns:a="http://schemas.openxmlformats.org/drawingml/2006/main">
            <a:off x="13620750" y="5562600"/>
            <a:ext cx="419100" cy="4000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507EF8-523B-4E9E-AC32-217D7F181A5F}"/>
              </a:ext>
            </a:extLst>
          </p:cNvPr>
          <p:cNvSpPr>
            <a:spLocks xmlns:a="http://schemas.openxmlformats.org/drawingml/2006/main" noGrp="1"/>
          </p:cNvSpPr>
          <p:nvPr/>
        </p:nvSpPr>
        <p:spPr>
          <a:xfrm xmlns:a="http://schemas.openxmlformats.org/drawingml/2006/main">
            <a:off x="10744200" y="6457950"/>
            <a:ext cx="2000250" cy="590550"/>
          </a:xfrm>
          <a:prstGeom xmlns:a="http://schemas.openxmlformats.org/drawingml/2006/main" prst="roundRect">
            <a:avLst>
              <a:gd name="adj" fmla="val 1290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123B63"/>
                </a:solidFill>
                <a:latin typeface="Arial"/>
                <a:ea typeface="Arial"/>
                <a:cs typeface="Arial"/>
              </a:defRPr>
            </a:pPr>
            <a:r>
              <a:rPr sz="1350" b="1">
                <a:solidFill>
                  <a:srgbClr val="123B63"/>
                </a:solidFill>
                <a:latin typeface="Arial"/>
                <a:ea typeface="Arial"/>
                <a:cs typeface="Arial"/>
              </a:rPr>
              <a:t>Attack-surface map</a:t>
            </a:r>
          </a:p>
        </p:txBody>
      </p:sp>
      <p:sp>
        <p:nvSpPr>
          <p:cNvPr id="17" name="">
            <a:extLst xmlns:a="http://schemas.openxmlformats.org/drawingml/2006/main">
              <a:ext uri="{FF2B5EF4-FFF2-40B4-BE49-F238E27FC236}">
                <a16:creationId xmlns:a16="http://schemas.microsoft.com/office/drawing/2014/main" id="{65E2072F-D7B6-4ADC-AE5D-A217F4F64F7B}"/>
              </a:ext>
            </a:extLst>
          </p:cNvPr>
          <p:cNvSpPr>
            <a:spLocks xmlns:a="http://schemas.openxmlformats.org/drawingml/2006/main" noGrp="1"/>
          </p:cNvSpPr>
          <p:nvPr/>
        </p:nvSpPr>
        <p:spPr>
          <a:xfrm xmlns:a="http://schemas.openxmlformats.org/drawingml/2006/main">
            <a:off x="12811125" y="6457950"/>
            <a:ext cx="2000250" cy="590550"/>
          </a:xfrm>
          <a:prstGeom xmlns:a="http://schemas.openxmlformats.org/drawingml/2006/main" prst="roundRect">
            <a:avLst>
              <a:gd name="adj" fmla="val 1290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2D8B84"/>
                </a:solidFill>
                <a:latin typeface="Arial"/>
                <a:ea typeface="Arial"/>
                <a:cs typeface="Arial"/>
              </a:defRPr>
            </a:pPr>
            <a:r>
              <a:rPr sz="1350" b="1">
                <a:solidFill>
                  <a:srgbClr val="2D8B84"/>
                </a:solidFill>
                <a:latin typeface="Arial"/>
                <a:ea typeface="Arial"/>
                <a:cs typeface="Arial"/>
              </a:rPr>
              <a:t>Verified evidence</a:t>
            </a:r>
          </a:p>
        </p:txBody>
      </p:sp>
      <p:sp>
        <p:nvSpPr>
          <p:cNvPr id="18" name="">
            <a:extLst xmlns:a="http://schemas.openxmlformats.org/drawingml/2006/main">
              <a:ext uri="{FF2B5EF4-FFF2-40B4-BE49-F238E27FC236}">
                <a16:creationId xmlns:a16="http://schemas.microsoft.com/office/drawing/2014/main" id="{BCF25F15-735A-475A-8571-0C4F4E8EAB4E}"/>
              </a:ext>
            </a:extLst>
          </p:cNvPr>
          <p:cNvSpPr>
            <a:spLocks xmlns:a="http://schemas.openxmlformats.org/drawingml/2006/main" noGrp="1"/>
          </p:cNvSpPr>
          <p:nvPr/>
        </p:nvSpPr>
        <p:spPr>
          <a:xfrm xmlns:a="http://schemas.openxmlformats.org/drawingml/2006/main">
            <a:off x="14878050" y="6457950"/>
            <a:ext cx="2000250" cy="590550"/>
          </a:xfrm>
          <a:prstGeom xmlns:a="http://schemas.openxmlformats.org/drawingml/2006/main" prst="roundRect">
            <a:avLst>
              <a:gd name="adj" fmla="val 1290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D79A32"/>
                </a:solidFill>
                <a:latin typeface="Arial"/>
                <a:ea typeface="Arial"/>
                <a:cs typeface="Arial"/>
              </a:defRPr>
            </a:pPr>
            <a:r>
              <a:rPr sz="1350" b="1">
                <a:solidFill>
                  <a:srgbClr val="D79A32"/>
                </a:solidFill>
                <a:latin typeface="Arial"/>
                <a:ea typeface="Arial"/>
                <a:cs typeface="Arial"/>
              </a:rPr>
              <a:t>Structured report</a:t>
            </a:r>
          </a:p>
        </p:txBody>
      </p:sp>
      <p:sp>
        <p:nvSpPr>
          <p:cNvPr id="19" name="">
            <a:extLst xmlns:a="http://schemas.openxmlformats.org/drawingml/2006/main">
              <a:ext uri="{FF2B5EF4-FFF2-40B4-BE49-F238E27FC236}">
                <a16:creationId xmlns:a16="http://schemas.microsoft.com/office/drawing/2014/main" id="{AF0C8CCC-47A0-4CF5-8FBE-F041AD49796A}"/>
              </a:ext>
            </a:extLst>
          </p:cNvPr>
          <p:cNvSpPr>
            <a:spLocks xmlns:a="http://schemas.openxmlformats.org/drawingml/2006/main" noGrp="1"/>
          </p:cNvSpPr>
          <p:nvPr/>
        </p:nvSpPr>
        <p:spPr>
          <a:xfrm xmlns:a="http://schemas.openxmlformats.org/drawingml/2006/main">
            <a:off x="11334750" y="7715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1">
                <a:solidFill>
                  <a:srgbClr val="5F7180"/>
                </a:solidFill>
                <a:latin typeface="Arial"/>
                <a:ea typeface="Arial"/>
                <a:cs typeface="Arial"/>
              </a:defRPr>
            </a:pPr>
            <a:r>
              <a:rPr sz="1425" b="0" i="1">
                <a:solidFill>
                  <a:srgbClr val="5F7180"/>
                </a:solidFill>
                <a:latin typeface="Arial"/>
                <a:ea typeface="Arial"/>
                <a:cs typeface="Arial"/>
              </a:rPr>
              <a:t>Proposed system — not a completed product</a:t>
            </a:r>
          </a:p>
        </p:txBody>
      </p:sp>
    </p:spTree>
    <p:extLst>
      <p:ext uri="{BB962C8B-B14F-4D97-AF65-F5344CB8AC3E}">
        <p14:creationId xmlns:p14="http://schemas.microsoft.com/office/powerpoint/2010/main" val="195173163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1C66C70-3CBD-412E-A1FB-2C541F7973D2}"/>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01 / WHY THIS MATTERS</a:t>
            </a:r>
          </a:p>
        </p:txBody>
      </p:sp>
      <p:sp>
        <p:nvSpPr>
          <p:cNvPr id="2" name="">
            <a:extLst xmlns:a="http://schemas.openxmlformats.org/drawingml/2006/main">
              <a:ext uri="{FF2B5EF4-FFF2-40B4-BE49-F238E27FC236}">
                <a16:creationId xmlns:a16="http://schemas.microsoft.com/office/drawing/2014/main" id="{311D711C-5ACD-4F45-907A-8BC91A240E9D}"/>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Web security protects the entire exposed application surface</a:t>
            </a:r>
          </a:p>
        </p:txBody>
      </p:sp>
      <p:sp>
        <p:nvSpPr>
          <p:cNvPr id="3" name="">
            <a:extLst xmlns:a="http://schemas.openxmlformats.org/drawingml/2006/main">
              <a:ext uri="{FF2B5EF4-FFF2-40B4-BE49-F238E27FC236}">
                <a16:creationId xmlns:a16="http://schemas.microsoft.com/office/drawing/2014/main" id="{AC7C481C-B4CF-4837-BECD-0B1884F17656}"/>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E335F4E-9C47-4747-9B21-445B4E6B2267}"/>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A765864-5E39-42D1-BBCD-54D68DE60352}"/>
              </a:ext>
            </a:extLst>
          </p:cNvPr>
          <p:cNvSpPr>
            <a:spLocks xmlns:a="http://schemas.openxmlformats.org/drawingml/2006/main" noGrp="1"/>
          </p:cNvSpPr>
          <p:nvPr/>
        </p:nvSpPr>
        <p:spPr>
          <a:xfrm xmlns:a="http://schemas.openxmlformats.org/drawingml/2006/main">
            <a:off x="876300" y="2190750"/>
            <a:ext cx="6667500" cy="2933700"/>
          </a:xfrm>
          <a:prstGeom xmlns:a="http://schemas.openxmlformats.org/drawingml/2006/main" prst="roundRect">
            <a:avLst>
              <a:gd name="adj" fmla="val 2597"/>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1853D8-DB42-4ED8-82E1-FC963038D147}"/>
              </a:ext>
            </a:extLst>
          </p:cNvPr>
          <p:cNvSpPr>
            <a:spLocks xmlns:a="http://schemas.openxmlformats.org/drawingml/2006/main" noGrp="1"/>
          </p:cNvSpPr>
          <p:nvPr/>
        </p:nvSpPr>
        <p:spPr>
          <a:xfrm xmlns:a="http://schemas.openxmlformats.org/drawingml/2006/main">
            <a:off x="1257300" y="2590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79A9C8"/>
                </a:solidFill>
                <a:latin typeface="Arial"/>
                <a:ea typeface="Arial"/>
                <a:cs typeface="Arial"/>
              </a:defRPr>
            </a:pPr>
            <a:r>
              <a:rPr sz="1650" b="1" i="0">
                <a:solidFill>
                  <a:srgbClr val="79A9C8"/>
                </a:solidFill>
                <a:latin typeface="Arial"/>
                <a:ea typeface="Arial"/>
                <a:cs typeface="Arial"/>
              </a:rPr>
              <a:t>WEB SECURITY</a:t>
            </a:r>
          </a:p>
        </p:txBody>
      </p:sp>
      <p:sp>
        <p:nvSpPr>
          <p:cNvPr id="7" name="">
            <a:extLst xmlns:a="http://schemas.openxmlformats.org/drawingml/2006/main">
              <a:ext uri="{FF2B5EF4-FFF2-40B4-BE49-F238E27FC236}">
                <a16:creationId xmlns:a16="http://schemas.microsoft.com/office/drawing/2014/main" id="{F96A42D7-3D63-4FEA-BAE6-3E6676E20CE6}"/>
              </a:ext>
            </a:extLst>
          </p:cNvPr>
          <p:cNvSpPr>
            <a:spLocks xmlns:a="http://schemas.openxmlformats.org/drawingml/2006/main" noGrp="1"/>
          </p:cNvSpPr>
          <p:nvPr/>
        </p:nvSpPr>
        <p:spPr>
          <a:xfrm xmlns:a="http://schemas.openxmlformats.org/drawingml/2006/main">
            <a:off x="1257300" y="314325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612"/>
          </a:bodyPr>
          <a:lstStyle xmlns:a="http://schemas.openxmlformats.org/drawingml/2006/main"/>
          <a:p xmlns:a="http://schemas.openxmlformats.org/drawingml/2006/main">
            <a:pPr algn="l">
              <a:lnSpc>
                <a:spcPct val="100000"/>
              </a:lnSpc>
              <a:buNone/>
              <a:defRPr sz="2700" b="1" i="0">
                <a:solidFill>
                  <a:srgbClr val="FFFFFF"/>
                </a:solidFill>
                <a:latin typeface="Arial"/>
                <a:ea typeface="Arial"/>
                <a:cs typeface="Arial"/>
              </a:defRPr>
            </a:pPr>
            <a:r>
              <a:rPr sz="2700" b="1" i="0">
                <a:solidFill>
                  <a:srgbClr val="FFFFFF"/>
                </a:solidFill>
                <a:latin typeface="Arial"/>
                <a:ea typeface="Arial"/>
                <a:cs typeface="Arial"/>
              </a:rPr>
              <a:t>Find, validate and reduce weaknesses before attackers exploit them.</a:t>
            </a:r>
          </a:p>
        </p:txBody>
      </p:sp>
      <p:sp>
        <p:nvSpPr>
          <p:cNvPr id="8" name="">
            <a:extLst xmlns:a="http://schemas.openxmlformats.org/drawingml/2006/main">
              <a:ext uri="{FF2B5EF4-FFF2-40B4-BE49-F238E27FC236}">
                <a16:creationId xmlns:a16="http://schemas.microsoft.com/office/drawing/2014/main" id="{5047AE9B-C13F-4CEA-91B3-C46BEBCA02FC}"/>
              </a:ext>
            </a:extLst>
          </p:cNvPr>
          <p:cNvSpPr>
            <a:spLocks xmlns:a="http://schemas.openxmlformats.org/drawingml/2006/main" noGrp="1"/>
          </p:cNvSpPr>
          <p:nvPr/>
        </p:nvSpPr>
        <p:spPr>
          <a:xfrm xmlns:a="http://schemas.openxmlformats.org/drawingml/2006/main">
            <a:off x="1257300" y="4362450"/>
            <a:ext cx="581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DCE8F0"/>
                </a:solidFill>
                <a:latin typeface="Arial"/>
                <a:ea typeface="Arial"/>
                <a:cs typeface="Arial"/>
              </a:defRPr>
            </a:pPr>
            <a:r>
              <a:rPr sz="1500" b="0" i="0">
                <a:solidFill>
                  <a:srgbClr val="DCE8F0"/>
                </a:solidFill>
                <a:latin typeface="Arial"/>
                <a:ea typeface="Arial"/>
                <a:cs typeface="Arial"/>
              </a:rPr>
              <a:t>The surface includes domains, services, applications, APIs, identities, third-party components and the data connecting them.</a:t>
            </a:r>
          </a:p>
        </p:txBody>
      </p:sp>
      <p:sp>
        <p:nvSpPr>
          <p:cNvPr id="9" name="">
            <a:extLst xmlns:a="http://schemas.openxmlformats.org/drawingml/2006/main">
              <a:ext uri="{FF2B5EF4-FFF2-40B4-BE49-F238E27FC236}">
                <a16:creationId xmlns:a16="http://schemas.microsoft.com/office/drawing/2014/main" id="{243573AD-F58E-44C4-99E1-A6759FAEDC8A}"/>
              </a:ext>
            </a:extLst>
          </p:cNvPr>
          <p:cNvSpPr>
            <a:spLocks xmlns:a="http://schemas.openxmlformats.org/drawingml/2006/main" noGrp="1"/>
          </p:cNvSpPr>
          <p:nvPr/>
        </p:nvSpPr>
        <p:spPr>
          <a:xfrm xmlns:a="http://schemas.openxmlformats.org/drawingml/2006/main">
            <a:off x="8191500" y="228600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C55B48"/>
                </a:solidFill>
                <a:latin typeface="Arial"/>
                <a:ea typeface="Arial"/>
                <a:cs typeface="Arial"/>
              </a:defRPr>
            </a:pPr>
            <a:r>
              <a:rPr sz="1650" b="1" i="0">
                <a:solidFill>
                  <a:srgbClr val="C55B48"/>
                </a:solidFill>
                <a:latin typeface="Arial"/>
                <a:ea typeface="Arial"/>
                <a:cs typeface="Arial"/>
              </a:rPr>
              <a:t>CASE STUDY · EQUIFAX, 2017</a:t>
            </a:r>
          </a:p>
        </p:txBody>
      </p:sp>
      <p:sp>
        <p:nvSpPr>
          <p:cNvPr id="10" name="">
            <a:extLst xmlns:a="http://schemas.openxmlformats.org/drawingml/2006/main">
              <a:ext uri="{FF2B5EF4-FFF2-40B4-BE49-F238E27FC236}">
                <a16:creationId xmlns:a16="http://schemas.microsoft.com/office/drawing/2014/main" id="{7FBC5D78-98B7-441F-A58E-A1AF1FEC7111}"/>
              </a:ext>
            </a:extLst>
          </p:cNvPr>
          <p:cNvSpPr>
            <a:spLocks xmlns:a="http://schemas.openxmlformats.org/drawingml/2006/main" noGrp="1"/>
          </p:cNvSpPr>
          <p:nvPr/>
        </p:nvSpPr>
        <p:spPr>
          <a:xfrm xmlns:a="http://schemas.openxmlformats.org/drawingml/2006/main">
            <a:off x="8191500" y="2781300"/>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54"/>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 known web vulnerability became a large-scale breach</a:t>
            </a:r>
          </a:p>
        </p:txBody>
      </p:sp>
      <p:sp>
        <p:nvSpPr>
          <p:cNvPr id="11" name="">
            <a:extLst xmlns:a="http://schemas.openxmlformats.org/drawingml/2006/main">
              <a:ext uri="{FF2B5EF4-FFF2-40B4-BE49-F238E27FC236}">
                <a16:creationId xmlns:a16="http://schemas.microsoft.com/office/drawing/2014/main" id="{4175DFEE-5EB3-4A49-AF0F-52E8481EAAB1}"/>
              </a:ext>
            </a:extLst>
          </p:cNvPr>
          <p:cNvSpPr>
            <a:spLocks xmlns:a="http://schemas.openxmlformats.org/drawingml/2006/main" noGrp="1"/>
          </p:cNvSpPr>
          <p:nvPr/>
        </p:nvSpPr>
        <p:spPr>
          <a:xfrm xmlns:a="http://schemas.openxmlformats.org/drawingml/2006/main">
            <a:off x="81915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5456F58C-4315-4497-AACC-CE506901B2EA}"/>
              </a:ext>
            </a:extLst>
          </p:cNvPr>
          <p:cNvSpPr>
            <a:spLocks xmlns:a="http://schemas.openxmlformats.org/drawingml/2006/main" noGrp="1"/>
          </p:cNvSpPr>
          <p:nvPr/>
        </p:nvSpPr>
        <p:spPr>
          <a:xfrm xmlns:a="http://schemas.openxmlformats.org/drawingml/2006/main">
            <a:off x="81915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4CCB475-4DC0-443A-9229-E50987FE00DE}"/>
              </a:ext>
            </a:extLst>
          </p:cNvPr>
          <p:cNvSpPr>
            <a:spLocks xmlns:a="http://schemas.openxmlformats.org/drawingml/2006/main" noGrp="1"/>
          </p:cNvSpPr>
          <p:nvPr/>
        </p:nvSpPr>
        <p:spPr>
          <a:xfrm xmlns:a="http://schemas.openxmlformats.org/drawingml/2006/main">
            <a:off x="84582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Known flaw</a:t>
            </a:r>
          </a:p>
        </p:txBody>
      </p:sp>
      <p:sp>
        <p:nvSpPr>
          <p:cNvPr id="14" name="">
            <a:extLst xmlns:a="http://schemas.openxmlformats.org/drawingml/2006/main">
              <a:ext uri="{FF2B5EF4-FFF2-40B4-BE49-F238E27FC236}">
                <a16:creationId xmlns:a16="http://schemas.microsoft.com/office/drawing/2014/main" id="{3DD44741-705E-4981-AAB1-1A1BEF7889DE}"/>
              </a:ext>
            </a:extLst>
          </p:cNvPr>
          <p:cNvSpPr>
            <a:spLocks xmlns:a="http://schemas.openxmlformats.org/drawingml/2006/main" noGrp="1"/>
          </p:cNvSpPr>
          <p:nvPr/>
        </p:nvSpPr>
        <p:spPr>
          <a:xfrm xmlns:a="http://schemas.openxmlformats.org/drawingml/2006/main">
            <a:off x="84582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A critical Apache Struts vulnerability had a patch available.</a:t>
            </a:r>
          </a:p>
        </p:txBody>
      </p:sp>
      <p:sp>
        <p:nvSpPr>
          <p:cNvPr id="15" name="">
            <a:extLst xmlns:a="http://schemas.openxmlformats.org/drawingml/2006/main">
              <a:ext uri="{FF2B5EF4-FFF2-40B4-BE49-F238E27FC236}">
                <a16:creationId xmlns:a16="http://schemas.microsoft.com/office/drawing/2014/main" id="{AFB9F76B-1482-413C-863C-E1F0DDCAC1FB}"/>
              </a:ext>
            </a:extLst>
          </p:cNvPr>
          <p:cNvSpPr>
            <a:spLocks xmlns:a="http://schemas.openxmlformats.org/drawingml/2006/main" noGrp="1"/>
          </p:cNvSpPr>
          <p:nvPr/>
        </p:nvSpPr>
        <p:spPr>
          <a:xfrm xmlns:a="http://schemas.openxmlformats.org/drawingml/2006/main">
            <a:off x="110871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FC299E7E-B30E-44FE-B80D-3AA2A39A4A88}"/>
              </a:ext>
            </a:extLst>
          </p:cNvPr>
          <p:cNvSpPr>
            <a:spLocks xmlns:a="http://schemas.openxmlformats.org/drawingml/2006/main" noGrp="1"/>
          </p:cNvSpPr>
          <p:nvPr/>
        </p:nvSpPr>
        <p:spPr>
          <a:xfrm xmlns:a="http://schemas.openxmlformats.org/drawingml/2006/main">
            <a:off x="11087100" y="3600450"/>
            <a:ext cx="85725" cy="20574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9B7454E-EC4B-483B-8058-D4E905A458FA}"/>
              </a:ext>
            </a:extLst>
          </p:cNvPr>
          <p:cNvSpPr>
            <a:spLocks xmlns:a="http://schemas.openxmlformats.org/drawingml/2006/main" noGrp="1"/>
          </p:cNvSpPr>
          <p:nvPr/>
        </p:nvSpPr>
        <p:spPr>
          <a:xfrm xmlns:a="http://schemas.openxmlformats.org/drawingml/2006/main">
            <a:off x="113538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Coverage failure</a:t>
            </a:r>
          </a:p>
        </p:txBody>
      </p:sp>
      <p:sp>
        <p:nvSpPr>
          <p:cNvPr id="18" name="">
            <a:extLst xmlns:a="http://schemas.openxmlformats.org/drawingml/2006/main">
              <a:ext uri="{FF2B5EF4-FFF2-40B4-BE49-F238E27FC236}">
                <a16:creationId xmlns:a16="http://schemas.microsoft.com/office/drawing/2014/main" id="{492B2684-9DFC-4E31-A1E7-43EB527ACEEF}"/>
              </a:ext>
            </a:extLst>
          </p:cNvPr>
          <p:cNvSpPr>
            <a:spLocks xmlns:a="http://schemas.openxmlformats.org/drawingml/2006/main" noGrp="1"/>
          </p:cNvSpPr>
          <p:nvPr/>
        </p:nvSpPr>
        <p:spPr>
          <a:xfrm xmlns:a="http://schemas.openxmlformats.org/drawingml/2006/main">
            <a:off x="113538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The public dispute portal remained unpatched and verification did not catch it.</a:t>
            </a:r>
          </a:p>
        </p:txBody>
      </p:sp>
      <p:sp>
        <p:nvSpPr>
          <p:cNvPr id="19" name="">
            <a:extLst xmlns:a="http://schemas.openxmlformats.org/drawingml/2006/main">
              <a:ext uri="{FF2B5EF4-FFF2-40B4-BE49-F238E27FC236}">
                <a16:creationId xmlns:a16="http://schemas.microsoft.com/office/drawing/2014/main" id="{C5CCAC62-FFAE-4F5E-BC2E-4BE4F0AF9664}"/>
              </a:ext>
            </a:extLst>
          </p:cNvPr>
          <p:cNvSpPr>
            <a:spLocks xmlns:a="http://schemas.openxmlformats.org/drawingml/2006/main" noGrp="1"/>
          </p:cNvSpPr>
          <p:nvPr/>
        </p:nvSpPr>
        <p:spPr>
          <a:xfrm xmlns:a="http://schemas.openxmlformats.org/drawingml/2006/main">
            <a:off x="13982700" y="3600450"/>
            <a:ext cx="2667000" cy="2057400"/>
          </a:xfrm>
          <a:prstGeom xmlns:a="http://schemas.openxmlformats.org/drawingml/2006/main" prst="roundRect">
            <a:avLst>
              <a:gd name="adj" fmla="val 3704"/>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1F5BE42F-D906-4391-8E9F-9BEEFF7C9755}"/>
              </a:ext>
            </a:extLst>
          </p:cNvPr>
          <p:cNvSpPr>
            <a:spLocks xmlns:a="http://schemas.openxmlformats.org/drawingml/2006/main" noGrp="1"/>
          </p:cNvSpPr>
          <p:nvPr/>
        </p:nvSpPr>
        <p:spPr>
          <a:xfrm xmlns:a="http://schemas.openxmlformats.org/drawingml/2006/main">
            <a:off x="13982700" y="3600450"/>
            <a:ext cx="85725" cy="205740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918E99D-43C3-46D0-9A4A-1257A9E4F6B1}"/>
              </a:ext>
            </a:extLst>
          </p:cNvPr>
          <p:cNvSpPr>
            <a:spLocks xmlns:a="http://schemas.openxmlformats.org/drawingml/2006/main" noGrp="1"/>
          </p:cNvSpPr>
          <p:nvPr/>
        </p:nvSpPr>
        <p:spPr>
          <a:xfrm xmlns:a="http://schemas.openxmlformats.org/drawingml/2006/main">
            <a:off x="14249400" y="3810000"/>
            <a:ext cx="2171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23B63"/>
                </a:solidFill>
                <a:latin typeface="Arial"/>
                <a:ea typeface="Arial"/>
                <a:cs typeface="Arial"/>
              </a:defRPr>
            </a:pPr>
            <a:r>
              <a:rPr sz="1875" b="1" i="0">
                <a:solidFill>
                  <a:srgbClr val="123B63"/>
                </a:solidFill>
                <a:latin typeface="Arial"/>
                <a:ea typeface="Arial"/>
                <a:cs typeface="Arial"/>
              </a:rPr>
              <a:t>Impact</a:t>
            </a:r>
          </a:p>
        </p:txBody>
      </p:sp>
      <p:sp>
        <p:nvSpPr>
          <p:cNvPr id="22" name="">
            <a:extLst xmlns:a="http://schemas.openxmlformats.org/drawingml/2006/main">
              <a:ext uri="{FF2B5EF4-FFF2-40B4-BE49-F238E27FC236}">
                <a16:creationId xmlns:a16="http://schemas.microsoft.com/office/drawing/2014/main" id="{6F1DAEDE-551D-43E6-B9F7-1082F59720C5}"/>
              </a:ext>
            </a:extLst>
          </p:cNvPr>
          <p:cNvSpPr>
            <a:spLocks xmlns:a="http://schemas.openxmlformats.org/drawingml/2006/main" noGrp="1"/>
          </p:cNvSpPr>
          <p:nvPr/>
        </p:nvSpPr>
        <p:spPr>
          <a:xfrm xmlns:a="http://schemas.openxmlformats.org/drawingml/2006/main">
            <a:off x="14249400" y="4343400"/>
            <a:ext cx="2171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5F7180"/>
                </a:solidFill>
                <a:latin typeface="Arial"/>
                <a:ea typeface="Arial"/>
                <a:cs typeface="Arial"/>
              </a:defRPr>
            </a:pPr>
            <a:r>
              <a:rPr sz="1500" b="0" i="0">
                <a:solidFill>
                  <a:srgbClr val="5F7180"/>
                </a:solidFill>
                <a:latin typeface="Arial"/>
                <a:ea typeface="Arial"/>
                <a:cs typeface="Arial"/>
              </a:rPr>
              <a:t>Personal information of about 147 million people was exposed.</a:t>
            </a:r>
          </a:p>
        </p:txBody>
      </p:sp>
      <p:sp>
        <p:nvSpPr>
          <p:cNvPr id="23" name="">
            <a:extLst xmlns:a="http://schemas.openxmlformats.org/drawingml/2006/main">
              <a:ext uri="{FF2B5EF4-FFF2-40B4-BE49-F238E27FC236}">
                <a16:creationId xmlns:a16="http://schemas.microsoft.com/office/drawing/2014/main" id="{D8D476CF-D855-4CA7-85A9-887EEDDDB74F}"/>
              </a:ext>
            </a:extLst>
          </p:cNvPr>
          <p:cNvSpPr>
            <a:spLocks xmlns:a="http://schemas.openxmlformats.org/drawingml/2006/main" noGrp="1"/>
          </p:cNvSpPr>
          <p:nvPr/>
        </p:nvSpPr>
        <p:spPr>
          <a:xfrm xmlns:a="http://schemas.openxmlformats.org/drawingml/2006/main">
            <a:off x="876300" y="6229350"/>
            <a:ext cx="15773400" cy="1962150"/>
          </a:xfrm>
          <a:prstGeom xmlns:a="http://schemas.openxmlformats.org/drawingml/2006/main" prst="roundRect">
            <a:avLst>
              <a:gd name="adj" fmla="val 3883"/>
            </a:avLst>
          </a:prstGeom>
          <a:solidFill xmlns:a="http://schemas.openxmlformats.org/drawingml/2006/main">
            <a:srgbClr val="E8EF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873C2BF-A6C0-4105-A2B7-1C39DFB3E195}"/>
              </a:ext>
            </a:extLst>
          </p:cNvPr>
          <p:cNvSpPr>
            <a:spLocks xmlns:a="http://schemas.openxmlformats.org/drawingml/2006/main" noGrp="1"/>
          </p:cNvSpPr>
          <p:nvPr/>
        </p:nvSpPr>
        <p:spPr>
          <a:xfrm xmlns:a="http://schemas.openxmlformats.org/drawingml/2006/main">
            <a:off x="1219200" y="65532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The lesson</a:t>
            </a:r>
          </a:p>
        </p:txBody>
      </p:sp>
      <p:sp>
        <p:nvSpPr>
          <p:cNvPr id="25" name="">
            <a:extLst xmlns:a="http://schemas.openxmlformats.org/drawingml/2006/main">
              <a:ext uri="{FF2B5EF4-FFF2-40B4-BE49-F238E27FC236}">
                <a16:creationId xmlns:a16="http://schemas.microsoft.com/office/drawing/2014/main" id="{DA2C8734-564D-4124-A20C-7D617151C45F}"/>
              </a:ext>
            </a:extLst>
          </p:cNvPr>
          <p:cNvSpPr>
            <a:spLocks xmlns:a="http://schemas.openxmlformats.org/drawingml/2006/main" noGrp="1"/>
          </p:cNvSpPr>
          <p:nvPr/>
        </p:nvSpPr>
        <p:spPr>
          <a:xfrm xmlns:a="http://schemas.openxmlformats.org/drawingml/2006/main">
            <a:off x="1219200" y="7067550"/>
            <a:ext cx="1476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8334B"/>
                </a:solidFill>
                <a:latin typeface="Arial"/>
                <a:ea typeface="Arial"/>
                <a:cs typeface="Arial"/>
              </a:defRPr>
            </a:pPr>
            <a:r>
              <a:rPr sz="2175" b="1" i="0">
                <a:solidFill>
                  <a:srgbClr val="18334B"/>
                </a:solidFill>
                <a:latin typeface="Arial"/>
                <a:ea typeface="Arial"/>
                <a:cs typeface="Arial"/>
              </a:rPr>
              <a:t>A single missed internet-facing asset can defeat security across a very large organisation. Effective testing must discover the full surface, verify coverage, and preserve evidence across every step.</a:t>
            </a:r>
          </a:p>
        </p:txBody>
      </p:sp>
      <p:sp>
        <p:nvSpPr>
          <p:cNvPr id="26" name="">
            <a:extLst xmlns:a="http://schemas.openxmlformats.org/drawingml/2006/main">
              <a:ext uri="{FF2B5EF4-FFF2-40B4-BE49-F238E27FC236}">
                <a16:creationId xmlns:a16="http://schemas.microsoft.com/office/drawing/2014/main" id="{8D96FD61-2F43-4AC4-8E4A-9C24374716BD}"/>
              </a:ext>
            </a:extLst>
          </p:cNvPr>
          <p:cNvSpPr>
            <a:spLocks xmlns:a="http://schemas.openxmlformats.org/drawingml/2006/main" noGrp="1"/>
          </p:cNvSpPr>
          <p:nvPr/>
        </p:nvSpPr>
        <p:spPr>
          <a:xfrm xmlns:a="http://schemas.openxmlformats.org/drawingml/2006/main">
            <a:off x="914400" y="8743950"/>
            <a:ext cx="1390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Sources: U.S. House Oversight Committee report (2018); U.S. Federal Trade Commission (2019).</a:t>
            </a:r>
          </a:p>
        </p:txBody>
      </p:sp>
    </p:spTree>
    <p:extLst>
      <p:ext uri="{BB962C8B-B14F-4D97-AF65-F5344CB8AC3E}">
        <p14:creationId xmlns:p14="http://schemas.microsoft.com/office/powerpoint/2010/main" val="71217284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4806B0F-26F7-482F-B289-597FF2988F1C}"/>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02 / CURRENT PRACTICE</a:t>
            </a:r>
          </a:p>
        </p:txBody>
      </p:sp>
      <p:sp>
        <p:nvSpPr>
          <p:cNvPr id="2" name="">
            <a:extLst xmlns:a="http://schemas.openxmlformats.org/drawingml/2006/main">
              <a:ext uri="{FF2B5EF4-FFF2-40B4-BE49-F238E27FC236}">
                <a16:creationId xmlns:a16="http://schemas.microsoft.com/office/drawing/2014/main" id="{9FA84090-96D8-4056-A106-E601BB3238CD}"/>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Existing tools and technologies</a:t>
            </a:r>
          </a:p>
        </p:txBody>
      </p:sp>
      <p:sp>
        <p:nvSpPr>
          <p:cNvPr id="3" name="">
            <a:extLst xmlns:a="http://schemas.openxmlformats.org/drawingml/2006/main">
              <a:ext uri="{FF2B5EF4-FFF2-40B4-BE49-F238E27FC236}">
                <a16:creationId xmlns:a16="http://schemas.microsoft.com/office/drawing/2014/main" id="{8407D4F4-7322-4C9F-A269-2C6FE7B3DB5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B324BF3A-FB15-4ADC-9F89-8FEC9D4D6129}"/>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5C03D5A-9F90-4D65-9426-0B591186A1B3}"/>
              </a:ext>
            </a:extLst>
          </p:cNvPr>
          <p:cNvSpPr>
            <a:spLocks xmlns:a="http://schemas.openxmlformats.org/drawingml/2006/main" noGrp="1"/>
          </p:cNvSpPr>
          <p:nvPr/>
        </p:nvSpPr>
        <p:spPr>
          <a:xfrm xmlns:a="http://schemas.openxmlformats.org/drawingml/2006/main">
            <a:off x="876300" y="209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2D8B84"/>
                </a:solidFill>
                <a:latin typeface="Arial"/>
                <a:ea typeface="Arial"/>
                <a:cs typeface="Arial"/>
              </a:defRPr>
            </a:pPr>
            <a:r>
              <a:rPr sz="1725" b="1" i="0">
                <a:solidFill>
                  <a:srgbClr val="2D8B84"/>
                </a:solidFill>
                <a:latin typeface="Arial"/>
                <a:ea typeface="Arial"/>
                <a:cs typeface="Arial"/>
              </a:rPr>
              <a:t>Typical pentesting workflow</a:t>
            </a:r>
          </a:p>
        </p:txBody>
      </p:sp>
      <p:sp>
        <p:nvSpPr>
          <p:cNvPr id="6" name="">
            <a:extLst xmlns:a="http://schemas.openxmlformats.org/drawingml/2006/main">
              <a:ext uri="{FF2B5EF4-FFF2-40B4-BE49-F238E27FC236}">
                <a16:creationId xmlns:a16="http://schemas.microsoft.com/office/drawing/2014/main" id="{BC6AE9DE-7643-4662-A5B6-B9B6292657B3}"/>
              </a:ext>
            </a:extLst>
          </p:cNvPr>
          <p:cNvSpPr>
            <a:spLocks xmlns:a="http://schemas.openxmlformats.org/drawingml/2006/main" noGrp="1"/>
          </p:cNvSpPr>
          <p:nvPr/>
        </p:nvSpPr>
        <p:spPr>
          <a:xfrm xmlns:a="http://schemas.openxmlformats.org/drawingml/2006/main">
            <a:off x="87630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2D8B84"/>
                </a:solidFill>
                <a:latin typeface="Arial"/>
                <a:ea typeface="Arial"/>
                <a:cs typeface="Arial"/>
              </a:defRPr>
            </a:pPr>
            <a:r>
              <a:rPr sz="1425" b="1">
                <a:solidFill>
                  <a:srgbClr val="2D8B84"/>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34220EF1-1D38-4FDF-9EFA-1609EB700DBC}"/>
              </a:ext>
            </a:extLst>
          </p:cNvPr>
          <p:cNvSpPr>
            <a:spLocks xmlns:a="http://schemas.openxmlformats.org/drawingml/2006/main" noGrp="1"/>
          </p:cNvSpPr>
          <p:nvPr/>
        </p:nvSpPr>
        <p:spPr>
          <a:xfrm xmlns:a="http://schemas.openxmlformats.org/drawingml/2006/main">
            <a:off x="37338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7EB7983-89AF-4608-B3E6-CB87DE94E10A}"/>
              </a:ext>
            </a:extLst>
          </p:cNvPr>
          <p:cNvSpPr>
            <a:spLocks xmlns:a="http://schemas.openxmlformats.org/drawingml/2006/main" noGrp="1"/>
          </p:cNvSpPr>
          <p:nvPr/>
        </p:nvSpPr>
        <p:spPr>
          <a:xfrm xmlns:a="http://schemas.openxmlformats.org/drawingml/2006/main">
            <a:off x="4057650" y="2571750"/>
            <a:ext cx="2762250" cy="514350"/>
          </a:xfrm>
          <a:prstGeom xmlns:a="http://schemas.openxmlformats.org/drawingml/2006/main" prst="roundRect">
            <a:avLst>
              <a:gd name="adj" fmla="val 14815"/>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2D8B84"/>
                </a:solidFill>
                <a:latin typeface="Arial"/>
                <a:ea typeface="Arial"/>
                <a:cs typeface="Arial"/>
              </a:defRPr>
            </a:pPr>
            <a:r>
              <a:rPr sz="1425" b="1">
                <a:solidFill>
                  <a:srgbClr val="2D8B84"/>
                </a:solidFill>
                <a:latin typeface="Arial"/>
                <a:ea typeface="Arial"/>
                <a:cs typeface="Arial"/>
              </a:rPr>
              <a:t>Resolve and probe</a:t>
            </a:r>
          </a:p>
        </p:txBody>
      </p:sp>
      <p:sp>
        <p:nvSpPr>
          <p:cNvPr id="9" name="">
            <a:extLst xmlns:a="http://schemas.openxmlformats.org/drawingml/2006/main">
              <a:ext uri="{FF2B5EF4-FFF2-40B4-BE49-F238E27FC236}">
                <a16:creationId xmlns:a16="http://schemas.microsoft.com/office/drawing/2014/main" id="{DEA020F0-4B0D-422D-AB0D-79B6B15C9402}"/>
              </a:ext>
            </a:extLst>
          </p:cNvPr>
          <p:cNvSpPr>
            <a:spLocks xmlns:a="http://schemas.openxmlformats.org/drawingml/2006/main" noGrp="1"/>
          </p:cNvSpPr>
          <p:nvPr/>
        </p:nvSpPr>
        <p:spPr>
          <a:xfrm xmlns:a="http://schemas.openxmlformats.org/drawingml/2006/main">
            <a:off x="69151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ADFC32-6E88-4FBC-BC49-C40B7D7564EE}"/>
              </a:ext>
            </a:extLst>
          </p:cNvPr>
          <p:cNvSpPr>
            <a:spLocks xmlns:a="http://schemas.openxmlformats.org/drawingml/2006/main" noGrp="1"/>
          </p:cNvSpPr>
          <p:nvPr/>
        </p:nvSpPr>
        <p:spPr>
          <a:xfrm xmlns:a="http://schemas.openxmlformats.org/drawingml/2006/main">
            <a:off x="723900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Map services</a:t>
            </a:r>
          </a:p>
        </p:txBody>
      </p:sp>
      <p:sp>
        <p:nvSpPr>
          <p:cNvPr id="11" name="">
            <a:extLst xmlns:a="http://schemas.openxmlformats.org/drawingml/2006/main">
              <a:ext uri="{FF2B5EF4-FFF2-40B4-BE49-F238E27FC236}">
                <a16:creationId xmlns:a16="http://schemas.microsoft.com/office/drawing/2014/main" id="{C5910A76-CE2E-4108-8163-5DDBAC7E1B59}"/>
              </a:ext>
            </a:extLst>
          </p:cNvPr>
          <p:cNvSpPr>
            <a:spLocks xmlns:a="http://schemas.openxmlformats.org/drawingml/2006/main" noGrp="1"/>
          </p:cNvSpPr>
          <p:nvPr/>
        </p:nvSpPr>
        <p:spPr>
          <a:xfrm xmlns:a="http://schemas.openxmlformats.org/drawingml/2006/main">
            <a:off x="1009650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781E67-EE71-46CC-BEF2-71E5379E0CDE}"/>
              </a:ext>
            </a:extLst>
          </p:cNvPr>
          <p:cNvSpPr>
            <a:spLocks xmlns:a="http://schemas.openxmlformats.org/drawingml/2006/main" noGrp="1"/>
          </p:cNvSpPr>
          <p:nvPr/>
        </p:nvSpPr>
        <p:spPr>
          <a:xfrm xmlns:a="http://schemas.openxmlformats.org/drawingml/2006/main">
            <a:off x="10420350" y="2571750"/>
            <a:ext cx="2762250" cy="514350"/>
          </a:xfrm>
          <a:prstGeom xmlns:a="http://schemas.openxmlformats.org/drawingml/2006/main" prst="roundRect">
            <a:avLst>
              <a:gd name="adj" fmla="val 14815"/>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Test applications</a:t>
            </a:r>
          </a:p>
        </p:txBody>
      </p:sp>
      <p:sp>
        <p:nvSpPr>
          <p:cNvPr id="13" name="">
            <a:extLst xmlns:a="http://schemas.openxmlformats.org/drawingml/2006/main">
              <a:ext uri="{FF2B5EF4-FFF2-40B4-BE49-F238E27FC236}">
                <a16:creationId xmlns:a16="http://schemas.microsoft.com/office/drawing/2014/main" id="{DA297022-D394-4D97-B33F-2037E8B7DC73}"/>
              </a:ext>
            </a:extLst>
          </p:cNvPr>
          <p:cNvSpPr>
            <a:spLocks xmlns:a="http://schemas.openxmlformats.org/drawingml/2006/main" noGrp="1"/>
          </p:cNvSpPr>
          <p:nvPr/>
        </p:nvSpPr>
        <p:spPr>
          <a:xfrm xmlns:a="http://schemas.openxmlformats.org/drawingml/2006/main">
            <a:off x="13277850" y="2724150"/>
            <a:ext cx="3238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C13602F-7DB9-4F48-BEDD-9104CB72A81D}"/>
              </a:ext>
            </a:extLst>
          </p:cNvPr>
          <p:cNvSpPr>
            <a:spLocks xmlns:a="http://schemas.openxmlformats.org/drawingml/2006/main" noGrp="1"/>
          </p:cNvSpPr>
          <p:nvPr/>
        </p:nvSpPr>
        <p:spPr>
          <a:xfrm xmlns:a="http://schemas.openxmlformats.org/drawingml/2006/main">
            <a:off x="13601700" y="2571750"/>
            <a:ext cx="2762250" cy="514350"/>
          </a:xfrm>
          <a:prstGeom xmlns:a="http://schemas.openxmlformats.org/drawingml/2006/main" prst="roundRect">
            <a:avLst>
              <a:gd name="adj" fmla="val 14815"/>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D79A32"/>
                </a:solidFill>
                <a:latin typeface="Arial"/>
                <a:ea typeface="Arial"/>
                <a:cs typeface="Arial"/>
              </a:defRPr>
            </a:pPr>
            <a:r>
              <a:rPr sz="1425" b="1">
                <a:solidFill>
                  <a:srgbClr val="D79A32"/>
                </a:solidFill>
                <a:latin typeface="Arial"/>
                <a:ea typeface="Arial"/>
                <a:cs typeface="Arial"/>
              </a:rPr>
              <a:t>Validate and report</a:t>
            </a:r>
          </a:p>
        </p:txBody>
      </p:sp>
      <p:graphicFrame>
        <p:nvGraphicFramePr>
          <p:cNvPr id="33" name=""/>
          <p:cNvGraphicFramePr/>
          <p:nvPr/>
        </p:nvGraphicFramePr>
        <p:xfrm>
          <a:off xmlns:a="http://schemas.openxmlformats.org/drawingml/2006/main" x="876300" y="3524250"/>
          <a:ext xmlns:a="http://schemas.openxmlformats.org/drawingml/2006/main" cx="15773400" cy="4495800"/>
        </p:xfrm>
        <a:graphic xmlns:a="http://schemas.openxmlformats.org/drawingml/2006/main">
          <a:graphicData uri="http://schemas.openxmlformats.org/drawingml/2006/table">
            <a:tbl>
              <a:tblPr/>
              <a:tblGrid>
                <a:gridCol w="2857500"/>
                <a:gridCol w="4953000"/>
                <a:gridCol w="3429000"/>
                <a:gridCol w="4533900"/>
              </a:tblGrid>
              <a:tr h="609600">
                <a:tc>
                  <a:txBody>
                    <a:bodyPr lIns="114300" tIns="95250" rIns="114300" bIns="95250">
                      <a:normAutofit/>
                    </a:bodyPr>
                    <a:lstStyle/>
                    <a:p>
                      <a:r>
                        <a:rPr sz="1650" b="1">
                          <a:solidFill>
                            <a:srgbClr val="FFFFFF"/>
                          </a:solidFill>
                          <a:latin typeface="Arial"/>
                          <a:ea typeface="Arial"/>
                          <a:cs typeface="Arial"/>
                        </a:rPr>
                        <a:t>Category</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Examples</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Strength</a:t>
                      </a:r>
                    </a:p>
                  </a:txBody>
                  <a:tcPr marL="91440" marR="91440" marT="45720" marB="45720" anchor="ctr">
                    <a:solidFill>
                      <a:srgbClr val="123B63"/>
                    </a:solidFill>
                  </a:tcPr>
                </a:tc>
                <a:tc>
                  <a:txBody>
                    <a:bodyPr lIns="114300" tIns="95250" rIns="114300" bIns="95250">
                      <a:normAutofit/>
                    </a:bodyPr>
                    <a:lstStyle/>
                    <a:p>
                      <a:r>
                        <a:rPr sz="1650" b="1">
                          <a:solidFill>
                            <a:srgbClr val="FFFFFF"/>
                          </a:solidFill>
                          <a:latin typeface="Arial"/>
                          <a:ea typeface="Arial"/>
                          <a:cs typeface="Arial"/>
                        </a:rPr>
                        <a:t>Limitation</a:t>
                      </a:r>
                    </a:p>
                  </a:txBody>
                  <a:tcPr marL="91440" marR="91440" marT="45720" marB="45720" anchor="ctr">
                    <a:solidFill>
                      <a:srgbClr val="123B63"/>
                    </a:solidFill>
                  </a:tcPr>
                </a:tc>
              </a:tr>
              <a:tr h="1200150">
                <a:tc>
                  <a:txBody>
                    <a:bodyPr lIns="114300" tIns="95250" rIns="114300" bIns="95250">
                      <a:normAutofit/>
                    </a:bodyPr>
                    <a:lstStyle/>
                    <a:p>
                      <a:r>
                        <a:rPr sz="1500" b="1">
                          <a:solidFill>
                            <a:srgbClr val="18334B"/>
                          </a:solidFill>
                          <a:latin typeface="Arial"/>
                          <a:ea typeface="Arial"/>
                          <a:cs typeface="Arial"/>
                        </a:rPr>
                        <a:t>Conventional security tools</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Subfinder, Amass, Nmap, Nuclei, SQLmap, ZAP, Metasploit</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Mature, specialized and repeatable</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Require manual coordination. Outputs remain disconnected and provide limited contextual reasoning.</a:t>
                      </a:r>
                    </a:p>
                  </a:txBody>
                  <a:tcPr marL="91440" marR="91440" marT="45720" marB="45720" anchor="ctr">
                    <a:solidFill>
                      <a:srgbClr val="FFFDF9"/>
                    </a:solidFill>
                  </a:tcPr>
                </a:tc>
              </a:tr>
              <a:tr h="1485900">
                <a:tc>
                  <a:txBody>
                    <a:bodyPr lIns="114300" tIns="95250" rIns="114300" bIns="95250">
                      <a:normAutofit/>
                    </a:bodyPr>
                    <a:lstStyle/>
                    <a:p>
                      <a:r>
                        <a:rPr sz="1500" b="1">
                          <a:solidFill>
                            <a:srgbClr val="18334B"/>
                          </a:solidFill>
                          <a:latin typeface="Arial"/>
                          <a:ea typeface="Arial"/>
                          <a:cs typeface="Arial"/>
                        </a:rPr>
                        <a:t>AI pentesting agents</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PentestGPT, HackSynth, PentestAgent, AutoPentester, AutoAttacker, PentAGI, DarkMoon</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Adaptive planning and interpretation</a:t>
                      </a:r>
                    </a:p>
                  </a:txBody>
                  <a:tcPr marL="91440" marR="91440" marT="45720" marB="45720" anchor="ctr">
                    <a:solidFill>
                      <a:srgbClr val="EDF3F5"/>
                    </a:solidFill>
                  </a:tcPr>
                </a:tc>
                <a:tc>
                  <a:txBody>
                    <a:bodyPr lIns="114300" tIns="95250" rIns="114300" bIns="95250">
                      <a:normAutofit/>
                    </a:bodyPr>
                    <a:lstStyle/>
                    <a:p>
                      <a:r>
                        <a:rPr sz="1500" b="0">
                          <a:solidFill>
                            <a:srgbClr val="18334B"/>
                          </a:solidFill>
                          <a:latin typeface="Arial"/>
                          <a:ea typeface="Arial"/>
                          <a:cs typeface="Arial"/>
                        </a:rPr>
                        <a:t>Depend on LLMs. Many evaluations use bounded tasks and provide limited broad reconnaissance coverage.</a:t>
                      </a:r>
                    </a:p>
                  </a:txBody>
                  <a:tcPr marL="91440" marR="91440" marT="45720" marB="45720" anchor="ctr">
                    <a:solidFill>
                      <a:srgbClr val="EDF3F5"/>
                    </a:solidFill>
                  </a:tcPr>
                </a:tc>
              </a:tr>
              <a:tr h="1200150">
                <a:tc>
                  <a:txBody>
                    <a:bodyPr lIns="114300" tIns="95250" rIns="114300" bIns="95250">
                      <a:normAutofit/>
                    </a:bodyPr>
                    <a:lstStyle/>
                    <a:p>
                      <a:r>
                        <a:rPr sz="1500" b="1">
                          <a:solidFill>
                            <a:srgbClr val="18334B"/>
                          </a:solidFill>
                          <a:latin typeface="Arial"/>
                          <a:ea typeface="Arial"/>
                          <a:cs typeface="Arial"/>
                        </a:rPr>
                        <a:t>AI security frameworks</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HexStrike AI, pentestMCP, Shannon</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Centralized tool access and automation</a:t>
                      </a:r>
                    </a:p>
                  </a:txBody>
                  <a:tcPr marL="91440" marR="91440" marT="45720" marB="45720" anchor="ctr">
                    <a:solidFill>
                      <a:srgbClr val="FFFDF9"/>
                    </a:solidFill>
                  </a:tcPr>
                </a:tc>
                <a:tc>
                  <a:txBody>
                    <a:bodyPr lIns="114300" tIns="95250" rIns="114300" bIns="95250">
                      <a:normAutofit/>
                    </a:bodyPr>
                    <a:lstStyle/>
                    <a:p>
                      <a:r>
                        <a:rPr sz="1500" b="0">
                          <a:solidFill>
                            <a:srgbClr val="18334B"/>
                          </a:solidFill>
                          <a:latin typeface="Arial"/>
                          <a:ea typeface="Arial"/>
                          <a:cs typeface="Arial"/>
                        </a:rPr>
                        <a:t>Tool access alone does not provide a complete workflow or persistent correlation across testing stages.</a:t>
                      </a:r>
                    </a:p>
                  </a:txBody>
                  <a:tcPr marL="91440" marR="91440" marT="45720" marB="45720" anchor="ctr">
                    <a:solidFill>
                      <a:srgbClr val="FFFDF9"/>
                    </a:solidFill>
                  </a:tcPr>
                </a:tc>
              </a:tr>
            </a:tbl>
          </a:graphicData>
        </a:graphic>
      </p:graphicFrame>
      <p:sp>
        <p:nvSpPr>
          <p:cNvPr id="16" name="">
            <a:extLst xmlns:a="http://schemas.openxmlformats.org/drawingml/2006/main">
              <a:ext uri="{FF2B5EF4-FFF2-40B4-BE49-F238E27FC236}">
                <a16:creationId xmlns:a16="http://schemas.microsoft.com/office/drawing/2014/main" id="{0106C402-A0FB-40D4-962C-B254F9BAC292}"/>
              </a:ext>
            </a:extLst>
          </p:cNvPr>
          <p:cNvSpPr>
            <a:spLocks xmlns:a="http://schemas.openxmlformats.org/drawingml/2006/main" noGrp="1"/>
          </p:cNvSpPr>
          <p:nvPr/>
        </p:nvSpPr>
        <p:spPr>
          <a:xfrm xmlns:a="http://schemas.openxmlformats.org/drawingml/2006/main">
            <a:off x="914400" y="8572500"/>
            <a:ext cx="1314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literature review and comparison table, pp. 5–10.</a:t>
            </a:r>
          </a:p>
        </p:txBody>
      </p:sp>
    </p:spTree>
    <p:extLst>
      <p:ext uri="{BB962C8B-B14F-4D97-AF65-F5344CB8AC3E}">
        <p14:creationId xmlns:p14="http://schemas.microsoft.com/office/powerpoint/2010/main" val="92179656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C7A3164-A621-4EBB-B058-5782B7367AD3}"/>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03 / THE GAP</a:t>
            </a:r>
          </a:p>
        </p:txBody>
      </p:sp>
      <p:sp>
        <p:nvSpPr>
          <p:cNvPr id="2" name="">
            <a:extLst xmlns:a="http://schemas.openxmlformats.org/drawingml/2006/main">
              <a:ext uri="{FF2B5EF4-FFF2-40B4-BE49-F238E27FC236}">
                <a16:creationId xmlns:a16="http://schemas.microsoft.com/office/drawing/2014/main" id="{D3A04B46-6063-4688-B10E-40FCDE456178}"/>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The operational security gap is orchestration at scale</a:t>
            </a:r>
          </a:p>
        </p:txBody>
      </p:sp>
      <p:sp>
        <p:nvSpPr>
          <p:cNvPr id="3" name="">
            <a:extLst xmlns:a="http://schemas.openxmlformats.org/drawingml/2006/main">
              <a:ext uri="{FF2B5EF4-FFF2-40B4-BE49-F238E27FC236}">
                <a16:creationId xmlns:a16="http://schemas.microsoft.com/office/drawing/2014/main" id="{41642DE8-4E8F-4C10-9BB4-C6D8E0825FB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541028C7-B99D-4D9B-AC42-FF2779874A35}"/>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4A52FA4-1C63-4423-9C7A-FF04CA86815C}"/>
              </a:ext>
            </a:extLst>
          </p:cNvPr>
          <p:cNvSpPr>
            <a:spLocks xmlns:a="http://schemas.openxmlformats.org/drawingml/2006/main" noGrp="1"/>
          </p:cNvSpPr>
          <p:nvPr/>
        </p:nvSpPr>
        <p:spPr>
          <a:xfrm xmlns:a="http://schemas.openxmlformats.org/drawingml/2006/main">
            <a:off x="876300" y="20574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i="0">
                <a:solidFill>
                  <a:srgbClr val="5F7180"/>
                </a:solidFill>
                <a:latin typeface="Arial"/>
                <a:ea typeface="Arial"/>
                <a:cs typeface="Arial"/>
              </a:defRPr>
            </a:pPr>
            <a:r>
              <a:rPr sz="2025" b="0" i="0">
                <a:solidFill>
                  <a:srgbClr val="5F7180"/>
                </a:solidFill>
                <a:latin typeface="Arial"/>
                <a:ea typeface="Arial"/>
                <a:cs typeface="Arial"/>
              </a:rPr>
              <a:t>Practical limitations prevent current tools from covering large infrastructures as one connected assessment.</a:t>
            </a:r>
          </a:p>
        </p:txBody>
      </p:sp>
      <p:sp>
        <p:nvSpPr>
          <p:cNvPr id="6" name="">
            <a:extLst xmlns:a="http://schemas.openxmlformats.org/drawingml/2006/main">
              <a:ext uri="{FF2B5EF4-FFF2-40B4-BE49-F238E27FC236}">
                <a16:creationId xmlns:a16="http://schemas.microsoft.com/office/drawing/2014/main" id="{B2B34A1F-7A8B-480B-AB60-48115369E82D}"/>
              </a:ext>
            </a:extLst>
          </p:cNvPr>
          <p:cNvSpPr>
            <a:spLocks xmlns:a="http://schemas.openxmlformats.org/drawingml/2006/main" noGrp="1"/>
          </p:cNvSpPr>
          <p:nvPr/>
        </p:nvSpPr>
        <p:spPr>
          <a:xfrm xmlns:a="http://schemas.openxmlformats.org/drawingml/2006/main">
            <a:off x="87630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9099D37D-0914-46D5-9F44-AC9BC9B7C0EE}"/>
              </a:ext>
            </a:extLst>
          </p:cNvPr>
          <p:cNvSpPr>
            <a:spLocks xmlns:a="http://schemas.openxmlformats.org/drawingml/2006/main" noGrp="1"/>
          </p:cNvSpPr>
          <p:nvPr/>
        </p:nvSpPr>
        <p:spPr>
          <a:xfrm xmlns:a="http://schemas.openxmlformats.org/drawingml/2006/main">
            <a:off x="876300" y="2781300"/>
            <a:ext cx="85725" cy="34290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B5681F2-A419-4271-92F0-C2E02F084E2C}"/>
              </a:ext>
            </a:extLst>
          </p:cNvPr>
          <p:cNvSpPr>
            <a:spLocks xmlns:a="http://schemas.openxmlformats.org/drawingml/2006/main" noGrp="1"/>
          </p:cNvSpPr>
          <p:nvPr/>
        </p:nvSpPr>
        <p:spPr>
          <a:xfrm xmlns:a="http://schemas.openxmlformats.org/drawingml/2006/main">
            <a:off x="114300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1 · Fragmented workflow</a:t>
            </a:r>
          </a:p>
        </p:txBody>
      </p:sp>
      <p:sp>
        <p:nvSpPr>
          <p:cNvPr id="9" name="">
            <a:extLst xmlns:a="http://schemas.openxmlformats.org/drawingml/2006/main">
              <a:ext uri="{FF2B5EF4-FFF2-40B4-BE49-F238E27FC236}">
                <a16:creationId xmlns:a16="http://schemas.microsoft.com/office/drawing/2014/main" id="{BD4CFAE8-E25B-40DB-9506-A0A1F91EFC12}"/>
              </a:ext>
            </a:extLst>
          </p:cNvPr>
          <p:cNvSpPr>
            <a:spLocks xmlns:a="http://schemas.openxmlformats.org/drawingml/2006/main" noGrp="1"/>
          </p:cNvSpPr>
          <p:nvPr/>
        </p:nvSpPr>
        <p:spPr>
          <a:xfrm xmlns:a="http://schemas.openxmlformats.org/drawingml/2006/main">
            <a:off x="114300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Specialized tools emit isolated outputs.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Humans repeatedly copy, filter, correlate and decide what to run next.</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Assets, services, endpoints and evidence are easily disconnected.</a:t>
            </a:r>
          </a:p>
        </p:txBody>
      </p:sp>
      <p:sp>
        <p:nvSpPr>
          <p:cNvPr id="10" name="">
            <a:extLst xmlns:a="http://schemas.openxmlformats.org/drawingml/2006/main">
              <a:ext uri="{FF2B5EF4-FFF2-40B4-BE49-F238E27FC236}">
                <a16:creationId xmlns:a16="http://schemas.microsoft.com/office/drawing/2014/main" id="{489A9905-80CB-4EDF-A9A2-28F0AEDA2172}"/>
              </a:ext>
            </a:extLst>
          </p:cNvPr>
          <p:cNvSpPr>
            <a:spLocks xmlns:a="http://schemas.openxmlformats.org/drawingml/2006/main" noGrp="1"/>
          </p:cNvSpPr>
          <p:nvPr/>
        </p:nvSpPr>
        <p:spPr>
          <a:xfrm xmlns:a="http://schemas.openxmlformats.org/drawingml/2006/main">
            <a:off x="6000750" y="2781300"/>
            <a:ext cx="48768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1DE89574-211A-49A5-A2D1-5B08572FEDEE}"/>
              </a:ext>
            </a:extLst>
          </p:cNvPr>
          <p:cNvSpPr>
            <a:spLocks xmlns:a="http://schemas.openxmlformats.org/drawingml/2006/main" noGrp="1"/>
          </p:cNvSpPr>
          <p:nvPr/>
        </p:nvSpPr>
        <p:spPr>
          <a:xfrm xmlns:a="http://schemas.openxmlformats.org/drawingml/2006/main">
            <a:off x="6000750" y="2781300"/>
            <a:ext cx="85725" cy="34290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181F70C-39DC-4D5D-BBBD-0AA915BB1285}"/>
              </a:ext>
            </a:extLst>
          </p:cNvPr>
          <p:cNvSpPr>
            <a:spLocks xmlns:a="http://schemas.openxmlformats.org/drawingml/2006/main" noGrp="1"/>
          </p:cNvSpPr>
          <p:nvPr/>
        </p:nvSpPr>
        <p:spPr>
          <a:xfrm xmlns:a="http://schemas.openxmlformats.org/drawingml/2006/main">
            <a:off x="6267450" y="29908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2 · Reconnaissance scale</a:t>
            </a:r>
          </a:p>
        </p:txBody>
      </p:sp>
      <p:sp>
        <p:nvSpPr>
          <p:cNvPr id="13" name="">
            <a:extLst xmlns:a="http://schemas.openxmlformats.org/drawingml/2006/main">
              <a:ext uri="{FF2B5EF4-FFF2-40B4-BE49-F238E27FC236}">
                <a16:creationId xmlns:a16="http://schemas.microsoft.com/office/drawing/2014/main" id="{AFC19BD1-AE12-47CC-A061-324DF8E4921B}"/>
              </a:ext>
            </a:extLst>
          </p:cNvPr>
          <p:cNvSpPr>
            <a:spLocks xmlns:a="http://schemas.openxmlformats.org/drawingml/2006/main" noGrp="1"/>
          </p:cNvSpPr>
          <p:nvPr/>
        </p:nvSpPr>
        <p:spPr>
          <a:xfrm xmlns:a="http://schemas.openxmlformats.org/drawingml/2006/main">
            <a:off x="6267450" y="3524250"/>
            <a:ext cx="43815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Real infrastructures are wider than bounded CTF tasks.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Each new domain, host, port or endpoint creates more work.</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Many AI systems are not optimized for continuous, broad reconnaissance coverage.</a:t>
            </a:r>
          </a:p>
        </p:txBody>
      </p:sp>
      <p:sp>
        <p:nvSpPr>
          <p:cNvPr id="14" name="">
            <a:extLst xmlns:a="http://schemas.openxmlformats.org/drawingml/2006/main">
              <a:ext uri="{FF2B5EF4-FFF2-40B4-BE49-F238E27FC236}">
                <a16:creationId xmlns:a16="http://schemas.microsoft.com/office/drawing/2014/main" id="{EFCE1CEB-E4EE-41AA-9632-4D9189AD1BB4}"/>
              </a:ext>
            </a:extLst>
          </p:cNvPr>
          <p:cNvSpPr>
            <a:spLocks xmlns:a="http://schemas.openxmlformats.org/drawingml/2006/main" noGrp="1"/>
          </p:cNvSpPr>
          <p:nvPr/>
        </p:nvSpPr>
        <p:spPr>
          <a:xfrm xmlns:a="http://schemas.openxmlformats.org/drawingml/2006/main">
            <a:off x="11125200" y="2781300"/>
            <a:ext cx="5524500" cy="3429000"/>
          </a:xfrm>
          <a:prstGeom xmlns:a="http://schemas.openxmlformats.org/drawingml/2006/main" prst="roundRect">
            <a:avLst>
              <a:gd name="adj" fmla="val 2222"/>
            </a:avLst>
          </a:prstGeom>
          <a:solidFill xmlns:a="http://schemas.openxmlformats.org/drawingml/2006/main">
            <a:srgbClr val="FFFDF9"/>
          </a:solidFill>
          <a:ln xmlns:a="http://schemas.openxmlformats.org/drawingml/2006/main" w="19050">
            <a:solidFill>
              <a:srgbClr val="CAD6DE"/>
            </a:solidFill>
          </a:ln>
        </p:spPr>
      </p:sp>
      <p:sp>
        <p:nvSpPr>
          <p:cNvPr id="15" name="">
            <a:extLst xmlns:a="http://schemas.openxmlformats.org/drawingml/2006/main">
              <a:ext uri="{FF2B5EF4-FFF2-40B4-BE49-F238E27FC236}">
                <a16:creationId xmlns:a16="http://schemas.microsoft.com/office/drawing/2014/main" id="{0EE3FEED-275F-4A47-9DDA-0E20179C13E1}"/>
              </a:ext>
            </a:extLst>
          </p:cNvPr>
          <p:cNvSpPr>
            <a:spLocks xmlns:a="http://schemas.openxmlformats.org/drawingml/2006/main" noGrp="1"/>
          </p:cNvSpPr>
          <p:nvPr/>
        </p:nvSpPr>
        <p:spPr>
          <a:xfrm xmlns:a="http://schemas.openxmlformats.org/drawingml/2006/main">
            <a:off x="11125200" y="2781300"/>
            <a:ext cx="85725" cy="34290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AA0D9E2-EF82-4570-A0EC-407F8C8828C1}"/>
              </a:ext>
            </a:extLst>
          </p:cNvPr>
          <p:cNvSpPr>
            <a:spLocks xmlns:a="http://schemas.openxmlformats.org/drawingml/2006/main" noGrp="1"/>
          </p:cNvSpPr>
          <p:nvPr/>
        </p:nvSpPr>
        <p:spPr>
          <a:xfrm xmlns:a="http://schemas.openxmlformats.org/drawingml/2006/main">
            <a:off x="11391900" y="299085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3 · External LLM dependency</a:t>
            </a:r>
          </a:p>
        </p:txBody>
      </p:sp>
      <p:sp>
        <p:nvSpPr>
          <p:cNvPr id="17" name="">
            <a:extLst xmlns:a="http://schemas.openxmlformats.org/drawingml/2006/main">
              <a:ext uri="{FF2B5EF4-FFF2-40B4-BE49-F238E27FC236}">
                <a16:creationId xmlns:a16="http://schemas.microsoft.com/office/drawing/2014/main" id="{282E1B2C-1EC4-4198-AAE8-8DD1BF7E011E}"/>
              </a:ext>
            </a:extLst>
          </p:cNvPr>
          <p:cNvSpPr>
            <a:spLocks xmlns:a="http://schemas.openxmlformats.org/drawingml/2006/main" noGrp="1"/>
          </p:cNvSpPr>
          <p:nvPr/>
        </p:nvSpPr>
        <p:spPr>
          <a:xfrm xmlns:a="http://schemas.openxmlformats.org/drawingml/2006/main">
            <a:off x="11391900" y="3524250"/>
            <a:ext cx="50292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API cost, rate limits, connectivity and model behavior can interrupt assessments.</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Known pentesting steps do not require expensive reasoning every time.</a:t>
            </a:r>
          </a:p>
          <a:p xmlns:a="http://schemas.openxmlformats.org/drawingml/2006/main">
            <a:r>
              <a:t/>
            </a:r>
          </a:p>
          <a:p xmlns:a="http://schemas.openxmlformats.org/drawingml/2006/main">
            <a:pPr algn="l">
              <a:lnSpc>
                <a:spcPct val="105000"/>
              </a:lnSpc>
              <a:buNone/>
              <a:defRPr sz="1650" b="0" i="0">
                <a:solidFill>
                  <a:srgbClr val="5F7180"/>
                </a:solidFill>
                <a:latin typeface="Arial"/>
                <a:ea typeface="Arial"/>
                <a:cs typeface="Arial"/>
              </a:defRPr>
            </a:pPr>
            <a:r>
              <a:rPr sz="1650" b="0" i="0">
                <a:solidFill>
                  <a:srgbClr val="5F7180"/>
                </a:solidFill>
                <a:latin typeface="Arial"/>
                <a:ea typeface="Arial"/>
                <a:cs typeface="Arial"/>
              </a:rPr>
              <a:t>When the model stops, the core workflow should not stop.</a:t>
            </a:r>
          </a:p>
        </p:txBody>
      </p:sp>
      <p:sp>
        <p:nvSpPr>
          <p:cNvPr id="18" name="">
            <a:extLst xmlns:a="http://schemas.openxmlformats.org/drawingml/2006/main">
              <a:ext uri="{FF2B5EF4-FFF2-40B4-BE49-F238E27FC236}">
                <a16:creationId xmlns:a16="http://schemas.microsoft.com/office/drawing/2014/main" id="{F1C762C0-BEC9-434D-A4E1-3872DE6D8F1B}"/>
              </a:ext>
            </a:extLst>
          </p:cNvPr>
          <p:cNvSpPr>
            <a:spLocks xmlns:a="http://schemas.openxmlformats.org/drawingml/2006/main" noGrp="1"/>
          </p:cNvSpPr>
          <p:nvPr/>
        </p:nvSpPr>
        <p:spPr>
          <a:xfrm xmlns:a="http://schemas.openxmlformats.org/drawingml/2006/main">
            <a:off x="876300" y="6667500"/>
            <a:ext cx="15773400" cy="1466850"/>
          </a:xfrm>
          <a:prstGeom xmlns:a="http://schemas.openxmlformats.org/drawingml/2006/main" prst="roundRect">
            <a:avLst>
              <a:gd name="adj" fmla="val 5195"/>
            </a:avLst>
          </a:prstGeom>
          <a:solidFill xmlns:a="http://schemas.openxmlformats.org/drawingml/2006/main">
            <a:srgbClr val="F1E8D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A75A45C-08CA-44D0-88F1-031A9573E6E6}"/>
              </a:ext>
            </a:extLst>
          </p:cNvPr>
          <p:cNvSpPr>
            <a:spLocks xmlns:a="http://schemas.openxmlformats.org/drawingml/2006/main" noGrp="1"/>
          </p:cNvSpPr>
          <p:nvPr/>
        </p:nvSpPr>
        <p:spPr>
          <a:xfrm xmlns:a="http://schemas.openxmlformats.org/drawingml/2006/main">
            <a:off x="1200150" y="695325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C55B48"/>
                </a:solidFill>
                <a:latin typeface="Arial"/>
                <a:ea typeface="Arial"/>
                <a:cs typeface="Arial"/>
              </a:defRPr>
            </a:pPr>
            <a:r>
              <a:rPr sz="1800" b="1" i="0">
                <a:solidFill>
                  <a:srgbClr val="C55B48"/>
                </a:solidFill>
                <a:latin typeface="Arial"/>
                <a:ea typeface="Arial"/>
                <a:cs typeface="Arial"/>
              </a:rPr>
              <a:t>Trust and control must span the entire workflow</a:t>
            </a:r>
          </a:p>
        </p:txBody>
      </p:sp>
      <p:sp>
        <p:nvSpPr>
          <p:cNvPr id="20" name="">
            <a:extLst xmlns:a="http://schemas.openxmlformats.org/drawingml/2006/main">
              <a:ext uri="{FF2B5EF4-FFF2-40B4-BE49-F238E27FC236}">
                <a16:creationId xmlns:a16="http://schemas.microsoft.com/office/drawing/2014/main" id="{03098096-B647-4900-AAF1-AB70735DC306}"/>
              </a:ext>
            </a:extLst>
          </p:cNvPr>
          <p:cNvSpPr>
            <a:spLocks xmlns:a="http://schemas.openxmlformats.org/drawingml/2006/main" noGrp="1"/>
          </p:cNvSpPr>
          <p:nvPr/>
        </p:nvSpPr>
        <p:spPr>
          <a:xfrm xmlns:a="http://schemas.openxmlformats.org/drawingml/2006/main">
            <a:off x="1257300" y="75438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Scope enforcement</a:t>
            </a:r>
          </a:p>
        </p:txBody>
      </p:sp>
      <p:sp>
        <p:nvSpPr>
          <p:cNvPr id="21" name="">
            <a:extLst xmlns:a="http://schemas.openxmlformats.org/drawingml/2006/main">
              <a:ext uri="{FF2B5EF4-FFF2-40B4-BE49-F238E27FC236}">
                <a16:creationId xmlns:a16="http://schemas.microsoft.com/office/drawing/2014/main" id="{4ED5495C-321A-47F1-B830-46DD3F9C0059}"/>
              </a:ext>
            </a:extLst>
          </p:cNvPr>
          <p:cNvSpPr>
            <a:spLocks xmlns:a="http://schemas.openxmlformats.org/drawingml/2006/main" noGrp="1"/>
          </p:cNvSpPr>
          <p:nvPr/>
        </p:nvSpPr>
        <p:spPr>
          <a:xfrm xmlns:a="http://schemas.openxmlformats.org/drawingml/2006/main">
            <a:off x="5048250" y="75438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Evidence-based findings</a:t>
            </a:r>
          </a:p>
        </p:txBody>
      </p:sp>
      <p:sp>
        <p:nvSpPr>
          <p:cNvPr id="22" name="">
            <a:extLst xmlns:a="http://schemas.openxmlformats.org/drawingml/2006/main">
              <a:ext uri="{FF2B5EF4-FFF2-40B4-BE49-F238E27FC236}">
                <a16:creationId xmlns:a16="http://schemas.microsoft.com/office/drawing/2014/main" id="{79681BC4-DB5C-4FA3-91E7-4BCEE24B9046}"/>
              </a:ext>
            </a:extLst>
          </p:cNvPr>
          <p:cNvSpPr>
            <a:spLocks xmlns:a="http://schemas.openxmlformats.org/drawingml/2006/main" noGrp="1"/>
          </p:cNvSpPr>
          <p:nvPr/>
        </p:nvSpPr>
        <p:spPr>
          <a:xfrm xmlns:a="http://schemas.openxmlformats.org/drawingml/2006/main">
            <a:off x="9353550" y="7543800"/>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8334B"/>
                </a:solidFill>
                <a:latin typeface="Arial"/>
                <a:ea typeface="Arial"/>
                <a:cs typeface="Arial"/>
              </a:defRPr>
            </a:pPr>
            <a:r>
              <a:rPr sz="1650" b="1" i="0">
                <a:solidFill>
                  <a:srgbClr val="18334B"/>
                </a:solidFill>
                <a:latin typeface="Arial"/>
                <a:ea typeface="Arial"/>
                <a:cs typeface="Arial"/>
              </a:rPr>
              <a:t>Human approval before impactful actions</a:t>
            </a:r>
          </a:p>
        </p:txBody>
      </p:sp>
      <p:sp>
        <p:nvSpPr>
          <p:cNvPr id="23" name="">
            <a:extLst xmlns:a="http://schemas.openxmlformats.org/drawingml/2006/main">
              <a:ext uri="{FF2B5EF4-FFF2-40B4-BE49-F238E27FC236}">
                <a16:creationId xmlns:a16="http://schemas.microsoft.com/office/drawing/2014/main" id="{D603DEB8-8E2C-424B-A53E-9932E546CFA2}"/>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pp. 10–12.</a:t>
            </a:r>
          </a:p>
        </p:txBody>
      </p:sp>
    </p:spTree>
    <p:extLst>
      <p:ext uri="{BB962C8B-B14F-4D97-AF65-F5344CB8AC3E}">
        <p14:creationId xmlns:p14="http://schemas.microsoft.com/office/powerpoint/2010/main" val="182027388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18C27AB-A852-4D30-B8C3-4F2BFE12C6D1}"/>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04 / PROJECT OBJECTIVES</a:t>
            </a:r>
          </a:p>
        </p:txBody>
      </p:sp>
      <p:sp>
        <p:nvSpPr>
          <p:cNvPr id="2" name="">
            <a:extLst xmlns:a="http://schemas.openxmlformats.org/drawingml/2006/main">
              <a:ext uri="{FF2B5EF4-FFF2-40B4-BE49-F238E27FC236}">
                <a16:creationId xmlns:a16="http://schemas.microsoft.com/office/drawing/2014/main" id="{55F6E1EC-423A-4268-B4DD-1D9CBF81D6F5}"/>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3110BDBF-C91E-4CEE-A66B-A03FC2392936}"/>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B3EF6D3-4CBE-4A5E-AC51-E5546D38B3F6}"/>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BFC60158-DB64-4A57-881B-7993173124D7}"/>
              </a:ext>
            </a:extLst>
          </p:cNvPr>
          <p:cNvSpPr>
            <a:spLocks xmlns:a="http://schemas.openxmlformats.org/drawingml/2006/main" noGrp="1"/>
          </p:cNvSpPr>
          <p:nvPr/>
        </p:nvSpPr>
        <p:spPr>
          <a:xfrm xmlns:a="http://schemas.openxmlformats.org/drawingml/2006/main">
            <a:off x="87630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F72ED755-4002-4CAA-B713-4F39DA888440}"/>
              </a:ext>
            </a:extLst>
          </p:cNvPr>
          <p:cNvSpPr>
            <a:spLocks xmlns:a="http://schemas.openxmlformats.org/drawingml/2006/main" noGrp="1"/>
          </p:cNvSpPr>
          <p:nvPr/>
        </p:nvSpPr>
        <p:spPr>
          <a:xfrm xmlns:a="http://schemas.openxmlformats.org/drawingml/2006/main">
            <a:off x="876300" y="2533650"/>
            <a:ext cx="85725" cy="42862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1A724AC-98E8-4571-9CF9-08446A67D846}"/>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15"/>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1 · Integrated security assessment</a:t>
            </a:r>
          </a:p>
        </p:txBody>
      </p:sp>
      <p:sp>
        <p:nvSpPr>
          <p:cNvPr id="8" name="">
            <a:extLst xmlns:a="http://schemas.openxmlformats.org/drawingml/2006/main">
              <a:ext uri="{FF2B5EF4-FFF2-40B4-BE49-F238E27FC236}">
                <a16:creationId xmlns:a16="http://schemas.microsoft.com/office/drawing/2014/main" id="{206A2F88-759A-4597-A22E-CB446BA15E86}"/>
              </a:ext>
            </a:extLst>
          </p:cNvPr>
          <p:cNvSpPr>
            <a:spLocks xmlns:a="http://schemas.openxmlformats.org/drawingml/2006/main" noGrp="1"/>
          </p:cNvSpPr>
          <p:nvPr/>
        </p:nvSpPr>
        <p:spPr>
          <a:xfrm xmlns:a="http://schemas.openxmlformats.org/drawingml/2006/main">
            <a:off x="114300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Develop one unified harness covering reconnaissance, progressive attack-surface discovery, scanning, vulnerability identification, business-logic analysis, correlation and reporting.</a:t>
            </a:r>
          </a:p>
        </p:txBody>
      </p:sp>
      <p:sp>
        <p:nvSpPr>
          <p:cNvPr id="9" name="">
            <a:extLst xmlns:a="http://schemas.openxmlformats.org/drawingml/2006/main">
              <a:ext uri="{FF2B5EF4-FFF2-40B4-BE49-F238E27FC236}">
                <a16:creationId xmlns:a16="http://schemas.microsoft.com/office/drawing/2014/main" id="{28868A85-A0D7-4E6A-A6ED-BC72B42EA4EE}"/>
              </a:ext>
            </a:extLst>
          </p:cNvPr>
          <p:cNvSpPr>
            <a:spLocks xmlns:a="http://schemas.openxmlformats.org/drawingml/2006/main" noGrp="1"/>
          </p:cNvSpPr>
          <p:nvPr/>
        </p:nvSpPr>
        <p:spPr>
          <a:xfrm xmlns:a="http://schemas.openxmlformats.org/drawingml/2006/main">
            <a:off x="6000750" y="2533650"/>
            <a:ext cx="48768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22DB7613-AD71-4941-BD11-B16A20EB1845}"/>
              </a:ext>
            </a:extLst>
          </p:cNvPr>
          <p:cNvSpPr>
            <a:spLocks xmlns:a="http://schemas.openxmlformats.org/drawingml/2006/main" noGrp="1"/>
          </p:cNvSpPr>
          <p:nvPr/>
        </p:nvSpPr>
        <p:spPr>
          <a:xfrm xmlns:a="http://schemas.openxmlformats.org/drawingml/2006/main">
            <a:off x="6000750" y="2533650"/>
            <a:ext cx="85725" cy="42862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BC175D-0EC6-4362-AE8A-C44DF37D0DDA}"/>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2 · Dual-mode orchestration</a:t>
            </a:r>
          </a:p>
        </p:txBody>
      </p:sp>
      <p:sp>
        <p:nvSpPr>
          <p:cNvPr id="12" name="">
            <a:extLst xmlns:a="http://schemas.openxmlformats.org/drawingml/2006/main">
              <a:ext uri="{FF2B5EF4-FFF2-40B4-BE49-F238E27FC236}">
                <a16:creationId xmlns:a16="http://schemas.microsoft.com/office/drawing/2014/main" id="{C4B8CE9C-EBB1-48E8-BF4A-81839DB08B8C}"/>
              </a:ext>
            </a:extLst>
          </p:cNvPr>
          <p:cNvSpPr>
            <a:spLocks xmlns:a="http://schemas.openxmlformats.org/drawingml/2006/main" noGrp="1"/>
          </p:cNvSpPr>
          <p:nvPr/>
        </p:nvSpPr>
        <p:spPr>
          <a:xfrm xmlns:a="http://schemas.openxmlformats.org/drawingml/2006/main">
            <a:off x="6267450" y="3276600"/>
            <a:ext cx="43815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Use LLM reasoning when available while maintaining a deterministic rule-based mode with no mandatory LLM dependency.</a:t>
            </a:r>
          </a:p>
        </p:txBody>
      </p:sp>
      <p:sp>
        <p:nvSpPr>
          <p:cNvPr id="13" name="">
            <a:extLst xmlns:a="http://schemas.openxmlformats.org/drawingml/2006/main">
              <a:ext uri="{FF2B5EF4-FFF2-40B4-BE49-F238E27FC236}">
                <a16:creationId xmlns:a16="http://schemas.microsoft.com/office/drawing/2014/main" id="{056666EB-4FD0-4628-84CB-AF284094C976}"/>
              </a:ext>
            </a:extLst>
          </p:cNvPr>
          <p:cNvSpPr>
            <a:spLocks xmlns:a="http://schemas.openxmlformats.org/drawingml/2006/main" noGrp="1"/>
          </p:cNvSpPr>
          <p:nvPr/>
        </p:nvSpPr>
        <p:spPr>
          <a:xfrm xmlns:a="http://schemas.openxmlformats.org/drawingml/2006/main">
            <a:off x="11125200" y="2533650"/>
            <a:ext cx="5524500" cy="4286250"/>
          </a:xfrm>
          <a:prstGeom xmlns:a="http://schemas.openxmlformats.org/drawingml/2006/main" prst="roundRect">
            <a:avLst>
              <a:gd name="adj" fmla="val 177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A9EBEBA8-B561-45AC-B723-C4E9AB0CDEEF}"/>
              </a:ext>
            </a:extLst>
          </p:cNvPr>
          <p:cNvSpPr>
            <a:spLocks xmlns:a="http://schemas.openxmlformats.org/drawingml/2006/main" noGrp="1"/>
          </p:cNvSpPr>
          <p:nvPr/>
        </p:nvSpPr>
        <p:spPr>
          <a:xfrm xmlns:a="http://schemas.openxmlformats.org/drawingml/2006/main">
            <a:off x="11125200" y="2533650"/>
            <a:ext cx="85725" cy="4286250"/>
          </a:xfrm>
          <a:prstGeom xmlns:a="http://schemas.openxmlformats.org/drawingml/2006/main" prst="rect">
            <a:avLst/>
          </a:prstGeom>
          <a:solidFill xmlns:a="http://schemas.openxmlformats.org/drawingml/2006/main">
            <a:srgbClr val="C55B4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3491A5-8919-4530-9D06-D5AFB6196539}"/>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3 · Safe and controlled testing</a:t>
            </a:r>
          </a:p>
        </p:txBody>
      </p:sp>
      <p:sp>
        <p:nvSpPr>
          <p:cNvPr id="16" name="">
            <a:extLst xmlns:a="http://schemas.openxmlformats.org/drawingml/2006/main">
              <a:ext uri="{FF2B5EF4-FFF2-40B4-BE49-F238E27FC236}">
                <a16:creationId xmlns:a16="http://schemas.microsoft.com/office/drawing/2014/main" id="{CEE7C0F5-81ED-4C0F-96AC-355895F046E8}"/>
              </a:ext>
            </a:extLst>
          </p:cNvPr>
          <p:cNvSpPr>
            <a:spLocks xmlns:a="http://schemas.openxmlformats.org/drawingml/2006/main" noGrp="1"/>
          </p:cNvSpPr>
          <p:nvPr/>
        </p:nvSpPr>
        <p:spPr>
          <a:xfrm xmlns:a="http://schemas.openxmlformats.org/drawingml/2006/main">
            <a:off x="11391900" y="3276600"/>
            <a:ext cx="50292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Enforce the authorized scope, validate findings with evidence and require human approval before potentially impactful actions.</a:t>
            </a:r>
          </a:p>
        </p:txBody>
      </p:sp>
      <p:sp>
        <p:nvSpPr>
          <p:cNvPr id="17" name="">
            <a:extLst xmlns:a="http://schemas.openxmlformats.org/drawingml/2006/main">
              <a:ext uri="{FF2B5EF4-FFF2-40B4-BE49-F238E27FC236}">
                <a16:creationId xmlns:a16="http://schemas.microsoft.com/office/drawing/2014/main" id="{204908E8-99F6-4206-8107-E2DAF223D46B}"/>
              </a:ext>
            </a:extLst>
          </p:cNvPr>
          <p:cNvSpPr>
            <a:spLocks xmlns:a="http://schemas.openxmlformats.org/drawingml/2006/main" noGrp="1"/>
          </p:cNvSpPr>
          <p:nvPr/>
        </p:nvSpPr>
        <p:spPr>
          <a:xfrm xmlns:a="http://schemas.openxmlformats.org/drawingml/2006/main">
            <a:off x="876300" y="7334250"/>
            <a:ext cx="15773400" cy="1028700"/>
          </a:xfrm>
          <a:prstGeom xmlns:a="http://schemas.openxmlformats.org/drawingml/2006/main" prst="roundRect">
            <a:avLst>
              <a:gd name="adj" fmla="val 7407"/>
            </a:avLst>
          </a:prstGeom>
          <a:solidFill xmlns:a="http://schemas.openxmlformats.org/drawingml/2006/main">
            <a:srgbClr val="E8EFF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F1F0E24-73B9-4D61-B6D0-F19C098AED91}"/>
              </a:ext>
            </a:extLst>
          </p:cNvPr>
          <p:cNvSpPr>
            <a:spLocks xmlns:a="http://schemas.openxmlformats.org/drawingml/2006/main" noGrp="1"/>
          </p:cNvSpPr>
          <p:nvPr/>
        </p:nvSpPr>
        <p:spPr>
          <a:xfrm xmlns:a="http://schemas.openxmlformats.org/drawingml/2006/main">
            <a:off x="1257300" y="7620000"/>
            <a:ext cx="15011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The proposed framework combines one unified harness, reliable non-LLM operation and controlled AI assistance.</a:t>
            </a:r>
          </a:p>
        </p:txBody>
      </p:sp>
      <p:sp>
        <p:nvSpPr>
          <p:cNvPr id="19" name="">
            <a:extLst xmlns:a="http://schemas.openxmlformats.org/drawingml/2006/main">
              <a:ext uri="{FF2B5EF4-FFF2-40B4-BE49-F238E27FC236}">
                <a16:creationId xmlns:a16="http://schemas.microsoft.com/office/drawing/2014/main" id="{9BFF0014-B232-49FB-9AFB-48163EC24242}"/>
              </a:ext>
            </a:extLst>
          </p:cNvPr>
          <p:cNvSpPr>
            <a:spLocks xmlns:a="http://schemas.openxmlformats.org/drawingml/2006/main" noGrp="1"/>
          </p:cNvSpPr>
          <p:nvPr/>
        </p:nvSpPr>
        <p:spPr>
          <a:xfrm xmlns:a="http://schemas.openxmlformats.org/drawingml/2006/main">
            <a:off x="914400" y="87439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i="0">
                <a:solidFill>
                  <a:srgbClr val="5F7180"/>
                </a:solidFill>
                <a:latin typeface="Arial"/>
                <a:ea typeface="Arial"/>
                <a:cs typeface="Arial"/>
              </a:defRPr>
            </a:pPr>
            <a:r>
              <a:rPr sz="1125" b="0" i="0">
                <a:solidFill>
                  <a:srgbClr val="5F7180"/>
                </a:solidFill>
                <a:latin typeface="Arial"/>
                <a:ea typeface="Arial"/>
                <a:cs typeface="Arial"/>
              </a:rPr>
              <a:t>Source: FYP defense report, Objectives, p. 14.</a:t>
            </a:r>
          </a:p>
        </p:txBody>
      </p:sp>
    </p:spTree>
    <p:extLst>
      <p:ext uri="{BB962C8B-B14F-4D97-AF65-F5344CB8AC3E}">
        <p14:creationId xmlns:p14="http://schemas.microsoft.com/office/powerpoint/2010/main" val="56899250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B5A6D5C-A6CA-456C-AEF8-62D0BA909933}"/>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05 / PROPOSED SOLUTION</a:t>
            </a:r>
          </a:p>
        </p:txBody>
      </p:sp>
      <p:sp>
        <p:nvSpPr>
          <p:cNvPr id="2" name="">
            <a:extLst xmlns:a="http://schemas.openxmlformats.org/drawingml/2006/main">
              <a:ext uri="{FF2B5EF4-FFF2-40B4-BE49-F238E27FC236}">
                <a16:creationId xmlns:a16="http://schemas.microsoft.com/office/drawing/2014/main" id="{F766C6F5-30DA-4461-B619-FD28782B8E4A}"/>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Proposed unified assessment harness</a:t>
            </a:r>
          </a:p>
        </p:txBody>
      </p:sp>
      <p:sp>
        <p:nvSpPr>
          <p:cNvPr id="3" name="">
            <a:extLst xmlns:a="http://schemas.openxmlformats.org/drawingml/2006/main">
              <a:ext uri="{FF2B5EF4-FFF2-40B4-BE49-F238E27FC236}">
                <a16:creationId xmlns:a16="http://schemas.microsoft.com/office/drawing/2014/main" id="{28D1DFF1-F89D-4008-B4BF-3B17CB861DEE}"/>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C9D905CF-D600-4AC6-BDB1-210D41741C2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0F452C41-8C64-4AFE-B37E-C034BD4648A2}"/>
              </a:ext>
            </a:extLst>
          </p:cNvPr>
          <p:cNvSpPr>
            <a:spLocks xmlns:a="http://schemas.openxmlformats.org/drawingml/2006/main" noGrp="1"/>
          </p:cNvSpPr>
          <p:nvPr/>
        </p:nvSpPr>
        <p:spPr>
          <a:xfrm xmlns:a="http://schemas.openxmlformats.org/drawingml/2006/main">
            <a:off x="876300" y="2324100"/>
            <a:ext cx="238125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500" b="1">
                <a:solidFill>
                  <a:srgbClr val="2D8B84"/>
                </a:solidFill>
                <a:latin typeface="Arial"/>
                <a:ea typeface="Arial"/>
                <a:cs typeface="Arial"/>
              </a:defRPr>
            </a:pPr>
            <a:r>
              <a:rPr sz="1500" b="1">
                <a:solidFill>
                  <a:srgbClr val="2D8B84"/>
                </a:solidFill>
                <a:latin typeface="Arial"/>
                <a:ea typeface="Arial"/>
                <a:cs typeface="Arial"/>
              </a:rPr>
              <a:t>AUTHORIZED SCOPE</a:t>
            </a:r>
          </a:p>
        </p:txBody>
      </p:sp>
      <p:sp>
        <p:nvSpPr>
          <p:cNvPr id="6" name="">
            <a:extLst xmlns:a="http://schemas.openxmlformats.org/drawingml/2006/main">
              <a:ext uri="{FF2B5EF4-FFF2-40B4-BE49-F238E27FC236}">
                <a16:creationId xmlns:a16="http://schemas.microsoft.com/office/drawing/2014/main" id="{4DCC2859-53B6-4EC9-B086-38A234DCE36B}"/>
              </a:ext>
            </a:extLst>
          </p:cNvPr>
          <p:cNvSpPr>
            <a:spLocks xmlns:a="http://schemas.openxmlformats.org/drawingml/2006/main" noGrp="1"/>
          </p:cNvSpPr>
          <p:nvPr/>
        </p:nvSpPr>
        <p:spPr>
          <a:xfrm xmlns:a="http://schemas.openxmlformats.org/drawingml/2006/main">
            <a:off x="342900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44E83A-768E-4B6A-8E2C-3EBCF3EA00D2}"/>
              </a:ext>
            </a:extLst>
          </p:cNvPr>
          <p:cNvSpPr>
            <a:spLocks xmlns:a="http://schemas.openxmlformats.org/drawingml/2006/main" noGrp="1"/>
          </p:cNvSpPr>
          <p:nvPr/>
        </p:nvSpPr>
        <p:spPr>
          <a:xfrm xmlns:a="http://schemas.openxmlformats.org/drawingml/2006/main">
            <a:off x="4095750" y="2324100"/>
            <a:ext cx="2381250" cy="552450"/>
          </a:xfrm>
          <a:prstGeom xmlns:a="http://schemas.openxmlformats.org/drawingml/2006/main" prst="roundRect">
            <a:avLst>
              <a:gd name="adj" fmla="val 13793"/>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UNIFIED HARNESS</a:t>
            </a:r>
          </a:p>
        </p:txBody>
      </p:sp>
      <p:sp>
        <p:nvSpPr>
          <p:cNvPr id="8" name="">
            <a:extLst xmlns:a="http://schemas.openxmlformats.org/drawingml/2006/main">
              <a:ext uri="{FF2B5EF4-FFF2-40B4-BE49-F238E27FC236}">
                <a16:creationId xmlns:a16="http://schemas.microsoft.com/office/drawing/2014/main" id="{A0E908FE-3608-4F94-A467-226860A6AF7A}"/>
              </a:ext>
            </a:extLst>
          </p:cNvPr>
          <p:cNvSpPr>
            <a:spLocks xmlns:a="http://schemas.openxmlformats.org/drawingml/2006/main" noGrp="1"/>
          </p:cNvSpPr>
          <p:nvPr/>
        </p:nvSpPr>
        <p:spPr>
          <a:xfrm xmlns:a="http://schemas.openxmlformats.org/drawingml/2006/main">
            <a:off x="664845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4CA2DB9-993E-4475-B515-4F91DDAB2AF4}"/>
              </a:ext>
            </a:extLst>
          </p:cNvPr>
          <p:cNvSpPr>
            <a:spLocks xmlns:a="http://schemas.openxmlformats.org/drawingml/2006/main" noGrp="1"/>
          </p:cNvSpPr>
          <p:nvPr/>
        </p:nvSpPr>
        <p:spPr>
          <a:xfrm xmlns:a="http://schemas.openxmlformats.org/drawingml/2006/main">
            <a:off x="7315200" y="2324100"/>
            <a:ext cx="2667000" cy="552450"/>
          </a:xfrm>
          <a:prstGeom xmlns:a="http://schemas.openxmlformats.org/drawingml/2006/main" prst="roundRect">
            <a:avLst>
              <a:gd name="adj" fmla="val 13793"/>
            </a:avLst>
          </a:prstGeom>
          <a:solidFill xmlns:a="http://schemas.openxmlformats.org/drawingml/2006/main">
            <a:srgbClr val="DDEEEB"/>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500" b="1">
                <a:solidFill>
                  <a:srgbClr val="2D8B84"/>
                </a:solidFill>
                <a:latin typeface="Arial"/>
                <a:ea typeface="Arial"/>
                <a:cs typeface="Arial"/>
              </a:defRPr>
            </a:pPr>
            <a:r>
              <a:rPr sz="1500" b="1">
                <a:solidFill>
                  <a:srgbClr val="2D8B84"/>
                </a:solidFill>
                <a:latin typeface="Arial"/>
                <a:ea typeface="Arial"/>
                <a:cs typeface="Arial"/>
              </a:rPr>
              <a:t>SHARED EVIDENCE</a:t>
            </a:r>
          </a:p>
        </p:txBody>
      </p:sp>
      <p:sp>
        <p:nvSpPr>
          <p:cNvPr id="10" name="">
            <a:extLst xmlns:a="http://schemas.openxmlformats.org/drawingml/2006/main">
              <a:ext uri="{FF2B5EF4-FFF2-40B4-BE49-F238E27FC236}">
                <a16:creationId xmlns:a16="http://schemas.microsoft.com/office/drawing/2014/main" id="{AF161E42-7E4D-43D9-AF41-06B4BA004EE6}"/>
              </a:ext>
            </a:extLst>
          </p:cNvPr>
          <p:cNvSpPr>
            <a:spLocks xmlns:a="http://schemas.openxmlformats.org/drawingml/2006/main" noGrp="1"/>
          </p:cNvSpPr>
          <p:nvPr/>
        </p:nvSpPr>
        <p:spPr>
          <a:xfrm xmlns:a="http://schemas.openxmlformats.org/drawingml/2006/main">
            <a:off x="1015365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585667-1B89-4C1A-89BD-2B69CB138381}"/>
              </a:ext>
            </a:extLst>
          </p:cNvPr>
          <p:cNvSpPr>
            <a:spLocks xmlns:a="http://schemas.openxmlformats.org/drawingml/2006/main" noGrp="1"/>
          </p:cNvSpPr>
          <p:nvPr/>
        </p:nvSpPr>
        <p:spPr>
          <a:xfrm xmlns:a="http://schemas.openxmlformats.org/drawingml/2006/main">
            <a:off x="10820400" y="2324100"/>
            <a:ext cx="238125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SECURITY TOOLS</a:t>
            </a:r>
          </a:p>
        </p:txBody>
      </p:sp>
      <p:sp>
        <p:nvSpPr>
          <p:cNvPr id="12" name="">
            <a:extLst xmlns:a="http://schemas.openxmlformats.org/drawingml/2006/main">
              <a:ext uri="{FF2B5EF4-FFF2-40B4-BE49-F238E27FC236}">
                <a16:creationId xmlns:a16="http://schemas.microsoft.com/office/drawing/2014/main" id="{F15C32EF-B045-4AA6-AE5E-C6F214E233EB}"/>
              </a:ext>
            </a:extLst>
          </p:cNvPr>
          <p:cNvSpPr>
            <a:spLocks xmlns:a="http://schemas.openxmlformats.org/drawingml/2006/main" noGrp="1"/>
          </p:cNvSpPr>
          <p:nvPr/>
        </p:nvSpPr>
        <p:spPr>
          <a:xfrm xmlns:a="http://schemas.openxmlformats.org/drawingml/2006/main">
            <a:off x="13373100" y="2466975"/>
            <a:ext cx="5143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68AEDBE-43D3-4965-8D2A-53725714702C}"/>
              </a:ext>
            </a:extLst>
          </p:cNvPr>
          <p:cNvSpPr>
            <a:spLocks xmlns:a="http://schemas.openxmlformats.org/drawingml/2006/main" noGrp="1"/>
          </p:cNvSpPr>
          <p:nvPr/>
        </p:nvSpPr>
        <p:spPr>
          <a:xfrm xmlns:a="http://schemas.openxmlformats.org/drawingml/2006/main">
            <a:off x="14039850" y="2324100"/>
            <a:ext cx="26098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500" b="1">
                <a:solidFill>
                  <a:srgbClr val="D79A32"/>
                </a:solidFill>
                <a:latin typeface="Arial"/>
                <a:ea typeface="Arial"/>
                <a:cs typeface="Arial"/>
              </a:defRPr>
            </a:pPr>
            <a:r>
              <a:rPr sz="1500" b="1">
                <a:solidFill>
                  <a:srgbClr val="D79A32"/>
                </a:solidFill>
                <a:latin typeface="Arial"/>
                <a:ea typeface="Arial"/>
                <a:cs typeface="Arial"/>
              </a:rPr>
              <a:t>REPORT</a:t>
            </a:r>
          </a:p>
        </p:txBody>
      </p:sp>
      <p:sp>
        <p:nvSpPr>
          <p:cNvPr id="14" name="">
            <a:extLst xmlns:a="http://schemas.openxmlformats.org/drawingml/2006/main">
              <a:ext uri="{FF2B5EF4-FFF2-40B4-BE49-F238E27FC236}">
                <a16:creationId xmlns:a16="http://schemas.microsoft.com/office/drawing/2014/main" id="{0CDCCEF5-A63D-4018-B7DD-DD2D1EF39E4A}"/>
              </a:ext>
            </a:extLst>
          </p:cNvPr>
          <p:cNvSpPr>
            <a:spLocks xmlns:a="http://schemas.openxmlformats.org/drawingml/2006/main" noGrp="1"/>
          </p:cNvSpPr>
          <p:nvPr/>
        </p:nvSpPr>
        <p:spPr>
          <a:xfrm xmlns:a="http://schemas.openxmlformats.org/drawingml/2006/main">
            <a:off x="876300" y="3352800"/>
            <a:ext cx="7620000" cy="4095750"/>
          </a:xfrm>
          <a:prstGeom xmlns:a="http://schemas.openxmlformats.org/drawingml/2006/main" prst="roundRect">
            <a:avLst>
              <a:gd name="adj" fmla="val 1860"/>
            </a:avLst>
          </a:prstGeom>
          <a:solidFill xmlns:a="http://schemas.openxmlformats.org/drawingml/2006/main">
            <a:srgbClr val="E7F0F5"/>
          </a:solidFill>
          <a:ln xmlns:a="http://schemas.openxmlformats.org/drawingml/2006/main" w="19050">
            <a:solidFill>
              <a:srgbClr val="79A9C8"/>
            </a:solidFill>
          </a:ln>
        </p:spPr>
      </p:sp>
      <p:sp>
        <p:nvSpPr>
          <p:cNvPr id="15" name="">
            <a:extLst xmlns:a="http://schemas.openxmlformats.org/drawingml/2006/main">
              <a:ext uri="{FF2B5EF4-FFF2-40B4-BE49-F238E27FC236}">
                <a16:creationId xmlns:a16="http://schemas.microsoft.com/office/drawing/2014/main" id="{F9AF5AC2-3A8F-4B31-84B2-D86184AB714D}"/>
              </a:ext>
            </a:extLst>
          </p:cNvPr>
          <p:cNvSpPr>
            <a:spLocks xmlns:a="http://schemas.openxmlformats.org/drawingml/2006/main" noGrp="1"/>
          </p:cNvSpPr>
          <p:nvPr/>
        </p:nvSpPr>
        <p:spPr>
          <a:xfrm xmlns:a="http://schemas.openxmlformats.org/drawingml/2006/main">
            <a:off x="1200150" y="3638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D8B84"/>
                </a:solidFill>
                <a:latin typeface="Arial"/>
                <a:ea typeface="Arial"/>
                <a:cs typeface="Arial"/>
              </a:defRPr>
            </a:pPr>
            <a:r>
              <a:rPr sz="1350" b="1" i="0">
                <a:solidFill>
                  <a:srgbClr val="2D8B84"/>
                </a:solidFill>
                <a:latin typeface="Arial"/>
                <a:ea typeface="Arial"/>
                <a:cs typeface="Arial"/>
              </a:rPr>
              <a:t>ALWAYS ON</a:t>
            </a:r>
          </a:p>
        </p:txBody>
      </p:sp>
      <p:sp>
        <p:nvSpPr>
          <p:cNvPr id="16" name="">
            <a:extLst xmlns:a="http://schemas.openxmlformats.org/drawingml/2006/main">
              <a:ext uri="{FF2B5EF4-FFF2-40B4-BE49-F238E27FC236}">
                <a16:creationId xmlns:a16="http://schemas.microsoft.com/office/drawing/2014/main" id="{498EE06E-C252-4325-8D9D-146EB915BEB8}"/>
              </a:ext>
            </a:extLst>
          </p:cNvPr>
          <p:cNvSpPr>
            <a:spLocks xmlns:a="http://schemas.openxmlformats.org/drawingml/2006/main" noGrp="1"/>
          </p:cNvSpPr>
          <p:nvPr/>
        </p:nvSpPr>
        <p:spPr>
          <a:xfrm xmlns:a="http://schemas.openxmlformats.org/drawingml/2006/main">
            <a:off x="1200150" y="40767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Deterministic methodology engine</a:t>
            </a:r>
          </a:p>
        </p:txBody>
      </p:sp>
      <p:sp>
        <p:nvSpPr>
          <p:cNvPr id="17" name="">
            <a:extLst xmlns:a="http://schemas.openxmlformats.org/drawingml/2006/main">
              <a:ext uri="{FF2B5EF4-FFF2-40B4-BE49-F238E27FC236}">
                <a16:creationId xmlns:a16="http://schemas.microsoft.com/office/drawing/2014/main" id="{1A612506-E525-45F2-833B-61141D624586}"/>
              </a:ext>
            </a:extLst>
          </p:cNvPr>
          <p:cNvSpPr>
            <a:spLocks xmlns:a="http://schemas.openxmlformats.org/drawingml/2006/main" noGrp="1"/>
          </p:cNvSpPr>
          <p:nvPr/>
        </p:nvSpPr>
        <p:spPr>
          <a:xfrm xmlns:a="http://schemas.openxmlformats.org/drawingml/2006/main">
            <a:off x="1238250" y="485775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8328C387-2E9B-4D3E-802E-E4F6E18C0B9D}"/>
              </a:ext>
            </a:extLst>
          </p:cNvPr>
          <p:cNvSpPr>
            <a:spLocks xmlns:a="http://schemas.openxmlformats.org/drawingml/2006/main" noGrp="1"/>
          </p:cNvSpPr>
          <p:nvPr/>
        </p:nvSpPr>
        <p:spPr>
          <a:xfrm xmlns:a="http://schemas.openxmlformats.org/drawingml/2006/main">
            <a:off x="1771650" y="48387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Widen domains and subdomains</a:t>
            </a:r>
          </a:p>
        </p:txBody>
      </p:sp>
      <p:sp>
        <p:nvSpPr>
          <p:cNvPr id="19" name="">
            <a:extLst xmlns:a="http://schemas.openxmlformats.org/drawingml/2006/main">
              <a:ext uri="{FF2B5EF4-FFF2-40B4-BE49-F238E27FC236}">
                <a16:creationId xmlns:a16="http://schemas.microsoft.com/office/drawing/2014/main" id="{A4D378BE-485A-4B97-A6A2-0EC3920EA320}"/>
              </a:ext>
            </a:extLst>
          </p:cNvPr>
          <p:cNvSpPr>
            <a:spLocks xmlns:a="http://schemas.openxmlformats.org/drawingml/2006/main" noGrp="1"/>
          </p:cNvSpPr>
          <p:nvPr/>
        </p:nvSpPr>
        <p:spPr>
          <a:xfrm xmlns:a="http://schemas.openxmlformats.org/drawingml/2006/main">
            <a:off x="1238250" y="5324475"/>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71AFF22D-2F70-48C7-8E28-2762189F71FE}"/>
              </a:ext>
            </a:extLst>
          </p:cNvPr>
          <p:cNvSpPr>
            <a:spLocks xmlns:a="http://schemas.openxmlformats.org/drawingml/2006/main" noGrp="1"/>
          </p:cNvSpPr>
          <p:nvPr/>
        </p:nvSpPr>
        <p:spPr>
          <a:xfrm xmlns:a="http://schemas.openxmlformats.org/drawingml/2006/main">
            <a:off x="1771650" y="53054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Resolve, probe and map services</a:t>
            </a:r>
          </a:p>
        </p:txBody>
      </p:sp>
      <p:sp>
        <p:nvSpPr>
          <p:cNvPr id="21" name="">
            <a:extLst xmlns:a="http://schemas.openxmlformats.org/drawingml/2006/main">
              <a:ext uri="{FF2B5EF4-FFF2-40B4-BE49-F238E27FC236}">
                <a16:creationId xmlns:a16="http://schemas.microsoft.com/office/drawing/2014/main" id="{86B9A553-E12B-4D8E-AFF4-07F68293FB77}"/>
              </a:ext>
            </a:extLst>
          </p:cNvPr>
          <p:cNvSpPr>
            <a:spLocks xmlns:a="http://schemas.openxmlformats.org/drawingml/2006/main" noGrp="1"/>
          </p:cNvSpPr>
          <p:nvPr/>
        </p:nvSpPr>
        <p:spPr>
          <a:xfrm xmlns:a="http://schemas.openxmlformats.org/drawingml/2006/main">
            <a:off x="1238250" y="579120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FDEE34E8-B95B-40DB-8C27-82535B5A41FC}"/>
              </a:ext>
            </a:extLst>
          </p:cNvPr>
          <p:cNvSpPr>
            <a:spLocks xmlns:a="http://schemas.openxmlformats.org/drawingml/2006/main" noGrp="1"/>
          </p:cNvSpPr>
          <p:nvPr/>
        </p:nvSpPr>
        <p:spPr>
          <a:xfrm xmlns:a="http://schemas.openxmlformats.org/drawingml/2006/main">
            <a:off x="1771650" y="57721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Crawl, enumerate and run baseline scanners</a:t>
            </a:r>
          </a:p>
        </p:txBody>
      </p:sp>
      <p:sp>
        <p:nvSpPr>
          <p:cNvPr id="23" name="">
            <a:extLst xmlns:a="http://schemas.openxmlformats.org/drawingml/2006/main">
              <a:ext uri="{FF2B5EF4-FFF2-40B4-BE49-F238E27FC236}">
                <a16:creationId xmlns:a16="http://schemas.microsoft.com/office/drawing/2014/main" id="{5D5B0C48-B470-4C7A-B9CF-B5D85F1EFC03}"/>
              </a:ext>
            </a:extLst>
          </p:cNvPr>
          <p:cNvSpPr>
            <a:spLocks xmlns:a="http://schemas.openxmlformats.org/drawingml/2006/main" noGrp="1"/>
          </p:cNvSpPr>
          <p:nvPr/>
        </p:nvSpPr>
        <p:spPr>
          <a:xfrm xmlns:a="http://schemas.openxmlformats.org/drawingml/2006/main">
            <a:off x="1238250" y="6257925"/>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EC68B0D7-D9BE-420E-93DB-7B2F7E117374}"/>
              </a:ext>
            </a:extLst>
          </p:cNvPr>
          <p:cNvSpPr>
            <a:spLocks xmlns:a="http://schemas.openxmlformats.org/drawingml/2006/main" noGrp="1"/>
          </p:cNvSpPr>
          <p:nvPr/>
        </p:nvSpPr>
        <p:spPr>
          <a:xfrm xmlns:a="http://schemas.openxmlformats.org/drawingml/2006/main">
            <a:off x="1771650" y="623887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Track coverage and react to new evidence</a:t>
            </a:r>
          </a:p>
        </p:txBody>
      </p:sp>
      <p:sp>
        <p:nvSpPr>
          <p:cNvPr id="25" name="">
            <a:extLst xmlns:a="http://schemas.openxmlformats.org/drawingml/2006/main">
              <a:ext uri="{FF2B5EF4-FFF2-40B4-BE49-F238E27FC236}">
                <a16:creationId xmlns:a16="http://schemas.microsoft.com/office/drawing/2014/main" id="{D4B84AE8-32EC-42BD-8281-CCD3F96C0E91}"/>
              </a:ext>
            </a:extLst>
          </p:cNvPr>
          <p:cNvSpPr>
            <a:spLocks xmlns:a="http://schemas.openxmlformats.org/drawingml/2006/main" noGrp="1"/>
          </p:cNvSpPr>
          <p:nvPr/>
        </p:nvSpPr>
        <p:spPr>
          <a:xfrm xmlns:a="http://schemas.openxmlformats.org/drawingml/2006/main">
            <a:off x="1238250" y="6724650"/>
            <a:ext cx="361950" cy="323850"/>
          </a:xfrm>
          <a:prstGeom xmlns:a="http://schemas.openxmlformats.org/drawingml/2006/main" prst="roundRect">
            <a:avLst>
              <a:gd name="adj" fmla="val 23529"/>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88EA5B2E-94B9-4832-9F44-A1ACCB902FBD}"/>
              </a:ext>
            </a:extLst>
          </p:cNvPr>
          <p:cNvSpPr>
            <a:spLocks xmlns:a="http://schemas.openxmlformats.org/drawingml/2006/main" noGrp="1"/>
          </p:cNvSpPr>
          <p:nvPr/>
        </p:nvSpPr>
        <p:spPr>
          <a:xfrm xmlns:a="http://schemas.openxmlformats.org/drawingml/2006/main">
            <a:off x="1771650" y="670560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Require proof before a finding is verified</a:t>
            </a:r>
          </a:p>
        </p:txBody>
      </p:sp>
      <p:sp>
        <p:nvSpPr>
          <p:cNvPr id="27" name="">
            <a:extLst xmlns:a="http://schemas.openxmlformats.org/drawingml/2006/main">
              <a:ext uri="{FF2B5EF4-FFF2-40B4-BE49-F238E27FC236}">
                <a16:creationId xmlns:a16="http://schemas.microsoft.com/office/drawing/2014/main" id="{2CF931CC-7DDE-4B33-893F-9A479AB1131C}"/>
              </a:ext>
            </a:extLst>
          </p:cNvPr>
          <p:cNvSpPr>
            <a:spLocks xmlns:a="http://schemas.openxmlformats.org/drawingml/2006/main" noGrp="1"/>
          </p:cNvSpPr>
          <p:nvPr/>
        </p:nvSpPr>
        <p:spPr>
          <a:xfrm xmlns:a="http://schemas.openxmlformats.org/drawingml/2006/main">
            <a:off x="8839200" y="3352800"/>
            <a:ext cx="7810500" cy="4095750"/>
          </a:xfrm>
          <a:prstGeom xmlns:a="http://schemas.openxmlformats.org/drawingml/2006/main" prst="roundRect">
            <a:avLst>
              <a:gd name="adj" fmla="val 1860"/>
            </a:avLst>
          </a:prstGeom>
          <a:solidFill xmlns:a="http://schemas.openxmlformats.org/drawingml/2006/main">
            <a:srgbClr val="F3EADC"/>
          </a:solidFill>
          <a:ln xmlns:a="http://schemas.openxmlformats.org/drawingml/2006/main" w="19050">
            <a:solidFill>
              <a:srgbClr val="D79A32"/>
            </a:solidFill>
          </a:ln>
        </p:spPr>
      </p:sp>
      <p:sp>
        <p:nvSpPr>
          <p:cNvPr id="28" name="">
            <a:extLst xmlns:a="http://schemas.openxmlformats.org/drawingml/2006/main">
              <a:ext uri="{FF2B5EF4-FFF2-40B4-BE49-F238E27FC236}">
                <a16:creationId xmlns:a16="http://schemas.microsoft.com/office/drawing/2014/main" id="{0E3CD6A5-38C1-4291-B584-603516D0AAF3}"/>
              </a:ext>
            </a:extLst>
          </p:cNvPr>
          <p:cNvSpPr>
            <a:spLocks xmlns:a="http://schemas.openxmlformats.org/drawingml/2006/main" noGrp="1"/>
          </p:cNvSpPr>
          <p:nvPr/>
        </p:nvSpPr>
        <p:spPr>
          <a:xfrm xmlns:a="http://schemas.openxmlformats.org/drawingml/2006/main">
            <a:off x="9163050" y="3638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D79A32"/>
                </a:solidFill>
                <a:latin typeface="Arial"/>
                <a:ea typeface="Arial"/>
                <a:cs typeface="Arial"/>
              </a:defRPr>
            </a:pPr>
            <a:r>
              <a:rPr sz="1350" b="1" i="0">
                <a:solidFill>
                  <a:srgbClr val="D79A32"/>
                </a:solidFill>
                <a:latin typeface="Arial"/>
                <a:ea typeface="Arial"/>
                <a:cs typeface="Arial"/>
              </a:rPr>
              <a:t>OPTIONAL</a:t>
            </a:r>
          </a:p>
        </p:txBody>
      </p:sp>
      <p:sp>
        <p:nvSpPr>
          <p:cNvPr id="29" name="">
            <a:extLst xmlns:a="http://schemas.openxmlformats.org/drawingml/2006/main">
              <a:ext uri="{FF2B5EF4-FFF2-40B4-BE49-F238E27FC236}">
                <a16:creationId xmlns:a16="http://schemas.microsoft.com/office/drawing/2014/main" id="{0989A1ED-C5D2-452C-863F-647AF47CBCC5}"/>
              </a:ext>
            </a:extLst>
          </p:cNvPr>
          <p:cNvSpPr>
            <a:spLocks xmlns:a="http://schemas.openxmlformats.org/drawingml/2006/main" noGrp="1"/>
          </p:cNvSpPr>
          <p:nvPr/>
        </p:nvSpPr>
        <p:spPr>
          <a:xfrm xmlns:a="http://schemas.openxmlformats.org/drawingml/2006/main">
            <a:off x="9163050" y="407670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123B63"/>
                </a:solidFill>
                <a:latin typeface="Arial"/>
                <a:ea typeface="Arial"/>
                <a:cs typeface="Arial"/>
              </a:defRPr>
            </a:pPr>
            <a:r>
              <a:rPr sz="2550" b="1" i="0">
                <a:solidFill>
                  <a:srgbClr val="123B63"/>
                </a:solidFill>
                <a:latin typeface="Arial"/>
                <a:ea typeface="Arial"/>
                <a:cs typeface="Arial"/>
              </a:rPr>
              <a:t>AI-assisted operator reasoning</a:t>
            </a:r>
          </a:p>
        </p:txBody>
      </p:sp>
      <p:sp>
        <p:nvSpPr>
          <p:cNvPr id="30" name="">
            <a:extLst xmlns:a="http://schemas.openxmlformats.org/drawingml/2006/main">
              <a:ext uri="{FF2B5EF4-FFF2-40B4-BE49-F238E27FC236}">
                <a16:creationId xmlns:a16="http://schemas.microsoft.com/office/drawing/2014/main" id="{A50CE8D8-33E4-4F92-8557-BD939786F19D}"/>
              </a:ext>
            </a:extLst>
          </p:cNvPr>
          <p:cNvSpPr>
            <a:spLocks xmlns:a="http://schemas.openxmlformats.org/drawingml/2006/main" noGrp="1"/>
          </p:cNvSpPr>
          <p:nvPr/>
        </p:nvSpPr>
        <p:spPr>
          <a:xfrm xmlns:a="http://schemas.openxmlformats.org/drawingml/2006/main">
            <a:off x="9201150" y="485775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44394759-B8C7-403F-A3FD-3EFCEAFB19DC}"/>
              </a:ext>
            </a:extLst>
          </p:cNvPr>
          <p:cNvSpPr>
            <a:spLocks xmlns:a="http://schemas.openxmlformats.org/drawingml/2006/main" noGrp="1"/>
          </p:cNvSpPr>
          <p:nvPr/>
        </p:nvSpPr>
        <p:spPr>
          <a:xfrm xmlns:a="http://schemas.openxmlformats.org/drawingml/2006/main">
            <a:off x="9734550" y="48387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Interpret ambiguous or conflicting signals</a:t>
            </a:r>
          </a:p>
        </p:txBody>
      </p:sp>
      <p:sp>
        <p:nvSpPr>
          <p:cNvPr id="32" name="">
            <a:extLst xmlns:a="http://schemas.openxmlformats.org/drawingml/2006/main">
              <a:ext uri="{FF2B5EF4-FFF2-40B4-BE49-F238E27FC236}">
                <a16:creationId xmlns:a16="http://schemas.microsoft.com/office/drawing/2014/main" id="{E6601614-8D04-4C70-A6D1-015BDFC3A2C8}"/>
              </a:ext>
            </a:extLst>
          </p:cNvPr>
          <p:cNvSpPr>
            <a:spLocks xmlns:a="http://schemas.openxmlformats.org/drawingml/2006/main" noGrp="1"/>
          </p:cNvSpPr>
          <p:nvPr/>
        </p:nvSpPr>
        <p:spPr>
          <a:xfrm xmlns:a="http://schemas.openxmlformats.org/drawingml/2006/main">
            <a:off x="9201150" y="5324475"/>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DE4E7742-46F1-4274-8328-FE5A53BAB7A6}"/>
              </a:ext>
            </a:extLst>
          </p:cNvPr>
          <p:cNvSpPr>
            <a:spLocks xmlns:a="http://schemas.openxmlformats.org/drawingml/2006/main" noGrp="1"/>
          </p:cNvSpPr>
          <p:nvPr/>
        </p:nvSpPr>
        <p:spPr>
          <a:xfrm xmlns:a="http://schemas.openxmlformats.org/drawingml/2006/main">
            <a:off x="9734550" y="5305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Correlate distant assets and observations</a:t>
            </a:r>
          </a:p>
        </p:txBody>
      </p:sp>
      <p:sp>
        <p:nvSpPr>
          <p:cNvPr id="34" name="">
            <a:extLst xmlns:a="http://schemas.openxmlformats.org/drawingml/2006/main">
              <a:ext uri="{FF2B5EF4-FFF2-40B4-BE49-F238E27FC236}">
                <a16:creationId xmlns:a16="http://schemas.microsoft.com/office/drawing/2014/main" id="{F67F4371-707A-4C12-A61C-9929FC5415F3}"/>
              </a:ext>
            </a:extLst>
          </p:cNvPr>
          <p:cNvSpPr>
            <a:spLocks xmlns:a="http://schemas.openxmlformats.org/drawingml/2006/main" noGrp="1"/>
          </p:cNvSpPr>
          <p:nvPr/>
        </p:nvSpPr>
        <p:spPr>
          <a:xfrm xmlns:a="http://schemas.openxmlformats.org/drawingml/2006/main">
            <a:off x="9201150" y="579120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5" name="">
            <a:extLst xmlns:a="http://schemas.openxmlformats.org/drawingml/2006/main">
              <a:ext uri="{FF2B5EF4-FFF2-40B4-BE49-F238E27FC236}">
                <a16:creationId xmlns:a16="http://schemas.microsoft.com/office/drawing/2014/main" id="{25C01F78-7DE3-49C2-81BC-B5F9282F15C6}"/>
              </a:ext>
            </a:extLst>
          </p:cNvPr>
          <p:cNvSpPr>
            <a:spLocks xmlns:a="http://schemas.openxmlformats.org/drawingml/2006/main" noGrp="1"/>
          </p:cNvSpPr>
          <p:nvPr/>
        </p:nvSpPr>
        <p:spPr>
          <a:xfrm xmlns:a="http://schemas.openxmlformats.org/drawingml/2006/main">
            <a:off x="9734550" y="57721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Choose deeper tests and creative pivots</a:t>
            </a:r>
          </a:p>
        </p:txBody>
      </p:sp>
      <p:sp>
        <p:nvSpPr>
          <p:cNvPr id="36" name="">
            <a:extLst xmlns:a="http://schemas.openxmlformats.org/drawingml/2006/main">
              <a:ext uri="{FF2B5EF4-FFF2-40B4-BE49-F238E27FC236}">
                <a16:creationId xmlns:a16="http://schemas.microsoft.com/office/drawing/2014/main" id="{4AEBBB4F-BDF0-4948-90FB-C0E6D24A5542}"/>
              </a:ext>
            </a:extLst>
          </p:cNvPr>
          <p:cNvSpPr>
            <a:spLocks xmlns:a="http://schemas.openxmlformats.org/drawingml/2006/main" noGrp="1"/>
          </p:cNvSpPr>
          <p:nvPr/>
        </p:nvSpPr>
        <p:spPr>
          <a:xfrm xmlns:a="http://schemas.openxmlformats.org/drawingml/2006/main">
            <a:off x="9201150" y="6257925"/>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4867E266-086F-4635-A4F5-3BEA2F05FB5C}"/>
              </a:ext>
            </a:extLst>
          </p:cNvPr>
          <p:cNvSpPr>
            <a:spLocks xmlns:a="http://schemas.openxmlformats.org/drawingml/2006/main" noGrp="1"/>
          </p:cNvSpPr>
          <p:nvPr/>
        </p:nvSpPr>
        <p:spPr>
          <a:xfrm xmlns:a="http://schemas.openxmlformats.org/drawingml/2006/main">
            <a:off x="9734550" y="62388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Analyze business logic and application behavior</a:t>
            </a:r>
          </a:p>
        </p:txBody>
      </p:sp>
      <p:sp>
        <p:nvSpPr>
          <p:cNvPr id="38" name="">
            <a:extLst xmlns:a="http://schemas.openxmlformats.org/drawingml/2006/main">
              <a:ext uri="{FF2B5EF4-FFF2-40B4-BE49-F238E27FC236}">
                <a16:creationId xmlns:a16="http://schemas.microsoft.com/office/drawing/2014/main" id="{AFD76C85-D825-43C2-9B66-CA7A79ADE07B}"/>
              </a:ext>
            </a:extLst>
          </p:cNvPr>
          <p:cNvSpPr>
            <a:spLocks xmlns:a="http://schemas.openxmlformats.org/drawingml/2006/main" noGrp="1"/>
          </p:cNvSpPr>
          <p:nvPr/>
        </p:nvSpPr>
        <p:spPr>
          <a:xfrm xmlns:a="http://schemas.openxmlformats.org/drawingml/2006/main">
            <a:off x="9201150" y="6724650"/>
            <a:ext cx="361950" cy="323850"/>
          </a:xfrm>
          <a:prstGeom xmlns:a="http://schemas.openxmlformats.org/drawingml/2006/main" prst="roundRect">
            <a:avLst>
              <a:gd name="adj" fmla="val 23529"/>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93482"/>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DD3D1B66-B2B1-416B-80B6-BAE832E44876}"/>
              </a:ext>
            </a:extLst>
          </p:cNvPr>
          <p:cNvSpPr>
            <a:spLocks xmlns:a="http://schemas.openxmlformats.org/drawingml/2006/main" noGrp="1"/>
          </p:cNvSpPr>
          <p:nvPr/>
        </p:nvSpPr>
        <p:spPr>
          <a:xfrm xmlns:a="http://schemas.openxmlformats.org/drawingml/2006/main">
            <a:off x="9734550" y="67056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0" i="0">
                <a:solidFill>
                  <a:srgbClr val="18334B"/>
                </a:solidFill>
                <a:latin typeface="Arial"/>
                <a:ea typeface="Arial"/>
                <a:cs typeface="Arial"/>
              </a:defRPr>
            </a:pPr>
            <a:r>
              <a:rPr sz="1575" b="0" i="0">
                <a:solidFill>
                  <a:srgbClr val="18334B"/>
                </a:solidFill>
                <a:latin typeface="Arial"/>
                <a:ea typeface="Arial"/>
                <a:cs typeface="Arial"/>
              </a:rPr>
              <a:t>Explain evidence and support the human operator</a:t>
            </a:r>
          </a:p>
        </p:txBody>
      </p:sp>
      <p:sp>
        <p:nvSpPr>
          <p:cNvPr id="40" name="">
            <a:extLst xmlns:a="http://schemas.openxmlformats.org/drawingml/2006/main">
              <a:ext uri="{FF2B5EF4-FFF2-40B4-BE49-F238E27FC236}">
                <a16:creationId xmlns:a16="http://schemas.microsoft.com/office/drawing/2014/main" id="{5504EA1E-98A6-4731-833B-DCA4058DE265}"/>
              </a:ext>
            </a:extLst>
          </p:cNvPr>
          <p:cNvSpPr>
            <a:spLocks xmlns:a="http://schemas.openxmlformats.org/drawingml/2006/main" noGrp="1"/>
          </p:cNvSpPr>
          <p:nvPr/>
        </p:nvSpPr>
        <p:spPr>
          <a:xfrm xmlns:a="http://schemas.openxmlformats.org/drawingml/2006/main">
            <a:off x="876300" y="7867650"/>
            <a:ext cx="15773400" cy="819150"/>
          </a:xfrm>
          <a:prstGeom xmlns:a="http://schemas.openxmlformats.org/drawingml/2006/main" prst="roundRect">
            <a:avLst>
              <a:gd name="adj" fmla="val 9302"/>
            </a:avLst>
          </a:prstGeom>
          <a:solidFill xmlns:a="http://schemas.openxmlformats.org/drawingml/2006/main">
            <a:srgbClr val="123B6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259C676-8183-488B-807C-A27CE2BE6D5A}"/>
              </a:ext>
            </a:extLst>
          </p:cNvPr>
          <p:cNvSpPr>
            <a:spLocks xmlns:a="http://schemas.openxmlformats.org/drawingml/2006/main" noGrp="1"/>
          </p:cNvSpPr>
          <p:nvPr/>
        </p:nvSpPr>
        <p:spPr>
          <a:xfrm xmlns:a="http://schemas.openxmlformats.org/drawingml/2006/main">
            <a:off x="1219200" y="8096250"/>
            <a:ext cx="1504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i="0">
                <a:solidFill>
                  <a:srgbClr val="FFFFFF"/>
                </a:solidFill>
                <a:latin typeface="Arial"/>
                <a:ea typeface="Arial"/>
                <a:cs typeface="Arial"/>
              </a:defRPr>
            </a:pPr>
            <a:r>
              <a:rPr sz="2025" b="1" i="0">
                <a:solidFill>
                  <a:srgbClr val="FFFFFF"/>
                </a:solidFill>
                <a:latin typeface="Arial"/>
                <a:ea typeface="Arial"/>
                <a:cs typeface="Arial"/>
              </a:rPr>
              <a:t>Repeatable methodology will operate without an LLM. AI assistance will support cases that require contextual analysis.</a:t>
            </a:r>
          </a:p>
        </p:txBody>
      </p:sp>
    </p:spTree>
    <p:extLst>
      <p:ext uri="{BB962C8B-B14F-4D97-AF65-F5344CB8AC3E}">
        <p14:creationId xmlns:p14="http://schemas.microsoft.com/office/powerpoint/2010/main" val="144084920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E62140E-6B6A-4A42-8931-DC7FE66871A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06 / METHODOLOGY</a:t>
            </a:r>
          </a:p>
        </p:txBody>
      </p:sp>
      <p:sp>
        <p:nvSpPr>
          <p:cNvPr id="2" name="">
            <a:extLst xmlns:a="http://schemas.openxmlformats.org/drawingml/2006/main">
              <a:ext uri="{FF2B5EF4-FFF2-40B4-BE49-F238E27FC236}">
                <a16:creationId xmlns:a16="http://schemas.microsoft.com/office/drawing/2014/main" id="{1AEE4082-67E3-4255-9B6A-E473327E2F62}"/>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Proposed assessment methodology</a:t>
            </a:r>
          </a:p>
        </p:txBody>
      </p:sp>
      <p:sp>
        <p:nvSpPr>
          <p:cNvPr id="3" name="">
            <a:extLst xmlns:a="http://schemas.openxmlformats.org/drawingml/2006/main">
              <a:ext uri="{FF2B5EF4-FFF2-40B4-BE49-F238E27FC236}">
                <a16:creationId xmlns:a16="http://schemas.microsoft.com/office/drawing/2014/main" id="{19487FE2-96F6-4F48-8563-2F257BFF52C1}"/>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F8BE28C5-5338-4211-BE1A-F8A8C6098635}"/>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290FE8A-3217-4040-80EF-5DCA6B6A6387}"/>
              </a:ext>
            </a:extLst>
          </p:cNvPr>
          <p:cNvSpPr>
            <a:spLocks xmlns:a="http://schemas.openxmlformats.org/drawingml/2006/main" noGrp="1"/>
          </p:cNvSpPr>
          <p:nvPr/>
        </p:nvSpPr>
        <p:spPr>
          <a:xfrm xmlns:a="http://schemas.openxmlformats.org/drawingml/2006/main">
            <a:off x="876300" y="2686050"/>
            <a:ext cx="3695700" cy="3333750"/>
          </a:xfrm>
          <a:prstGeom xmlns:a="http://schemas.openxmlformats.org/drawingml/2006/main" prst="roundRect">
            <a:avLst>
              <a:gd name="adj" fmla="val 2286"/>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F710C48E-4FB2-493F-A883-ECA01F3015ED}"/>
              </a:ext>
            </a:extLst>
          </p:cNvPr>
          <p:cNvSpPr>
            <a:spLocks xmlns:a="http://schemas.openxmlformats.org/drawingml/2006/main" noGrp="1"/>
          </p:cNvSpPr>
          <p:nvPr/>
        </p:nvSpPr>
        <p:spPr>
          <a:xfrm xmlns:a="http://schemas.openxmlformats.org/drawingml/2006/main">
            <a:off x="1104900" y="2933700"/>
            <a:ext cx="457200" cy="419100"/>
          </a:xfrm>
          <a:prstGeom xmlns:a="http://schemas.openxmlformats.org/drawingml/2006/main" prst="roundRect">
            <a:avLst>
              <a:gd name="adj" fmla="val 18182"/>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CBAC7621-D9B1-4A4E-BEBF-B11C2BB99939}"/>
              </a:ext>
            </a:extLst>
          </p:cNvPr>
          <p:cNvSpPr>
            <a:spLocks xmlns:a="http://schemas.openxmlformats.org/drawingml/2006/main" noGrp="1"/>
          </p:cNvSpPr>
          <p:nvPr/>
        </p:nvSpPr>
        <p:spPr>
          <a:xfrm xmlns:a="http://schemas.openxmlformats.org/drawingml/2006/main">
            <a:off x="1123950" y="3638550"/>
            <a:ext cx="320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Reconnaissance</a:t>
            </a:r>
          </a:p>
        </p:txBody>
      </p:sp>
      <p:sp>
        <p:nvSpPr>
          <p:cNvPr id="8" name="">
            <a:extLst xmlns:a="http://schemas.openxmlformats.org/drawingml/2006/main">
              <a:ext uri="{FF2B5EF4-FFF2-40B4-BE49-F238E27FC236}">
                <a16:creationId xmlns:a16="http://schemas.microsoft.com/office/drawing/2014/main" id="{EC5C1804-4812-4947-97B9-EB80185A9642}"/>
              </a:ext>
            </a:extLst>
          </p:cNvPr>
          <p:cNvSpPr>
            <a:spLocks xmlns:a="http://schemas.openxmlformats.org/drawingml/2006/main" noGrp="1"/>
          </p:cNvSpPr>
          <p:nvPr/>
        </p:nvSpPr>
        <p:spPr>
          <a:xfrm xmlns:a="http://schemas.openxmlformats.org/drawingml/2006/main">
            <a:off x="1200150" y="45148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Discover domains, hosts, services, technologies and application resources.</a:t>
            </a:r>
          </a:p>
        </p:txBody>
      </p:sp>
      <p:sp>
        <p:nvSpPr>
          <p:cNvPr id="9" name="">
            <a:extLst xmlns:a="http://schemas.openxmlformats.org/drawingml/2006/main">
              <a:ext uri="{FF2B5EF4-FFF2-40B4-BE49-F238E27FC236}">
                <a16:creationId xmlns:a16="http://schemas.microsoft.com/office/drawing/2014/main" id="{E5201049-8B6C-40E2-B3AF-3DBD8EA195E3}"/>
              </a:ext>
            </a:extLst>
          </p:cNvPr>
          <p:cNvSpPr>
            <a:spLocks xmlns:a="http://schemas.openxmlformats.org/drawingml/2006/main" noGrp="1"/>
          </p:cNvSpPr>
          <p:nvPr/>
        </p:nvSpPr>
        <p:spPr>
          <a:xfrm xmlns:a="http://schemas.openxmlformats.org/drawingml/2006/main">
            <a:off x="4591050" y="4171950"/>
            <a:ext cx="2095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81780F1-CF6B-49DC-A453-B209D5A3BFEA}"/>
              </a:ext>
            </a:extLst>
          </p:cNvPr>
          <p:cNvSpPr>
            <a:spLocks xmlns:a="http://schemas.openxmlformats.org/drawingml/2006/main" noGrp="1"/>
          </p:cNvSpPr>
          <p:nvPr/>
        </p:nvSpPr>
        <p:spPr>
          <a:xfrm xmlns:a="http://schemas.openxmlformats.org/drawingml/2006/main">
            <a:off x="4819650" y="2686050"/>
            <a:ext cx="3695700" cy="3333750"/>
          </a:xfrm>
          <a:prstGeom xmlns:a="http://schemas.openxmlformats.org/drawingml/2006/main" prst="roundRect">
            <a:avLst>
              <a:gd name="adj" fmla="val 2286"/>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75E61727-D725-46CE-A652-C72C3D2FD521}"/>
              </a:ext>
            </a:extLst>
          </p:cNvPr>
          <p:cNvSpPr>
            <a:spLocks xmlns:a="http://schemas.openxmlformats.org/drawingml/2006/main" noGrp="1"/>
          </p:cNvSpPr>
          <p:nvPr/>
        </p:nvSpPr>
        <p:spPr>
          <a:xfrm xmlns:a="http://schemas.openxmlformats.org/drawingml/2006/main">
            <a:off x="5048250" y="2933700"/>
            <a:ext cx="457200" cy="419100"/>
          </a:xfrm>
          <a:prstGeom xmlns:a="http://schemas.openxmlformats.org/drawingml/2006/main" prst="roundRect">
            <a:avLst>
              <a:gd name="adj" fmla="val 18182"/>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74087819-D74C-4AD0-9F18-1864FF6F0FC4}"/>
              </a:ext>
            </a:extLst>
          </p:cNvPr>
          <p:cNvSpPr>
            <a:spLocks xmlns:a="http://schemas.openxmlformats.org/drawingml/2006/main" noGrp="1"/>
          </p:cNvSpPr>
          <p:nvPr/>
        </p:nvSpPr>
        <p:spPr>
          <a:xfrm xmlns:a="http://schemas.openxmlformats.org/drawingml/2006/main">
            <a:off x="5067300" y="3638550"/>
            <a:ext cx="320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Vulnerability assessment</a:t>
            </a:r>
          </a:p>
        </p:txBody>
      </p:sp>
      <p:sp>
        <p:nvSpPr>
          <p:cNvPr id="13" name="">
            <a:extLst xmlns:a="http://schemas.openxmlformats.org/drawingml/2006/main">
              <a:ext uri="{FF2B5EF4-FFF2-40B4-BE49-F238E27FC236}">
                <a16:creationId xmlns:a16="http://schemas.microsoft.com/office/drawing/2014/main" id="{5CF5C9FC-3652-4098-B0F4-11657E5FBA6E}"/>
              </a:ext>
            </a:extLst>
          </p:cNvPr>
          <p:cNvSpPr>
            <a:spLocks xmlns:a="http://schemas.openxmlformats.org/drawingml/2006/main" noGrp="1"/>
          </p:cNvSpPr>
          <p:nvPr/>
        </p:nvSpPr>
        <p:spPr>
          <a:xfrm xmlns:a="http://schemas.openxmlformats.org/drawingml/2006/main">
            <a:off x="5143500" y="45148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Run established network and web checks against the discovered surface.</a:t>
            </a:r>
          </a:p>
        </p:txBody>
      </p:sp>
      <p:sp>
        <p:nvSpPr>
          <p:cNvPr id="14" name="">
            <a:extLst xmlns:a="http://schemas.openxmlformats.org/drawingml/2006/main">
              <a:ext uri="{FF2B5EF4-FFF2-40B4-BE49-F238E27FC236}">
                <a16:creationId xmlns:a16="http://schemas.microsoft.com/office/drawing/2014/main" id="{D8A4DCF1-8A39-4F5D-8BFC-611222900A3C}"/>
              </a:ext>
            </a:extLst>
          </p:cNvPr>
          <p:cNvSpPr>
            <a:spLocks xmlns:a="http://schemas.openxmlformats.org/drawingml/2006/main" noGrp="1"/>
          </p:cNvSpPr>
          <p:nvPr/>
        </p:nvSpPr>
        <p:spPr>
          <a:xfrm xmlns:a="http://schemas.openxmlformats.org/drawingml/2006/main">
            <a:off x="8534400" y="4171950"/>
            <a:ext cx="2095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6621602-5BB5-4431-BE6E-F3E6825135B3}"/>
              </a:ext>
            </a:extLst>
          </p:cNvPr>
          <p:cNvSpPr>
            <a:spLocks xmlns:a="http://schemas.openxmlformats.org/drawingml/2006/main" noGrp="1"/>
          </p:cNvSpPr>
          <p:nvPr/>
        </p:nvSpPr>
        <p:spPr>
          <a:xfrm xmlns:a="http://schemas.openxmlformats.org/drawingml/2006/main">
            <a:off x="8763000" y="2686050"/>
            <a:ext cx="3695700" cy="3333750"/>
          </a:xfrm>
          <a:prstGeom xmlns:a="http://schemas.openxmlformats.org/drawingml/2006/main" prst="roundRect">
            <a:avLst>
              <a:gd name="adj" fmla="val 2286"/>
            </a:avLst>
          </a:prstGeom>
          <a:solidFill xmlns:a="http://schemas.openxmlformats.org/drawingml/2006/main">
            <a:srgbClr val="FFFDF9"/>
          </a:solidFill>
          <a:ln xmlns:a="http://schemas.openxmlformats.org/drawingml/2006/main" w="19050">
            <a:solidFill>
              <a:srgbClr val="CAD6DE"/>
            </a:solidFill>
          </a:ln>
        </p:spPr>
      </p:sp>
      <p:sp>
        <p:nvSpPr>
          <p:cNvPr id="16" name="">
            <a:extLst xmlns:a="http://schemas.openxmlformats.org/drawingml/2006/main">
              <a:ext uri="{FF2B5EF4-FFF2-40B4-BE49-F238E27FC236}">
                <a16:creationId xmlns:a16="http://schemas.microsoft.com/office/drawing/2014/main" id="{B8EEBDC5-B221-4396-8FCC-22424D91DBBA}"/>
              </a:ext>
            </a:extLst>
          </p:cNvPr>
          <p:cNvSpPr>
            <a:spLocks xmlns:a="http://schemas.openxmlformats.org/drawingml/2006/main" noGrp="1"/>
          </p:cNvSpPr>
          <p:nvPr/>
        </p:nvSpPr>
        <p:spPr>
          <a:xfrm xmlns:a="http://schemas.openxmlformats.org/drawingml/2006/main">
            <a:off x="8991600" y="2933700"/>
            <a:ext cx="457200" cy="419100"/>
          </a:xfrm>
          <a:prstGeom xmlns:a="http://schemas.openxmlformats.org/drawingml/2006/main" prst="roundRect">
            <a:avLst>
              <a:gd name="adj" fmla="val 18182"/>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5E51BB7D-F1CF-4B44-A513-DAE834137B5C}"/>
              </a:ext>
            </a:extLst>
          </p:cNvPr>
          <p:cNvSpPr>
            <a:spLocks xmlns:a="http://schemas.openxmlformats.org/drawingml/2006/main" noGrp="1"/>
          </p:cNvSpPr>
          <p:nvPr/>
        </p:nvSpPr>
        <p:spPr>
          <a:xfrm xmlns:a="http://schemas.openxmlformats.org/drawingml/2006/main">
            <a:off x="9010650" y="3638550"/>
            <a:ext cx="320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Evidence validation</a:t>
            </a:r>
          </a:p>
        </p:txBody>
      </p:sp>
      <p:sp>
        <p:nvSpPr>
          <p:cNvPr id="18" name="">
            <a:extLst xmlns:a="http://schemas.openxmlformats.org/drawingml/2006/main">
              <a:ext uri="{FF2B5EF4-FFF2-40B4-BE49-F238E27FC236}">
                <a16:creationId xmlns:a16="http://schemas.microsoft.com/office/drawing/2014/main" id="{CA643861-9CCA-4F17-B441-492F02413358}"/>
              </a:ext>
            </a:extLst>
          </p:cNvPr>
          <p:cNvSpPr>
            <a:spLocks xmlns:a="http://schemas.openxmlformats.org/drawingml/2006/main" noGrp="1"/>
          </p:cNvSpPr>
          <p:nvPr/>
        </p:nvSpPr>
        <p:spPr>
          <a:xfrm xmlns:a="http://schemas.openxmlformats.org/drawingml/2006/main">
            <a:off x="9086850" y="45148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Separate scanner leads from findings supported by reproducible evidence.</a:t>
            </a:r>
          </a:p>
        </p:txBody>
      </p:sp>
      <p:sp>
        <p:nvSpPr>
          <p:cNvPr id="19" name="">
            <a:extLst xmlns:a="http://schemas.openxmlformats.org/drawingml/2006/main">
              <a:ext uri="{FF2B5EF4-FFF2-40B4-BE49-F238E27FC236}">
                <a16:creationId xmlns:a16="http://schemas.microsoft.com/office/drawing/2014/main" id="{A8307A42-CD48-49DB-A4BB-5E4EDA9DAC30}"/>
              </a:ext>
            </a:extLst>
          </p:cNvPr>
          <p:cNvSpPr>
            <a:spLocks xmlns:a="http://schemas.openxmlformats.org/drawingml/2006/main" noGrp="1"/>
          </p:cNvSpPr>
          <p:nvPr/>
        </p:nvSpPr>
        <p:spPr>
          <a:xfrm xmlns:a="http://schemas.openxmlformats.org/drawingml/2006/main">
            <a:off x="12477750" y="4171950"/>
            <a:ext cx="209550" cy="26670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E97C30A-2EED-4C75-9A88-480E0475727B}"/>
              </a:ext>
            </a:extLst>
          </p:cNvPr>
          <p:cNvSpPr>
            <a:spLocks xmlns:a="http://schemas.openxmlformats.org/drawingml/2006/main" noGrp="1"/>
          </p:cNvSpPr>
          <p:nvPr/>
        </p:nvSpPr>
        <p:spPr>
          <a:xfrm xmlns:a="http://schemas.openxmlformats.org/drawingml/2006/main">
            <a:off x="12706350" y="2686050"/>
            <a:ext cx="3695700" cy="3333750"/>
          </a:xfrm>
          <a:prstGeom xmlns:a="http://schemas.openxmlformats.org/drawingml/2006/main" prst="roundRect">
            <a:avLst>
              <a:gd name="adj" fmla="val 2286"/>
            </a:avLst>
          </a:prstGeom>
          <a:solidFill xmlns:a="http://schemas.openxmlformats.org/drawingml/2006/main">
            <a:srgbClr val="FFFDF9"/>
          </a:solidFill>
          <a:ln xmlns:a="http://schemas.openxmlformats.org/drawingml/2006/main" w="19050">
            <a:solidFill>
              <a:srgbClr val="CAD6DE"/>
            </a:solidFill>
          </a:ln>
        </p:spPr>
      </p:sp>
      <p:sp>
        <p:nvSpPr>
          <p:cNvPr id="21" name="">
            <a:extLst xmlns:a="http://schemas.openxmlformats.org/drawingml/2006/main">
              <a:ext uri="{FF2B5EF4-FFF2-40B4-BE49-F238E27FC236}">
                <a16:creationId xmlns:a16="http://schemas.microsoft.com/office/drawing/2014/main" id="{8CCF51CB-5D81-478C-83B7-2FCA9C2AD18B}"/>
              </a:ext>
            </a:extLst>
          </p:cNvPr>
          <p:cNvSpPr>
            <a:spLocks xmlns:a="http://schemas.openxmlformats.org/drawingml/2006/main" noGrp="1"/>
          </p:cNvSpPr>
          <p:nvPr/>
        </p:nvSpPr>
        <p:spPr>
          <a:xfrm xmlns:a="http://schemas.openxmlformats.org/drawingml/2006/main">
            <a:off x="12934950" y="2933700"/>
            <a:ext cx="457200" cy="419100"/>
          </a:xfrm>
          <a:prstGeom xmlns:a="http://schemas.openxmlformats.org/drawingml/2006/main" prst="roundRect">
            <a:avLst>
              <a:gd name="adj" fmla="val 18182"/>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1227F4A8-E0F9-429F-B71D-3C4157B316C4}"/>
              </a:ext>
            </a:extLst>
          </p:cNvPr>
          <p:cNvSpPr>
            <a:spLocks xmlns:a="http://schemas.openxmlformats.org/drawingml/2006/main" noGrp="1"/>
          </p:cNvSpPr>
          <p:nvPr/>
        </p:nvSpPr>
        <p:spPr>
          <a:xfrm xmlns:a="http://schemas.openxmlformats.org/drawingml/2006/main">
            <a:off x="12954000" y="3638550"/>
            <a:ext cx="320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Reporting</a:t>
            </a:r>
          </a:p>
        </p:txBody>
      </p:sp>
      <p:sp>
        <p:nvSpPr>
          <p:cNvPr id="23" name="">
            <a:extLst xmlns:a="http://schemas.openxmlformats.org/drawingml/2006/main">
              <a:ext uri="{FF2B5EF4-FFF2-40B4-BE49-F238E27FC236}">
                <a16:creationId xmlns:a16="http://schemas.microsoft.com/office/drawing/2014/main" id="{6EC4AC44-6585-451E-BEB1-019141CBFF43}"/>
              </a:ext>
            </a:extLst>
          </p:cNvPr>
          <p:cNvSpPr>
            <a:spLocks xmlns:a="http://schemas.openxmlformats.org/drawingml/2006/main" noGrp="1"/>
          </p:cNvSpPr>
          <p:nvPr/>
        </p:nvSpPr>
        <p:spPr>
          <a:xfrm xmlns:a="http://schemas.openxmlformats.org/drawingml/2006/main">
            <a:off x="13030200" y="4514850"/>
            <a:ext cx="304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Connect each finding to the affected asset, evidence and recommended action.</a:t>
            </a:r>
          </a:p>
        </p:txBody>
      </p:sp>
      <p:sp>
        <p:nvSpPr>
          <p:cNvPr id="24" name="">
            <a:extLst xmlns:a="http://schemas.openxmlformats.org/drawingml/2006/main">
              <a:ext uri="{FF2B5EF4-FFF2-40B4-BE49-F238E27FC236}">
                <a16:creationId xmlns:a16="http://schemas.microsoft.com/office/drawing/2014/main" id="{7579224A-ACF7-4E9A-9777-6F9549D8D992}"/>
              </a:ext>
            </a:extLst>
          </p:cNvPr>
          <p:cNvSpPr>
            <a:spLocks xmlns:a="http://schemas.openxmlformats.org/drawingml/2006/main" noGrp="1"/>
          </p:cNvSpPr>
          <p:nvPr/>
        </p:nvSpPr>
        <p:spPr>
          <a:xfrm xmlns:a="http://schemas.openxmlformats.org/drawingml/2006/main">
            <a:off x="876300" y="6534150"/>
            <a:ext cx="15773400" cy="1676400"/>
          </a:xfrm>
          <a:prstGeom xmlns:a="http://schemas.openxmlformats.org/drawingml/2006/main" prst="roundRect">
            <a:avLst>
              <a:gd name="adj" fmla="val 4545"/>
            </a:avLst>
          </a:prstGeom>
          <a:solidFill xmlns:a="http://schemas.openxmlformats.org/drawingml/2006/main">
            <a:srgbClr val="E8EFF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3321A6C-0B02-4604-A2C4-622A08E3C9B5}"/>
              </a:ext>
            </a:extLst>
          </p:cNvPr>
          <p:cNvSpPr>
            <a:spLocks xmlns:a="http://schemas.openxmlformats.org/drawingml/2006/main" noGrp="1"/>
          </p:cNvSpPr>
          <p:nvPr/>
        </p:nvSpPr>
        <p:spPr>
          <a:xfrm xmlns:a="http://schemas.openxmlformats.org/drawingml/2006/main">
            <a:off x="1219200" y="685800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Methodology control</a:t>
            </a:r>
          </a:p>
        </p:txBody>
      </p:sp>
      <p:sp>
        <p:nvSpPr>
          <p:cNvPr id="26" name="">
            <a:extLst xmlns:a="http://schemas.openxmlformats.org/drawingml/2006/main">
              <a:ext uri="{FF2B5EF4-FFF2-40B4-BE49-F238E27FC236}">
                <a16:creationId xmlns:a16="http://schemas.microsoft.com/office/drawing/2014/main" id="{D50EA7A9-E7C7-4E4E-A9AF-B114F7A75469}"/>
              </a:ext>
            </a:extLst>
          </p:cNvPr>
          <p:cNvSpPr>
            <a:spLocks xmlns:a="http://schemas.openxmlformats.org/drawingml/2006/main" noGrp="1"/>
          </p:cNvSpPr>
          <p:nvPr/>
        </p:nvSpPr>
        <p:spPr>
          <a:xfrm xmlns:a="http://schemas.openxmlformats.org/drawingml/2006/main">
            <a:off x="1219200" y="7372350"/>
            <a:ext cx="1466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0" i="0">
                <a:solidFill>
                  <a:srgbClr val="18334B"/>
                </a:solidFill>
                <a:latin typeface="Arial"/>
                <a:ea typeface="Arial"/>
                <a:cs typeface="Arial"/>
              </a:defRPr>
            </a:pPr>
            <a:r>
              <a:rPr sz="1950" b="0" i="0">
                <a:solidFill>
                  <a:srgbClr val="18334B"/>
                </a:solidFill>
                <a:latin typeface="Arial"/>
                <a:ea typeface="Arial"/>
                <a:cs typeface="Arial"/>
              </a:rPr>
              <a:t>A deterministic engine will execute the repeatable methodology. AI assistance will add contextual reasoning when needed. Human approval will remain mandatory before impactful actions.</a:t>
            </a:r>
          </a:p>
        </p:txBody>
      </p:sp>
    </p:spTree>
    <p:extLst>
      <p:ext uri="{BB962C8B-B14F-4D97-AF65-F5344CB8AC3E}">
        <p14:creationId xmlns:p14="http://schemas.microsoft.com/office/powerpoint/2010/main" val="55197149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E32B51EC-FBC4-409A-B400-24DEC7E062C0}"/>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07 / NON-LLM INTELLIGENCE</a:t>
            </a:r>
          </a:p>
        </p:txBody>
      </p:sp>
      <p:sp>
        <p:nvSpPr>
          <p:cNvPr id="2" name="">
            <a:extLst xmlns:a="http://schemas.openxmlformats.org/drawingml/2006/main">
              <a:ext uri="{FF2B5EF4-FFF2-40B4-BE49-F238E27FC236}">
                <a16:creationId xmlns:a16="http://schemas.microsoft.com/office/drawing/2014/main" id="{439993F1-33AD-4E58-85D1-32976D72178A}"/>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Evidence-responsive deterministic testing workflow</a:t>
            </a:r>
          </a:p>
        </p:txBody>
      </p:sp>
      <p:sp>
        <p:nvSpPr>
          <p:cNvPr id="3" name="">
            <a:extLst xmlns:a="http://schemas.openxmlformats.org/drawingml/2006/main">
              <a:ext uri="{FF2B5EF4-FFF2-40B4-BE49-F238E27FC236}">
                <a16:creationId xmlns:a16="http://schemas.microsoft.com/office/drawing/2014/main" id="{6A3A22A7-6E4B-476B-B984-81898DFA8E53}"/>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0D38B1E-594E-4DF2-9A95-138500FC9882}"/>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00D2F19-D2DB-4F54-B0EE-EFD5A3F58FB2}"/>
              </a:ext>
            </a:extLst>
          </p:cNvPr>
          <p:cNvSpPr>
            <a:spLocks xmlns:a="http://schemas.openxmlformats.org/drawingml/2006/main" noGrp="1"/>
          </p:cNvSpPr>
          <p:nvPr/>
        </p:nvSpPr>
        <p:spPr>
          <a:xfrm xmlns:a="http://schemas.openxmlformats.org/drawingml/2006/main">
            <a:off x="876300" y="2095500"/>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Evidence-responsive methodology loop</a:t>
            </a:r>
          </a:p>
        </p:txBody>
      </p:sp>
      <p:sp>
        <p:nvSpPr>
          <p:cNvPr id="6" name="">
            <a:extLst xmlns:a="http://schemas.openxmlformats.org/drawingml/2006/main">
              <a:ext uri="{FF2B5EF4-FFF2-40B4-BE49-F238E27FC236}">
                <a16:creationId xmlns:a16="http://schemas.microsoft.com/office/drawing/2014/main" id="{B656F464-2BF2-4B12-A855-CC14B658591C}"/>
              </a:ext>
            </a:extLst>
          </p:cNvPr>
          <p:cNvSpPr>
            <a:spLocks xmlns:a="http://schemas.openxmlformats.org/drawingml/2006/main" noGrp="1"/>
          </p:cNvSpPr>
          <p:nvPr/>
        </p:nvSpPr>
        <p:spPr>
          <a:xfrm xmlns:a="http://schemas.openxmlformats.org/drawingml/2006/main">
            <a:off x="8763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7" name="">
            <a:extLst xmlns:a="http://schemas.openxmlformats.org/drawingml/2006/main">
              <a:ext uri="{FF2B5EF4-FFF2-40B4-BE49-F238E27FC236}">
                <a16:creationId xmlns:a16="http://schemas.microsoft.com/office/drawing/2014/main" id="{BF5D592E-1FDC-4D74-8B01-A4E2B8AE7127}"/>
              </a:ext>
            </a:extLst>
          </p:cNvPr>
          <p:cNvSpPr>
            <a:spLocks xmlns:a="http://schemas.openxmlformats.org/drawingml/2006/main" noGrp="1"/>
          </p:cNvSpPr>
          <p:nvPr/>
        </p:nvSpPr>
        <p:spPr>
          <a:xfrm xmlns:a="http://schemas.openxmlformats.org/drawingml/2006/main">
            <a:off x="104775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20DD2EB3-9F0D-42F0-8E51-0762AAFC0331}"/>
              </a:ext>
            </a:extLst>
          </p:cNvPr>
          <p:cNvSpPr>
            <a:spLocks xmlns:a="http://schemas.openxmlformats.org/drawingml/2006/main" noGrp="1"/>
          </p:cNvSpPr>
          <p:nvPr/>
        </p:nvSpPr>
        <p:spPr>
          <a:xfrm xmlns:a="http://schemas.openxmlformats.org/drawingml/2006/main">
            <a:off x="10668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Widen</a:t>
            </a:r>
          </a:p>
        </p:txBody>
      </p:sp>
      <p:sp>
        <p:nvSpPr>
          <p:cNvPr id="9" name="">
            <a:extLst xmlns:a="http://schemas.openxmlformats.org/drawingml/2006/main">
              <a:ext uri="{FF2B5EF4-FFF2-40B4-BE49-F238E27FC236}">
                <a16:creationId xmlns:a16="http://schemas.microsoft.com/office/drawing/2014/main" id="{E15F2B39-588C-43F1-A63B-42CDC39E7BDC}"/>
              </a:ext>
            </a:extLst>
          </p:cNvPr>
          <p:cNvSpPr>
            <a:spLocks xmlns:a="http://schemas.openxmlformats.org/drawingml/2006/main" noGrp="1"/>
          </p:cNvSpPr>
          <p:nvPr/>
        </p:nvSpPr>
        <p:spPr>
          <a:xfrm xmlns:a="http://schemas.openxmlformats.org/drawingml/2006/main">
            <a:off x="10668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sisters · subdomains · OSINT</a:t>
            </a:r>
          </a:p>
        </p:txBody>
      </p:sp>
      <p:sp>
        <p:nvSpPr>
          <p:cNvPr id="10" name="">
            <a:extLst xmlns:a="http://schemas.openxmlformats.org/drawingml/2006/main">
              <a:ext uri="{FF2B5EF4-FFF2-40B4-BE49-F238E27FC236}">
                <a16:creationId xmlns:a16="http://schemas.microsoft.com/office/drawing/2014/main" id="{D16F2148-B0AA-47C6-AA7D-9EB6A226F73A}"/>
              </a:ext>
            </a:extLst>
          </p:cNvPr>
          <p:cNvSpPr>
            <a:spLocks xmlns:a="http://schemas.openxmlformats.org/drawingml/2006/main" noGrp="1"/>
          </p:cNvSpPr>
          <p:nvPr/>
        </p:nvSpPr>
        <p:spPr>
          <a:xfrm xmlns:a="http://schemas.openxmlformats.org/drawingml/2006/main">
            <a:off x="29718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A248CD-D13F-44E3-84A5-C52A20DE401F}"/>
              </a:ext>
            </a:extLst>
          </p:cNvPr>
          <p:cNvSpPr>
            <a:spLocks xmlns:a="http://schemas.openxmlformats.org/drawingml/2006/main" noGrp="1"/>
          </p:cNvSpPr>
          <p:nvPr/>
        </p:nvSpPr>
        <p:spPr>
          <a:xfrm xmlns:a="http://schemas.openxmlformats.org/drawingml/2006/main">
            <a:off x="31432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12" name="">
            <a:extLst xmlns:a="http://schemas.openxmlformats.org/drawingml/2006/main">
              <a:ext uri="{FF2B5EF4-FFF2-40B4-BE49-F238E27FC236}">
                <a16:creationId xmlns:a16="http://schemas.microsoft.com/office/drawing/2014/main" id="{78717169-8833-4E41-A56F-EFA301833F5D}"/>
              </a:ext>
            </a:extLst>
          </p:cNvPr>
          <p:cNvSpPr>
            <a:spLocks xmlns:a="http://schemas.openxmlformats.org/drawingml/2006/main" noGrp="1"/>
          </p:cNvSpPr>
          <p:nvPr/>
        </p:nvSpPr>
        <p:spPr>
          <a:xfrm xmlns:a="http://schemas.openxmlformats.org/drawingml/2006/main">
            <a:off x="331470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CAF3D6F9-C39A-4817-8644-39533884F6E3}"/>
              </a:ext>
            </a:extLst>
          </p:cNvPr>
          <p:cNvSpPr>
            <a:spLocks xmlns:a="http://schemas.openxmlformats.org/drawingml/2006/main" noGrp="1"/>
          </p:cNvSpPr>
          <p:nvPr/>
        </p:nvSpPr>
        <p:spPr>
          <a:xfrm xmlns:a="http://schemas.openxmlformats.org/drawingml/2006/main">
            <a:off x="33337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Verify</a:t>
            </a:r>
          </a:p>
        </p:txBody>
      </p:sp>
      <p:sp>
        <p:nvSpPr>
          <p:cNvPr id="14" name="">
            <a:extLst xmlns:a="http://schemas.openxmlformats.org/drawingml/2006/main">
              <a:ext uri="{FF2B5EF4-FFF2-40B4-BE49-F238E27FC236}">
                <a16:creationId xmlns:a16="http://schemas.microsoft.com/office/drawing/2014/main" id="{2D22E6FF-F1A1-4A6D-919C-42B347C4FEFE}"/>
              </a:ext>
            </a:extLst>
          </p:cNvPr>
          <p:cNvSpPr>
            <a:spLocks xmlns:a="http://schemas.openxmlformats.org/drawingml/2006/main" noGrp="1"/>
          </p:cNvSpPr>
          <p:nvPr/>
        </p:nvSpPr>
        <p:spPr>
          <a:xfrm xmlns:a="http://schemas.openxmlformats.org/drawingml/2006/main">
            <a:off x="33337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DNS · HTTP · TLS · live assets</a:t>
            </a:r>
          </a:p>
        </p:txBody>
      </p:sp>
      <p:sp>
        <p:nvSpPr>
          <p:cNvPr id="15" name="">
            <a:extLst xmlns:a="http://schemas.openxmlformats.org/drawingml/2006/main">
              <a:ext uri="{FF2B5EF4-FFF2-40B4-BE49-F238E27FC236}">
                <a16:creationId xmlns:a16="http://schemas.microsoft.com/office/drawing/2014/main" id="{AE93EE0B-D789-4B04-AFA7-7DF691F99CEA}"/>
              </a:ext>
            </a:extLst>
          </p:cNvPr>
          <p:cNvSpPr>
            <a:spLocks xmlns:a="http://schemas.openxmlformats.org/drawingml/2006/main" noGrp="1"/>
          </p:cNvSpPr>
          <p:nvPr/>
        </p:nvSpPr>
        <p:spPr>
          <a:xfrm xmlns:a="http://schemas.openxmlformats.org/drawingml/2006/main">
            <a:off x="52387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20731C-1386-442D-88BB-3992A1418396}"/>
              </a:ext>
            </a:extLst>
          </p:cNvPr>
          <p:cNvSpPr>
            <a:spLocks xmlns:a="http://schemas.openxmlformats.org/drawingml/2006/main" noGrp="1"/>
          </p:cNvSpPr>
          <p:nvPr/>
        </p:nvSpPr>
        <p:spPr>
          <a:xfrm xmlns:a="http://schemas.openxmlformats.org/drawingml/2006/main">
            <a:off x="54102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07D7D4CB-785A-443A-881F-134BCBE756D4}"/>
              </a:ext>
            </a:extLst>
          </p:cNvPr>
          <p:cNvSpPr>
            <a:spLocks xmlns:a="http://schemas.openxmlformats.org/drawingml/2006/main" noGrp="1"/>
          </p:cNvSpPr>
          <p:nvPr/>
        </p:nvSpPr>
        <p:spPr>
          <a:xfrm xmlns:a="http://schemas.openxmlformats.org/drawingml/2006/main">
            <a:off x="558165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EC47456C-CDA3-4066-A6CD-CCB96F7ABCCB}"/>
              </a:ext>
            </a:extLst>
          </p:cNvPr>
          <p:cNvSpPr>
            <a:spLocks xmlns:a="http://schemas.openxmlformats.org/drawingml/2006/main" noGrp="1"/>
          </p:cNvSpPr>
          <p:nvPr/>
        </p:nvSpPr>
        <p:spPr>
          <a:xfrm xmlns:a="http://schemas.openxmlformats.org/drawingml/2006/main">
            <a:off x="56007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Map</a:t>
            </a:r>
          </a:p>
        </p:txBody>
      </p:sp>
      <p:sp>
        <p:nvSpPr>
          <p:cNvPr id="19" name="">
            <a:extLst xmlns:a="http://schemas.openxmlformats.org/drawingml/2006/main">
              <a:ext uri="{FF2B5EF4-FFF2-40B4-BE49-F238E27FC236}">
                <a16:creationId xmlns:a16="http://schemas.microsoft.com/office/drawing/2014/main" id="{B987041B-C6D7-4CF7-AE8A-A5D3569C2F4C}"/>
              </a:ext>
            </a:extLst>
          </p:cNvPr>
          <p:cNvSpPr>
            <a:spLocks xmlns:a="http://schemas.openxmlformats.org/drawingml/2006/main" noGrp="1"/>
          </p:cNvSpPr>
          <p:nvPr/>
        </p:nvSpPr>
        <p:spPr>
          <a:xfrm xmlns:a="http://schemas.openxmlformats.org/drawingml/2006/main">
            <a:off x="56007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IPs · CDN/origin · ports</a:t>
            </a:r>
          </a:p>
        </p:txBody>
      </p:sp>
      <p:sp>
        <p:nvSpPr>
          <p:cNvPr id="20" name="">
            <a:extLst xmlns:a="http://schemas.openxmlformats.org/drawingml/2006/main">
              <a:ext uri="{FF2B5EF4-FFF2-40B4-BE49-F238E27FC236}">
                <a16:creationId xmlns:a16="http://schemas.microsoft.com/office/drawing/2014/main" id="{03A548D3-D2C1-48A6-8F8C-B18BC89CE907}"/>
              </a:ext>
            </a:extLst>
          </p:cNvPr>
          <p:cNvSpPr>
            <a:spLocks xmlns:a="http://schemas.openxmlformats.org/drawingml/2006/main" noGrp="1"/>
          </p:cNvSpPr>
          <p:nvPr/>
        </p:nvSpPr>
        <p:spPr>
          <a:xfrm xmlns:a="http://schemas.openxmlformats.org/drawingml/2006/main">
            <a:off x="75057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9CDBF04-D194-4187-AF1B-B207D25D5ABC}"/>
              </a:ext>
            </a:extLst>
          </p:cNvPr>
          <p:cNvSpPr>
            <a:spLocks xmlns:a="http://schemas.openxmlformats.org/drawingml/2006/main" noGrp="1"/>
          </p:cNvSpPr>
          <p:nvPr/>
        </p:nvSpPr>
        <p:spPr>
          <a:xfrm xmlns:a="http://schemas.openxmlformats.org/drawingml/2006/main">
            <a:off x="76771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22" name="">
            <a:extLst xmlns:a="http://schemas.openxmlformats.org/drawingml/2006/main">
              <a:ext uri="{FF2B5EF4-FFF2-40B4-BE49-F238E27FC236}">
                <a16:creationId xmlns:a16="http://schemas.microsoft.com/office/drawing/2014/main" id="{F18642BF-9535-4E3A-89D9-3EBF02235CBD}"/>
              </a:ext>
            </a:extLst>
          </p:cNvPr>
          <p:cNvSpPr>
            <a:spLocks xmlns:a="http://schemas.openxmlformats.org/drawingml/2006/main" noGrp="1"/>
          </p:cNvSpPr>
          <p:nvPr/>
        </p:nvSpPr>
        <p:spPr>
          <a:xfrm xmlns:a="http://schemas.openxmlformats.org/drawingml/2006/main">
            <a:off x="7848600" y="2895600"/>
            <a:ext cx="419100" cy="381000"/>
          </a:xfrm>
          <a:prstGeom xmlns:a="http://schemas.openxmlformats.org/drawingml/2006/main" prst="roundRect">
            <a:avLst>
              <a:gd name="adj" fmla="val 20000"/>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C3A430DC-96A7-4259-8588-DF683FE14F5D}"/>
              </a:ext>
            </a:extLst>
          </p:cNvPr>
          <p:cNvSpPr>
            <a:spLocks xmlns:a="http://schemas.openxmlformats.org/drawingml/2006/main" noGrp="1"/>
          </p:cNvSpPr>
          <p:nvPr/>
        </p:nvSpPr>
        <p:spPr>
          <a:xfrm xmlns:a="http://schemas.openxmlformats.org/drawingml/2006/main">
            <a:off x="78676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Profile</a:t>
            </a:r>
          </a:p>
        </p:txBody>
      </p:sp>
      <p:sp>
        <p:nvSpPr>
          <p:cNvPr id="24" name="">
            <a:extLst xmlns:a="http://schemas.openxmlformats.org/drawingml/2006/main">
              <a:ext uri="{FF2B5EF4-FFF2-40B4-BE49-F238E27FC236}">
                <a16:creationId xmlns:a16="http://schemas.microsoft.com/office/drawing/2014/main" id="{497CB6A3-AEEE-4444-938B-8867325C4EF2}"/>
              </a:ext>
            </a:extLst>
          </p:cNvPr>
          <p:cNvSpPr>
            <a:spLocks xmlns:a="http://schemas.openxmlformats.org/drawingml/2006/main" noGrp="1"/>
          </p:cNvSpPr>
          <p:nvPr/>
        </p:nvSpPr>
        <p:spPr>
          <a:xfrm xmlns:a="http://schemas.openxmlformats.org/drawingml/2006/main">
            <a:off x="78676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services · versions · tech</a:t>
            </a:r>
          </a:p>
        </p:txBody>
      </p:sp>
      <p:sp>
        <p:nvSpPr>
          <p:cNvPr id="25" name="">
            <a:extLst xmlns:a="http://schemas.openxmlformats.org/drawingml/2006/main">
              <a:ext uri="{FF2B5EF4-FFF2-40B4-BE49-F238E27FC236}">
                <a16:creationId xmlns:a16="http://schemas.microsoft.com/office/drawing/2014/main" id="{6C4EFBB9-8679-451D-9337-A96FEB382085}"/>
              </a:ext>
            </a:extLst>
          </p:cNvPr>
          <p:cNvSpPr>
            <a:spLocks xmlns:a="http://schemas.openxmlformats.org/drawingml/2006/main" noGrp="1"/>
          </p:cNvSpPr>
          <p:nvPr/>
        </p:nvSpPr>
        <p:spPr>
          <a:xfrm xmlns:a="http://schemas.openxmlformats.org/drawingml/2006/main">
            <a:off x="97726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7C231DB-577D-4DEA-891F-9CD9761B2CFE}"/>
              </a:ext>
            </a:extLst>
          </p:cNvPr>
          <p:cNvSpPr>
            <a:spLocks xmlns:a="http://schemas.openxmlformats.org/drawingml/2006/main" noGrp="1"/>
          </p:cNvSpPr>
          <p:nvPr/>
        </p:nvSpPr>
        <p:spPr>
          <a:xfrm xmlns:a="http://schemas.openxmlformats.org/drawingml/2006/main">
            <a:off x="99441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15EF5C68-E347-4481-AD30-AF7BD9A0B51A}"/>
              </a:ext>
            </a:extLst>
          </p:cNvPr>
          <p:cNvSpPr>
            <a:spLocks xmlns:a="http://schemas.openxmlformats.org/drawingml/2006/main" noGrp="1"/>
          </p:cNvSpPr>
          <p:nvPr/>
        </p:nvSpPr>
        <p:spPr>
          <a:xfrm xmlns:a="http://schemas.openxmlformats.org/drawingml/2006/main">
            <a:off x="1011555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3F85924D-3397-4B26-9313-C98A78E1E58A}"/>
              </a:ext>
            </a:extLst>
          </p:cNvPr>
          <p:cNvSpPr>
            <a:spLocks xmlns:a="http://schemas.openxmlformats.org/drawingml/2006/main" noGrp="1"/>
          </p:cNvSpPr>
          <p:nvPr/>
        </p:nvSpPr>
        <p:spPr>
          <a:xfrm xmlns:a="http://schemas.openxmlformats.org/drawingml/2006/main">
            <a:off x="101346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Discover</a:t>
            </a:r>
          </a:p>
        </p:txBody>
      </p:sp>
      <p:sp>
        <p:nvSpPr>
          <p:cNvPr id="29" name="">
            <a:extLst xmlns:a="http://schemas.openxmlformats.org/drawingml/2006/main">
              <a:ext uri="{FF2B5EF4-FFF2-40B4-BE49-F238E27FC236}">
                <a16:creationId xmlns:a16="http://schemas.microsoft.com/office/drawing/2014/main" id="{D8B0F77E-4CEF-457C-9D7F-6EBDCF104389}"/>
              </a:ext>
            </a:extLst>
          </p:cNvPr>
          <p:cNvSpPr>
            <a:spLocks xmlns:a="http://schemas.openxmlformats.org/drawingml/2006/main" noGrp="1"/>
          </p:cNvSpPr>
          <p:nvPr/>
        </p:nvSpPr>
        <p:spPr>
          <a:xfrm xmlns:a="http://schemas.openxmlformats.org/drawingml/2006/main">
            <a:off x="101346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paths · endpoints · parameters</a:t>
            </a:r>
          </a:p>
        </p:txBody>
      </p:sp>
      <p:sp>
        <p:nvSpPr>
          <p:cNvPr id="30" name="">
            <a:extLst xmlns:a="http://schemas.openxmlformats.org/drawingml/2006/main">
              <a:ext uri="{FF2B5EF4-FFF2-40B4-BE49-F238E27FC236}">
                <a16:creationId xmlns:a16="http://schemas.microsoft.com/office/drawing/2014/main" id="{DA105C68-0921-472C-9399-354CFC30289D}"/>
              </a:ext>
            </a:extLst>
          </p:cNvPr>
          <p:cNvSpPr>
            <a:spLocks xmlns:a="http://schemas.openxmlformats.org/drawingml/2006/main" noGrp="1"/>
          </p:cNvSpPr>
          <p:nvPr/>
        </p:nvSpPr>
        <p:spPr>
          <a:xfrm xmlns:a="http://schemas.openxmlformats.org/drawingml/2006/main">
            <a:off x="1203960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2BE4ECE-A15C-4CE5-AE27-61DEABF1EBF5}"/>
              </a:ext>
            </a:extLst>
          </p:cNvPr>
          <p:cNvSpPr>
            <a:spLocks xmlns:a="http://schemas.openxmlformats.org/drawingml/2006/main" noGrp="1"/>
          </p:cNvSpPr>
          <p:nvPr/>
        </p:nvSpPr>
        <p:spPr>
          <a:xfrm xmlns:a="http://schemas.openxmlformats.org/drawingml/2006/main">
            <a:off x="1221105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32" name="">
            <a:extLst xmlns:a="http://schemas.openxmlformats.org/drawingml/2006/main">
              <a:ext uri="{FF2B5EF4-FFF2-40B4-BE49-F238E27FC236}">
                <a16:creationId xmlns:a16="http://schemas.microsoft.com/office/drawing/2014/main" id="{D05D3B16-CE36-4399-B20B-E83CB9BEC091}"/>
              </a:ext>
            </a:extLst>
          </p:cNvPr>
          <p:cNvSpPr>
            <a:spLocks xmlns:a="http://schemas.openxmlformats.org/drawingml/2006/main" noGrp="1"/>
          </p:cNvSpPr>
          <p:nvPr/>
        </p:nvSpPr>
        <p:spPr>
          <a:xfrm xmlns:a="http://schemas.openxmlformats.org/drawingml/2006/main">
            <a:off x="1238250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33" name="">
            <a:extLst xmlns:a="http://schemas.openxmlformats.org/drawingml/2006/main">
              <a:ext uri="{FF2B5EF4-FFF2-40B4-BE49-F238E27FC236}">
                <a16:creationId xmlns:a16="http://schemas.microsoft.com/office/drawing/2014/main" id="{8E8EC48B-27CE-4D97-83B0-7E8E7EBA401D}"/>
              </a:ext>
            </a:extLst>
          </p:cNvPr>
          <p:cNvSpPr>
            <a:spLocks xmlns:a="http://schemas.openxmlformats.org/drawingml/2006/main" noGrp="1"/>
          </p:cNvSpPr>
          <p:nvPr/>
        </p:nvSpPr>
        <p:spPr>
          <a:xfrm xmlns:a="http://schemas.openxmlformats.org/drawingml/2006/main">
            <a:off x="1240155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Scan</a:t>
            </a:r>
          </a:p>
        </p:txBody>
      </p:sp>
      <p:sp>
        <p:nvSpPr>
          <p:cNvPr id="34" name="">
            <a:extLst xmlns:a="http://schemas.openxmlformats.org/drawingml/2006/main">
              <a:ext uri="{FF2B5EF4-FFF2-40B4-BE49-F238E27FC236}">
                <a16:creationId xmlns:a16="http://schemas.microsoft.com/office/drawing/2014/main" id="{F9831587-DB31-48E6-A21D-18B7C83EE007}"/>
              </a:ext>
            </a:extLst>
          </p:cNvPr>
          <p:cNvSpPr>
            <a:spLocks xmlns:a="http://schemas.openxmlformats.org/drawingml/2006/main" noGrp="1"/>
          </p:cNvSpPr>
          <p:nvPr/>
        </p:nvSpPr>
        <p:spPr>
          <a:xfrm xmlns:a="http://schemas.openxmlformats.org/drawingml/2006/main">
            <a:off x="1240155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Nuclei · SQLmap · specialist checks</a:t>
            </a:r>
          </a:p>
        </p:txBody>
      </p:sp>
      <p:sp>
        <p:nvSpPr>
          <p:cNvPr id="35" name="">
            <a:extLst xmlns:a="http://schemas.openxmlformats.org/drawingml/2006/main">
              <a:ext uri="{FF2B5EF4-FFF2-40B4-BE49-F238E27FC236}">
                <a16:creationId xmlns:a16="http://schemas.microsoft.com/office/drawing/2014/main" id="{9D847C9D-6A3F-4CF8-9163-3641616ABBAC}"/>
              </a:ext>
            </a:extLst>
          </p:cNvPr>
          <p:cNvSpPr>
            <a:spLocks xmlns:a="http://schemas.openxmlformats.org/drawingml/2006/main" noGrp="1"/>
          </p:cNvSpPr>
          <p:nvPr/>
        </p:nvSpPr>
        <p:spPr>
          <a:xfrm xmlns:a="http://schemas.openxmlformats.org/drawingml/2006/main">
            <a:off x="14306550" y="3609975"/>
            <a:ext cx="171450" cy="209550"/>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93F6329-EF16-4341-9826-20EAE3A33D80}"/>
              </a:ext>
            </a:extLst>
          </p:cNvPr>
          <p:cNvSpPr>
            <a:spLocks xmlns:a="http://schemas.openxmlformats.org/drawingml/2006/main" noGrp="1"/>
          </p:cNvSpPr>
          <p:nvPr/>
        </p:nvSpPr>
        <p:spPr>
          <a:xfrm xmlns:a="http://schemas.openxmlformats.org/drawingml/2006/main">
            <a:off x="14478000" y="2724150"/>
            <a:ext cx="2095500" cy="2019300"/>
          </a:xfrm>
          <a:prstGeom xmlns:a="http://schemas.openxmlformats.org/drawingml/2006/main" prst="roundRect">
            <a:avLst>
              <a:gd name="adj" fmla="val 3774"/>
            </a:avLst>
          </a:prstGeom>
          <a:solidFill xmlns:a="http://schemas.openxmlformats.org/drawingml/2006/main">
            <a:srgbClr val="FFFDF9"/>
          </a:solidFill>
          <a:ln xmlns:a="http://schemas.openxmlformats.org/drawingml/2006/main" w="19050">
            <a:solidFill>
              <a:srgbClr val="CAD6DE"/>
            </a:solidFill>
          </a:ln>
        </p:spPr>
      </p:sp>
      <p:sp>
        <p:nvSpPr>
          <p:cNvPr id="37" name="">
            <a:extLst xmlns:a="http://schemas.openxmlformats.org/drawingml/2006/main">
              <a:ext uri="{FF2B5EF4-FFF2-40B4-BE49-F238E27FC236}">
                <a16:creationId xmlns:a16="http://schemas.microsoft.com/office/drawing/2014/main" id="{DCD1A3B5-7CA7-4EC5-B4CC-B209D0E7F125}"/>
              </a:ext>
            </a:extLst>
          </p:cNvPr>
          <p:cNvSpPr>
            <a:spLocks xmlns:a="http://schemas.openxmlformats.org/drawingml/2006/main" noGrp="1"/>
          </p:cNvSpPr>
          <p:nvPr/>
        </p:nvSpPr>
        <p:spPr>
          <a:xfrm xmlns:a="http://schemas.openxmlformats.org/drawingml/2006/main">
            <a:off x="14649450" y="2895600"/>
            <a:ext cx="419100" cy="381000"/>
          </a:xfrm>
          <a:prstGeom xmlns:a="http://schemas.openxmlformats.org/drawingml/2006/main" prst="roundRect">
            <a:avLst>
              <a:gd name="adj" fmla="val 20000"/>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7</a:t>
            </a:r>
          </a:p>
        </p:txBody>
      </p:sp>
      <p:sp>
        <p:nvSpPr>
          <p:cNvPr id="38" name="">
            <a:extLst xmlns:a="http://schemas.openxmlformats.org/drawingml/2006/main">
              <a:ext uri="{FF2B5EF4-FFF2-40B4-BE49-F238E27FC236}">
                <a16:creationId xmlns:a16="http://schemas.microsoft.com/office/drawing/2014/main" id="{B47CCE11-1D71-46FA-9237-0AAD58A0E0CA}"/>
              </a:ext>
            </a:extLst>
          </p:cNvPr>
          <p:cNvSpPr>
            <a:spLocks xmlns:a="http://schemas.openxmlformats.org/drawingml/2006/main" noGrp="1"/>
          </p:cNvSpPr>
          <p:nvPr/>
        </p:nvSpPr>
        <p:spPr>
          <a:xfrm xmlns:a="http://schemas.openxmlformats.org/drawingml/2006/main">
            <a:off x="14668500" y="34861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Confirm</a:t>
            </a:r>
          </a:p>
        </p:txBody>
      </p:sp>
      <p:sp>
        <p:nvSpPr>
          <p:cNvPr id="39" name="">
            <a:extLst xmlns:a="http://schemas.openxmlformats.org/drawingml/2006/main">
              <a:ext uri="{FF2B5EF4-FFF2-40B4-BE49-F238E27FC236}">
                <a16:creationId xmlns:a16="http://schemas.microsoft.com/office/drawing/2014/main" id="{8E2AC7F9-C4E5-41CB-8CCF-A678F7B4AD7C}"/>
              </a:ext>
            </a:extLst>
          </p:cNvPr>
          <p:cNvSpPr>
            <a:spLocks xmlns:a="http://schemas.openxmlformats.org/drawingml/2006/main" noGrp="1"/>
          </p:cNvSpPr>
          <p:nvPr/>
        </p:nvSpPr>
        <p:spPr>
          <a:xfrm xmlns:a="http://schemas.openxmlformats.org/drawingml/2006/main">
            <a:off x="14668500" y="39624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5F7180"/>
                </a:solidFill>
                <a:latin typeface="Arial"/>
                <a:ea typeface="Arial"/>
                <a:cs typeface="Arial"/>
              </a:defRPr>
            </a:pPr>
            <a:r>
              <a:rPr sz="1350" b="0" i="0">
                <a:solidFill>
                  <a:srgbClr val="5F7180"/>
                </a:solidFill>
                <a:latin typeface="Arial"/>
                <a:ea typeface="Arial"/>
                <a:cs typeface="Arial"/>
              </a:rPr>
              <a:t>reproduce · cite evidence · report</a:t>
            </a:r>
          </a:p>
        </p:txBody>
      </p:sp>
      <p:sp>
        <p:nvSpPr>
          <p:cNvPr id="40" name="">
            <a:extLst xmlns:a="http://schemas.openxmlformats.org/drawingml/2006/main">
              <a:ext uri="{FF2B5EF4-FFF2-40B4-BE49-F238E27FC236}">
                <a16:creationId xmlns:a16="http://schemas.microsoft.com/office/drawing/2014/main" id="{35171E6D-7D99-4963-9B38-26FC5F809454}"/>
              </a:ext>
            </a:extLst>
          </p:cNvPr>
          <p:cNvSpPr>
            <a:spLocks xmlns:a="http://schemas.openxmlformats.org/drawingml/2006/main" noGrp="1"/>
          </p:cNvSpPr>
          <p:nvPr/>
        </p:nvSpPr>
        <p:spPr>
          <a:xfrm xmlns:a="http://schemas.openxmlformats.org/drawingml/2006/main">
            <a:off x="876300" y="5181600"/>
            <a:ext cx="15773400" cy="857250"/>
          </a:xfrm>
          <a:prstGeom xmlns:a="http://schemas.openxmlformats.org/drawingml/2006/main" prst="roundRect">
            <a:avLst>
              <a:gd name="adj" fmla="val 8889"/>
            </a:avLst>
          </a:prstGeom>
          <a:solidFill xmlns:a="http://schemas.openxmlformats.org/drawingml/2006/main">
            <a:srgbClr val="DDEEE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17C57B2-FD18-46A5-9660-79619CA0FE63}"/>
              </a:ext>
            </a:extLst>
          </p:cNvPr>
          <p:cNvSpPr>
            <a:spLocks xmlns:a="http://schemas.openxmlformats.org/drawingml/2006/main" noGrp="1"/>
          </p:cNvSpPr>
          <p:nvPr/>
        </p:nvSpPr>
        <p:spPr>
          <a:xfrm xmlns:a="http://schemas.openxmlformats.org/drawingml/2006/main">
            <a:off x="1200150" y="5429250"/>
            <a:ext cx="1504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206"/>
          </a:bodyPr>
          <a:lstStyle xmlns:a="http://schemas.openxmlformats.org/drawingml/2006/main"/>
          <a:p xmlns:a="http://schemas.openxmlformats.org/drawingml/2006/main">
            <a:pPr algn="ctr">
              <a:lnSpc>
                <a:spcPct val="100000"/>
              </a:lnSpc>
              <a:buNone/>
              <a:defRPr sz="1950" b="1" i="0">
                <a:solidFill>
                  <a:srgbClr val="2D8B84"/>
                </a:solidFill>
                <a:latin typeface="Arial"/>
                <a:ea typeface="Arial"/>
                <a:cs typeface="Arial"/>
              </a:defRPr>
            </a:pPr>
            <a:r>
              <a:rPr sz="1950" b="1" i="0">
                <a:solidFill>
                  <a:srgbClr val="2D8B84"/>
                </a:solidFill>
                <a:latin typeface="Arial"/>
                <a:ea typeface="Arial"/>
                <a:cs typeface="Arial"/>
              </a:rPr>
              <a:t>A new host, service, endpoint, credential or vulnerability re-opens only the relevant earlier work—without restarting the engagement.</a:t>
            </a:r>
          </a:p>
        </p:txBody>
      </p:sp>
      <p:sp>
        <p:nvSpPr>
          <p:cNvPr id="42" name="">
            <a:extLst xmlns:a="http://schemas.openxmlformats.org/drawingml/2006/main">
              <a:ext uri="{FF2B5EF4-FFF2-40B4-BE49-F238E27FC236}">
                <a16:creationId xmlns:a16="http://schemas.microsoft.com/office/drawing/2014/main" id="{EBCDABCF-E17D-40B2-9BBA-8D11D80F48A8}"/>
              </a:ext>
            </a:extLst>
          </p:cNvPr>
          <p:cNvSpPr>
            <a:spLocks xmlns:a="http://schemas.openxmlformats.org/drawingml/2006/main" noGrp="1"/>
          </p:cNvSpPr>
          <p:nvPr/>
        </p:nvSpPr>
        <p:spPr>
          <a:xfrm xmlns:a="http://schemas.openxmlformats.org/drawingml/2006/main">
            <a:off x="876300" y="659130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What makes this intelligent without an LLM</a:t>
            </a:r>
          </a:p>
        </p:txBody>
      </p:sp>
      <p:sp>
        <p:nvSpPr>
          <p:cNvPr id="43" name="">
            <a:extLst xmlns:a="http://schemas.openxmlformats.org/drawingml/2006/main">
              <a:ext uri="{FF2B5EF4-FFF2-40B4-BE49-F238E27FC236}">
                <a16:creationId xmlns:a16="http://schemas.microsoft.com/office/drawing/2014/main" id="{5A08A1E4-B0F6-43D3-99BC-6F523A385DA0}"/>
              </a:ext>
            </a:extLst>
          </p:cNvPr>
          <p:cNvSpPr>
            <a:spLocks xmlns:a="http://schemas.openxmlformats.org/drawingml/2006/main" noGrp="1"/>
          </p:cNvSpPr>
          <p:nvPr/>
        </p:nvSpPr>
        <p:spPr>
          <a:xfrm xmlns:a="http://schemas.openxmlformats.org/drawingml/2006/main">
            <a:off x="87630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44" name="">
            <a:extLst xmlns:a="http://schemas.openxmlformats.org/drawingml/2006/main">
              <a:ext uri="{FF2B5EF4-FFF2-40B4-BE49-F238E27FC236}">
                <a16:creationId xmlns:a16="http://schemas.microsoft.com/office/drawing/2014/main" id="{AF3B1822-F170-497E-B4DF-6BE059E03D1C}"/>
              </a:ext>
            </a:extLst>
          </p:cNvPr>
          <p:cNvSpPr>
            <a:spLocks xmlns:a="http://schemas.openxmlformats.org/drawingml/2006/main" noGrp="1"/>
          </p:cNvSpPr>
          <p:nvPr/>
        </p:nvSpPr>
        <p:spPr>
          <a:xfrm xmlns:a="http://schemas.openxmlformats.org/drawingml/2006/main">
            <a:off x="876300" y="7124700"/>
            <a:ext cx="85725" cy="16573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2BFF79C-A42B-4752-A234-73167623D768}"/>
              </a:ext>
            </a:extLst>
          </p:cNvPr>
          <p:cNvSpPr>
            <a:spLocks xmlns:a="http://schemas.openxmlformats.org/drawingml/2006/main" noGrp="1"/>
          </p:cNvSpPr>
          <p:nvPr/>
        </p:nvSpPr>
        <p:spPr>
          <a:xfrm xmlns:a="http://schemas.openxmlformats.org/drawingml/2006/main">
            <a:off x="114300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Evidence unlocks work</a:t>
            </a:r>
          </a:p>
        </p:txBody>
      </p:sp>
      <p:sp>
        <p:nvSpPr>
          <p:cNvPr id="46" name="">
            <a:extLst xmlns:a="http://schemas.openxmlformats.org/drawingml/2006/main">
              <a:ext uri="{FF2B5EF4-FFF2-40B4-BE49-F238E27FC236}">
                <a16:creationId xmlns:a16="http://schemas.microsoft.com/office/drawing/2014/main" id="{FCDA5BBD-E6E3-4D6B-B23B-7557C9E9BBCC}"/>
              </a:ext>
            </a:extLst>
          </p:cNvPr>
          <p:cNvSpPr>
            <a:spLocks xmlns:a="http://schemas.openxmlformats.org/drawingml/2006/main" noGrp="1"/>
          </p:cNvSpPr>
          <p:nvPr/>
        </p:nvSpPr>
        <p:spPr>
          <a:xfrm xmlns:a="http://schemas.openxmlformats.org/drawingml/2006/main">
            <a:off x="114300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 real live host or service creates new test opportunities.</a:t>
            </a:r>
          </a:p>
        </p:txBody>
      </p:sp>
      <p:sp>
        <p:nvSpPr>
          <p:cNvPr id="47" name="">
            <a:extLst xmlns:a="http://schemas.openxmlformats.org/drawingml/2006/main">
              <a:ext uri="{FF2B5EF4-FFF2-40B4-BE49-F238E27FC236}">
                <a16:creationId xmlns:a16="http://schemas.microsoft.com/office/drawing/2014/main" id="{8AA29F5A-DADB-4BDD-AB91-3CD1969348E5}"/>
              </a:ext>
            </a:extLst>
          </p:cNvPr>
          <p:cNvSpPr>
            <a:spLocks xmlns:a="http://schemas.openxmlformats.org/drawingml/2006/main" noGrp="1"/>
          </p:cNvSpPr>
          <p:nvPr/>
        </p:nvSpPr>
        <p:spPr>
          <a:xfrm xmlns:a="http://schemas.openxmlformats.org/drawingml/2006/main">
            <a:off x="481965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48" name="">
            <a:extLst xmlns:a="http://schemas.openxmlformats.org/drawingml/2006/main">
              <a:ext uri="{FF2B5EF4-FFF2-40B4-BE49-F238E27FC236}">
                <a16:creationId xmlns:a16="http://schemas.microsoft.com/office/drawing/2014/main" id="{4DE32226-6893-492A-8B96-0A33013DD9E4}"/>
              </a:ext>
            </a:extLst>
          </p:cNvPr>
          <p:cNvSpPr>
            <a:spLocks xmlns:a="http://schemas.openxmlformats.org/drawingml/2006/main" noGrp="1"/>
          </p:cNvSpPr>
          <p:nvPr/>
        </p:nvSpPr>
        <p:spPr>
          <a:xfrm xmlns:a="http://schemas.openxmlformats.org/drawingml/2006/main">
            <a:off x="4819650" y="7124700"/>
            <a:ext cx="85725" cy="16573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97FF31C-DA87-4455-9A10-A0E952C3DF9C}"/>
              </a:ext>
            </a:extLst>
          </p:cNvPr>
          <p:cNvSpPr>
            <a:spLocks xmlns:a="http://schemas.openxmlformats.org/drawingml/2006/main" noGrp="1"/>
          </p:cNvSpPr>
          <p:nvPr/>
        </p:nvSpPr>
        <p:spPr>
          <a:xfrm xmlns:a="http://schemas.openxmlformats.org/drawingml/2006/main">
            <a:off x="508635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Coverage is per asset</a:t>
            </a:r>
          </a:p>
        </p:txBody>
      </p:sp>
      <p:sp>
        <p:nvSpPr>
          <p:cNvPr id="50" name="">
            <a:extLst xmlns:a="http://schemas.openxmlformats.org/drawingml/2006/main">
              <a:ext uri="{FF2B5EF4-FFF2-40B4-BE49-F238E27FC236}">
                <a16:creationId xmlns:a16="http://schemas.microsoft.com/office/drawing/2014/main" id="{53F2C1DB-AD0C-4130-B27D-AA38C3800293}"/>
              </a:ext>
            </a:extLst>
          </p:cNvPr>
          <p:cNvSpPr>
            <a:spLocks xmlns:a="http://schemas.openxmlformats.org/drawingml/2006/main" noGrp="1"/>
          </p:cNvSpPr>
          <p:nvPr/>
        </p:nvSpPr>
        <p:spPr>
          <a:xfrm xmlns:a="http://schemas.openxmlformats.org/drawingml/2006/main">
            <a:off x="508635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Each host and application is tracked individually, even on shared infrastructure.</a:t>
            </a:r>
          </a:p>
        </p:txBody>
      </p:sp>
      <p:sp>
        <p:nvSpPr>
          <p:cNvPr id="51" name="">
            <a:extLst xmlns:a="http://schemas.openxmlformats.org/drawingml/2006/main">
              <a:ext uri="{FF2B5EF4-FFF2-40B4-BE49-F238E27FC236}">
                <a16:creationId xmlns:a16="http://schemas.microsoft.com/office/drawing/2014/main" id="{0823958C-E655-475B-9F46-82D00AB6AD1B}"/>
              </a:ext>
            </a:extLst>
          </p:cNvPr>
          <p:cNvSpPr>
            <a:spLocks xmlns:a="http://schemas.openxmlformats.org/drawingml/2006/main" noGrp="1"/>
          </p:cNvSpPr>
          <p:nvPr/>
        </p:nvSpPr>
        <p:spPr>
          <a:xfrm xmlns:a="http://schemas.openxmlformats.org/drawingml/2006/main">
            <a:off x="876300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52" name="">
            <a:extLst xmlns:a="http://schemas.openxmlformats.org/drawingml/2006/main">
              <a:ext uri="{FF2B5EF4-FFF2-40B4-BE49-F238E27FC236}">
                <a16:creationId xmlns:a16="http://schemas.microsoft.com/office/drawing/2014/main" id="{2BFF6344-2746-400A-A010-800C15BE1205}"/>
              </a:ext>
            </a:extLst>
          </p:cNvPr>
          <p:cNvSpPr>
            <a:spLocks xmlns:a="http://schemas.openxmlformats.org/drawingml/2006/main" noGrp="1"/>
          </p:cNvSpPr>
          <p:nvPr/>
        </p:nvSpPr>
        <p:spPr>
          <a:xfrm xmlns:a="http://schemas.openxmlformats.org/drawingml/2006/main">
            <a:off x="8763000" y="7124700"/>
            <a:ext cx="85725" cy="16573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76F3B45C-9C5A-44E5-9A38-0D481B3813AB}"/>
              </a:ext>
            </a:extLst>
          </p:cNvPr>
          <p:cNvSpPr>
            <a:spLocks xmlns:a="http://schemas.openxmlformats.org/drawingml/2006/main" noGrp="1"/>
          </p:cNvSpPr>
          <p:nvPr/>
        </p:nvSpPr>
        <p:spPr>
          <a:xfrm xmlns:a="http://schemas.openxmlformats.org/drawingml/2006/main">
            <a:off x="902970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Priority follows signals</a:t>
            </a:r>
          </a:p>
        </p:txBody>
      </p:sp>
      <p:sp>
        <p:nvSpPr>
          <p:cNvPr id="54" name="">
            <a:extLst xmlns:a="http://schemas.openxmlformats.org/drawingml/2006/main">
              <a:ext uri="{FF2B5EF4-FFF2-40B4-BE49-F238E27FC236}">
                <a16:creationId xmlns:a16="http://schemas.microsoft.com/office/drawing/2014/main" id="{A77D6584-3D7B-4F17-BC88-9890527BA137}"/>
              </a:ext>
            </a:extLst>
          </p:cNvPr>
          <p:cNvSpPr>
            <a:spLocks xmlns:a="http://schemas.openxmlformats.org/drawingml/2006/main" noGrp="1"/>
          </p:cNvSpPr>
          <p:nvPr/>
        </p:nvSpPr>
        <p:spPr>
          <a:xfrm xmlns:a="http://schemas.openxmlformats.org/drawingml/2006/main">
            <a:off x="902970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Observed technologies, exposure and proof reorder the queue.</a:t>
            </a:r>
          </a:p>
        </p:txBody>
      </p:sp>
      <p:sp>
        <p:nvSpPr>
          <p:cNvPr id="55" name="">
            <a:extLst xmlns:a="http://schemas.openxmlformats.org/drawingml/2006/main">
              <a:ext uri="{FF2B5EF4-FFF2-40B4-BE49-F238E27FC236}">
                <a16:creationId xmlns:a16="http://schemas.microsoft.com/office/drawing/2014/main" id="{4D89F4D5-959C-4B88-B70A-F57471959047}"/>
              </a:ext>
            </a:extLst>
          </p:cNvPr>
          <p:cNvSpPr>
            <a:spLocks xmlns:a="http://schemas.openxmlformats.org/drawingml/2006/main" noGrp="1"/>
          </p:cNvSpPr>
          <p:nvPr/>
        </p:nvSpPr>
        <p:spPr>
          <a:xfrm xmlns:a="http://schemas.openxmlformats.org/drawingml/2006/main">
            <a:off x="12706350" y="7124700"/>
            <a:ext cx="3695700" cy="165735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56" name="">
            <a:extLst xmlns:a="http://schemas.openxmlformats.org/drawingml/2006/main">
              <a:ext uri="{FF2B5EF4-FFF2-40B4-BE49-F238E27FC236}">
                <a16:creationId xmlns:a16="http://schemas.microsoft.com/office/drawing/2014/main" id="{A81E0B42-44DD-4FE8-9DB6-D20529B1D02C}"/>
              </a:ext>
            </a:extLst>
          </p:cNvPr>
          <p:cNvSpPr>
            <a:spLocks xmlns:a="http://schemas.openxmlformats.org/drawingml/2006/main" noGrp="1"/>
          </p:cNvSpPr>
          <p:nvPr/>
        </p:nvSpPr>
        <p:spPr>
          <a:xfrm xmlns:a="http://schemas.openxmlformats.org/drawingml/2006/main">
            <a:off x="12706350" y="7124700"/>
            <a:ext cx="85725" cy="16573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EE8A48B-8120-40B2-8B03-2DBB6084AD53}"/>
              </a:ext>
            </a:extLst>
          </p:cNvPr>
          <p:cNvSpPr>
            <a:spLocks xmlns:a="http://schemas.openxmlformats.org/drawingml/2006/main" noGrp="1"/>
          </p:cNvSpPr>
          <p:nvPr/>
        </p:nvSpPr>
        <p:spPr>
          <a:xfrm xmlns:a="http://schemas.openxmlformats.org/drawingml/2006/main">
            <a:off x="12973050" y="7334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23B63"/>
                </a:solidFill>
                <a:latin typeface="Arial"/>
                <a:ea typeface="Arial"/>
                <a:cs typeface="Arial"/>
              </a:defRPr>
            </a:pPr>
            <a:r>
              <a:rPr sz="1650" b="1" i="0">
                <a:solidFill>
                  <a:srgbClr val="123B63"/>
                </a:solidFill>
                <a:latin typeface="Arial"/>
                <a:ea typeface="Arial"/>
                <a:cs typeface="Arial"/>
              </a:rPr>
              <a:t>Methodology is configurable</a:t>
            </a:r>
          </a:p>
        </p:txBody>
      </p:sp>
      <p:sp>
        <p:nvSpPr>
          <p:cNvPr id="58" name="">
            <a:extLst xmlns:a="http://schemas.openxmlformats.org/drawingml/2006/main">
              <a:ext uri="{FF2B5EF4-FFF2-40B4-BE49-F238E27FC236}">
                <a16:creationId xmlns:a16="http://schemas.microsoft.com/office/drawing/2014/main" id="{6567158F-2A70-4053-86B9-D0D31A7173E8}"/>
              </a:ext>
            </a:extLst>
          </p:cNvPr>
          <p:cNvSpPr>
            <a:spLocks xmlns:a="http://schemas.openxmlformats.org/drawingml/2006/main" noGrp="1"/>
          </p:cNvSpPr>
          <p:nvPr/>
        </p:nvSpPr>
        <p:spPr>
          <a:xfrm xmlns:a="http://schemas.openxmlformats.org/drawingml/2006/main">
            <a:off x="12973050" y="7867650"/>
            <a:ext cx="320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Teams can change policy and coverage without rewriting the engine.</a:t>
            </a:r>
          </a:p>
        </p:txBody>
      </p:sp>
    </p:spTree>
    <p:extLst>
      <p:ext uri="{BB962C8B-B14F-4D97-AF65-F5344CB8AC3E}">
        <p14:creationId xmlns:p14="http://schemas.microsoft.com/office/powerpoint/2010/main" val="118090096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C344C2C7-F099-433B-A803-4E0DE1A7F77B}"/>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08 / TRUSTWORTHY MEMORY</a:t>
            </a:r>
          </a:p>
        </p:txBody>
      </p:sp>
      <p:sp>
        <p:nvSpPr>
          <p:cNvPr id="2" name="">
            <a:extLst xmlns:a="http://schemas.openxmlformats.org/drawingml/2006/main">
              <a:ext uri="{FF2B5EF4-FFF2-40B4-BE49-F238E27FC236}">
                <a16:creationId xmlns:a16="http://schemas.microsoft.com/office/drawing/2014/main" id="{80003F44-F8CF-4256-81C2-DB1E31A1CF24}"/>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One evidence model will prevent false positives and lost context</a:t>
            </a:r>
          </a:p>
        </p:txBody>
      </p:sp>
      <p:sp>
        <p:nvSpPr>
          <p:cNvPr id="3" name="">
            <a:extLst xmlns:a="http://schemas.openxmlformats.org/drawingml/2006/main">
              <a:ext uri="{FF2B5EF4-FFF2-40B4-BE49-F238E27FC236}">
                <a16:creationId xmlns:a16="http://schemas.microsoft.com/office/drawing/2014/main" id="{FF5E3777-3503-4879-B221-7D06BB77399A}"/>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93B6E5B0-2306-4EE9-B65E-75C104809FE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0DEE5DD-BD97-4BBB-8099-DEE8DC70C089}"/>
              </a:ext>
            </a:extLst>
          </p:cNvPr>
          <p:cNvSpPr>
            <a:spLocks xmlns:a="http://schemas.openxmlformats.org/drawingml/2006/main" noGrp="1"/>
          </p:cNvSpPr>
          <p:nvPr/>
        </p:nvSpPr>
        <p:spPr>
          <a:xfrm xmlns:a="http://schemas.openxmlformats.org/drawingml/2006/main">
            <a:off x="876300" y="2476500"/>
            <a:ext cx="2247900" cy="1428750"/>
          </a:xfrm>
          <a:prstGeom xmlns:a="http://schemas.openxmlformats.org/drawingml/2006/main" prst="roundRect">
            <a:avLst>
              <a:gd name="adj" fmla="val 5333"/>
            </a:avLst>
          </a:prstGeom>
          <a:solidFill xmlns:a="http://schemas.openxmlformats.org/drawingml/2006/main">
            <a:srgbClr val="123B6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4F569B-1183-41D4-9F6E-D38F224D85AC}"/>
              </a:ext>
            </a:extLst>
          </p:cNvPr>
          <p:cNvSpPr>
            <a:spLocks xmlns:a="http://schemas.openxmlformats.org/drawingml/2006/main" noGrp="1"/>
          </p:cNvSpPr>
          <p:nvPr/>
        </p:nvSpPr>
        <p:spPr>
          <a:xfrm xmlns:a="http://schemas.openxmlformats.org/drawingml/2006/main">
            <a:off x="104775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Target</a:t>
            </a:r>
          </a:p>
        </p:txBody>
      </p:sp>
      <p:sp>
        <p:nvSpPr>
          <p:cNvPr id="7" name="">
            <a:extLst xmlns:a="http://schemas.openxmlformats.org/drawingml/2006/main">
              <a:ext uri="{FF2B5EF4-FFF2-40B4-BE49-F238E27FC236}">
                <a16:creationId xmlns:a16="http://schemas.microsoft.com/office/drawing/2014/main" id="{A8654A8F-92FB-45F1-8DE3-EA9E514FF743}"/>
              </a:ext>
            </a:extLst>
          </p:cNvPr>
          <p:cNvSpPr>
            <a:spLocks xmlns:a="http://schemas.openxmlformats.org/drawingml/2006/main" noGrp="1"/>
          </p:cNvSpPr>
          <p:nvPr/>
        </p:nvSpPr>
        <p:spPr>
          <a:xfrm xmlns:a="http://schemas.openxmlformats.org/drawingml/2006/main">
            <a:off x="104775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authorized scope</a:t>
            </a:r>
          </a:p>
        </p:txBody>
      </p:sp>
      <p:sp>
        <p:nvSpPr>
          <p:cNvPr id="8" name="">
            <a:extLst xmlns:a="http://schemas.openxmlformats.org/drawingml/2006/main">
              <a:ext uri="{FF2B5EF4-FFF2-40B4-BE49-F238E27FC236}">
                <a16:creationId xmlns:a16="http://schemas.microsoft.com/office/drawing/2014/main" id="{588199F8-E35D-4E72-B5D1-49DF78E02B78}"/>
              </a:ext>
            </a:extLst>
          </p:cNvPr>
          <p:cNvSpPr>
            <a:spLocks xmlns:a="http://schemas.openxmlformats.org/drawingml/2006/main" noGrp="1"/>
          </p:cNvSpPr>
          <p:nvPr/>
        </p:nvSpPr>
        <p:spPr>
          <a:xfrm xmlns:a="http://schemas.openxmlformats.org/drawingml/2006/main">
            <a:off x="316230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2B22B3-838E-4D66-BA0F-AFA478506997}"/>
              </a:ext>
            </a:extLst>
          </p:cNvPr>
          <p:cNvSpPr>
            <a:spLocks xmlns:a="http://schemas.openxmlformats.org/drawingml/2006/main" noGrp="1"/>
          </p:cNvSpPr>
          <p:nvPr/>
        </p:nvSpPr>
        <p:spPr>
          <a:xfrm xmlns:a="http://schemas.openxmlformats.org/drawingml/2006/main">
            <a:off x="3533775" y="2476500"/>
            <a:ext cx="2247900" cy="1428750"/>
          </a:xfrm>
          <a:prstGeom xmlns:a="http://schemas.openxmlformats.org/drawingml/2006/main" prst="roundRect">
            <a:avLst>
              <a:gd name="adj" fmla="val 5333"/>
            </a:avLst>
          </a:prstGeom>
          <a:solidFill xmlns:a="http://schemas.openxmlformats.org/drawingml/2006/main">
            <a:srgbClr val="2C669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81F5F6-EE75-47D0-AF1E-3E142E5AE71E}"/>
              </a:ext>
            </a:extLst>
          </p:cNvPr>
          <p:cNvSpPr>
            <a:spLocks xmlns:a="http://schemas.openxmlformats.org/drawingml/2006/main" noGrp="1"/>
          </p:cNvSpPr>
          <p:nvPr/>
        </p:nvSpPr>
        <p:spPr>
          <a:xfrm xmlns:a="http://schemas.openxmlformats.org/drawingml/2006/main">
            <a:off x="370522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Asset</a:t>
            </a:r>
          </a:p>
        </p:txBody>
      </p:sp>
      <p:sp>
        <p:nvSpPr>
          <p:cNvPr id="11" name="">
            <a:extLst xmlns:a="http://schemas.openxmlformats.org/drawingml/2006/main">
              <a:ext uri="{FF2B5EF4-FFF2-40B4-BE49-F238E27FC236}">
                <a16:creationId xmlns:a16="http://schemas.microsoft.com/office/drawing/2014/main" id="{058FE6E1-FF1B-4E9D-BE1B-DB8627554235}"/>
              </a:ext>
            </a:extLst>
          </p:cNvPr>
          <p:cNvSpPr>
            <a:spLocks xmlns:a="http://schemas.openxmlformats.org/drawingml/2006/main" noGrp="1"/>
          </p:cNvSpPr>
          <p:nvPr/>
        </p:nvSpPr>
        <p:spPr>
          <a:xfrm xmlns:a="http://schemas.openxmlformats.org/drawingml/2006/main">
            <a:off x="370522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domain · IP · service</a:t>
            </a:r>
          </a:p>
        </p:txBody>
      </p:sp>
      <p:sp>
        <p:nvSpPr>
          <p:cNvPr id="12" name="">
            <a:extLst xmlns:a="http://schemas.openxmlformats.org/drawingml/2006/main">
              <a:ext uri="{FF2B5EF4-FFF2-40B4-BE49-F238E27FC236}">
                <a16:creationId xmlns:a16="http://schemas.microsoft.com/office/drawing/2014/main" id="{BCA3598D-798F-4F9E-AACB-9332C7C0BD64}"/>
              </a:ext>
            </a:extLst>
          </p:cNvPr>
          <p:cNvSpPr>
            <a:spLocks xmlns:a="http://schemas.openxmlformats.org/drawingml/2006/main" noGrp="1"/>
          </p:cNvSpPr>
          <p:nvPr/>
        </p:nvSpPr>
        <p:spPr>
          <a:xfrm xmlns:a="http://schemas.openxmlformats.org/drawingml/2006/main">
            <a:off x="5819775"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14B7E0F-0CB4-4BAA-AC61-68CE6082A94B}"/>
              </a:ext>
            </a:extLst>
          </p:cNvPr>
          <p:cNvSpPr>
            <a:spLocks xmlns:a="http://schemas.openxmlformats.org/drawingml/2006/main" noGrp="1"/>
          </p:cNvSpPr>
          <p:nvPr/>
        </p:nvSpPr>
        <p:spPr>
          <a:xfrm xmlns:a="http://schemas.openxmlformats.org/drawingml/2006/main">
            <a:off x="6191250" y="2476500"/>
            <a:ext cx="2247900" cy="1428750"/>
          </a:xfrm>
          <a:prstGeom xmlns:a="http://schemas.openxmlformats.org/drawingml/2006/main" prst="roundRect">
            <a:avLst>
              <a:gd name="adj" fmla="val 5333"/>
            </a:avLst>
          </a:prstGeom>
          <a:solidFill xmlns:a="http://schemas.openxmlformats.org/drawingml/2006/main">
            <a:srgbClr val="2D8B8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7E3FFAB-0DDF-4E7C-9B45-043C983CE78F}"/>
              </a:ext>
            </a:extLst>
          </p:cNvPr>
          <p:cNvSpPr>
            <a:spLocks xmlns:a="http://schemas.openxmlformats.org/drawingml/2006/main" noGrp="1"/>
          </p:cNvSpPr>
          <p:nvPr/>
        </p:nvSpPr>
        <p:spPr>
          <a:xfrm xmlns:a="http://schemas.openxmlformats.org/drawingml/2006/main">
            <a:off x="636270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Observation</a:t>
            </a:r>
          </a:p>
        </p:txBody>
      </p:sp>
      <p:sp>
        <p:nvSpPr>
          <p:cNvPr id="15" name="">
            <a:extLst xmlns:a="http://schemas.openxmlformats.org/drawingml/2006/main">
              <a:ext uri="{FF2B5EF4-FFF2-40B4-BE49-F238E27FC236}">
                <a16:creationId xmlns:a16="http://schemas.microsoft.com/office/drawing/2014/main" id="{D9B28315-8D7C-4FA3-ACB9-4ADE28A75823}"/>
              </a:ext>
            </a:extLst>
          </p:cNvPr>
          <p:cNvSpPr>
            <a:spLocks xmlns:a="http://schemas.openxmlformats.org/drawingml/2006/main" noGrp="1"/>
          </p:cNvSpPr>
          <p:nvPr/>
        </p:nvSpPr>
        <p:spPr>
          <a:xfrm xmlns:a="http://schemas.openxmlformats.org/drawingml/2006/main">
            <a:off x="636270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recorded tool output</a:t>
            </a:r>
          </a:p>
        </p:txBody>
      </p:sp>
      <p:sp>
        <p:nvSpPr>
          <p:cNvPr id="16" name="">
            <a:extLst xmlns:a="http://schemas.openxmlformats.org/drawingml/2006/main">
              <a:ext uri="{FF2B5EF4-FFF2-40B4-BE49-F238E27FC236}">
                <a16:creationId xmlns:a16="http://schemas.microsoft.com/office/drawing/2014/main" id="{630F0608-2B9C-4254-90CD-1A92CA997DA2}"/>
              </a:ext>
            </a:extLst>
          </p:cNvPr>
          <p:cNvSpPr>
            <a:spLocks xmlns:a="http://schemas.openxmlformats.org/drawingml/2006/main" noGrp="1"/>
          </p:cNvSpPr>
          <p:nvPr/>
        </p:nvSpPr>
        <p:spPr>
          <a:xfrm xmlns:a="http://schemas.openxmlformats.org/drawingml/2006/main">
            <a:off x="847725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DE94F4A-EEFA-4E24-9EA2-9CFAA8554B53}"/>
              </a:ext>
            </a:extLst>
          </p:cNvPr>
          <p:cNvSpPr>
            <a:spLocks xmlns:a="http://schemas.openxmlformats.org/drawingml/2006/main" noGrp="1"/>
          </p:cNvSpPr>
          <p:nvPr/>
        </p:nvSpPr>
        <p:spPr>
          <a:xfrm xmlns:a="http://schemas.openxmlformats.org/drawingml/2006/main">
            <a:off x="8848725" y="2476500"/>
            <a:ext cx="2247900" cy="1428750"/>
          </a:xfrm>
          <a:prstGeom xmlns:a="http://schemas.openxmlformats.org/drawingml/2006/main" prst="roundRect">
            <a:avLst>
              <a:gd name="adj" fmla="val 5333"/>
            </a:avLst>
          </a:prstGeom>
          <a:solidFill xmlns:a="http://schemas.openxmlformats.org/drawingml/2006/main">
            <a:srgbClr val="D79A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256890C-0E89-4CD9-A15E-10B5FC68E3E8}"/>
              </a:ext>
            </a:extLst>
          </p:cNvPr>
          <p:cNvSpPr>
            <a:spLocks xmlns:a="http://schemas.openxmlformats.org/drawingml/2006/main" noGrp="1"/>
          </p:cNvSpPr>
          <p:nvPr/>
        </p:nvSpPr>
        <p:spPr>
          <a:xfrm xmlns:a="http://schemas.openxmlformats.org/drawingml/2006/main">
            <a:off x="902017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Candidate</a:t>
            </a:r>
          </a:p>
        </p:txBody>
      </p:sp>
      <p:sp>
        <p:nvSpPr>
          <p:cNvPr id="19" name="">
            <a:extLst xmlns:a="http://schemas.openxmlformats.org/drawingml/2006/main">
              <a:ext uri="{FF2B5EF4-FFF2-40B4-BE49-F238E27FC236}">
                <a16:creationId xmlns:a16="http://schemas.microsoft.com/office/drawing/2014/main" id="{8B02244A-395B-4101-9DAC-6525A9BB1D1B}"/>
              </a:ext>
            </a:extLst>
          </p:cNvPr>
          <p:cNvSpPr>
            <a:spLocks xmlns:a="http://schemas.openxmlformats.org/drawingml/2006/main" noGrp="1"/>
          </p:cNvSpPr>
          <p:nvPr/>
        </p:nvSpPr>
        <p:spPr>
          <a:xfrm xmlns:a="http://schemas.openxmlformats.org/drawingml/2006/main">
            <a:off x="902017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lead requiring proof</a:t>
            </a:r>
          </a:p>
        </p:txBody>
      </p:sp>
      <p:sp>
        <p:nvSpPr>
          <p:cNvPr id="20" name="">
            <a:extLst xmlns:a="http://schemas.openxmlformats.org/drawingml/2006/main">
              <a:ext uri="{FF2B5EF4-FFF2-40B4-BE49-F238E27FC236}">
                <a16:creationId xmlns:a16="http://schemas.microsoft.com/office/drawing/2014/main" id="{5C6B2826-2A14-445A-A5F7-5FA6210BB6D8}"/>
              </a:ext>
            </a:extLst>
          </p:cNvPr>
          <p:cNvSpPr>
            <a:spLocks xmlns:a="http://schemas.openxmlformats.org/drawingml/2006/main" noGrp="1"/>
          </p:cNvSpPr>
          <p:nvPr/>
        </p:nvSpPr>
        <p:spPr>
          <a:xfrm xmlns:a="http://schemas.openxmlformats.org/drawingml/2006/main">
            <a:off x="11134725"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6429131-31DD-48A6-B929-06042666F7D9}"/>
              </a:ext>
            </a:extLst>
          </p:cNvPr>
          <p:cNvSpPr>
            <a:spLocks xmlns:a="http://schemas.openxmlformats.org/drawingml/2006/main" noGrp="1"/>
          </p:cNvSpPr>
          <p:nvPr/>
        </p:nvSpPr>
        <p:spPr>
          <a:xfrm xmlns:a="http://schemas.openxmlformats.org/drawingml/2006/main">
            <a:off x="11506200" y="2476500"/>
            <a:ext cx="2247900" cy="1428750"/>
          </a:xfrm>
          <a:prstGeom xmlns:a="http://schemas.openxmlformats.org/drawingml/2006/main" prst="roundRect">
            <a:avLst>
              <a:gd name="adj" fmla="val 5333"/>
            </a:avLst>
          </a:prstGeom>
          <a:solidFill xmlns:a="http://schemas.openxmlformats.org/drawingml/2006/main">
            <a:srgbClr val="4F8B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B6FB0C4-4C3B-421D-B113-31B4E422FAD1}"/>
              </a:ext>
            </a:extLst>
          </p:cNvPr>
          <p:cNvSpPr>
            <a:spLocks xmlns:a="http://schemas.openxmlformats.org/drawingml/2006/main" noGrp="1"/>
          </p:cNvSpPr>
          <p:nvPr/>
        </p:nvSpPr>
        <p:spPr>
          <a:xfrm xmlns:a="http://schemas.openxmlformats.org/drawingml/2006/main">
            <a:off x="11677650"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Verified finding</a:t>
            </a:r>
          </a:p>
        </p:txBody>
      </p:sp>
      <p:sp>
        <p:nvSpPr>
          <p:cNvPr id="23" name="">
            <a:extLst xmlns:a="http://schemas.openxmlformats.org/drawingml/2006/main">
              <a:ext uri="{FF2B5EF4-FFF2-40B4-BE49-F238E27FC236}">
                <a16:creationId xmlns:a16="http://schemas.microsoft.com/office/drawing/2014/main" id="{CBC37AEC-8F54-42A2-A444-246DB7B59202}"/>
              </a:ext>
            </a:extLst>
          </p:cNvPr>
          <p:cNvSpPr>
            <a:spLocks xmlns:a="http://schemas.openxmlformats.org/drawingml/2006/main" noGrp="1"/>
          </p:cNvSpPr>
          <p:nvPr/>
        </p:nvSpPr>
        <p:spPr>
          <a:xfrm xmlns:a="http://schemas.openxmlformats.org/drawingml/2006/main">
            <a:off x="11677650"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claim + cited evidence</a:t>
            </a:r>
          </a:p>
        </p:txBody>
      </p:sp>
      <p:sp>
        <p:nvSpPr>
          <p:cNvPr id="24" name="">
            <a:extLst xmlns:a="http://schemas.openxmlformats.org/drawingml/2006/main">
              <a:ext uri="{FF2B5EF4-FFF2-40B4-BE49-F238E27FC236}">
                <a16:creationId xmlns:a16="http://schemas.microsoft.com/office/drawing/2014/main" id="{BDC7CF02-ADE8-47C9-BB0C-60F5AB04DCC4}"/>
              </a:ext>
            </a:extLst>
          </p:cNvPr>
          <p:cNvSpPr>
            <a:spLocks xmlns:a="http://schemas.openxmlformats.org/drawingml/2006/main" noGrp="1"/>
          </p:cNvSpPr>
          <p:nvPr/>
        </p:nvSpPr>
        <p:spPr>
          <a:xfrm xmlns:a="http://schemas.openxmlformats.org/drawingml/2006/main">
            <a:off x="13792200" y="3067050"/>
            <a:ext cx="333375" cy="238125"/>
          </a:xfrm>
          <a:prstGeom xmlns:a="http://schemas.openxmlformats.org/drawingml/2006/main" prst="rightArrow">
            <a:avLst/>
          </a:prstGeom>
          <a:solidFill xmlns:a="http://schemas.openxmlformats.org/drawingml/2006/main">
            <a:srgbClr val="79A9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AF7EBA9-C0A5-43BA-9C34-6651269CC76C}"/>
              </a:ext>
            </a:extLst>
          </p:cNvPr>
          <p:cNvSpPr>
            <a:spLocks xmlns:a="http://schemas.openxmlformats.org/drawingml/2006/main" noGrp="1"/>
          </p:cNvSpPr>
          <p:nvPr/>
        </p:nvSpPr>
        <p:spPr>
          <a:xfrm xmlns:a="http://schemas.openxmlformats.org/drawingml/2006/main">
            <a:off x="14163675" y="2476500"/>
            <a:ext cx="2247900" cy="1428750"/>
          </a:xfrm>
          <a:prstGeom xmlns:a="http://schemas.openxmlformats.org/drawingml/2006/main" prst="roundRect">
            <a:avLst>
              <a:gd name="adj" fmla="val 5333"/>
            </a:avLst>
          </a:prstGeom>
          <a:solidFill xmlns:a="http://schemas.openxmlformats.org/drawingml/2006/main">
            <a:srgbClr val="123B6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AB24ACE-8CEA-4BBD-8A10-26623DDAAED5}"/>
              </a:ext>
            </a:extLst>
          </p:cNvPr>
          <p:cNvSpPr>
            <a:spLocks xmlns:a="http://schemas.openxmlformats.org/drawingml/2006/main" noGrp="1"/>
          </p:cNvSpPr>
          <p:nvPr/>
        </p:nvSpPr>
        <p:spPr>
          <a:xfrm xmlns:a="http://schemas.openxmlformats.org/drawingml/2006/main">
            <a:off x="14335125" y="27813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i="0">
                <a:solidFill>
                  <a:srgbClr val="FFFFFF"/>
                </a:solidFill>
                <a:latin typeface="Arial"/>
                <a:ea typeface="Arial"/>
                <a:cs typeface="Arial"/>
              </a:defRPr>
            </a:pPr>
            <a:r>
              <a:rPr sz="1800" b="1" i="0">
                <a:solidFill>
                  <a:srgbClr val="FFFFFF"/>
                </a:solidFill>
                <a:latin typeface="Arial"/>
                <a:ea typeface="Arial"/>
                <a:cs typeface="Arial"/>
              </a:rPr>
              <a:t>Report</a:t>
            </a:r>
          </a:p>
        </p:txBody>
      </p:sp>
      <p:sp>
        <p:nvSpPr>
          <p:cNvPr id="27" name="">
            <a:extLst xmlns:a="http://schemas.openxmlformats.org/drawingml/2006/main">
              <a:ext uri="{FF2B5EF4-FFF2-40B4-BE49-F238E27FC236}">
                <a16:creationId xmlns:a16="http://schemas.microsoft.com/office/drawing/2014/main" id="{62B2996F-8F65-43BF-85D5-ACB2571D10D8}"/>
              </a:ext>
            </a:extLst>
          </p:cNvPr>
          <p:cNvSpPr>
            <a:spLocks xmlns:a="http://schemas.openxmlformats.org/drawingml/2006/main" noGrp="1"/>
          </p:cNvSpPr>
          <p:nvPr/>
        </p:nvSpPr>
        <p:spPr>
          <a:xfrm xmlns:a="http://schemas.openxmlformats.org/drawingml/2006/main">
            <a:off x="14335125" y="3257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0" i="0">
                <a:solidFill>
                  <a:srgbClr val="E7F0F5"/>
                </a:solidFill>
                <a:latin typeface="Arial"/>
                <a:ea typeface="Arial"/>
                <a:cs typeface="Arial"/>
              </a:defRPr>
            </a:pPr>
            <a:r>
              <a:rPr sz="1275" b="0" i="0">
                <a:solidFill>
                  <a:srgbClr val="E7F0F5"/>
                </a:solidFill>
                <a:latin typeface="Arial"/>
                <a:ea typeface="Arial"/>
                <a:cs typeface="Arial"/>
              </a:rPr>
              <a:t>human-reviewable result</a:t>
            </a:r>
          </a:p>
        </p:txBody>
      </p:sp>
      <p:sp>
        <p:nvSpPr>
          <p:cNvPr id="28" name="">
            <a:extLst xmlns:a="http://schemas.openxmlformats.org/drawingml/2006/main">
              <a:ext uri="{FF2B5EF4-FFF2-40B4-BE49-F238E27FC236}">
                <a16:creationId xmlns:a16="http://schemas.microsoft.com/office/drawing/2014/main" id="{D0DEB1E2-0DA4-437A-98B5-75220D61D8A1}"/>
              </a:ext>
            </a:extLst>
          </p:cNvPr>
          <p:cNvSpPr>
            <a:spLocks xmlns:a="http://schemas.openxmlformats.org/drawingml/2006/main" noGrp="1"/>
          </p:cNvSpPr>
          <p:nvPr/>
        </p:nvSpPr>
        <p:spPr>
          <a:xfrm xmlns:a="http://schemas.openxmlformats.org/drawingml/2006/main">
            <a:off x="876300" y="44958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Storage rules</a:t>
            </a:r>
          </a:p>
        </p:txBody>
      </p:sp>
      <p:sp>
        <p:nvSpPr>
          <p:cNvPr id="29" name="">
            <a:extLst xmlns:a="http://schemas.openxmlformats.org/drawingml/2006/main">
              <a:ext uri="{FF2B5EF4-FFF2-40B4-BE49-F238E27FC236}">
                <a16:creationId xmlns:a16="http://schemas.microsoft.com/office/drawing/2014/main" id="{30E9CB01-BB01-48D8-A6AA-0991586B3384}"/>
              </a:ext>
            </a:extLst>
          </p:cNvPr>
          <p:cNvSpPr>
            <a:spLocks xmlns:a="http://schemas.openxmlformats.org/drawingml/2006/main" noGrp="1"/>
          </p:cNvSpPr>
          <p:nvPr/>
        </p:nvSpPr>
        <p:spPr>
          <a:xfrm xmlns:a="http://schemas.openxmlformats.org/drawingml/2006/main">
            <a:off x="8763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0" name="">
            <a:extLst xmlns:a="http://schemas.openxmlformats.org/drawingml/2006/main">
              <a:ext uri="{FF2B5EF4-FFF2-40B4-BE49-F238E27FC236}">
                <a16:creationId xmlns:a16="http://schemas.microsoft.com/office/drawing/2014/main" id="{5B7AEB6F-DE2F-414C-AF9F-44B2D9481B5A}"/>
              </a:ext>
            </a:extLst>
          </p:cNvPr>
          <p:cNvSpPr>
            <a:spLocks xmlns:a="http://schemas.openxmlformats.org/drawingml/2006/main" noGrp="1"/>
          </p:cNvSpPr>
          <p:nvPr/>
        </p:nvSpPr>
        <p:spPr>
          <a:xfrm xmlns:a="http://schemas.openxmlformats.org/drawingml/2006/main">
            <a:off x="876300" y="5048250"/>
            <a:ext cx="85725" cy="1581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CB94AD6-2BCF-47C7-87EC-9454B09C33CE}"/>
              </a:ext>
            </a:extLst>
          </p:cNvPr>
          <p:cNvSpPr>
            <a:spLocks xmlns:a="http://schemas.openxmlformats.org/drawingml/2006/main" noGrp="1"/>
          </p:cNvSpPr>
          <p:nvPr/>
        </p:nvSpPr>
        <p:spPr>
          <a:xfrm xmlns:a="http://schemas.openxmlformats.org/drawingml/2006/main">
            <a:off x="11430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Raw evidence remains intact</a:t>
            </a:r>
          </a:p>
        </p:txBody>
      </p:sp>
      <p:sp>
        <p:nvSpPr>
          <p:cNvPr id="32" name="">
            <a:extLst xmlns:a="http://schemas.openxmlformats.org/drawingml/2006/main">
              <a:ext uri="{FF2B5EF4-FFF2-40B4-BE49-F238E27FC236}">
                <a16:creationId xmlns:a16="http://schemas.microsoft.com/office/drawing/2014/main" id="{1E0BDC42-E348-40DF-B51F-93500683D263}"/>
              </a:ext>
            </a:extLst>
          </p:cNvPr>
          <p:cNvSpPr>
            <a:spLocks xmlns:a="http://schemas.openxmlformats.org/drawingml/2006/main" noGrp="1"/>
          </p:cNvSpPr>
          <p:nvPr/>
        </p:nvSpPr>
        <p:spPr>
          <a:xfrm xmlns:a="http://schemas.openxmlformats.org/drawingml/2006/main">
            <a:off x="11430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Artifacts preserve what the tool actually returned.</a:t>
            </a:r>
          </a:p>
        </p:txBody>
      </p:sp>
      <p:sp>
        <p:nvSpPr>
          <p:cNvPr id="33" name="">
            <a:extLst xmlns:a="http://schemas.openxmlformats.org/drawingml/2006/main">
              <a:ext uri="{FF2B5EF4-FFF2-40B4-BE49-F238E27FC236}">
                <a16:creationId xmlns:a16="http://schemas.microsoft.com/office/drawing/2014/main" id="{67BB5112-6503-47E2-B8DC-B2C939C6952E}"/>
              </a:ext>
            </a:extLst>
          </p:cNvPr>
          <p:cNvSpPr>
            <a:spLocks xmlns:a="http://schemas.openxmlformats.org/drawingml/2006/main" noGrp="1"/>
          </p:cNvSpPr>
          <p:nvPr/>
        </p:nvSpPr>
        <p:spPr>
          <a:xfrm xmlns:a="http://schemas.openxmlformats.org/drawingml/2006/main">
            <a:off x="61341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9B51512F-11F7-41D5-91A9-1880D3B37189}"/>
              </a:ext>
            </a:extLst>
          </p:cNvPr>
          <p:cNvSpPr>
            <a:spLocks xmlns:a="http://schemas.openxmlformats.org/drawingml/2006/main" noGrp="1"/>
          </p:cNvSpPr>
          <p:nvPr/>
        </p:nvSpPr>
        <p:spPr>
          <a:xfrm xmlns:a="http://schemas.openxmlformats.org/drawingml/2006/main">
            <a:off x="6134100" y="5048250"/>
            <a:ext cx="85725" cy="1581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AA8B8D6-1C1A-4A56-B4CB-9270A8D0FC92}"/>
              </a:ext>
            </a:extLst>
          </p:cNvPr>
          <p:cNvSpPr>
            <a:spLocks xmlns:a="http://schemas.openxmlformats.org/drawingml/2006/main" noGrp="1"/>
          </p:cNvSpPr>
          <p:nvPr/>
        </p:nvSpPr>
        <p:spPr>
          <a:xfrm xmlns:a="http://schemas.openxmlformats.org/drawingml/2006/main">
            <a:off x="64008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Observations are not vulnerabilities</a:t>
            </a:r>
          </a:p>
        </p:txBody>
      </p:sp>
      <p:sp>
        <p:nvSpPr>
          <p:cNvPr id="36" name="">
            <a:extLst xmlns:a="http://schemas.openxmlformats.org/drawingml/2006/main">
              <a:ext uri="{FF2B5EF4-FFF2-40B4-BE49-F238E27FC236}">
                <a16:creationId xmlns:a16="http://schemas.microsoft.com/office/drawing/2014/main" id="{20DC1C21-E08C-403F-B396-12AF2E88094F}"/>
              </a:ext>
            </a:extLst>
          </p:cNvPr>
          <p:cNvSpPr>
            <a:spLocks xmlns:a="http://schemas.openxmlformats.org/drawingml/2006/main" noGrp="1"/>
          </p:cNvSpPr>
          <p:nvPr/>
        </p:nvSpPr>
        <p:spPr>
          <a:xfrm xmlns:a="http://schemas.openxmlformats.org/drawingml/2006/main">
            <a:off x="64008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 banner, port or scanner title cannot silently become a confirmed finding.</a:t>
            </a:r>
          </a:p>
        </p:txBody>
      </p:sp>
      <p:sp>
        <p:nvSpPr>
          <p:cNvPr id="37" name="">
            <a:extLst xmlns:a="http://schemas.openxmlformats.org/drawingml/2006/main">
              <a:ext uri="{FF2B5EF4-FFF2-40B4-BE49-F238E27FC236}">
                <a16:creationId xmlns:a16="http://schemas.microsoft.com/office/drawing/2014/main" id="{97951045-C9A4-4D2C-A385-7CE5BA4F3B1D}"/>
              </a:ext>
            </a:extLst>
          </p:cNvPr>
          <p:cNvSpPr>
            <a:spLocks xmlns:a="http://schemas.openxmlformats.org/drawingml/2006/main" noGrp="1"/>
          </p:cNvSpPr>
          <p:nvPr/>
        </p:nvSpPr>
        <p:spPr>
          <a:xfrm xmlns:a="http://schemas.openxmlformats.org/drawingml/2006/main">
            <a:off x="11391900" y="50482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F1D21D5D-6ED3-42FE-9F13-AF03C148F354}"/>
              </a:ext>
            </a:extLst>
          </p:cNvPr>
          <p:cNvSpPr>
            <a:spLocks xmlns:a="http://schemas.openxmlformats.org/drawingml/2006/main" noGrp="1"/>
          </p:cNvSpPr>
          <p:nvPr/>
        </p:nvSpPr>
        <p:spPr>
          <a:xfrm xmlns:a="http://schemas.openxmlformats.org/drawingml/2006/main">
            <a:off x="11391900" y="5048250"/>
            <a:ext cx="85725" cy="1581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052759A-AB29-466F-B630-6464E0A2C2EF}"/>
              </a:ext>
            </a:extLst>
          </p:cNvPr>
          <p:cNvSpPr>
            <a:spLocks xmlns:a="http://schemas.openxmlformats.org/drawingml/2006/main" noGrp="1"/>
          </p:cNvSpPr>
          <p:nvPr/>
        </p:nvSpPr>
        <p:spPr>
          <a:xfrm xmlns:a="http://schemas.openxmlformats.org/drawingml/2006/main">
            <a:off x="11658600" y="52578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Hypotheses stay separate</a:t>
            </a:r>
          </a:p>
        </p:txBody>
      </p:sp>
      <p:sp>
        <p:nvSpPr>
          <p:cNvPr id="40" name="">
            <a:extLst xmlns:a="http://schemas.openxmlformats.org/drawingml/2006/main">
              <a:ext uri="{FF2B5EF4-FFF2-40B4-BE49-F238E27FC236}">
                <a16:creationId xmlns:a16="http://schemas.microsoft.com/office/drawing/2014/main" id="{6B03A267-F227-4162-B5C5-11743CC30C17}"/>
              </a:ext>
            </a:extLst>
          </p:cNvPr>
          <p:cNvSpPr>
            <a:spLocks xmlns:a="http://schemas.openxmlformats.org/drawingml/2006/main" noGrp="1"/>
          </p:cNvSpPr>
          <p:nvPr/>
        </p:nvSpPr>
        <p:spPr>
          <a:xfrm xmlns:a="http://schemas.openxmlformats.org/drawingml/2006/main">
            <a:off x="11658600" y="57912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AI interpretations and candidate leads remain provisional until verified.</a:t>
            </a:r>
          </a:p>
        </p:txBody>
      </p:sp>
      <p:sp>
        <p:nvSpPr>
          <p:cNvPr id="41" name="">
            <a:extLst xmlns:a="http://schemas.openxmlformats.org/drawingml/2006/main">
              <a:ext uri="{FF2B5EF4-FFF2-40B4-BE49-F238E27FC236}">
                <a16:creationId xmlns:a16="http://schemas.microsoft.com/office/drawing/2014/main" id="{897E1BD8-808F-41FC-8BF1-30BA1891FEB8}"/>
              </a:ext>
            </a:extLst>
          </p:cNvPr>
          <p:cNvSpPr>
            <a:spLocks xmlns:a="http://schemas.openxmlformats.org/drawingml/2006/main" noGrp="1"/>
          </p:cNvSpPr>
          <p:nvPr/>
        </p:nvSpPr>
        <p:spPr>
          <a:xfrm xmlns:a="http://schemas.openxmlformats.org/drawingml/2006/main">
            <a:off x="8763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E7DA26DB-5362-4B49-B6C9-50EF3B4F221D}"/>
              </a:ext>
            </a:extLst>
          </p:cNvPr>
          <p:cNvSpPr>
            <a:spLocks xmlns:a="http://schemas.openxmlformats.org/drawingml/2006/main" noGrp="1"/>
          </p:cNvSpPr>
          <p:nvPr/>
        </p:nvSpPr>
        <p:spPr>
          <a:xfrm xmlns:a="http://schemas.openxmlformats.org/drawingml/2006/main">
            <a:off x="876300" y="6915150"/>
            <a:ext cx="85725" cy="1581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F977FFB-BCAD-4588-96D5-01E25AD6CD12}"/>
              </a:ext>
            </a:extLst>
          </p:cNvPr>
          <p:cNvSpPr>
            <a:spLocks xmlns:a="http://schemas.openxmlformats.org/drawingml/2006/main" noGrp="1"/>
          </p:cNvSpPr>
          <p:nvPr/>
        </p:nvSpPr>
        <p:spPr>
          <a:xfrm xmlns:a="http://schemas.openxmlformats.org/drawingml/2006/main">
            <a:off x="11430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Findings cite exact proof</a:t>
            </a:r>
          </a:p>
        </p:txBody>
      </p:sp>
      <p:sp>
        <p:nvSpPr>
          <p:cNvPr id="44" name="">
            <a:extLst xmlns:a="http://schemas.openxmlformats.org/drawingml/2006/main">
              <a:ext uri="{FF2B5EF4-FFF2-40B4-BE49-F238E27FC236}">
                <a16:creationId xmlns:a16="http://schemas.microsoft.com/office/drawing/2014/main" id="{0C588E26-27BB-4F3B-A0BC-19DAF2AE8CBE}"/>
              </a:ext>
            </a:extLst>
          </p:cNvPr>
          <p:cNvSpPr>
            <a:spLocks xmlns:a="http://schemas.openxmlformats.org/drawingml/2006/main" noGrp="1"/>
          </p:cNvSpPr>
          <p:nvPr/>
        </p:nvSpPr>
        <p:spPr>
          <a:xfrm xmlns:a="http://schemas.openxmlformats.org/drawingml/2006/main">
            <a:off x="11430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Every high-impact claim points back to recorded, reproducible evidence.</a:t>
            </a:r>
          </a:p>
        </p:txBody>
      </p:sp>
      <p:sp>
        <p:nvSpPr>
          <p:cNvPr id="45" name="">
            <a:extLst xmlns:a="http://schemas.openxmlformats.org/drawingml/2006/main">
              <a:ext uri="{FF2B5EF4-FFF2-40B4-BE49-F238E27FC236}">
                <a16:creationId xmlns:a16="http://schemas.microsoft.com/office/drawing/2014/main" id="{F86D4D1C-B6C9-42C7-BF18-E722228F68AA}"/>
              </a:ext>
            </a:extLst>
          </p:cNvPr>
          <p:cNvSpPr>
            <a:spLocks xmlns:a="http://schemas.openxmlformats.org/drawingml/2006/main" noGrp="1"/>
          </p:cNvSpPr>
          <p:nvPr/>
        </p:nvSpPr>
        <p:spPr>
          <a:xfrm xmlns:a="http://schemas.openxmlformats.org/drawingml/2006/main">
            <a:off x="61341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46" name="">
            <a:extLst xmlns:a="http://schemas.openxmlformats.org/drawingml/2006/main">
              <a:ext uri="{FF2B5EF4-FFF2-40B4-BE49-F238E27FC236}">
                <a16:creationId xmlns:a16="http://schemas.microsoft.com/office/drawing/2014/main" id="{C0AC85CE-5B98-4046-BE4D-6BBC9F253CED}"/>
              </a:ext>
            </a:extLst>
          </p:cNvPr>
          <p:cNvSpPr>
            <a:spLocks xmlns:a="http://schemas.openxmlformats.org/drawingml/2006/main" noGrp="1"/>
          </p:cNvSpPr>
          <p:nvPr/>
        </p:nvSpPr>
        <p:spPr>
          <a:xfrm xmlns:a="http://schemas.openxmlformats.org/drawingml/2006/main">
            <a:off x="6134100" y="6915150"/>
            <a:ext cx="85725" cy="1581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6DDB77F-F5B9-43D6-B8D2-790445531692}"/>
              </a:ext>
            </a:extLst>
          </p:cNvPr>
          <p:cNvSpPr>
            <a:spLocks xmlns:a="http://schemas.openxmlformats.org/drawingml/2006/main" noGrp="1"/>
          </p:cNvSpPr>
          <p:nvPr/>
        </p:nvSpPr>
        <p:spPr>
          <a:xfrm xmlns:a="http://schemas.openxmlformats.org/drawingml/2006/main">
            <a:off x="64008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Coverage is not severity</a:t>
            </a:r>
          </a:p>
        </p:txBody>
      </p:sp>
      <p:sp>
        <p:nvSpPr>
          <p:cNvPr id="48" name="">
            <a:extLst xmlns:a="http://schemas.openxmlformats.org/drawingml/2006/main">
              <a:ext uri="{FF2B5EF4-FFF2-40B4-BE49-F238E27FC236}">
                <a16:creationId xmlns:a16="http://schemas.microsoft.com/office/drawing/2014/main" id="{B9C7D968-0957-4566-AB1A-8A54CF47A7FA}"/>
              </a:ext>
            </a:extLst>
          </p:cNvPr>
          <p:cNvSpPr>
            <a:spLocks xmlns:a="http://schemas.openxmlformats.org/drawingml/2006/main" noGrp="1"/>
          </p:cNvSpPr>
          <p:nvPr/>
        </p:nvSpPr>
        <p:spPr>
          <a:xfrm xmlns:a="http://schemas.openxmlformats.org/drawingml/2006/main">
            <a:off x="64008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What has been tested is tracked separately from how dangerous a finding is.</a:t>
            </a:r>
          </a:p>
        </p:txBody>
      </p:sp>
      <p:sp>
        <p:nvSpPr>
          <p:cNvPr id="49" name="">
            <a:extLst xmlns:a="http://schemas.openxmlformats.org/drawingml/2006/main">
              <a:ext uri="{FF2B5EF4-FFF2-40B4-BE49-F238E27FC236}">
                <a16:creationId xmlns:a16="http://schemas.microsoft.com/office/drawing/2014/main" id="{C061AB21-2772-444F-AF8C-E69ED4C303B6}"/>
              </a:ext>
            </a:extLst>
          </p:cNvPr>
          <p:cNvSpPr>
            <a:spLocks xmlns:a="http://schemas.openxmlformats.org/drawingml/2006/main" noGrp="1"/>
          </p:cNvSpPr>
          <p:nvPr/>
        </p:nvSpPr>
        <p:spPr>
          <a:xfrm xmlns:a="http://schemas.openxmlformats.org/drawingml/2006/main">
            <a:off x="11391900" y="6915150"/>
            <a:ext cx="4972050" cy="1581150"/>
          </a:xfrm>
          <a:prstGeom xmlns:a="http://schemas.openxmlformats.org/drawingml/2006/main" prst="roundRect">
            <a:avLst>
              <a:gd name="adj" fmla="val 4819"/>
            </a:avLst>
          </a:prstGeom>
          <a:solidFill xmlns:a="http://schemas.openxmlformats.org/drawingml/2006/main">
            <a:srgbClr val="FFFDF9"/>
          </a:solidFill>
          <a:ln xmlns:a="http://schemas.openxmlformats.org/drawingml/2006/main" w="19050">
            <a:solidFill>
              <a:srgbClr val="CAD6DE"/>
            </a:solidFill>
          </a:ln>
        </p:spPr>
      </p:sp>
      <p:sp>
        <p:nvSpPr>
          <p:cNvPr id="50" name="">
            <a:extLst xmlns:a="http://schemas.openxmlformats.org/drawingml/2006/main">
              <a:ext uri="{FF2B5EF4-FFF2-40B4-BE49-F238E27FC236}">
                <a16:creationId xmlns:a16="http://schemas.microsoft.com/office/drawing/2014/main" id="{D20807FA-BBC7-40D8-8F43-E7AEE442F544}"/>
              </a:ext>
            </a:extLst>
          </p:cNvPr>
          <p:cNvSpPr>
            <a:spLocks xmlns:a="http://schemas.openxmlformats.org/drawingml/2006/main" noGrp="1"/>
          </p:cNvSpPr>
          <p:nvPr/>
        </p:nvSpPr>
        <p:spPr>
          <a:xfrm xmlns:a="http://schemas.openxmlformats.org/drawingml/2006/main">
            <a:off x="11391900" y="6915150"/>
            <a:ext cx="85725" cy="1581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9728595-1FA2-4C86-95A2-39829A51184E}"/>
              </a:ext>
            </a:extLst>
          </p:cNvPr>
          <p:cNvSpPr>
            <a:spLocks xmlns:a="http://schemas.openxmlformats.org/drawingml/2006/main" noGrp="1"/>
          </p:cNvSpPr>
          <p:nvPr/>
        </p:nvSpPr>
        <p:spPr>
          <a:xfrm xmlns:a="http://schemas.openxmlformats.org/drawingml/2006/main">
            <a:off x="11658600" y="71247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23B63"/>
                </a:solidFill>
                <a:latin typeface="Arial"/>
                <a:ea typeface="Arial"/>
                <a:cs typeface="Arial"/>
              </a:defRPr>
            </a:pPr>
            <a:r>
              <a:rPr sz="1725" b="1" i="0">
                <a:solidFill>
                  <a:srgbClr val="123B63"/>
                </a:solidFill>
                <a:latin typeface="Arial"/>
                <a:ea typeface="Arial"/>
                <a:cs typeface="Arial"/>
              </a:rPr>
              <a:t>One shared graph</a:t>
            </a:r>
          </a:p>
        </p:txBody>
      </p:sp>
      <p:sp>
        <p:nvSpPr>
          <p:cNvPr id="52" name="">
            <a:extLst xmlns:a="http://schemas.openxmlformats.org/drawingml/2006/main">
              <a:ext uri="{FF2B5EF4-FFF2-40B4-BE49-F238E27FC236}">
                <a16:creationId xmlns:a16="http://schemas.microsoft.com/office/drawing/2014/main" id="{AF4A92AC-1CCC-4E69-A912-858AAC5E520C}"/>
              </a:ext>
            </a:extLst>
          </p:cNvPr>
          <p:cNvSpPr>
            <a:spLocks xmlns:a="http://schemas.openxmlformats.org/drawingml/2006/main" noGrp="1"/>
          </p:cNvSpPr>
          <p:nvPr/>
        </p:nvSpPr>
        <p:spPr>
          <a:xfrm xmlns:a="http://schemas.openxmlformats.org/drawingml/2006/main">
            <a:off x="11658600" y="76581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F7180"/>
                </a:solidFill>
                <a:latin typeface="Arial"/>
                <a:ea typeface="Arial"/>
                <a:cs typeface="Arial"/>
              </a:defRPr>
            </a:pPr>
            <a:r>
              <a:rPr sz="1350" b="0" i="0">
                <a:solidFill>
                  <a:srgbClr val="5F7180"/>
                </a:solidFill>
                <a:latin typeface="Arial"/>
                <a:ea typeface="Arial"/>
                <a:cs typeface="Arial"/>
              </a:rPr>
              <a:t>CLI, deterministic engine and AI operate on the same connected state.</a:t>
            </a:r>
          </a:p>
        </p:txBody>
      </p:sp>
    </p:spTree>
    <p:extLst>
      <p:ext uri="{BB962C8B-B14F-4D97-AF65-F5344CB8AC3E}">
        <p14:creationId xmlns:p14="http://schemas.microsoft.com/office/powerpoint/2010/main" val="131498785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1037852-2405-466F-AA6C-40E38BCE25F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09 / DELIVERY PLAN</a:t>
            </a:r>
          </a:p>
        </p:txBody>
      </p:sp>
      <p:sp>
        <p:nvSpPr>
          <p:cNvPr id="2" name="">
            <a:extLst xmlns:a="http://schemas.openxmlformats.org/drawingml/2006/main">
              <a:ext uri="{FF2B5EF4-FFF2-40B4-BE49-F238E27FC236}">
                <a16:creationId xmlns:a16="http://schemas.microsoft.com/office/drawing/2014/main" id="{3CD35977-2469-4472-977C-989F2BD03DCF}"/>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Planned timeline and milestones</a:t>
            </a:r>
          </a:p>
        </p:txBody>
      </p:sp>
      <p:sp>
        <p:nvSpPr>
          <p:cNvPr id="3" name="">
            <a:extLst xmlns:a="http://schemas.openxmlformats.org/drawingml/2006/main">
              <a:ext uri="{FF2B5EF4-FFF2-40B4-BE49-F238E27FC236}">
                <a16:creationId xmlns:a16="http://schemas.microsoft.com/office/drawing/2014/main" id="{00275470-EB57-42D4-81F3-41F2E84C089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71CAC7A4-CE6E-4B78-AF23-9180D1D475F0}"/>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2158E7B-8D27-4C27-B47B-F34A8A8D5C12}"/>
              </a:ext>
            </a:extLst>
          </p:cNvPr>
          <p:cNvSpPr>
            <a:spLocks xmlns:a="http://schemas.openxmlformats.org/drawingml/2006/main" noGrp="1"/>
          </p:cNvSpPr>
          <p:nvPr/>
        </p:nvSpPr>
        <p:spPr>
          <a:xfrm xmlns:a="http://schemas.openxmlformats.org/drawingml/2006/main">
            <a:off x="876300" y="20574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i="0">
                <a:solidFill>
                  <a:srgbClr val="5F7180"/>
                </a:solidFill>
                <a:latin typeface="Arial"/>
                <a:ea typeface="Arial"/>
                <a:cs typeface="Arial"/>
              </a:defRPr>
            </a:pPr>
            <a:r>
              <a:rPr sz="2025" b="0" i="0">
                <a:solidFill>
                  <a:srgbClr val="5F7180"/>
                </a:solidFill>
                <a:latin typeface="Arial"/>
                <a:ea typeface="Arial"/>
                <a:cs typeface="Arial"/>
              </a:rPr>
              <a:t>September 2026 → April 2027</a:t>
            </a:r>
          </a:p>
        </p:txBody>
      </p:sp>
      <p:sp>
        <p:nvSpPr>
          <p:cNvPr id="6" name="">
            <a:extLst xmlns:a="http://schemas.openxmlformats.org/drawingml/2006/main">
              <a:ext uri="{FF2B5EF4-FFF2-40B4-BE49-F238E27FC236}">
                <a16:creationId xmlns:a16="http://schemas.microsoft.com/office/drawing/2014/main" id="{14838A57-4F7A-4570-B7BF-34BD71AE3392}"/>
              </a:ext>
            </a:extLst>
          </p:cNvPr>
          <p:cNvSpPr>
            <a:spLocks xmlns:a="http://schemas.openxmlformats.org/drawingml/2006/main" noGrp="1"/>
          </p:cNvSpPr>
          <p:nvPr/>
        </p:nvSpPr>
        <p:spPr>
          <a:xfrm xmlns:a="http://schemas.openxmlformats.org/drawingml/2006/main">
            <a:off x="1504950" y="4171950"/>
            <a:ext cx="14382750" cy="0"/>
          </a:xfrm>
          <a:prstGeom xmlns:a="http://schemas.openxmlformats.org/drawingml/2006/main" prst="line">
            <a:avLst/>
          </a:prstGeom>
          <a:noFill xmlns:a="http://schemas.openxmlformats.org/drawingml/2006/main"/>
          <a:ln xmlns:a="http://schemas.openxmlformats.org/drawingml/2006/main" w="57150">
            <a:solidFill>
              <a:srgbClr val="CAD6DE"/>
            </a:solidFill>
          </a:ln>
        </p:spPr>
      </p:sp>
      <p:sp>
        <p:nvSpPr>
          <p:cNvPr id="7" name="">
            <a:extLst xmlns:a="http://schemas.openxmlformats.org/drawingml/2006/main">
              <a:ext uri="{FF2B5EF4-FFF2-40B4-BE49-F238E27FC236}">
                <a16:creationId xmlns:a16="http://schemas.microsoft.com/office/drawing/2014/main" id="{D7983024-DCC9-49C5-8589-AC2D4FEC4D45}"/>
              </a:ext>
            </a:extLst>
          </p:cNvPr>
          <p:cNvSpPr>
            <a:spLocks xmlns:a="http://schemas.openxmlformats.org/drawingml/2006/main" noGrp="1"/>
          </p:cNvSpPr>
          <p:nvPr/>
        </p:nvSpPr>
        <p:spPr>
          <a:xfrm xmlns:a="http://schemas.openxmlformats.org/drawingml/2006/main">
            <a:off x="8763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8" name="">
            <a:extLst xmlns:a="http://schemas.openxmlformats.org/drawingml/2006/main">
              <a:ext uri="{FF2B5EF4-FFF2-40B4-BE49-F238E27FC236}">
                <a16:creationId xmlns:a16="http://schemas.microsoft.com/office/drawing/2014/main" id="{B0CEE1C3-DDB4-402C-94D6-E00E77D56969}"/>
              </a:ext>
            </a:extLst>
          </p:cNvPr>
          <p:cNvSpPr>
            <a:spLocks xmlns:a="http://schemas.openxmlformats.org/drawingml/2006/main" noGrp="1"/>
          </p:cNvSpPr>
          <p:nvPr/>
        </p:nvSpPr>
        <p:spPr>
          <a:xfrm xmlns:a="http://schemas.openxmlformats.org/drawingml/2006/main">
            <a:off x="1162050"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SEP</a:t>
            </a:r>
          </a:p>
        </p:txBody>
      </p:sp>
      <p:sp>
        <p:nvSpPr>
          <p:cNvPr id="9" name="">
            <a:extLst xmlns:a="http://schemas.openxmlformats.org/drawingml/2006/main">
              <a:ext uri="{FF2B5EF4-FFF2-40B4-BE49-F238E27FC236}">
                <a16:creationId xmlns:a16="http://schemas.microsoft.com/office/drawing/2014/main" id="{4BD127EC-475D-4CFC-8111-A2E2B6BD36D2}"/>
              </a:ext>
            </a:extLst>
          </p:cNvPr>
          <p:cNvSpPr>
            <a:spLocks xmlns:a="http://schemas.openxmlformats.org/drawingml/2006/main" noGrp="1"/>
          </p:cNvSpPr>
          <p:nvPr/>
        </p:nvSpPr>
        <p:spPr>
          <a:xfrm xmlns:a="http://schemas.openxmlformats.org/drawingml/2006/main">
            <a:off x="9715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Planning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79833D48-D0AD-47D0-92AE-0212B31FF66A}"/>
              </a:ext>
            </a:extLst>
          </p:cNvPr>
          <p:cNvSpPr>
            <a:spLocks xmlns:a="http://schemas.openxmlformats.org/drawingml/2006/main" noGrp="1"/>
          </p:cNvSpPr>
          <p:nvPr/>
        </p:nvSpPr>
        <p:spPr>
          <a:xfrm xmlns:a="http://schemas.openxmlformats.org/drawingml/2006/main">
            <a:off x="28479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1" name="">
            <a:extLst xmlns:a="http://schemas.openxmlformats.org/drawingml/2006/main">
              <a:ext uri="{FF2B5EF4-FFF2-40B4-BE49-F238E27FC236}">
                <a16:creationId xmlns:a16="http://schemas.microsoft.com/office/drawing/2014/main" id="{1AE47E0A-8E8B-4353-B734-3E23299C0E7B}"/>
              </a:ext>
            </a:extLst>
          </p:cNvPr>
          <p:cNvSpPr>
            <a:spLocks xmlns:a="http://schemas.openxmlformats.org/drawingml/2006/main" noGrp="1"/>
          </p:cNvSpPr>
          <p:nvPr/>
        </p:nvSpPr>
        <p:spPr>
          <a:xfrm xmlns:a="http://schemas.openxmlformats.org/drawingml/2006/main">
            <a:off x="3133725" y="3295650"/>
            <a:ext cx="1085850" cy="457200"/>
          </a:xfrm>
          <a:prstGeom xmlns:a="http://schemas.openxmlformats.org/drawingml/2006/main" prst="roundRect">
            <a:avLst>
              <a:gd name="adj" fmla="val 16667"/>
            </a:avLst>
          </a:prstGeom>
          <a:solidFill xmlns:a="http://schemas.openxmlformats.org/drawingml/2006/main">
            <a:srgbClr val="2D8B8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OCT</a:t>
            </a:r>
          </a:p>
        </p:txBody>
      </p:sp>
      <p:sp>
        <p:nvSpPr>
          <p:cNvPr id="12" name="">
            <a:extLst xmlns:a="http://schemas.openxmlformats.org/drawingml/2006/main">
              <a:ext uri="{FF2B5EF4-FFF2-40B4-BE49-F238E27FC236}">
                <a16:creationId xmlns:a16="http://schemas.microsoft.com/office/drawing/2014/main" id="{216A37FF-C19B-4845-9A58-4D04A8FADC31}"/>
              </a:ext>
            </a:extLst>
          </p:cNvPr>
          <p:cNvSpPr>
            <a:spLocks xmlns:a="http://schemas.openxmlformats.org/drawingml/2006/main" noGrp="1"/>
          </p:cNvSpPr>
          <p:nvPr/>
        </p:nvSpPr>
        <p:spPr>
          <a:xfrm xmlns:a="http://schemas.openxmlformats.org/drawingml/2006/main">
            <a:off x="29432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Reconnaissance</a:t>
            </a:r>
          </a:p>
        </p:txBody>
      </p:sp>
      <p:sp>
        <p:nvSpPr>
          <p:cNvPr id="13" name="">
            <a:extLst xmlns:a="http://schemas.openxmlformats.org/drawingml/2006/main">
              <a:ext uri="{FF2B5EF4-FFF2-40B4-BE49-F238E27FC236}">
                <a16:creationId xmlns:a16="http://schemas.microsoft.com/office/drawing/2014/main" id="{967DE33A-02A9-491E-B0DE-2F6A804CB2E6}"/>
              </a:ext>
            </a:extLst>
          </p:cNvPr>
          <p:cNvSpPr>
            <a:spLocks xmlns:a="http://schemas.openxmlformats.org/drawingml/2006/main" noGrp="1"/>
          </p:cNvSpPr>
          <p:nvPr/>
        </p:nvSpPr>
        <p:spPr>
          <a:xfrm xmlns:a="http://schemas.openxmlformats.org/drawingml/2006/main">
            <a:off x="48196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B7A0C6A8-A265-4886-8DEC-9A445E90B2AE}"/>
              </a:ext>
            </a:extLst>
          </p:cNvPr>
          <p:cNvSpPr>
            <a:spLocks xmlns:a="http://schemas.openxmlformats.org/drawingml/2006/main" noGrp="1"/>
          </p:cNvSpPr>
          <p:nvPr/>
        </p:nvSpPr>
        <p:spPr>
          <a:xfrm xmlns:a="http://schemas.openxmlformats.org/drawingml/2006/main">
            <a:off x="51054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NOV</a:t>
            </a:r>
          </a:p>
        </p:txBody>
      </p:sp>
      <p:sp>
        <p:nvSpPr>
          <p:cNvPr id="15" name="">
            <a:extLst xmlns:a="http://schemas.openxmlformats.org/drawingml/2006/main">
              <a:ext uri="{FF2B5EF4-FFF2-40B4-BE49-F238E27FC236}">
                <a16:creationId xmlns:a16="http://schemas.microsoft.com/office/drawing/2014/main" id="{AE08F17E-F0D3-45F9-9D72-0317F259A0B8}"/>
              </a:ext>
            </a:extLst>
          </p:cNvPr>
          <p:cNvSpPr>
            <a:spLocks xmlns:a="http://schemas.openxmlformats.org/drawingml/2006/main" noGrp="1"/>
          </p:cNvSpPr>
          <p:nvPr/>
        </p:nvSpPr>
        <p:spPr>
          <a:xfrm xmlns:a="http://schemas.openxmlformats.org/drawingml/2006/main">
            <a:off x="49149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Network &amp; web</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assessment</a:t>
            </a:r>
          </a:p>
        </p:txBody>
      </p:sp>
      <p:sp>
        <p:nvSpPr>
          <p:cNvPr id="16" name="">
            <a:extLst xmlns:a="http://schemas.openxmlformats.org/drawingml/2006/main">
              <a:ext uri="{FF2B5EF4-FFF2-40B4-BE49-F238E27FC236}">
                <a16:creationId xmlns:a16="http://schemas.microsoft.com/office/drawing/2014/main" id="{0916F7F6-CF3E-45EA-B754-B32CB2062BCB}"/>
              </a:ext>
            </a:extLst>
          </p:cNvPr>
          <p:cNvSpPr>
            <a:spLocks xmlns:a="http://schemas.openxmlformats.org/drawingml/2006/main" noGrp="1"/>
          </p:cNvSpPr>
          <p:nvPr/>
        </p:nvSpPr>
        <p:spPr>
          <a:xfrm xmlns:a="http://schemas.openxmlformats.org/drawingml/2006/main">
            <a:off x="67913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17" name="">
            <a:extLst xmlns:a="http://schemas.openxmlformats.org/drawingml/2006/main">
              <a:ext uri="{FF2B5EF4-FFF2-40B4-BE49-F238E27FC236}">
                <a16:creationId xmlns:a16="http://schemas.microsoft.com/office/drawing/2014/main" id="{D24A95E3-BD7A-402A-825B-7517F6371B13}"/>
              </a:ext>
            </a:extLst>
          </p:cNvPr>
          <p:cNvSpPr>
            <a:spLocks xmlns:a="http://schemas.openxmlformats.org/drawingml/2006/main" noGrp="1"/>
          </p:cNvSpPr>
          <p:nvPr/>
        </p:nvSpPr>
        <p:spPr>
          <a:xfrm xmlns:a="http://schemas.openxmlformats.org/drawingml/2006/main">
            <a:off x="7077075" y="3295650"/>
            <a:ext cx="1085850" cy="457200"/>
          </a:xfrm>
          <a:prstGeom xmlns:a="http://schemas.openxmlformats.org/drawingml/2006/main" prst="roundRect">
            <a:avLst>
              <a:gd name="adj" fmla="val 16667"/>
            </a:avLst>
          </a:prstGeom>
          <a:solidFill xmlns:a="http://schemas.openxmlformats.org/drawingml/2006/main">
            <a:srgbClr val="4F8B64"/>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DEC</a:t>
            </a:r>
          </a:p>
        </p:txBody>
      </p:sp>
      <p:sp>
        <p:nvSpPr>
          <p:cNvPr id="18" name="">
            <a:extLst xmlns:a="http://schemas.openxmlformats.org/drawingml/2006/main">
              <a:ext uri="{FF2B5EF4-FFF2-40B4-BE49-F238E27FC236}">
                <a16:creationId xmlns:a16="http://schemas.microsoft.com/office/drawing/2014/main" id="{0292BB08-5EA1-4499-9002-66069D434FC1}"/>
              </a:ext>
            </a:extLst>
          </p:cNvPr>
          <p:cNvSpPr>
            <a:spLocks xmlns:a="http://schemas.openxmlformats.org/drawingml/2006/main" noGrp="1"/>
          </p:cNvSpPr>
          <p:nvPr/>
        </p:nvSpPr>
        <p:spPr>
          <a:xfrm xmlns:a="http://schemas.openxmlformats.org/drawingml/2006/main">
            <a:off x="68865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Integration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correlation</a:t>
            </a:r>
          </a:p>
        </p:txBody>
      </p:sp>
      <p:sp>
        <p:nvSpPr>
          <p:cNvPr id="19" name="">
            <a:extLst xmlns:a="http://schemas.openxmlformats.org/drawingml/2006/main">
              <a:ext uri="{FF2B5EF4-FFF2-40B4-BE49-F238E27FC236}">
                <a16:creationId xmlns:a16="http://schemas.microsoft.com/office/drawing/2014/main" id="{45A81416-433B-4332-A625-14E76AF357F3}"/>
              </a:ext>
            </a:extLst>
          </p:cNvPr>
          <p:cNvSpPr>
            <a:spLocks xmlns:a="http://schemas.openxmlformats.org/drawingml/2006/main" noGrp="1"/>
          </p:cNvSpPr>
          <p:nvPr/>
        </p:nvSpPr>
        <p:spPr>
          <a:xfrm xmlns:a="http://schemas.openxmlformats.org/drawingml/2006/main">
            <a:off x="876300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0" name="">
            <a:extLst xmlns:a="http://schemas.openxmlformats.org/drawingml/2006/main">
              <a:ext uri="{FF2B5EF4-FFF2-40B4-BE49-F238E27FC236}">
                <a16:creationId xmlns:a16="http://schemas.microsoft.com/office/drawing/2014/main" id="{AFD4539A-15F8-4E5F-B200-0F3165EF72EF}"/>
              </a:ext>
            </a:extLst>
          </p:cNvPr>
          <p:cNvSpPr>
            <a:spLocks xmlns:a="http://schemas.openxmlformats.org/drawingml/2006/main" noGrp="1"/>
          </p:cNvSpPr>
          <p:nvPr/>
        </p:nvSpPr>
        <p:spPr>
          <a:xfrm xmlns:a="http://schemas.openxmlformats.org/drawingml/2006/main">
            <a:off x="9048750" y="3295650"/>
            <a:ext cx="1085850" cy="457200"/>
          </a:xfrm>
          <a:prstGeom xmlns:a="http://schemas.openxmlformats.org/drawingml/2006/main" prst="roundRect">
            <a:avLst>
              <a:gd name="adj" fmla="val 16667"/>
            </a:avLst>
          </a:prstGeom>
          <a:solidFill xmlns:a="http://schemas.openxmlformats.org/drawingml/2006/main">
            <a:srgbClr val="C55B48"/>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JAN</a:t>
            </a:r>
          </a:p>
        </p:txBody>
      </p:sp>
      <p:sp>
        <p:nvSpPr>
          <p:cNvPr id="21" name="">
            <a:extLst xmlns:a="http://schemas.openxmlformats.org/drawingml/2006/main">
              <a:ext uri="{FF2B5EF4-FFF2-40B4-BE49-F238E27FC236}">
                <a16:creationId xmlns:a16="http://schemas.microsoft.com/office/drawing/2014/main" id="{29978A08-F5AD-442D-BBF4-16E7C4E252FD}"/>
              </a:ext>
            </a:extLst>
          </p:cNvPr>
          <p:cNvSpPr>
            <a:spLocks xmlns:a="http://schemas.openxmlformats.org/drawingml/2006/main" noGrp="1"/>
          </p:cNvSpPr>
          <p:nvPr/>
        </p:nvSpPr>
        <p:spPr>
          <a:xfrm xmlns:a="http://schemas.openxmlformats.org/drawingml/2006/main">
            <a:off x="885825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Business logic</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&amp; safety</a:t>
            </a:r>
          </a:p>
        </p:txBody>
      </p:sp>
      <p:sp>
        <p:nvSpPr>
          <p:cNvPr id="22" name="">
            <a:extLst xmlns:a="http://schemas.openxmlformats.org/drawingml/2006/main">
              <a:ext uri="{FF2B5EF4-FFF2-40B4-BE49-F238E27FC236}">
                <a16:creationId xmlns:a16="http://schemas.microsoft.com/office/drawing/2014/main" id="{0933ABA5-B3C3-4325-9FC5-499B5C2B01A1}"/>
              </a:ext>
            </a:extLst>
          </p:cNvPr>
          <p:cNvSpPr>
            <a:spLocks xmlns:a="http://schemas.openxmlformats.org/drawingml/2006/main" noGrp="1"/>
          </p:cNvSpPr>
          <p:nvPr/>
        </p:nvSpPr>
        <p:spPr>
          <a:xfrm xmlns:a="http://schemas.openxmlformats.org/drawingml/2006/main">
            <a:off x="1073467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574432A6-CF5F-40C1-A8BF-8DDE7A23E411}"/>
              </a:ext>
            </a:extLst>
          </p:cNvPr>
          <p:cNvSpPr>
            <a:spLocks xmlns:a="http://schemas.openxmlformats.org/drawingml/2006/main" noGrp="1"/>
          </p:cNvSpPr>
          <p:nvPr/>
        </p:nvSpPr>
        <p:spPr>
          <a:xfrm xmlns:a="http://schemas.openxmlformats.org/drawingml/2006/main">
            <a:off x="11020425" y="3295650"/>
            <a:ext cx="1085850" cy="457200"/>
          </a:xfrm>
          <a:prstGeom xmlns:a="http://schemas.openxmlformats.org/drawingml/2006/main" prst="roundRect">
            <a:avLst>
              <a:gd name="adj" fmla="val 16667"/>
            </a:avLst>
          </a:prstGeom>
          <a:solidFill xmlns:a="http://schemas.openxmlformats.org/drawingml/2006/main">
            <a:srgbClr val="D79A32"/>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FEB</a:t>
            </a:r>
          </a:p>
        </p:txBody>
      </p:sp>
      <p:sp>
        <p:nvSpPr>
          <p:cNvPr id="24" name="">
            <a:extLst xmlns:a="http://schemas.openxmlformats.org/drawingml/2006/main">
              <a:ext uri="{FF2B5EF4-FFF2-40B4-BE49-F238E27FC236}">
                <a16:creationId xmlns:a16="http://schemas.microsoft.com/office/drawing/2014/main" id="{84953EC0-8C86-4EE4-B670-EDC79A0EE15B}"/>
              </a:ext>
            </a:extLst>
          </p:cNvPr>
          <p:cNvSpPr>
            <a:spLocks xmlns:a="http://schemas.openxmlformats.org/drawingml/2006/main" noGrp="1"/>
          </p:cNvSpPr>
          <p:nvPr/>
        </p:nvSpPr>
        <p:spPr>
          <a:xfrm xmlns:a="http://schemas.openxmlformats.org/drawingml/2006/main">
            <a:off x="1082992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Dual-mode</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orchestration</a:t>
            </a:r>
          </a:p>
        </p:txBody>
      </p:sp>
      <p:sp>
        <p:nvSpPr>
          <p:cNvPr id="25" name="">
            <a:extLst xmlns:a="http://schemas.openxmlformats.org/drawingml/2006/main">
              <a:ext uri="{FF2B5EF4-FFF2-40B4-BE49-F238E27FC236}">
                <a16:creationId xmlns:a16="http://schemas.microsoft.com/office/drawing/2014/main" id="{F8BDC457-C5C1-43ED-AEED-189A46576967}"/>
              </a:ext>
            </a:extLst>
          </p:cNvPr>
          <p:cNvSpPr>
            <a:spLocks xmlns:a="http://schemas.openxmlformats.org/drawingml/2006/main" noGrp="1"/>
          </p:cNvSpPr>
          <p:nvPr/>
        </p:nvSpPr>
        <p:spPr>
          <a:xfrm xmlns:a="http://schemas.openxmlformats.org/drawingml/2006/main">
            <a:off x="12706350"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6" name="">
            <a:extLst xmlns:a="http://schemas.openxmlformats.org/drawingml/2006/main">
              <a:ext uri="{FF2B5EF4-FFF2-40B4-BE49-F238E27FC236}">
                <a16:creationId xmlns:a16="http://schemas.microsoft.com/office/drawing/2014/main" id="{784E400B-35B6-4F9A-BA00-0BBC6BEBC7CC}"/>
              </a:ext>
            </a:extLst>
          </p:cNvPr>
          <p:cNvSpPr>
            <a:spLocks xmlns:a="http://schemas.openxmlformats.org/drawingml/2006/main" noGrp="1"/>
          </p:cNvSpPr>
          <p:nvPr/>
        </p:nvSpPr>
        <p:spPr>
          <a:xfrm xmlns:a="http://schemas.openxmlformats.org/drawingml/2006/main">
            <a:off x="12992100" y="3295650"/>
            <a:ext cx="1085850" cy="457200"/>
          </a:xfrm>
          <a:prstGeom xmlns:a="http://schemas.openxmlformats.org/drawingml/2006/main" prst="roundRect">
            <a:avLst>
              <a:gd name="adj" fmla="val 16667"/>
            </a:avLst>
          </a:prstGeom>
          <a:solidFill xmlns:a="http://schemas.openxmlformats.org/drawingml/2006/main">
            <a:srgbClr val="2C669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MAR</a:t>
            </a:r>
          </a:p>
        </p:txBody>
      </p:sp>
      <p:sp>
        <p:nvSpPr>
          <p:cNvPr id="27" name="">
            <a:extLst xmlns:a="http://schemas.openxmlformats.org/drawingml/2006/main">
              <a:ext uri="{FF2B5EF4-FFF2-40B4-BE49-F238E27FC236}">
                <a16:creationId xmlns:a16="http://schemas.microsoft.com/office/drawing/2014/main" id="{629A79B5-40EB-4159-9508-A83E90F31847}"/>
              </a:ext>
            </a:extLst>
          </p:cNvPr>
          <p:cNvSpPr>
            <a:spLocks xmlns:a="http://schemas.openxmlformats.org/drawingml/2006/main" noGrp="1"/>
          </p:cNvSpPr>
          <p:nvPr/>
        </p:nvSpPr>
        <p:spPr>
          <a:xfrm xmlns:a="http://schemas.openxmlformats.org/drawingml/2006/main">
            <a:off x="12801600"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Testing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refinement</a:t>
            </a:r>
          </a:p>
        </p:txBody>
      </p:sp>
      <p:sp>
        <p:nvSpPr>
          <p:cNvPr id="28" name="">
            <a:extLst xmlns:a="http://schemas.openxmlformats.org/drawingml/2006/main">
              <a:ext uri="{FF2B5EF4-FFF2-40B4-BE49-F238E27FC236}">
                <a16:creationId xmlns:a16="http://schemas.microsoft.com/office/drawing/2014/main" id="{F85F56DC-4F22-4D28-919D-4F8AB02E1FEF}"/>
              </a:ext>
            </a:extLst>
          </p:cNvPr>
          <p:cNvSpPr>
            <a:spLocks xmlns:a="http://schemas.openxmlformats.org/drawingml/2006/main" noGrp="1"/>
          </p:cNvSpPr>
          <p:nvPr/>
        </p:nvSpPr>
        <p:spPr>
          <a:xfrm xmlns:a="http://schemas.openxmlformats.org/drawingml/2006/main">
            <a:off x="14678025" y="3067050"/>
            <a:ext cx="1657350" cy="2095500"/>
          </a:xfrm>
          <a:prstGeom xmlns:a="http://schemas.openxmlformats.org/drawingml/2006/main" prst="roundRect">
            <a:avLst>
              <a:gd name="adj" fmla="val 4598"/>
            </a:avLst>
          </a:prstGeom>
          <a:solidFill xmlns:a="http://schemas.openxmlformats.org/drawingml/2006/main">
            <a:srgbClr val="FFFDF9"/>
          </a:solidFill>
          <a:ln xmlns:a="http://schemas.openxmlformats.org/drawingml/2006/main" w="19050">
            <a:solidFill>
              <a:srgbClr val="CAD6DE"/>
            </a:solidFill>
          </a:ln>
        </p:spPr>
      </p:sp>
      <p:sp>
        <p:nvSpPr>
          <p:cNvPr id="29" name="">
            <a:extLst xmlns:a="http://schemas.openxmlformats.org/drawingml/2006/main">
              <a:ext uri="{FF2B5EF4-FFF2-40B4-BE49-F238E27FC236}">
                <a16:creationId xmlns:a16="http://schemas.microsoft.com/office/drawing/2014/main" id="{366CDC95-C41E-4A43-877C-5897730B2EF5}"/>
              </a:ext>
            </a:extLst>
          </p:cNvPr>
          <p:cNvSpPr>
            <a:spLocks xmlns:a="http://schemas.openxmlformats.org/drawingml/2006/main" noGrp="1"/>
          </p:cNvSpPr>
          <p:nvPr/>
        </p:nvSpPr>
        <p:spPr>
          <a:xfrm xmlns:a="http://schemas.openxmlformats.org/drawingml/2006/main">
            <a:off x="14963775" y="3295650"/>
            <a:ext cx="1085850" cy="457200"/>
          </a:xfrm>
          <a:prstGeom xmlns:a="http://schemas.openxmlformats.org/drawingml/2006/main" prst="roundRect">
            <a:avLst>
              <a:gd name="adj" fmla="val 16667"/>
            </a:avLst>
          </a:prstGeom>
          <a:solidFill xmlns:a="http://schemas.openxmlformats.org/drawingml/2006/main">
            <a:srgbClr val="123B6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APR</a:t>
            </a:r>
          </a:p>
        </p:txBody>
      </p:sp>
      <p:sp>
        <p:nvSpPr>
          <p:cNvPr id="30" name="">
            <a:extLst xmlns:a="http://schemas.openxmlformats.org/drawingml/2006/main">
              <a:ext uri="{FF2B5EF4-FFF2-40B4-BE49-F238E27FC236}">
                <a16:creationId xmlns:a16="http://schemas.microsoft.com/office/drawing/2014/main" id="{E9B69C0F-99D8-4B29-A449-C58326F3F6BE}"/>
              </a:ext>
            </a:extLst>
          </p:cNvPr>
          <p:cNvSpPr>
            <a:spLocks xmlns:a="http://schemas.openxmlformats.org/drawingml/2006/main" noGrp="1"/>
          </p:cNvSpPr>
          <p:nvPr/>
        </p:nvSpPr>
        <p:spPr>
          <a:xfrm xmlns:a="http://schemas.openxmlformats.org/drawingml/2006/main">
            <a:off x="14773275" y="4057650"/>
            <a:ext cx="146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Evaluation &amp;</a:t>
            </a:r>
          </a:p>
          <a:p xmlns:a="http://schemas.openxmlformats.org/drawingml/2006/main">
            <a:pPr algn="ctr">
              <a:lnSpc>
                <a:spcPct val="100000"/>
              </a:lnSpc>
              <a:buNone/>
              <a:defRPr sz="1350" b="1" i="0">
                <a:solidFill>
                  <a:srgbClr val="18334B"/>
                </a:solidFill>
                <a:latin typeface="Arial"/>
                <a:ea typeface="Arial"/>
                <a:cs typeface="Arial"/>
              </a:defRPr>
            </a:pPr>
            <a:r>
              <a:rPr sz="1350" b="1" i="0">
                <a:solidFill>
                  <a:srgbClr val="18334B"/>
                </a:solidFill>
                <a:latin typeface="Arial"/>
                <a:ea typeface="Arial"/>
                <a:cs typeface="Arial"/>
              </a:rPr>
              <a:t>defense</a:t>
            </a:r>
          </a:p>
        </p:txBody>
      </p:sp>
      <p:sp>
        <p:nvSpPr>
          <p:cNvPr id="31" name="">
            <a:extLst xmlns:a="http://schemas.openxmlformats.org/drawingml/2006/main">
              <a:ext uri="{FF2B5EF4-FFF2-40B4-BE49-F238E27FC236}">
                <a16:creationId xmlns:a16="http://schemas.microsoft.com/office/drawing/2014/main" id="{D3BABB0B-63F3-4E67-A6AD-E7E9C5B4A39A}"/>
              </a:ext>
            </a:extLst>
          </p:cNvPr>
          <p:cNvSpPr>
            <a:spLocks xmlns:a="http://schemas.openxmlformats.org/drawingml/2006/main" noGrp="1"/>
          </p:cNvSpPr>
          <p:nvPr/>
        </p:nvSpPr>
        <p:spPr>
          <a:xfrm xmlns:a="http://schemas.openxmlformats.org/drawingml/2006/main">
            <a:off x="876300" y="5867400"/>
            <a:ext cx="15773400" cy="2247900"/>
          </a:xfrm>
          <a:prstGeom xmlns:a="http://schemas.openxmlformats.org/drawingml/2006/main" prst="roundRect">
            <a:avLst>
              <a:gd name="adj" fmla="val 3390"/>
            </a:avLst>
          </a:prstGeom>
          <a:solidFill xmlns:a="http://schemas.openxmlformats.org/drawingml/2006/main">
            <a:srgbClr val="E8EFF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7118D9C-1AF3-49F6-B7B8-2A40B9462623}"/>
              </a:ext>
            </a:extLst>
          </p:cNvPr>
          <p:cNvSpPr>
            <a:spLocks xmlns:a="http://schemas.openxmlformats.org/drawingml/2006/main" noGrp="1"/>
          </p:cNvSpPr>
          <p:nvPr/>
        </p:nvSpPr>
        <p:spPr>
          <a:xfrm xmlns:a="http://schemas.openxmlformats.org/drawingml/2006/main">
            <a:off x="12192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2D8B84"/>
                </a:solidFill>
                <a:latin typeface="Arial"/>
                <a:ea typeface="Arial"/>
                <a:cs typeface="Arial"/>
              </a:defRPr>
            </a:pPr>
            <a:r>
              <a:rPr sz="1800" b="1" i="0">
                <a:solidFill>
                  <a:srgbClr val="2D8B84"/>
                </a:solidFill>
                <a:latin typeface="Arial"/>
                <a:ea typeface="Arial"/>
                <a:cs typeface="Arial"/>
              </a:rPr>
              <a:t>Evaluation focus</a:t>
            </a:r>
          </a:p>
        </p:txBody>
      </p:sp>
      <p:sp>
        <p:nvSpPr>
          <p:cNvPr id="33" name="">
            <a:extLst xmlns:a="http://schemas.openxmlformats.org/drawingml/2006/main">
              <a:ext uri="{FF2B5EF4-FFF2-40B4-BE49-F238E27FC236}">
                <a16:creationId xmlns:a16="http://schemas.microsoft.com/office/drawing/2014/main" id="{4992FCC1-D023-4E08-8BFE-8403F96FFD94}"/>
              </a:ext>
            </a:extLst>
          </p:cNvPr>
          <p:cNvSpPr>
            <a:spLocks xmlns:a="http://schemas.openxmlformats.org/drawingml/2006/main" noGrp="1"/>
          </p:cNvSpPr>
          <p:nvPr/>
        </p:nvSpPr>
        <p:spPr>
          <a:xfrm xmlns:a="http://schemas.openxmlformats.org/drawingml/2006/main">
            <a:off x="12192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4" name="">
            <a:extLst xmlns:a="http://schemas.openxmlformats.org/drawingml/2006/main">
              <a:ext uri="{FF2B5EF4-FFF2-40B4-BE49-F238E27FC236}">
                <a16:creationId xmlns:a16="http://schemas.microsoft.com/office/drawing/2014/main" id="{FCD706ED-B505-48DE-BFA1-0C8064D3D5E4}"/>
              </a:ext>
            </a:extLst>
          </p:cNvPr>
          <p:cNvSpPr>
            <a:spLocks xmlns:a="http://schemas.openxmlformats.org/drawingml/2006/main" noGrp="1"/>
          </p:cNvSpPr>
          <p:nvPr/>
        </p:nvSpPr>
        <p:spPr>
          <a:xfrm xmlns:a="http://schemas.openxmlformats.org/drawingml/2006/main">
            <a:off x="1219200" y="6724650"/>
            <a:ext cx="85725" cy="10668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31A2B80-EA7A-4791-8D13-4E1307247E0C}"/>
              </a:ext>
            </a:extLst>
          </p:cNvPr>
          <p:cNvSpPr>
            <a:spLocks xmlns:a="http://schemas.openxmlformats.org/drawingml/2006/main" noGrp="1"/>
          </p:cNvSpPr>
          <p:nvPr/>
        </p:nvSpPr>
        <p:spPr>
          <a:xfrm xmlns:a="http://schemas.openxmlformats.org/drawingml/2006/main">
            <a:off x="14859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Coverage</a:t>
            </a:r>
          </a:p>
        </p:txBody>
      </p:sp>
      <p:sp>
        <p:nvSpPr>
          <p:cNvPr id="36" name="">
            <a:extLst xmlns:a="http://schemas.openxmlformats.org/drawingml/2006/main">
              <a:ext uri="{FF2B5EF4-FFF2-40B4-BE49-F238E27FC236}">
                <a16:creationId xmlns:a16="http://schemas.microsoft.com/office/drawing/2014/main" id="{71E025A4-01FD-4640-AA22-69B4C94AD266}"/>
              </a:ext>
            </a:extLst>
          </p:cNvPr>
          <p:cNvSpPr>
            <a:spLocks xmlns:a="http://schemas.openxmlformats.org/drawingml/2006/main" noGrp="1"/>
          </p:cNvSpPr>
          <p:nvPr/>
        </p:nvSpPr>
        <p:spPr>
          <a:xfrm xmlns:a="http://schemas.openxmlformats.org/drawingml/2006/main">
            <a:off x="14859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Attack-surface discovery and vulnerability coverage.</a:t>
            </a:r>
          </a:p>
        </p:txBody>
      </p:sp>
      <p:sp>
        <p:nvSpPr>
          <p:cNvPr id="37" name="">
            <a:extLst xmlns:a="http://schemas.openxmlformats.org/drawingml/2006/main">
              <a:ext uri="{FF2B5EF4-FFF2-40B4-BE49-F238E27FC236}">
                <a16:creationId xmlns:a16="http://schemas.microsoft.com/office/drawing/2014/main" id="{593A196A-863F-4D8B-99AE-1BBEDDFF99DF}"/>
              </a:ext>
            </a:extLst>
          </p:cNvPr>
          <p:cNvSpPr>
            <a:spLocks xmlns:a="http://schemas.openxmlformats.org/drawingml/2006/main" noGrp="1"/>
          </p:cNvSpPr>
          <p:nvPr/>
        </p:nvSpPr>
        <p:spPr>
          <a:xfrm xmlns:a="http://schemas.openxmlformats.org/drawingml/2006/main">
            <a:off x="5943600" y="6724650"/>
            <a:ext cx="4476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38" name="">
            <a:extLst xmlns:a="http://schemas.openxmlformats.org/drawingml/2006/main">
              <a:ext uri="{FF2B5EF4-FFF2-40B4-BE49-F238E27FC236}">
                <a16:creationId xmlns:a16="http://schemas.microsoft.com/office/drawing/2014/main" id="{A5B69E3D-0BE3-4AF3-81F4-7191C06824E3}"/>
              </a:ext>
            </a:extLst>
          </p:cNvPr>
          <p:cNvSpPr>
            <a:spLocks xmlns:a="http://schemas.openxmlformats.org/drawingml/2006/main" noGrp="1"/>
          </p:cNvSpPr>
          <p:nvPr/>
        </p:nvSpPr>
        <p:spPr>
          <a:xfrm xmlns:a="http://schemas.openxmlformats.org/drawingml/2006/main">
            <a:off x="5943600" y="6724650"/>
            <a:ext cx="85725" cy="10668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28DC8EA-E23A-4F73-AC81-871922BA7F46}"/>
              </a:ext>
            </a:extLst>
          </p:cNvPr>
          <p:cNvSpPr>
            <a:spLocks xmlns:a="http://schemas.openxmlformats.org/drawingml/2006/main" noGrp="1"/>
          </p:cNvSpPr>
          <p:nvPr/>
        </p:nvSpPr>
        <p:spPr>
          <a:xfrm xmlns:a="http://schemas.openxmlformats.org/drawingml/2006/main">
            <a:off x="6210300" y="6934200"/>
            <a:ext cx="3981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Reliability</a:t>
            </a:r>
          </a:p>
        </p:txBody>
      </p:sp>
      <p:sp>
        <p:nvSpPr>
          <p:cNvPr id="40" name="">
            <a:extLst xmlns:a="http://schemas.openxmlformats.org/drawingml/2006/main">
              <a:ext uri="{FF2B5EF4-FFF2-40B4-BE49-F238E27FC236}">
                <a16:creationId xmlns:a16="http://schemas.microsoft.com/office/drawing/2014/main" id="{CDB623DE-B649-46E9-89FC-680F087F34F1}"/>
              </a:ext>
            </a:extLst>
          </p:cNvPr>
          <p:cNvSpPr>
            <a:spLocks xmlns:a="http://schemas.openxmlformats.org/drawingml/2006/main" noGrp="1"/>
          </p:cNvSpPr>
          <p:nvPr/>
        </p:nvSpPr>
        <p:spPr>
          <a:xfrm xmlns:a="http://schemas.openxmlformats.org/drawingml/2006/main">
            <a:off x="6210300" y="7467600"/>
            <a:ext cx="3981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Comparable operation with and without an LLM.</a:t>
            </a:r>
          </a:p>
        </p:txBody>
      </p:sp>
      <p:sp>
        <p:nvSpPr>
          <p:cNvPr id="41" name="">
            <a:extLst xmlns:a="http://schemas.openxmlformats.org/drawingml/2006/main">
              <a:ext uri="{FF2B5EF4-FFF2-40B4-BE49-F238E27FC236}">
                <a16:creationId xmlns:a16="http://schemas.microsoft.com/office/drawing/2014/main" id="{5F302EFF-6597-4262-8585-1FD05F4F7F35}"/>
              </a:ext>
            </a:extLst>
          </p:cNvPr>
          <p:cNvSpPr>
            <a:spLocks xmlns:a="http://schemas.openxmlformats.org/drawingml/2006/main" noGrp="1"/>
          </p:cNvSpPr>
          <p:nvPr/>
        </p:nvSpPr>
        <p:spPr>
          <a:xfrm xmlns:a="http://schemas.openxmlformats.org/drawingml/2006/main">
            <a:off x="10668000" y="6724650"/>
            <a:ext cx="5619750" cy="1066800"/>
          </a:xfrm>
          <a:prstGeom xmlns:a="http://schemas.openxmlformats.org/drawingml/2006/main" prst="roundRect">
            <a:avLst>
              <a:gd name="adj" fmla="val 7143"/>
            </a:avLst>
          </a:prstGeom>
          <a:solidFill xmlns:a="http://schemas.openxmlformats.org/drawingml/2006/main">
            <a:srgbClr val="FFFDF9"/>
          </a:solidFill>
          <a:ln xmlns:a="http://schemas.openxmlformats.org/drawingml/2006/main" w="19050">
            <a:solidFill>
              <a:srgbClr val="CAD6DE"/>
            </a:solidFill>
          </a:ln>
        </p:spPr>
      </p:sp>
      <p:sp>
        <p:nvSpPr>
          <p:cNvPr id="42" name="">
            <a:extLst xmlns:a="http://schemas.openxmlformats.org/drawingml/2006/main">
              <a:ext uri="{FF2B5EF4-FFF2-40B4-BE49-F238E27FC236}">
                <a16:creationId xmlns:a16="http://schemas.microsoft.com/office/drawing/2014/main" id="{CB48682E-F361-4E04-A3F6-BF138A725334}"/>
              </a:ext>
            </a:extLst>
          </p:cNvPr>
          <p:cNvSpPr>
            <a:spLocks xmlns:a="http://schemas.openxmlformats.org/drawingml/2006/main" noGrp="1"/>
          </p:cNvSpPr>
          <p:nvPr/>
        </p:nvSpPr>
        <p:spPr>
          <a:xfrm xmlns:a="http://schemas.openxmlformats.org/drawingml/2006/main">
            <a:off x="10668000" y="6724650"/>
            <a:ext cx="85725" cy="10668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A488AD3-382F-4A46-AA63-A7F56AC69945}"/>
              </a:ext>
            </a:extLst>
          </p:cNvPr>
          <p:cNvSpPr>
            <a:spLocks xmlns:a="http://schemas.openxmlformats.org/drawingml/2006/main" noGrp="1"/>
          </p:cNvSpPr>
          <p:nvPr/>
        </p:nvSpPr>
        <p:spPr>
          <a:xfrm xmlns:a="http://schemas.openxmlformats.org/drawingml/2006/main">
            <a:off x="10934700" y="6934200"/>
            <a:ext cx="5124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i="0">
                <a:solidFill>
                  <a:srgbClr val="123B63"/>
                </a:solidFill>
                <a:latin typeface="Arial"/>
                <a:ea typeface="Arial"/>
                <a:cs typeface="Arial"/>
              </a:defRPr>
            </a:pPr>
            <a:r>
              <a:rPr sz="1575" b="1" i="0">
                <a:solidFill>
                  <a:srgbClr val="123B63"/>
                </a:solidFill>
                <a:latin typeface="Arial"/>
                <a:ea typeface="Arial"/>
                <a:cs typeface="Arial"/>
              </a:rPr>
              <a:t>Safety and efficiency</a:t>
            </a:r>
          </a:p>
        </p:txBody>
      </p:sp>
      <p:sp>
        <p:nvSpPr>
          <p:cNvPr id="44" name="">
            <a:extLst xmlns:a="http://schemas.openxmlformats.org/drawingml/2006/main">
              <a:ext uri="{FF2B5EF4-FFF2-40B4-BE49-F238E27FC236}">
                <a16:creationId xmlns:a16="http://schemas.microsoft.com/office/drawing/2014/main" id="{4374C84B-DB1F-454A-BBF3-381267BB56C7}"/>
              </a:ext>
            </a:extLst>
          </p:cNvPr>
          <p:cNvSpPr>
            <a:spLocks xmlns:a="http://schemas.openxmlformats.org/drawingml/2006/main" noGrp="1"/>
          </p:cNvSpPr>
          <p:nvPr/>
        </p:nvSpPr>
        <p:spPr>
          <a:xfrm xmlns:a="http://schemas.openxmlformats.org/drawingml/2006/main">
            <a:off x="10934700" y="7467600"/>
            <a:ext cx="51244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697"/>
          </a:bodyPr>
          <a:lstStyle xmlns:a="http://schemas.openxmlformats.org/drawingml/2006/main"/>
          <a:p xmlns:a="http://schemas.openxmlformats.org/drawingml/2006/main">
            <a:pPr algn="l">
              <a:lnSpc>
                <a:spcPct val="105000"/>
              </a:lnSpc>
              <a:buNone/>
              <a:defRPr sz="1275" b="0" i="0">
                <a:solidFill>
                  <a:srgbClr val="5F7180"/>
                </a:solidFill>
                <a:latin typeface="Arial"/>
                <a:ea typeface="Arial"/>
                <a:cs typeface="Arial"/>
              </a:defRPr>
            </a:pPr>
            <a:r>
              <a:rPr sz="1275" b="0" i="0">
                <a:solidFill>
                  <a:srgbClr val="5F7180"/>
                </a:solidFill>
                <a:latin typeface="Arial"/>
                <a:ea typeface="Arial"/>
                <a:cs typeface="Arial"/>
              </a:rPr>
              <a:t>Zero scope violations and measurable time improvement.</a:t>
            </a:r>
          </a:p>
        </p:txBody>
      </p:sp>
    </p:spTree>
    <p:extLst>
      <p:ext uri="{BB962C8B-B14F-4D97-AF65-F5344CB8AC3E}">
        <p14:creationId xmlns:p14="http://schemas.microsoft.com/office/powerpoint/2010/main" val="483432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43436C6-C28D-4D39-9E53-11ABEC018ACD}"/>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10 / TEAM</a:t>
            </a:r>
          </a:p>
        </p:txBody>
      </p:sp>
      <p:sp>
        <p:nvSpPr>
          <p:cNvPr id="2" name="">
            <a:extLst xmlns:a="http://schemas.openxmlformats.org/drawingml/2006/main">
              <a:ext uri="{FF2B5EF4-FFF2-40B4-BE49-F238E27FC236}">
                <a16:creationId xmlns:a16="http://schemas.microsoft.com/office/drawing/2014/main" id="{838F6EA8-96E0-44A0-BE55-C24725FA9B57}"/>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Team responsibilities and shared ownership</a:t>
            </a:r>
          </a:p>
        </p:txBody>
      </p:sp>
      <p:sp>
        <p:nvSpPr>
          <p:cNvPr id="3" name="">
            <a:extLst xmlns:a="http://schemas.openxmlformats.org/drawingml/2006/main">
              <a:ext uri="{FF2B5EF4-FFF2-40B4-BE49-F238E27FC236}">
                <a16:creationId xmlns:a16="http://schemas.microsoft.com/office/drawing/2014/main" id="{05E3A809-ABD6-49D6-B342-310289101504}"/>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350B0FD1-DC41-4652-977D-C5484424517D}"/>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E7143EC-B3EE-4645-A076-3D1E2DC37856}"/>
              </a:ext>
            </a:extLst>
          </p:cNvPr>
          <p:cNvSpPr>
            <a:spLocks xmlns:a="http://schemas.openxmlformats.org/drawingml/2006/main" noGrp="1"/>
          </p:cNvSpPr>
          <p:nvPr/>
        </p:nvSpPr>
        <p:spPr>
          <a:xfrm xmlns:a="http://schemas.openxmlformats.org/drawingml/2006/main">
            <a:off x="87630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1221EA37-BDFB-465D-886D-5F9948500A2F}"/>
              </a:ext>
            </a:extLst>
          </p:cNvPr>
          <p:cNvSpPr>
            <a:spLocks xmlns:a="http://schemas.openxmlformats.org/drawingml/2006/main" noGrp="1"/>
          </p:cNvSpPr>
          <p:nvPr/>
        </p:nvSpPr>
        <p:spPr>
          <a:xfrm xmlns:a="http://schemas.openxmlformats.org/drawingml/2006/main">
            <a:off x="876300" y="2533650"/>
            <a:ext cx="85725" cy="331470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E41CD8-5908-44C5-AFBC-91690176E54D}"/>
              </a:ext>
            </a:extLst>
          </p:cNvPr>
          <p:cNvSpPr>
            <a:spLocks xmlns:a="http://schemas.openxmlformats.org/drawingml/2006/main" noGrp="1"/>
          </p:cNvSpPr>
          <p:nvPr/>
        </p:nvSpPr>
        <p:spPr>
          <a:xfrm xmlns:a="http://schemas.openxmlformats.org/drawingml/2006/main">
            <a:off x="114300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i="0">
                <a:solidFill>
                  <a:srgbClr val="123B63"/>
                </a:solidFill>
                <a:latin typeface="Arial"/>
                <a:ea typeface="Arial"/>
                <a:cs typeface="Arial"/>
              </a:defRPr>
            </a:pPr>
            <a:r>
              <a:rPr sz="2325" b="1" i="0">
                <a:solidFill>
                  <a:srgbClr val="123B63"/>
                </a:solidFill>
                <a:latin typeface="Arial"/>
                <a:ea typeface="Arial"/>
                <a:cs typeface="Arial"/>
              </a:rPr>
              <a:t>Abdul Ahad</a:t>
            </a:r>
          </a:p>
        </p:txBody>
      </p:sp>
      <p:sp>
        <p:nvSpPr>
          <p:cNvPr id="8" name="">
            <a:extLst xmlns:a="http://schemas.openxmlformats.org/drawingml/2006/main">
              <a:ext uri="{FF2B5EF4-FFF2-40B4-BE49-F238E27FC236}">
                <a16:creationId xmlns:a16="http://schemas.microsoft.com/office/drawing/2014/main" id="{6CE6E8E3-C088-48CA-B2C9-5789EC086AFC}"/>
              </a:ext>
            </a:extLst>
          </p:cNvPr>
          <p:cNvSpPr>
            <a:spLocks xmlns:a="http://schemas.openxmlformats.org/drawingml/2006/main" noGrp="1"/>
          </p:cNvSpPr>
          <p:nvPr/>
        </p:nvSpPr>
        <p:spPr>
          <a:xfrm xmlns:a="http://schemas.openxmlformats.org/drawingml/2006/main">
            <a:off x="114300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System architecture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AI orchestration</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Methodology integration</a:t>
            </a:r>
          </a:p>
        </p:txBody>
      </p:sp>
      <p:sp>
        <p:nvSpPr>
          <p:cNvPr id="9" name="">
            <a:extLst xmlns:a="http://schemas.openxmlformats.org/drawingml/2006/main">
              <a:ext uri="{FF2B5EF4-FFF2-40B4-BE49-F238E27FC236}">
                <a16:creationId xmlns:a16="http://schemas.microsoft.com/office/drawing/2014/main" id="{EC2918BD-A2FC-4FA5-B0A9-65C2454C8888}"/>
              </a:ext>
            </a:extLst>
          </p:cNvPr>
          <p:cNvSpPr>
            <a:spLocks xmlns:a="http://schemas.openxmlformats.org/drawingml/2006/main" noGrp="1"/>
          </p:cNvSpPr>
          <p:nvPr/>
        </p:nvSpPr>
        <p:spPr>
          <a:xfrm xmlns:a="http://schemas.openxmlformats.org/drawingml/2006/main">
            <a:off x="6000750" y="2533650"/>
            <a:ext cx="48768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BC24D69A-E97C-442F-B15A-72CCC96196F0}"/>
              </a:ext>
            </a:extLst>
          </p:cNvPr>
          <p:cNvSpPr>
            <a:spLocks xmlns:a="http://schemas.openxmlformats.org/drawingml/2006/main" noGrp="1"/>
          </p:cNvSpPr>
          <p:nvPr/>
        </p:nvSpPr>
        <p:spPr>
          <a:xfrm xmlns:a="http://schemas.openxmlformats.org/drawingml/2006/main">
            <a:off x="6000750" y="2533650"/>
            <a:ext cx="85725" cy="331470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85E51A-612B-4A34-8316-C9B9D9011169}"/>
              </a:ext>
            </a:extLst>
          </p:cNvPr>
          <p:cNvSpPr>
            <a:spLocks xmlns:a="http://schemas.openxmlformats.org/drawingml/2006/main" noGrp="1"/>
          </p:cNvSpPr>
          <p:nvPr/>
        </p:nvSpPr>
        <p:spPr>
          <a:xfrm xmlns:a="http://schemas.openxmlformats.org/drawingml/2006/main">
            <a:off x="6267450" y="27432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123B63"/>
                </a:solidFill>
                <a:latin typeface="Arial"/>
                <a:ea typeface="Arial"/>
                <a:cs typeface="Arial"/>
              </a:defRPr>
            </a:pPr>
            <a:r>
              <a:rPr sz="2175" b="1" i="0">
                <a:solidFill>
                  <a:srgbClr val="123B63"/>
                </a:solidFill>
                <a:latin typeface="Arial"/>
                <a:ea typeface="Arial"/>
                <a:cs typeface="Arial"/>
              </a:rPr>
              <a:t>Muhammad Usman Hamed</a:t>
            </a:r>
          </a:p>
        </p:txBody>
      </p:sp>
      <p:sp>
        <p:nvSpPr>
          <p:cNvPr id="12" name="">
            <a:extLst xmlns:a="http://schemas.openxmlformats.org/drawingml/2006/main">
              <a:ext uri="{FF2B5EF4-FFF2-40B4-BE49-F238E27FC236}">
                <a16:creationId xmlns:a16="http://schemas.microsoft.com/office/drawing/2014/main" id="{D2EF1101-849F-48DA-8EA3-E4F8F536D43E}"/>
              </a:ext>
            </a:extLst>
          </p:cNvPr>
          <p:cNvSpPr>
            <a:spLocks xmlns:a="http://schemas.openxmlformats.org/drawingml/2006/main" noGrp="1"/>
          </p:cNvSpPr>
          <p:nvPr/>
        </p:nvSpPr>
        <p:spPr>
          <a:xfrm xmlns:a="http://schemas.openxmlformats.org/drawingml/2006/main">
            <a:off x="6267450" y="3276600"/>
            <a:ext cx="4381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Reconnaissance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Security assessment</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Tool evaluation</a:t>
            </a:r>
          </a:p>
        </p:txBody>
      </p:sp>
      <p:sp>
        <p:nvSpPr>
          <p:cNvPr id="13" name="">
            <a:extLst xmlns:a="http://schemas.openxmlformats.org/drawingml/2006/main">
              <a:ext uri="{FF2B5EF4-FFF2-40B4-BE49-F238E27FC236}">
                <a16:creationId xmlns:a16="http://schemas.microsoft.com/office/drawing/2014/main" id="{1E64E482-2956-4114-936F-D9A4F4ABBDAF}"/>
              </a:ext>
            </a:extLst>
          </p:cNvPr>
          <p:cNvSpPr>
            <a:spLocks xmlns:a="http://schemas.openxmlformats.org/drawingml/2006/main" noGrp="1"/>
          </p:cNvSpPr>
          <p:nvPr/>
        </p:nvSpPr>
        <p:spPr>
          <a:xfrm xmlns:a="http://schemas.openxmlformats.org/drawingml/2006/main">
            <a:off x="11125200" y="2533650"/>
            <a:ext cx="5524500" cy="3314700"/>
          </a:xfrm>
          <a:prstGeom xmlns:a="http://schemas.openxmlformats.org/drawingml/2006/main" prst="roundRect">
            <a:avLst>
              <a:gd name="adj" fmla="val 2299"/>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34BC5F2E-28B9-4621-BCB7-E0EAA2312E46}"/>
              </a:ext>
            </a:extLst>
          </p:cNvPr>
          <p:cNvSpPr>
            <a:spLocks xmlns:a="http://schemas.openxmlformats.org/drawingml/2006/main" noGrp="1"/>
          </p:cNvSpPr>
          <p:nvPr/>
        </p:nvSpPr>
        <p:spPr>
          <a:xfrm xmlns:a="http://schemas.openxmlformats.org/drawingml/2006/main">
            <a:off x="11125200" y="2533650"/>
            <a:ext cx="85725" cy="331470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3F8B6E-25D1-4665-922C-13810059FA68}"/>
              </a:ext>
            </a:extLst>
          </p:cNvPr>
          <p:cNvSpPr>
            <a:spLocks xmlns:a="http://schemas.openxmlformats.org/drawingml/2006/main" noGrp="1"/>
          </p:cNvSpPr>
          <p:nvPr/>
        </p:nvSpPr>
        <p:spPr>
          <a:xfrm xmlns:a="http://schemas.openxmlformats.org/drawingml/2006/main">
            <a:off x="11391900" y="27432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123B63"/>
                </a:solidFill>
                <a:latin typeface="Arial"/>
                <a:ea typeface="Arial"/>
                <a:cs typeface="Arial"/>
              </a:defRPr>
            </a:pPr>
            <a:r>
              <a:rPr sz="2250" b="1" i="0">
                <a:solidFill>
                  <a:srgbClr val="123B63"/>
                </a:solidFill>
                <a:latin typeface="Arial"/>
                <a:ea typeface="Arial"/>
                <a:cs typeface="Arial"/>
              </a:rPr>
              <a:t>Obaid Ishtiaq Satti</a:t>
            </a:r>
          </a:p>
        </p:txBody>
      </p:sp>
      <p:sp>
        <p:nvSpPr>
          <p:cNvPr id="16" name="">
            <a:extLst xmlns:a="http://schemas.openxmlformats.org/drawingml/2006/main">
              <a:ext uri="{FF2B5EF4-FFF2-40B4-BE49-F238E27FC236}">
                <a16:creationId xmlns:a16="http://schemas.microsoft.com/office/drawing/2014/main" id="{2A220F7A-8255-4E3C-9DD1-80422A3C26DA}"/>
              </a:ext>
            </a:extLst>
          </p:cNvPr>
          <p:cNvSpPr>
            <a:spLocks xmlns:a="http://schemas.openxmlformats.org/drawingml/2006/main" noGrp="1"/>
          </p:cNvSpPr>
          <p:nvPr/>
        </p:nvSpPr>
        <p:spPr>
          <a:xfrm xmlns:a="http://schemas.openxmlformats.org/drawingml/2006/main">
            <a:off x="11391900" y="3276600"/>
            <a:ext cx="50292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Primary responsibility</a:t>
            </a:r>
          </a:p>
          <a:p xmlns:a="http://schemas.openxmlformats.org/drawingml/2006/main">
            <a:r>
              <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Platform and interface</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Reporting</a:t>
            </a:r>
          </a:p>
          <a:p xmlns:a="http://schemas.openxmlformats.org/drawingml/2006/main">
            <a:pPr algn="l">
              <a:lnSpc>
                <a:spcPct val="105000"/>
              </a:lnSpc>
              <a:buNone/>
              <a:defRPr sz="1725" b="0" i="0">
                <a:solidFill>
                  <a:srgbClr val="5F7180"/>
                </a:solidFill>
                <a:latin typeface="Arial"/>
                <a:ea typeface="Arial"/>
                <a:cs typeface="Arial"/>
              </a:defRPr>
            </a:pPr>
            <a:r>
              <a:rPr sz="1725" b="0" i="0">
                <a:solidFill>
                  <a:srgbClr val="5F7180"/>
                </a:solidFill>
                <a:latin typeface="Arial"/>
                <a:ea typeface="Arial"/>
                <a:cs typeface="Arial"/>
              </a:rPr>
              <a:t>Deployment support</a:t>
            </a:r>
          </a:p>
        </p:txBody>
      </p:sp>
      <p:sp>
        <p:nvSpPr>
          <p:cNvPr id="17" name="">
            <a:extLst xmlns:a="http://schemas.openxmlformats.org/drawingml/2006/main">
              <a:ext uri="{FF2B5EF4-FFF2-40B4-BE49-F238E27FC236}">
                <a16:creationId xmlns:a16="http://schemas.microsoft.com/office/drawing/2014/main" id="{A10D58B1-F9A1-4762-8E7A-4BB4A434EACE}"/>
              </a:ext>
            </a:extLst>
          </p:cNvPr>
          <p:cNvSpPr>
            <a:spLocks xmlns:a="http://schemas.openxmlformats.org/drawingml/2006/main" noGrp="1"/>
          </p:cNvSpPr>
          <p:nvPr/>
        </p:nvSpPr>
        <p:spPr>
          <a:xfrm xmlns:a="http://schemas.openxmlformats.org/drawingml/2006/main">
            <a:off x="876300" y="6362700"/>
            <a:ext cx="15773400" cy="1809750"/>
          </a:xfrm>
          <a:prstGeom xmlns:a="http://schemas.openxmlformats.org/drawingml/2006/main" prst="roundRect">
            <a:avLst>
              <a:gd name="adj" fmla="val 4211"/>
            </a:avLst>
          </a:prstGeom>
          <a:solidFill xmlns:a="http://schemas.openxmlformats.org/drawingml/2006/main">
            <a:srgbClr val="123B6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00DAC1A-0318-4F39-BECD-FF24CF3BDD2C}"/>
              </a:ext>
            </a:extLst>
          </p:cNvPr>
          <p:cNvSpPr>
            <a:spLocks xmlns:a="http://schemas.openxmlformats.org/drawingml/2006/main" noGrp="1"/>
          </p:cNvSpPr>
          <p:nvPr/>
        </p:nvSpPr>
        <p:spPr>
          <a:xfrm xmlns:a="http://schemas.openxmlformats.org/drawingml/2006/main">
            <a:off x="1219200" y="67056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79A9C8"/>
                </a:solidFill>
                <a:latin typeface="Arial"/>
                <a:ea typeface="Arial"/>
                <a:cs typeface="Arial"/>
              </a:defRPr>
            </a:pPr>
            <a:r>
              <a:rPr sz="1875" b="1" i="0">
                <a:solidFill>
                  <a:srgbClr val="79A9C8"/>
                </a:solidFill>
                <a:latin typeface="Arial"/>
                <a:ea typeface="Arial"/>
                <a:cs typeface="Arial"/>
              </a:rPr>
              <a:t>Shared across the team</a:t>
            </a:r>
          </a:p>
        </p:txBody>
      </p:sp>
      <p:sp>
        <p:nvSpPr>
          <p:cNvPr id="19" name="">
            <a:extLst xmlns:a="http://schemas.openxmlformats.org/drawingml/2006/main">
              <a:ext uri="{FF2B5EF4-FFF2-40B4-BE49-F238E27FC236}">
                <a16:creationId xmlns:a16="http://schemas.microsoft.com/office/drawing/2014/main" id="{66A01A11-F1CE-4FDE-A908-C44CE25666E9}"/>
              </a:ext>
            </a:extLst>
          </p:cNvPr>
          <p:cNvSpPr>
            <a:spLocks xmlns:a="http://schemas.openxmlformats.org/drawingml/2006/main" noGrp="1"/>
          </p:cNvSpPr>
          <p:nvPr/>
        </p:nvSpPr>
        <p:spPr>
          <a:xfrm xmlns:a="http://schemas.openxmlformats.org/drawingml/2006/main">
            <a:off x="1219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Integration</a:t>
            </a:r>
          </a:p>
        </p:txBody>
      </p:sp>
      <p:sp>
        <p:nvSpPr>
          <p:cNvPr id="20" name="">
            <a:extLst xmlns:a="http://schemas.openxmlformats.org/drawingml/2006/main">
              <a:ext uri="{FF2B5EF4-FFF2-40B4-BE49-F238E27FC236}">
                <a16:creationId xmlns:a16="http://schemas.microsoft.com/office/drawing/2014/main" id="{C1663240-AF9E-48A1-BB33-D3242348FCD5}"/>
              </a:ext>
            </a:extLst>
          </p:cNvPr>
          <p:cNvSpPr>
            <a:spLocks xmlns:a="http://schemas.openxmlformats.org/drawingml/2006/main" noGrp="1"/>
          </p:cNvSpPr>
          <p:nvPr/>
        </p:nvSpPr>
        <p:spPr>
          <a:xfrm xmlns:a="http://schemas.openxmlformats.org/drawingml/2006/main">
            <a:off x="59817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Testing</a:t>
            </a:r>
          </a:p>
        </p:txBody>
      </p:sp>
      <p:sp>
        <p:nvSpPr>
          <p:cNvPr id="21" name="">
            <a:extLst xmlns:a="http://schemas.openxmlformats.org/drawingml/2006/main">
              <a:ext uri="{FF2B5EF4-FFF2-40B4-BE49-F238E27FC236}">
                <a16:creationId xmlns:a16="http://schemas.microsoft.com/office/drawing/2014/main" id="{B2622140-0656-426B-B991-BF89AD5B6CEF}"/>
              </a:ext>
            </a:extLst>
          </p:cNvPr>
          <p:cNvSpPr>
            <a:spLocks xmlns:a="http://schemas.openxmlformats.org/drawingml/2006/main" noGrp="1"/>
          </p:cNvSpPr>
          <p:nvPr/>
        </p:nvSpPr>
        <p:spPr>
          <a:xfrm xmlns:a="http://schemas.openxmlformats.org/drawingml/2006/main">
            <a:off x="10744200" y="73342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8FF39B6B-39D5-4B36-8989-B15B51D6FFA7}"/>
              </a:ext>
            </a:extLst>
          </p:cNvPr>
          <p:cNvSpPr>
            <a:spLocks xmlns:a="http://schemas.openxmlformats.org/drawingml/2006/main" noGrp="1"/>
          </p:cNvSpPr>
          <p:nvPr/>
        </p:nvSpPr>
        <p:spPr>
          <a:xfrm xmlns:a="http://schemas.openxmlformats.org/drawingml/2006/main">
            <a:off x="1219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Debugging</a:t>
            </a:r>
          </a:p>
        </p:txBody>
      </p:sp>
      <p:sp>
        <p:nvSpPr>
          <p:cNvPr id="23" name="">
            <a:extLst xmlns:a="http://schemas.openxmlformats.org/drawingml/2006/main">
              <a:ext uri="{FF2B5EF4-FFF2-40B4-BE49-F238E27FC236}">
                <a16:creationId xmlns:a16="http://schemas.microsoft.com/office/drawing/2014/main" id="{AB6905F4-05FE-4564-95B1-012B925E6311}"/>
              </a:ext>
            </a:extLst>
          </p:cNvPr>
          <p:cNvSpPr>
            <a:spLocks xmlns:a="http://schemas.openxmlformats.org/drawingml/2006/main" noGrp="1"/>
          </p:cNvSpPr>
          <p:nvPr/>
        </p:nvSpPr>
        <p:spPr>
          <a:xfrm xmlns:a="http://schemas.openxmlformats.org/drawingml/2006/main">
            <a:off x="59817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Performance evaluation</a:t>
            </a:r>
          </a:p>
        </p:txBody>
      </p:sp>
      <p:sp>
        <p:nvSpPr>
          <p:cNvPr id="24" name="">
            <a:extLst xmlns:a="http://schemas.openxmlformats.org/drawingml/2006/main">
              <a:ext uri="{FF2B5EF4-FFF2-40B4-BE49-F238E27FC236}">
                <a16:creationId xmlns:a16="http://schemas.microsoft.com/office/drawing/2014/main" id="{7793B870-606B-4E26-823D-781F5CFD9C46}"/>
              </a:ext>
            </a:extLst>
          </p:cNvPr>
          <p:cNvSpPr>
            <a:spLocks xmlns:a="http://schemas.openxmlformats.org/drawingml/2006/main" noGrp="1"/>
          </p:cNvSpPr>
          <p:nvPr/>
        </p:nvSpPr>
        <p:spPr>
          <a:xfrm xmlns:a="http://schemas.openxmlformats.org/drawingml/2006/main">
            <a:off x="10744200" y="7905750"/>
            <a:ext cx="4191000" cy="419100"/>
          </a:xfrm>
          <a:prstGeom xmlns:a="http://schemas.openxmlformats.org/drawingml/2006/main" prst="roundRect">
            <a:avLst>
              <a:gd name="adj" fmla="val 18182"/>
            </a:avLst>
          </a:prstGeom>
          <a:solidFill xmlns:a="http://schemas.openxmlformats.org/drawingml/2006/main">
            <a:srgbClr val="E8EF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425" b="1">
                <a:solidFill>
                  <a:srgbClr val="123B63"/>
                </a:solidFill>
                <a:latin typeface="Arial"/>
                <a:ea typeface="Arial"/>
                <a:cs typeface="Arial"/>
              </a:defRPr>
            </a:pPr>
            <a:r>
              <a:rPr sz="1425" b="1">
                <a:solidFill>
                  <a:srgbClr val="123B63"/>
                </a:solidFill>
                <a:latin typeface="Arial"/>
                <a:ea typeface="Arial"/>
                <a:cs typeface="Arial"/>
              </a:rPr>
              <a:t>Documentation</a:t>
            </a:r>
          </a:p>
        </p:txBody>
      </p:sp>
    </p:spTree>
    <p:extLst>
      <p:ext uri="{BB962C8B-B14F-4D97-AF65-F5344CB8AC3E}">
        <p14:creationId xmlns:p14="http://schemas.microsoft.com/office/powerpoint/2010/main" val="214144829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34BCF5A-B23D-4FE3-9850-36AD06731786}"/>
              </a:ext>
            </a:extLst>
          </p:cNvPr>
          <p:cNvSpPr>
            <a:spLocks xmlns:a="http://schemas.openxmlformats.org/drawingml/2006/main" noGrp="1"/>
          </p:cNvSpPr>
          <p:nvPr/>
        </p:nvSpPr>
        <p:spPr>
          <a:xfrm xmlns:a="http://schemas.openxmlformats.org/drawingml/2006/main">
            <a:off x="876300" y="4381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i="0">
                <a:solidFill>
                  <a:srgbClr val="2D8B84"/>
                </a:solidFill>
                <a:latin typeface="Arial"/>
                <a:ea typeface="Arial"/>
                <a:cs typeface="Arial"/>
              </a:defRPr>
            </a:pPr>
            <a:r>
              <a:rPr sz="1425" b="1" i="0">
                <a:solidFill>
                  <a:srgbClr val="2D8B84"/>
                </a:solidFill>
                <a:latin typeface="Arial"/>
                <a:ea typeface="Arial"/>
                <a:cs typeface="Arial"/>
              </a:rPr>
              <a:t>11 / IMPACT</a:t>
            </a:r>
          </a:p>
        </p:txBody>
      </p:sp>
      <p:sp>
        <p:nvSpPr>
          <p:cNvPr id="2" name="">
            <a:extLst xmlns:a="http://schemas.openxmlformats.org/drawingml/2006/main">
              <a:ext uri="{FF2B5EF4-FFF2-40B4-BE49-F238E27FC236}">
                <a16:creationId xmlns:a16="http://schemas.microsoft.com/office/drawing/2014/main" id="{B39FA0B6-CA8D-4CBD-9A8C-7FC0D74DD579}"/>
              </a:ext>
            </a:extLst>
          </p:cNvPr>
          <p:cNvSpPr>
            <a:spLocks xmlns:a="http://schemas.openxmlformats.org/drawingml/2006/main" noGrp="1"/>
          </p:cNvSpPr>
          <p:nvPr/>
        </p:nvSpPr>
        <p:spPr>
          <a:xfrm xmlns:a="http://schemas.openxmlformats.org/drawingml/2006/main">
            <a:off x="876300" y="838200"/>
            <a:ext cx="1628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050" b="1" i="0">
                <a:solidFill>
                  <a:srgbClr val="123B63"/>
                </a:solidFill>
                <a:latin typeface="Arial"/>
                <a:ea typeface="Arial"/>
                <a:cs typeface="Arial"/>
              </a:defRPr>
            </a:pPr>
            <a:r>
              <a:rPr sz="4050" b="1" i="0">
                <a:solidFill>
                  <a:srgbClr val="123B63"/>
                </a:solidFill>
                <a:latin typeface="Arial"/>
                <a:ea typeface="Arial"/>
                <a:cs typeface="Arial"/>
              </a:rPr>
              <a:t>Who will use the proposed system?</a:t>
            </a:r>
          </a:p>
        </p:txBody>
      </p:sp>
      <p:sp>
        <p:nvSpPr>
          <p:cNvPr id="3" name="">
            <a:extLst xmlns:a="http://schemas.openxmlformats.org/drawingml/2006/main">
              <a:ext uri="{FF2B5EF4-FFF2-40B4-BE49-F238E27FC236}">
                <a16:creationId xmlns:a16="http://schemas.microsoft.com/office/drawing/2014/main" id="{287F5AFA-4AA7-41CF-966F-3E4BBDF59A03}"/>
              </a:ext>
            </a:extLst>
          </p:cNvPr>
          <p:cNvSpPr>
            <a:spLocks xmlns:a="http://schemas.openxmlformats.org/drawingml/2006/main" noGrp="1"/>
          </p:cNvSpPr>
          <p:nvPr/>
        </p:nvSpPr>
        <p:spPr>
          <a:xfrm xmlns:a="http://schemas.openxmlformats.org/drawingml/2006/main">
            <a:off x="876300" y="1790700"/>
            <a:ext cx="165354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4" name="">
            <a:extLst xmlns:a="http://schemas.openxmlformats.org/drawingml/2006/main">
              <a:ext uri="{FF2B5EF4-FFF2-40B4-BE49-F238E27FC236}">
                <a16:creationId xmlns:a16="http://schemas.microsoft.com/office/drawing/2014/main" id="{17B17D79-A923-4554-A033-BD6A623E747B}"/>
              </a:ext>
            </a:extLst>
          </p:cNvPr>
          <p:cNvSpPr>
            <a:spLocks xmlns:a="http://schemas.openxmlformats.org/drawingml/2006/main" noGrp="1"/>
          </p:cNvSpPr>
          <p:nvPr/>
        </p:nvSpPr>
        <p:spPr>
          <a:xfrm xmlns:a="http://schemas.openxmlformats.org/drawingml/2006/main">
            <a:off x="16764000" y="9525000"/>
            <a:ext cx="647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1" i="0">
                <a:solidFill>
                  <a:srgbClr val="79A9C8"/>
                </a:solidFill>
                <a:latin typeface="Arial"/>
                <a:ea typeface="Arial"/>
                <a:cs typeface="Arial"/>
              </a:defRPr>
            </a:pPr>
            <a:r>
              <a:rPr sz="1350" b="1" i="0">
                <a:solidFill>
                  <a:srgbClr val="79A9C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34CEE9D-1074-4AD6-B7CB-B1407E324D2B}"/>
              </a:ext>
            </a:extLst>
          </p:cNvPr>
          <p:cNvSpPr>
            <a:spLocks xmlns:a="http://schemas.openxmlformats.org/drawingml/2006/main" noGrp="1"/>
          </p:cNvSpPr>
          <p:nvPr/>
        </p:nvSpPr>
        <p:spPr>
          <a:xfrm xmlns:a="http://schemas.openxmlformats.org/drawingml/2006/main">
            <a:off x="8763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6" name="">
            <a:extLst xmlns:a="http://schemas.openxmlformats.org/drawingml/2006/main">
              <a:ext uri="{FF2B5EF4-FFF2-40B4-BE49-F238E27FC236}">
                <a16:creationId xmlns:a16="http://schemas.microsoft.com/office/drawing/2014/main" id="{785CEF8C-83D9-41DA-87E0-F1448E962D7A}"/>
              </a:ext>
            </a:extLst>
          </p:cNvPr>
          <p:cNvSpPr>
            <a:spLocks xmlns:a="http://schemas.openxmlformats.org/drawingml/2006/main" noGrp="1"/>
          </p:cNvSpPr>
          <p:nvPr/>
        </p:nvSpPr>
        <p:spPr>
          <a:xfrm xmlns:a="http://schemas.openxmlformats.org/drawingml/2006/main">
            <a:off x="876300" y="2476500"/>
            <a:ext cx="85725" cy="27241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8EE916-8C2E-4D99-A71A-F07DD98588BC}"/>
              </a:ext>
            </a:extLst>
          </p:cNvPr>
          <p:cNvSpPr>
            <a:spLocks xmlns:a="http://schemas.openxmlformats.org/drawingml/2006/main" noGrp="1"/>
          </p:cNvSpPr>
          <p:nvPr/>
        </p:nvSpPr>
        <p:spPr>
          <a:xfrm xmlns:a="http://schemas.openxmlformats.org/drawingml/2006/main">
            <a:off x="11430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Penetration testing firms</a:t>
            </a:r>
          </a:p>
        </p:txBody>
      </p:sp>
      <p:sp>
        <p:nvSpPr>
          <p:cNvPr id="8" name="">
            <a:extLst xmlns:a="http://schemas.openxmlformats.org/drawingml/2006/main">
              <a:ext uri="{FF2B5EF4-FFF2-40B4-BE49-F238E27FC236}">
                <a16:creationId xmlns:a16="http://schemas.microsoft.com/office/drawing/2014/main" id="{49A91589-7827-47AC-8C4B-1FA38457BC15}"/>
              </a:ext>
            </a:extLst>
          </p:cNvPr>
          <p:cNvSpPr>
            <a:spLocks xmlns:a="http://schemas.openxmlformats.org/drawingml/2006/main" noGrp="1"/>
          </p:cNvSpPr>
          <p:nvPr/>
        </p:nvSpPr>
        <p:spPr>
          <a:xfrm xmlns:a="http://schemas.openxmlformats.org/drawingml/2006/main">
            <a:off x="11430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Repeatable external assessments across wide client surfaces.</a:t>
            </a:r>
          </a:p>
        </p:txBody>
      </p:sp>
      <p:sp>
        <p:nvSpPr>
          <p:cNvPr id="9" name="">
            <a:extLst xmlns:a="http://schemas.openxmlformats.org/drawingml/2006/main">
              <a:ext uri="{FF2B5EF4-FFF2-40B4-BE49-F238E27FC236}">
                <a16:creationId xmlns:a16="http://schemas.microsoft.com/office/drawing/2014/main" id="{9B517829-CA9C-453A-A722-F44749F246B9}"/>
              </a:ext>
            </a:extLst>
          </p:cNvPr>
          <p:cNvSpPr>
            <a:spLocks xmlns:a="http://schemas.openxmlformats.org/drawingml/2006/main" noGrp="1"/>
          </p:cNvSpPr>
          <p:nvPr/>
        </p:nvSpPr>
        <p:spPr>
          <a:xfrm xmlns:a="http://schemas.openxmlformats.org/drawingml/2006/main">
            <a:off x="48196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0" name="">
            <a:extLst xmlns:a="http://schemas.openxmlformats.org/drawingml/2006/main">
              <a:ext uri="{FF2B5EF4-FFF2-40B4-BE49-F238E27FC236}">
                <a16:creationId xmlns:a16="http://schemas.microsoft.com/office/drawing/2014/main" id="{46A875A3-ABDC-429A-AC2D-16347DA47482}"/>
              </a:ext>
            </a:extLst>
          </p:cNvPr>
          <p:cNvSpPr>
            <a:spLocks xmlns:a="http://schemas.openxmlformats.org/drawingml/2006/main" noGrp="1"/>
          </p:cNvSpPr>
          <p:nvPr/>
        </p:nvSpPr>
        <p:spPr>
          <a:xfrm xmlns:a="http://schemas.openxmlformats.org/drawingml/2006/main">
            <a:off x="4819650" y="2476500"/>
            <a:ext cx="85725" cy="27241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B27F3A-AF66-4B55-83C6-E809B90C1BFC}"/>
              </a:ext>
            </a:extLst>
          </p:cNvPr>
          <p:cNvSpPr>
            <a:spLocks xmlns:a="http://schemas.openxmlformats.org/drawingml/2006/main" noGrp="1"/>
          </p:cNvSpPr>
          <p:nvPr/>
        </p:nvSpPr>
        <p:spPr>
          <a:xfrm xmlns:a="http://schemas.openxmlformats.org/drawingml/2006/main">
            <a:off x="50863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Internal security teams</a:t>
            </a:r>
          </a:p>
        </p:txBody>
      </p:sp>
      <p:sp>
        <p:nvSpPr>
          <p:cNvPr id="12" name="">
            <a:extLst xmlns:a="http://schemas.openxmlformats.org/drawingml/2006/main">
              <a:ext uri="{FF2B5EF4-FFF2-40B4-BE49-F238E27FC236}">
                <a16:creationId xmlns:a16="http://schemas.microsoft.com/office/drawing/2014/main" id="{93FE53CD-58F5-4E3F-AE7B-FA57A958A25B}"/>
              </a:ext>
            </a:extLst>
          </p:cNvPr>
          <p:cNvSpPr>
            <a:spLocks xmlns:a="http://schemas.openxmlformats.org/drawingml/2006/main" noGrp="1"/>
          </p:cNvSpPr>
          <p:nvPr/>
        </p:nvSpPr>
        <p:spPr>
          <a:xfrm xmlns:a="http://schemas.openxmlformats.org/drawingml/2006/main">
            <a:off x="50863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Continuous visibility and evidence across changing infrastructure.</a:t>
            </a:r>
          </a:p>
        </p:txBody>
      </p:sp>
      <p:sp>
        <p:nvSpPr>
          <p:cNvPr id="13" name="">
            <a:extLst xmlns:a="http://schemas.openxmlformats.org/drawingml/2006/main">
              <a:ext uri="{FF2B5EF4-FFF2-40B4-BE49-F238E27FC236}">
                <a16:creationId xmlns:a16="http://schemas.microsoft.com/office/drawing/2014/main" id="{7091D45B-1AB8-4DD9-8992-29FF9C0EAD64}"/>
              </a:ext>
            </a:extLst>
          </p:cNvPr>
          <p:cNvSpPr>
            <a:spLocks xmlns:a="http://schemas.openxmlformats.org/drawingml/2006/main" noGrp="1"/>
          </p:cNvSpPr>
          <p:nvPr/>
        </p:nvSpPr>
        <p:spPr>
          <a:xfrm xmlns:a="http://schemas.openxmlformats.org/drawingml/2006/main">
            <a:off x="876300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4" name="">
            <a:extLst xmlns:a="http://schemas.openxmlformats.org/drawingml/2006/main">
              <a:ext uri="{FF2B5EF4-FFF2-40B4-BE49-F238E27FC236}">
                <a16:creationId xmlns:a16="http://schemas.microsoft.com/office/drawing/2014/main" id="{A2410E6D-FB85-4D58-9FA4-01527BD937A9}"/>
              </a:ext>
            </a:extLst>
          </p:cNvPr>
          <p:cNvSpPr>
            <a:spLocks xmlns:a="http://schemas.openxmlformats.org/drawingml/2006/main" noGrp="1"/>
          </p:cNvSpPr>
          <p:nvPr/>
        </p:nvSpPr>
        <p:spPr>
          <a:xfrm xmlns:a="http://schemas.openxmlformats.org/drawingml/2006/main">
            <a:off x="8763000" y="2476500"/>
            <a:ext cx="85725" cy="27241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D21BB2-4F55-4B8C-9C01-A2696F04556B}"/>
              </a:ext>
            </a:extLst>
          </p:cNvPr>
          <p:cNvSpPr>
            <a:spLocks xmlns:a="http://schemas.openxmlformats.org/drawingml/2006/main" noGrp="1"/>
          </p:cNvSpPr>
          <p:nvPr/>
        </p:nvSpPr>
        <p:spPr>
          <a:xfrm xmlns:a="http://schemas.openxmlformats.org/drawingml/2006/main">
            <a:off x="902970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39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Managed security providers</a:t>
            </a:r>
          </a:p>
        </p:txBody>
      </p:sp>
      <p:sp>
        <p:nvSpPr>
          <p:cNvPr id="16" name="">
            <a:extLst xmlns:a="http://schemas.openxmlformats.org/drawingml/2006/main">
              <a:ext uri="{FF2B5EF4-FFF2-40B4-BE49-F238E27FC236}">
                <a16:creationId xmlns:a16="http://schemas.microsoft.com/office/drawing/2014/main" id="{F3F5F7B8-AEF6-40A1-BDA1-EACD1CF0B738}"/>
              </a:ext>
            </a:extLst>
          </p:cNvPr>
          <p:cNvSpPr>
            <a:spLocks xmlns:a="http://schemas.openxmlformats.org/drawingml/2006/main" noGrp="1"/>
          </p:cNvSpPr>
          <p:nvPr/>
        </p:nvSpPr>
        <p:spPr>
          <a:xfrm xmlns:a="http://schemas.openxmlformats.org/drawingml/2006/main">
            <a:off x="902970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Standardized multi-engagement execution and reporting.</a:t>
            </a:r>
          </a:p>
        </p:txBody>
      </p:sp>
      <p:sp>
        <p:nvSpPr>
          <p:cNvPr id="17" name="">
            <a:extLst xmlns:a="http://schemas.openxmlformats.org/drawingml/2006/main">
              <a:ext uri="{FF2B5EF4-FFF2-40B4-BE49-F238E27FC236}">
                <a16:creationId xmlns:a16="http://schemas.microsoft.com/office/drawing/2014/main" id="{537AD0B4-9D3E-4077-9870-48A29D3D152C}"/>
              </a:ext>
            </a:extLst>
          </p:cNvPr>
          <p:cNvSpPr>
            <a:spLocks xmlns:a="http://schemas.openxmlformats.org/drawingml/2006/main" noGrp="1"/>
          </p:cNvSpPr>
          <p:nvPr/>
        </p:nvSpPr>
        <p:spPr>
          <a:xfrm xmlns:a="http://schemas.openxmlformats.org/drawingml/2006/main">
            <a:off x="12706350" y="2476500"/>
            <a:ext cx="3695700" cy="2724150"/>
          </a:xfrm>
          <a:prstGeom xmlns:a="http://schemas.openxmlformats.org/drawingml/2006/main" prst="roundRect">
            <a:avLst>
              <a:gd name="adj" fmla="val 2797"/>
            </a:avLst>
          </a:prstGeom>
          <a:solidFill xmlns:a="http://schemas.openxmlformats.org/drawingml/2006/main">
            <a:srgbClr val="FFFDF9"/>
          </a:solidFill>
          <a:ln xmlns:a="http://schemas.openxmlformats.org/drawingml/2006/main" w="19050">
            <a:solidFill>
              <a:srgbClr val="CAD6DE"/>
            </a:solidFill>
          </a:ln>
        </p:spPr>
      </p:sp>
      <p:sp>
        <p:nvSpPr>
          <p:cNvPr id="18" name="">
            <a:extLst xmlns:a="http://schemas.openxmlformats.org/drawingml/2006/main">
              <a:ext uri="{FF2B5EF4-FFF2-40B4-BE49-F238E27FC236}">
                <a16:creationId xmlns:a16="http://schemas.microsoft.com/office/drawing/2014/main" id="{744DE0FD-FBBF-4BEE-B063-79068B099814}"/>
              </a:ext>
            </a:extLst>
          </p:cNvPr>
          <p:cNvSpPr>
            <a:spLocks xmlns:a="http://schemas.openxmlformats.org/drawingml/2006/main" noGrp="1"/>
          </p:cNvSpPr>
          <p:nvPr/>
        </p:nvSpPr>
        <p:spPr>
          <a:xfrm xmlns:a="http://schemas.openxmlformats.org/drawingml/2006/main">
            <a:off x="12706350" y="2476500"/>
            <a:ext cx="85725" cy="2724150"/>
          </a:xfrm>
          <a:prstGeom xmlns:a="http://schemas.openxmlformats.org/drawingml/2006/main" prst="rect">
            <a:avLst/>
          </a:prstGeom>
          <a:solidFill xmlns:a="http://schemas.openxmlformats.org/drawingml/2006/main">
            <a:srgbClr val="4F8B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4FDD74-4AA7-4BA5-B5C2-9F65072EB4CD}"/>
              </a:ext>
            </a:extLst>
          </p:cNvPr>
          <p:cNvSpPr>
            <a:spLocks xmlns:a="http://schemas.openxmlformats.org/drawingml/2006/main" noGrp="1"/>
          </p:cNvSpPr>
          <p:nvPr/>
        </p:nvSpPr>
        <p:spPr>
          <a:xfrm xmlns:a="http://schemas.openxmlformats.org/drawingml/2006/main">
            <a:off x="12973050" y="26860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i="0">
                <a:solidFill>
                  <a:srgbClr val="123B63"/>
                </a:solidFill>
                <a:latin typeface="Arial"/>
                <a:ea typeface="Arial"/>
                <a:cs typeface="Arial"/>
              </a:defRPr>
            </a:pPr>
            <a:r>
              <a:rPr sz="1950" b="1" i="0">
                <a:solidFill>
                  <a:srgbClr val="123B63"/>
                </a:solidFill>
                <a:latin typeface="Arial"/>
                <a:ea typeface="Arial"/>
                <a:cs typeface="Arial"/>
              </a:rPr>
              <a:t>DevSecOps teams</a:t>
            </a:r>
          </a:p>
        </p:txBody>
      </p:sp>
      <p:sp>
        <p:nvSpPr>
          <p:cNvPr id="20" name="">
            <a:extLst xmlns:a="http://schemas.openxmlformats.org/drawingml/2006/main">
              <a:ext uri="{FF2B5EF4-FFF2-40B4-BE49-F238E27FC236}">
                <a16:creationId xmlns:a16="http://schemas.microsoft.com/office/drawing/2014/main" id="{C2E918FD-EF26-4208-B3CB-9F0AD644EDBA}"/>
              </a:ext>
            </a:extLst>
          </p:cNvPr>
          <p:cNvSpPr>
            <a:spLocks xmlns:a="http://schemas.openxmlformats.org/drawingml/2006/main" noGrp="1"/>
          </p:cNvSpPr>
          <p:nvPr/>
        </p:nvSpPr>
        <p:spPr>
          <a:xfrm xmlns:a="http://schemas.openxmlformats.org/drawingml/2006/main">
            <a:off x="12973050" y="3219450"/>
            <a:ext cx="320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Security assessment integrated into engineering workflows.</a:t>
            </a:r>
          </a:p>
        </p:txBody>
      </p:sp>
      <p:sp>
        <p:nvSpPr>
          <p:cNvPr id="21" name="">
            <a:extLst xmlns:a="http://schemas.openxmlformats.org/drawingml/2006/main">
              <a:ext uri="{FF2B5EF4-FFF2-40B4-BE49-F238E27FC236}">
                <a16:creationId xmlns:a16="http://schemas.microsoft.com/office/drawing/2014/main" id="{428C521B-491C-4621-BC4B-92ECDAF6B5AB}"/>
              </a:ext>
            </a:extLst>
          </p:cNvPr>
          <p:cNvSpPr>
            <a:spLocks xmlns:a="http://schemas.openxmlformats.org/drawingml/2006/main" noGrp="1"/>
          </p:cNvSpPr>
          <p:nvPr/>
        </p:nvSpPr>
        <p:spPr>
          <a:xfrm xmlns:a="http://schemas.openxmlformats.org/drawingml/2006/main">
            <a:off x="876300" y="58483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2D8B84"/>
                </a:solidFill>
                <a:latin typeface="Arial"/>
                <a:ea typeface="Arial"/>
                <a:cs typeface="Arial"/>
              </a:defRPr>
            </a:pPr>
            <a:r>
              <a:rPr sz="1875" b="1" i="0">
                <a:solidFill>
                  <a:srgbClr val="2D8B84"/>
                </a:solidFill>
                <a:latin typeface="Arial"/>
                <a:ea typeface="Arial"/>
                <a:cs typeface="Arial"/>
              </a:rPr>
              <a:t>UN Sustainable Development Goal alignment</a:t>
            </a:r>
          </a:p>
        </p:txBody>
      </p:sp>
      <p:sp>
        <p:nvSpPr>
          <p:cNvPr id="22" name="">
            <a:extLst xmlns:a="http://schemas.openxmlformats.org/drawingml/2006/main">
              <a:ext uri="{FF2B5EF4-FFF2-40B4-BE49-F238E27FC236}">
                <a16:creationId xmlns:a16="http://schemas.microsoft.com/office/drawing/2014/main" id="{667E605A-874D-4C7C-B81C-5F95B5FB823F}"/>
              </a:ext>
            </a:extLst>
          </p:cNvPr>
          <p:cNvSpPr>
            <a:spLocks xmlns:a="http://schemas.openxmlformats.org/drawingml/2006/main" noGrp="1"/>
          </p:cNvSpPr>
          <p:nvPr/>
        </p:nvSpPr>
        <p:spPr>
          <a:xfrm xmlns:a="http://schemas.openxmlformats.org/drawingml/2006/main">
            <a:off x="87630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3" name="">
            <a:extLst xmlns:a="http://schemas.openxmlformats.org/drawingml/2006/main">
              <a:ext uri="{FF2B5EF4-FFF2-40B4-BE49-F238E27FC236}">
                <a16:creationId xmlns:a16="http://schemas.microsoft.com/office/drawing/2014/main" id="{2E89A8C4-73D7-42A8-B50E-288C578A6929}"/>
              </a:ext>
            </a:extLst>
          </p:cNvPr>
          <p:cNvSpPr>
            <a:spLocks xmlns:a="http://schemas.openxmlformats.org/drawingml/2006/main" noGrp="1"/>
          </p:cNvSpPr>
          <p:nvPr/>
        </p:nvSpPr>
        <p:spPr>
          <a:xfrm xmlns:a="http://schemas.openxmlformats.org/drawingml/2006/main">
            <a:off x="876300" y="6496050"/>
            <a:ext cx="85725" cy="1695450"/>
          </a:xfrm>
          <a:prstGeom xmlns:a="http://schemas.openxmlformats.org/drawingml/2006/main" prst="rect">
            <a:avLst/>
          </a:prstGeom>
          <a:solidFill xmlns:a="http://schemas.openxmlformats.org/drawingml/2006/main">
            <a:srgbClr val="2C669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36A1372-05C5-4B8E-8A74-D539495D9410}"/>
              </a:ext>
            </a:extLst>
          </p:cNvPr>
          <p:cNvSpPr>
            <a:spLocks xmlns:a="http://schemas.openxmlformats.org/drawingml/2006/main" noGrp="1"/>
          </p:cNvSpPr>
          <p:nvPr/>
        </p:nvSpPr>
        <p:spPr>
          <a:xfrm xmlns:a="http://schemas.openxmlformats.org/drawingml/2006/main">
            <a:off x="114300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9</a:t>
            </a:r>
          </a:p>
        </p:txBody>
      </p:sp>
      <p:sp>
        <p:nvSpPr>
          <p:cNvPr id="25" name="">
            <a:extLst xmlns:a="http://schemas.openxmlformats.org/drawingml/2006/main">
              <a:ext uri="{FF2B5EF4-FFF2-40B4-BE49-F238E27FC236}">
                <a16:creationId xmlns:a16="http://schemas.microsoft.com/office/drawing/2014/main" id="{C64D8CB6-8775-450C-B574-86D948E01979}"/>
              </a:ext>
            </a:extLst>
          </p:cNvPr>
          <p:cNvSpPr>
            <a:spLocks xmlns:a="http://schemas.openxmlformats.org/drawingml/2006/main" noGrp="1"/>
          </p:cNvSpPr>
          <p:nvPr/>
        </p:nvSpPr>
        <p:spPr>
          <a:xfrm xmlns:a="http://schemas.openxmlformats.org/drawingml/2006/main">
            <a:off x="114300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Industry, innovation and resilient infrastructure.</a:t>
            </a:r>
          </a:p>
        </p:txBody>
      </p:sp>
      <p:sp>
        <p:nvSpPr>
          <p:cNvPr id="26" name="">
            <a:extLst xmlns:a="http://schemas.openxmlformats.org/drawingml/2006/main">
              <a:ext uri="{FF2B5EF4-FFF2-40B4-BE49-F238E27FC236}">
                <a16:creationId xmlns:a16="http://schemas.microsoft.com/office/drawing/2014/main" id="{5CF46231-4078-4EAC-B12E-92AD7E31ED87}"/>
              </a:ext>
            </a:extLst>
          </p:cNvPr>
          <p:cNvSpPr>
            <a:spLocks xmlns:a="http://schemas.openxmlformats.org/drawingml/2006/main" noGrp="1"/>
          </p:cNvSpPr>
          <p:nvPr/>
        </p:nvSpPr>
        <p:spPr>
          <a:xfrm xmlns:a="http://schemas.openxmlformats.org/drawingml/2006/main">
            <a:off x="6000750" y="6496050"/>
            <a:ext cx="48768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27" name="">
            <a:extLst xmlns:a="http://schemas.openxmlformats.org/drawingml/2006/main">
              <a:ext uri="{FF2B5EF4-FFF2-40B4-BE49-F238E27FC236}">
                <a16:creationId xmlns:a16="http://schemas.microsoft.com/office/drawing/2014/main" id="{C6D59C55-3DDA-40E6-9886-A5D1DF2FBD12}"/>
              </a:ext>
            </a:extLst>
          </p:cNvPr>
          <p:cNvSpPr>
            <a:spLocks xmlns:a="http://schemas.openxmlformats.org/drawingml/2006/main" noGrp="1"/>
          </p:cNvSpPr>
          <p:nvPr/>
        </p:nvSpPr>
        <p:spPr>
          <a:xfrm xmlns:a="http://schemas.openxmlformats.org/drawingml/2006/main">
            <a:off x="6000750" y="6496050"/>
            <a:ext cx="85725" cy="1695450"/>
          </a:xfrm>
          <a:prstGeom xmlns:a="http://schemas.openxmlformats.org/drawingml/2006/main" prst="rect">
            <a:avLst/>
          </a:prstGeom>
          <a:solidFill xmlns:a="http://schemas.openxmlformats.org/drawingml/2006/main">
            <a:srgbClr val="2D8B8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348D0B5-41D5-41FC-9ECA-B0D909F9F19B}"/>
              </a:ext>
            </a:extLst>
          </p:cNvPr>
          <p:cNvSpPr>
            <a:spLocks xmlns:a="http://schemas.openxmlformats.org/drawingml/2006/main" noGrp="1"/>
          </p:cNvSpPr>
          <p:nvPr/>
        </p:nvSpPr>
        <p:spPr>
          <a:xfrm xmlns:a="http://schemas.openxmlformats.org/drawingml/2006/main">
            <a:off x="6267450" y="67056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16</a:t>
            </a:r>
          </a:p>
        </p:txBody>
      </p:sp>
      <p:sp>
        <p:nvSpPr>
          <p:cNvPr id="29" name="">
            <a:extLst xmlns:a="http://schemas.openxmlformats.org/drawingml/2006/main">
              <a:ext uri="{FF2B5EF4-FFF2-40B4-BE49-F238E27FC236}">
                <a16:creationId xmlns:a16="http://schemas.microsoft.com/office/drawing/2014/main" id="{804B9098-458A-4B6C-9FCB-E7C2AE41D2E7}"/>
              </a:ext>
            </a:extLst>
          </p:cNvPr>
          <p:cNvSpPr>
            <a:spLocks xmlns:a="http://schemas.openxmlformats.org/drawingml/2006/main" noGrp="1"/>
          </p:cNvSpPr>
          <p:nvPr/>
        </p:nvSpPr>
        <p:spPr>
          <a:xfrm xmlns:a="http://schemas.openxmlformats.org/drawingml/2006/main">
            <a:off x="6267450" y="723900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Stronger institutions through improved cyber resilience.</a:t>
            </a:r>
          </a:p>
        </p:txBody>
      </p:sp>
      <p:sp>
        <p:nvSpPr>
          <p:cNvPr id="30" name="">
            <a:extLst xmlns:a="http://schemas.openxmlformats.org/drawingml/2006/main">
              <a:ext uri="{FF2B5EF4-FFF2-40B4-BE49-F238E27FC236}">
                <a16:creationId xmlns:a16="http://schemas.microsoft.com/office/drawing/2014/main" id="{7FDD932C-FB89-4003-B86B-CC1ACC13CEEA}"/>
              </a:ext>
            </a:extLst>
          </p:cNvPr>
          <p:cNvSpPr>
            <a:spLocks xmlns:a="http://schemas.openxmlformats.org/drawingml/2006/main" noGrp="1"/>
          </p:cNvSpPr>
          <p:nvPr/>
        </p:nvSpPr>
        <p:spPr>
          <a:xfrm xmlns:a="http://schemas.openxmlformats.org/drawingml/2006/main">
            <a:off x="11125200" y="6496050"/>
            <a:ext cx="5524500" cy="1695450"/>
          </a:xfrm>
          <a:prstGeom xmlns:a="http://schemas.openxmlformats.org/drawingml/2006/main" prst="roundRect">
            <a:avLst>
              <a:gd name="adj" fmla="val 4494"/>
            </a:avLst>
          </a:prstGeom>
          <a:solidFill xmlns:a="http://schemas.openxmlformats.org/drawingml/2006/main">
            <a:srgbClr val="FFFDF9"/>
          </a:solidFill>
          <a:ln xmlns:a="http://schemas.openxmlformats.org/drawingml/2006/main" w="19050">
            <a:solidFill>
              <a:srgbClr val="CAD6DE"/>
            </a:solidFill>
          </a:ln>
        </p:spPr>
      </p:sp>
      <p:sp>
        <p:nvSpPr>
          <p:cNvPr id="31" name="">
            <a:extLst xmlns:a="http://schemas.openxmlformats.org/drawingml/2006/main">
              <a:ext uri="{FF2B5EF4-FFF2-40B4-BE49-F238E27FC236}">
                <a16:creationId xmlns:a16="http://schemas.microsoft.com/office/drawing/2014/main" id="{249990E4-0655-40BD-B008-D7C5F06EF1B8}"/>
              </a:ext>
            </a:extLst>
          </p:cNvPr>
          <p:cNvSpPr>
            <a:spLocks xmlns:a="http://schemas.openxmlformats.org/drawingml/2006/main" noGrp="1"/>
          </p:cNvSpPr>
          <p:nvPr/>
        </p:nvSpPr>
        <p:spPr>
          <a:xfrm xmlns:a="http://schemas.openxmlformats.org/drawingml/2006/main">
            <a:off x="11125200" y="6496050"/>
            <a:ext cx="85725" cy="1695450"/>
          </a:xfrm>
          <a:prstGeom xmlns:a="http://schemas.openxmlformats.org/drawingml/2006/main" prst="rect">
            <a:avLst/>
          </a:prstGeom>
          <a:solidFill xmlns:a="http://schemas.openxmlformats.org/drawingml/2006/main">
            <a:srgbClr val="D79A3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F063FAF-DE08-4CCF-922B-EC13FB0C398F}"/>
              </a:ext>
            </a:extLst>
          </p:cNvPr>
          <p:cNvSpPr>
            <a:spLocks xmlns:a="http://schemas.openxmlformats.org/drawingml/2006/main" noGrp="1"/>
          </p:cNvSpPr>
          <p:nvPr/>
        </p:nvSpPr>
        <p:spPr>
          <a:xfrm xmlns:a="http://schemas.openxmlformats.org/drawingml/2006/main">
            <a:off x="11391900" y="6705600"/>
            <a:ext cx="5029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123B63"/>
                </a:solidFill>
                <a:latin typeface="Arial"/>
                <a:ea typeface="Arial"/>
                <a:cs typeface="Arial"/>
              </a:defRPr>
            </a:pPr>
            <a:r>
              <a:rPr sz="2100" b="1" i="0">
                <a:solidFill>
                  <a:srgbClr val="123B63"/>
                </a:solidFill>
                <a:latin typeface="Arial"/>
                <a:ea typeface="Arial"/>
                <a:cs typeface="Arial"/>
              </a:rPr>
              <a:t>SDG 17</a:t>
            </a:r>
          </a:p>
        </p:txBody>
      </p:sp>
      <p:sp>
        <p:nvSpPr>
          <p:cNvPr id="33" name="">
            <a:extLst xmlns:a="http://schemas.openxmlformats.org/drawingml/2006/main">
              <a:ext uri="{FF2B5EF4-FFF2-40B4-BE49-F238E27FC236}">
                <a16:creationId xmlns:a16="http://schemas.microsoft.com/office/drawing/2014/main" id="{7E5E8DC9-C24D-47DA-9529-F7188C04D1CA}"/>
              </a:ext>
            </a:extLst>
          </p:cNvPr>
          <p:cNvSpPr>
            <a:spLocks xmlns:a="http://schemas.openxmlformats.org/drawingml/2006/main" noGrp="1"/>
          </p:cNvSpPr>
          <p:nvPr/>
        </p:nvSpPr>
        <p:spPr>
          <a:xfrm xmlns:a="http://schemas.openxmlformats.org/drawingml/2006/main">
            <a:off x="11391900" y="7239000"/>
            <a:ext cx="502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i="0">
                <a:solidFill>
                  <a:srgbClr val="5F7180"/>
                </a:solidFill>
                <a:latin typeface="Arial"/>
                <a:ea typeface="Arial"/>
                <a:cs typeface="Arial"/>
              </a:defRPr>
            </a:pPr>
            <a:r>
              <a:rPr sz="1575" b="0" i="0">
                <a:solidFill>
                  <a:srgbClr val="5F7180"/>
                </a:solidFill>
                <a:latin typeface="Arial"/>
                <a:ea typeface="Arial"/>
                <a:cs typeface="Arial"/>
              </a:rPr>
              <a:t>Partnerships through interoperable, open security tooling.</a:t>
            </a:r>
          </a:p>
        </p:txBody>
      </p:sp>
    </p:spTree>
    <p:extLst>
      <p:ext uri="{BB962C8B-B14F-4D97-AF65-F5344CB8AC3E}">
        <p14:creationId xmlns:p14="http://schemas.microsoft.com/office/powerpoint/2010/main" val="418135501"/>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FE0C6F6-5E64-43EB-A491-1067F0BD27A9}"/>
              </a:ext>
            </a:extLst>
          </p:cNvPr>
          <p:cNvSpPr>
            <a:spLocks xmlns:a="http://schemas.openxmlformats.org/drawingml/2006/main" noGrp="1"/>
          </p:cNvSpPr>
          <p:nvPr/>
        </p:nvSpPr>
        <p:spPr>
          <a:xfrm xmlns:a="http://schemas.openxmlformats.org/drawingml/2006/main">
            <a:off x="876300" y="723900"/>
            <a:ext cx="2724150" cy="438150"/>
          </a:xfrm>
          <a:prstGeom xmlns:a="http://schemas.openxmlformats.org/drawingml/2006/main" prst="roundRect">
            <a:avLst>
              <a:gd name="adj" fmla="val 17391"/>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350" b="1">
                <a:solidFill>
                  <a:srgbClr val="2D8B84"/>
                </a:solidFill>
                <a:latin typeface="Arial"/>
                <a:ea typeface="Arial"/>
                <a:cs typeface="Arial"/>
              </a:defRPr>
            </a:pPr>
            <a:r>
              <a:rPr sz="1350" b="1">
                <a:solidFill>
                  <a:srgbClr val="2D8B84"/>
                </a:solidFill>
                <a:latin typeface="Arial"/>
                <a:ea typeface="Arial"/>
                <a:cs typeface="Arial"/>
              </a:rPr>
              <a:t>FYP PROPOSAL DEFENSE</a:t>
            </a:r>
          </a:p>
        </p:txBody>
      </p:sp>
      <p:sp>
        <p:nvSpPr>
          <p:cNvPr id="2" name="">
            <a:extLst xmlns:a="http://schemas.openxmlformats.org/drawingml/2006/main">
              <a:ext uri="{FF2B5EF4-FFF2-40B4-BE49-F238E27FC236}">
                <a16:creationId xmlns:a16="http://schemas.microsoft.com/office/drawing/2014/main" id="{7B6572E0-DCB9-4DBD-8B98-E517DE05E065}"/>
              </a:ext>
            </a:extLst>
          </p:cNvPr>
          <p:cNvSpPr>
            <a:spLocks xmlns:a="http://schemas.openxmlformats.org/drawingml/2006/main" noGrp="1"/>
          </p:cNvSpPr>
          <p:nvPr/>
        </p:nvSpPr>
        <p:spPr>
          <a:xfrm xmlns:a="http://schemas.openxmlformats.org/drawingml/2006/main">
            <a:off x="876300" y="17907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850" b="1" i="0">
                <a:solidFill>
                  <a:srgbClr val="123B63"/>
                </a:solidFill>
                <a:latin typeface="Arial"/>
                <a:ea typeface="Arial"/>
                <a:cs typeface="Arial"/>
              </a:defRPr>
            </a:pPr>
            <a:r>
              <a:rPr sz="5850" b="1" i="0">
                <a:solidFill>
                  <a:srgbClr val="123B63"/>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CF03D3C4-D723-43D8-B8E6-54776726D34C}"/>
              </a:ext>
            </a:extLst>
          </p:cNvPr>
          <p:cNvSpPr>
            <a:spLocks xmlns:a="http://schemas.openxmlformats.org/drawingml/2006/main" noGrp="1"/>
          </p:cNvSpPr>
          <p:nvPr/>
        </p:nvSpPr>
        <p:spPr>
          <a:xfrm xmlns:a="http://schemas.openxmlformats.org/drawingml/2006/main">
            <a:off x="914400" y="31242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0" i="0">
                <a:solidFill>
                  <a:srgbClr val="5F7180"/>
                </a:solidFill>
                <a:latin typeface="Arial"/>
                <a:ea typeface="Arial"/>
                <a:cs typeface="Arial"/>
              </a:defRPr>
            </a:pPr>
            <a:r>
              <a:rPr sz="2550" b="0" i="0">
                <a:solidFill>
                  <a:srgbClr val="5F7180"/>
                </a:solidFill>
                <a:latin typeface="Arial"/>
                <a:ea typeface="Arial"/>
                <a:cs typeface="Arial"/>
              </a:rPr>
              <a:t>Questions and discussion</a:t>
            </a:r>
          </a:p>
        </p:txBody>
      </p:sp>
      <p:sp>
        <p:nvSpPr>
          <p:cNvPr id="4" name="">
            <a:extLst xmlns:a="http://schemas.openxmlformats.org/drawingml/2006/main">
              <a:ext uri="{FF2B5EF4-FFF2-40B4-BE49-F238E27FC236}">
                <a16:creationId xmlns:a16="http://schemas.microsoft.com/office/drawing/2014/main" id="{95CF50BC-3055-477C-AE08-58813D2B74C5}"/>
              </a:ext>
            </a:extLst>
          </p:cNvPr>
          <p:cNvSpPr>
            <a:spLocks xmlns:a="http://schemas.openxmlformats.org/drawingml/2006/main" noGrp="1"/>
          </p:cNvSpPr>
          <p:nvPr/>
        </p:nvSpPr>
        <p:spPr>
          <a:xfrm xmlns:a="http://schemas.openxmlformats.org/drawingml/2006/main">
            <a:off x="914400" y="3962400"/>
            <a:ext cx="7810500" cy="0"/>
          </a:xfrm>
          <a:prstGeom xmlns:a="http://schemas.openxmlformats.org/drawingml/2006/main" prst="line">
            <a:avLst/>
          </a:prstGeom>
          <a:noFill xmlns:a="http://schemas.openxmlformats.org/drawingml/2006/main"/>
          <a:ln xmlns:a="http://schemas.openxmlformats.org/drawingml/2006/main" w="19050">
            <a:solidFill>
              <a:srgbClr val="CAD6DE"/>
            </a:solidFill>
          </a:ln>
        </p:spPr>
      </p:sp>
      <p:sp>
        <p:nvSpPr>
          <p:cNvPr id="5" name="">
            <a:extLst xmlns:a="http://schemas.openxmlformats.org/drawingml/2006/main">
              <a:ext uri="{FF2B5EF4-FFF2-40B4-BE49-F238E27FC236}">
                <a16:creationId xmlns:a16="http://schemas.microsoft.com/office/drawing/2014/main" id="{45E20700-62DD-4745-A9F0-81B51E4C680B}"/>
              </a:ext>
            </a:extLst>
          </p:cNvPr>
          <p:cNvSpPr>
            <a:spLocks xmlns:a="http://schemas.openxmlformats.org/drawingml/2006/main" noGrp="1"/>
          </p:cNvSpPr>
          <p:nvPr/>
        </p:nvSpPr>
        <p:spPr>
          <a:xfrm xmlns:a="http://schemas.openxmlformats.org/drawingml/2006/main">
            <a:off x="914400" y="4324350"/>
            <a:ext cx="876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18334B"/>
                </a:solidFill>
                <a:latin typeface="Arial"/>
                <a:ea typeface="Arial"/>
                <a:cs typeface="Arial"/>
              </a:defRPr>
            </a:pPr>
            <a:r>
              <a:rPr sz="1800" b="1" i="0">
                <a:solidFill>
                  <a:srgbClr val="18334B"/>
                </a:solidFill>
                <a:latin typeface="Arial"/>
                <a:ea typeface="Arial"/>
                <a:cs typeface="Arial"/>
              </a:rPr>
              <a:t>Proposed autonomous web security assessment framework</a:t>
            </a:r>
          </a:p>
        </p:txBody>
      </p:sp>
      <p:sp>
        <p:nvSpPr>
          <p:cNvPr id="6" name="">
            <a:extLst xmlns:a="http://schemas.openxmlformats.org/drawingml/2006/main">
              <a:ext uri="{FF2B5EF4-FFF2-40B4-BE49-F238E27FC236}">
                <a16:creationId xmlns:a16="http://schemas.microsoft.com/office/drawing/2014/main" id="{77145152-2CF7-4EB3-91B2-88ECFE083985}"/>
              </a:ext>
            </a:extLst>
          </p:cNvPr>
          <p:cNvSpPr>
            <a:spLocks xmlns:a="http://schemas.openxmlformats.org/drawingml/2006/main" noGrp="1"/>
          </p:cNvSpPr>
          <p:nvPr/>
        </p:nvSpPr>
        <p:spPr>
          <a:xfrm xmlns:a="http://schemas.openxmlformats.org/drawingml/2006/main">
            <a:off x="914400" y="491490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i="0">
                <a:solidFill>
                  <a:srgbClr val="5F7180"/>
                </a:solidFill>
                <a:latin typeface="Arial"/>
                <a:ea typeface="Arial"/>
                <a:cs typeface="Arial"/>
              </a:defRPr>
            </a:pPr>
            <a:r>
              <a:rPr sz="1575" b="0" i="0">
                <a:solidFill>
                  <a:srgbClr val="5F7180"/>
                </a:solidFill>
                <a:latin typeface="Arial"/>
                <a:ea typeface="Arial"/>
                <a:cs typeface="Arial"/>
              </a:rPr>
              <a:t>Working title · proposed architecture · planned evaluation</a:t>
            </a:r>
          </a:p>
        </p:txBody>
      </p:sp>
      <p:sp>
        <p:nvSpPr>
          <p:cNvPr id="7" name="">
            <a:extLst xmlns:a="http://schemas.openxmlformats.org/drawingml/2006/main">
              <a:ext uri="{FF2B5EF4-FFF2-40B4-BE49-F238E27FC236}">
                <a16:creationId xmlns:a16="http://schemas.microsoft.com/office/drawing/2014/main" id="{F43A87D4-A9F3-41FB-AB64-9E6CF539A593}"/>
              </a:ext>
            </a:extLst>
          </p:cNvPr>
          <p:cNvSpPr>
            <a:spLocks xmlns:a="http://schemas.openxmlformats.org/drawingml/2006/main" noGrp="1"/>
          </p:cNvSpPr>
          <p:nvPr/>
        </p:nvSpPr>
        <p:spPr>
          <a:xfrm xmlns:a="http://schemas.openxmlformats.org/drawingml/2006/main">
            <a:off x="10477500" y="1352550"/>
            <a:ext cx="6191250" cy="6572250"/>
          </a:xfrm>
          <a:prstGeom xmlns:a="http://schemas.openxmlformats.org/drawingml/2006/main" prst="roundRect">
            <a:avLst>
              <a:gd name="adj" fmla="val 1231"/>
            </a:avLst>
          </a:prstGeom>
          <a:solidFill xmlns:a="http://schemas.openxmlformats.org/drawingml/2006/main">
            <a:srgbClr val="123B6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6AD62D-DBF7-4F2E-B30E-130C3DC64661}"/>
              </a:ext>
            </a:extLst>
          </p:cNvPr>
          <p:cNvSpPr>
            <a:spLocks xmlns:a="http://schemas.openxmlformats.org/drawingml/2006/main" noGrp="1"/>
          </p:cNvSpPr>
          <p:nvPr/>
        </p:nvSpPr>
        <p:spPr>
          <a:xfrm xmlns:a="http://schemas.openxmlformats.org/drawingml/2006/main">
            <a:off x="1104900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79A9C8"/>
                </a:solidFill>
                <a:latin typeface="Arial"/>
                <a:ea typeface="Arial"/>
                <a:cs typeface="Arial"/>
              </a:defRPr>
            </a:pPr>
            <a:r>
              <a:rPr sz="1500" b="1" i="0">
                <a:solidFill>
                  <a:srgbClr val="79A9C8"/>
                </a:solidFill>
                <a:latin typeface="Arial"/>
                <a:ea typeface="Arial"/>
                <a:cs typeface="Arial"/>
              </a:rPr>
              <a:t>DISCUSSION</a:t>
            </a:r>
          </a:p>
        </p:txBody>
      </p:sp>
      <p:sp>
        <p:nvSpPr>
          <p:cNvPr id="9" name="">
            <a:extLst xmlns:a="http://schemas.openxmlformats.org/drawingml/2006/main">
              <a:ext uri="{FF2B5EF4-FFF2-40B4-BE49-F238E27FC236}">
                <a16:creationId xmlns:a16="http://schemas.microsoft.com/office/drawing/2014/main" id="{6B6089B2-1DA2-4B34-B7CC-B3D80C8F2A93}"/>
              </a:ext>
            </a:extLst>
          </p:cNvPr>
          <p:cNvSpPr>
            <a:spLocks xmlns:a="http://schemas.openxmlformats.org/drawingml/2006/main" noGrp="1"/>
          </p:cNvSpPr>
          <p:nvPr/>
        </p:nvSpPr>
        <p:spPr>
          <a:xfrm xmlns:a="http://schemas.openxmlformats.org/drawingml/2006/main">
            <a:off x="1114425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FFFFFF"/>
                </a:solidFill>
                <a:latin typeface="Arial"/>
                <a:ea typeface="Arial"/>
                <a:cs typeface="Arial"/>
              </a:defRPr>
            </a:pPr>
            <a:r>
              <a:rPr sz="2850" b="1" i="0">
                <a:solidFill>
                  <a:srgbClr val="FFFFFF"/>
                </a:solidFill>
                <a:latin typeface="Arial"/>
                <a:ea typeface="Arial"/>
                <a:cs typeface="Arial"/>
              </a:rPr>
              <a:t>How can a pentesting harness remain useful when AI is unavailable?</a:t>
            </a:r>
          </a:p>
        </p:txBody>
      </p:sp>
      <p:sp>
        <p:nvSpPr>
          <p:cNvPr id="10" name="">
            <a:extLst xmlns:a="http://schemas.openxmlformats.org/drawingml/2006/main">
              <a:ext uri="{FF2B5EF4-FFF2-40B4-BE49-F238E27FC236}">
                <a16:creationId xmlns:a16="http://schemas.microsoft.com/office/drawing/2014/main" id="{FF114347-D2E2-4206-B36F-6BC440F27E5D}"/>
              </a:ext>
            </a:extLst>
          </p:cNvPr>
          <p:cNvSpPr>
            <a:spLocks xmlns:a="http://schemas.openxmlformats.org/drawingml/2006/main" noGrp="1"/>
          </p:cNvSpPr>
          <p:nvPr/>
        </p:nvSpPr>
        <p:spPr>
          <a:xfrm xmlns:a="http://schemas.openxmlformats.org/drawingml/2006/main">
            <a:off x="11239500" y="4895850"/>
            <a:ext cx="2095500" cy="552450"/>
          </a:xfrm>
          <a:prstGeom xmlns:a="http://schemas.openxmlformats.org/drawingml/2006/main" prst="roundRect">
            <a:avLst>
              <a:gd name="adj" fmla="val 13793"/>
            </a:avLst>
          </a:prstGeom>
          <a:solidFill xmlns:a="http://schemas.openxmlformats.org/drawingml/2006/main">
            <a:srgbClr val="E5F0EC"/>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500" b="1">
                <a:solidFill>
                  <a:srgbClr val="2D8B84"/>
                </a:solidFill>
                <a:latin typeface="Arial"/>
                <a:ea typeface="Arial"/>
                <a:cs typeface="Arial"/>
              </a:defRPr>
            </a:pPr>
            <a:r>
              <a:rPr sz="1500" b="1">
                <a:solidFill>
                  <a:srgbClr val="2D8B84"/>
                </a:solidFill>
                <a:latin typeface="Arial"/>
                <a:ea typeface="Arial"/>
                <a:cs typeface="Arial"/>
              </a:rPr>
              <a:t>Methodology</a:t>
            </a:r>
          </a:p>
        </p:txBody>
      </p:sp>
      <p:sp>
        <p:nvSpPr>
          <p:cNvPr id="11" name="">
            <a:extLst xmlns:a="http://schemas.openxmlformats.org/drawingml/2006/main">
              <a:ext uri="{FF2B5EF4-FFF2-40B4-BE49-F238E27FC236}">
                <a16:creationId xmlns:a16="http://schemas.microsoft.com/office/drawing/2014/main" id="{C8F6E38E-F99E-41E1-B4D0-5FB78A3AE4CC}"/>
              </a:ext>
            </a:extLst>
          </p:cNvPr>
          <p:cNvSpPr>
            <a:spLocks xmlns:a="http://schemas.openxmlformats.org/drawingml/2006/main" noGrp="1"/>
          </p:cNvSpPr>
          <p:nvPr/>
        </p:nvSpPr>
        <p:spPr>
          <a:xfrm xmlns:a="http://schemas.openxmlformats.org/drawingml/2006/main">
            <a:off x="13811250" y="4895850"/>
            <a:ext cx="2095500" cy="552450"/>
          </a:xfrm>
          <a:prstGeom xmlns:a="http://schemas.openxmlformats.org/drawingml/2006/main" prst="roundRect">
            <a:avLst>
              <a:gd name="adj" fmla="val 13793"/>
            </a:avLst>
          </a:prstGeom>
          <a:solidFill xmlns:a="http://schemas.openxmlformats.org/drawingml/2006/main">
            <a:srgbClr val="E6EEF3"/>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500" b="1">
                <a:solidFill>
                  <a:srgbClr val="123B63"/>
                </a:solidFill>
                <a:latin typeface="Arial"/>
                <a:ea typeface="Arial"/>
                <a:cs typeface="Arial"/>
              </a:defRPr>
            </a:pPr>
            <a:r>
              <a:rPr sz="1500" b="1">
                <a:solidFill>
                  <a:srgbClr val="123B63"/>
                </a:solidFill>
                <a:latin typeface="Arial"/>
                <a:ea typeface="Arial"/>
                <a:cs typeface="Arial"/>
              </a:rPr>
              <a:t>Evidence</a:t>
            </a:r>
          </a:p>
        </p:txBody>
      </p:sp>
      <p:sp>
        <p:nvSpPr>
          <p:cNvPr id="12" name="">
            <a:extLst xmlns:a="http://schemas.openxmlformats.org/drawingml/2006/main">
              <a:ext uri="{FF2B5EF4-FFF2-40B4-BE49-F238E27FC236}">
                <a16:creationId xmlns:a16="http://schemas.microsoft.com/office/drawing/2014/main" id="{AFD49FC5-F0B3-4609-9C61-3BDB2AC5C27C}"/>
              </a:ext>
            </a:extLst>
          </p:cNvPr>
          <p:cNvSpPr>
            <a:spLocks xmlns:a="http://schemas.openxmlformats.org/drawingml/2006/main" noGrp="1"/>
          </p:cNvSpPr>
          <p:nvPr/>
        </p:nvSpPr>
        <p:spPr>
          <a:xfrm xmlns:a="http://schemas.openxmlformats.org/drawingml/2006/main">
            <a:off x="11239500" y="5791200"/>
            <a:ext cx="4667250" cy="552450"/>
          </a:xfrm>
          <a:prstGeom xmlns:a="http://schemas.openxmlformats.org/drawingml/2006/main" prst="roundRect">
            <a:avLst>
              <a:gd name="adj" fmla="val 13793"/>
            </a:avLst>
          </a:prstGeom>
          <a:solidFill xmlns:a="http://schemas.openxmlformats.org/drawingml/2006/main">
            <a:srgbClr val="F4E8D0"/>
          </a:solidFill>
          <a:ln xmlns:a="http://schemas.openxmlformats.org/drawingml/2006/main" w="0">
            <a:noFill/>
          </a:ln>
        </p:spPr>
        <p:txBody>
          <a:bodyPr xmlns:a="http://schemas.openxmlformats.org/drawingml/2006/main" lIns="76200" tIns="38100" rIns="76200" bIns="38100" anchor="ctr">
            <a:normAutofit fontScale="100000"/>
          </a:bodyPr>
          <a:lstStyle xmlns:a="http://schemas.openxmlformats.org/drawingml/2006/main"/>
          <a:p xmlns:a="http://schemas.openxmlformats.org/drawingml/2006/main">
            <a:pPr algn="ctr">
              <a:buNone/>
              <a:defRPr sz="1500" b="1">
                <a:solidFill>
                  <a:srgbClr val="D79A32"/>
                </a:solidFill>
                <a:latin typeface="Arial"/>
                <a:ea typeface="Arial"/>
                <a:cs typeface="Arial"/>
              </a:defRPr>
            </a:pPr>
            <a:r>
              <a:rPr sz="1500" b="1">
                <a:solidFill>
                  <a:srgbClr val="D79A32"/>
                </a:solidFill>
                <a:latin typeface="Arial"/>
                <a:ea typeface="Arial"/>
                <a:cs typeface="Arial"/>
              </a:rPr>
              <a:t>Human control</a:t>
            </a:r>
          </a:p>
        </p:txBody>
      </p:sp>
      <p:sp>
        <p:nvSpPr>
          <p:cNvPr id="13" name="">
            <a:extLst xmlns:a="http://schemas.openxmlformats.org/drawingml/2006/main">
              <a:ext uri="{FF2B5EF4-FFF2-40B4-BE49-F238E27FC236}">
                <a16:creationId xmlns:a16="http://schemas.microsoft.com/office/drawing/2014/main" id="{199E65BA-7C0B-44B8-9861-B726D161D953}"/>
              </a:ext>
            </a:extLst>
          </p:cNvPr>
          <p:cNvSpPr>
            <a:spLocks xmlns:a="http://schemas.openxmlformats.org/drawingml/2006/main" noGrp="1"/>
          </p:cNvSpPr>
          <p:nvPr/>
        </p:nvSpPr>
        <p:spPr>
          <a:xfrm xmlns:a="http://schemas.openxmlformats.org/drawingml/2006/main">
            <a:off x="10934700" y="716280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DCE8F0"/>
                </a:solidFill>
                <a:latin typeface="Arial"/>
                <a:ea typeface="Arial"/>
                <a:cs typeface="Arial"/>
              </a:defRPr>
            </a:pPr>
            <a:r>
              <a:rPr sz="1350" b="0" i="0">
                <a:solidFill>
                  <a:srgbClr val="DCE8F0"/>
                </a:solidFill>
                <a:latin typeface="Arial"/>
                <a:ea typeface="Arial"/>
                <a:cs typeface="Arial"/>
              </a:rPr>
              <a:t>Muhammad Usman Hamed · Abdul Ahad · Obaid Ishtiaq Satti</a:t>
            </a:r>
          </a:p>
        </p:txBody>
      </p:sp>
    </p:spTree>
    <p:extLst>
      <p:ext uri="{BB962C8B-B14F-4D97-AF65-F5344CB8AC3E}">
        <p14:creationId xmlns:p14="http://schemas.microsoft.com/office/powerpoint/2010/main" val="3888560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2026-10-01T15:09:33.5330000Z</dcterms:created>
  <dcterms:modified xsi:type="dcterms:W3CDTF">2026-10-01T15:09:33.5330000Z</dcterms:modified>
</coreProperties>
</file>